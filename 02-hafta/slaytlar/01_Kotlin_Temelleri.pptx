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3808eb386c4459" /><Relationship Type="http://schemas.openxmlformats.org/officeDocument/2006/relationships/extended-properties" Target="/docProps/app.xml" Id="R8fb1f546124e4de4" /><Relationship Type="http://schemas.openxmlformats.org/officeDocument/2006/relationships/officeDocument" Target="/ppt/presentation.xml" Id="R7c8a1f53f01c4c2d" /></Relationships>
</file>

<file path=ppt/presentation.xml><?xml version="1.0" encoding="utf-8"?>
<p:presentation xmlns:p="http://schemas.openxmlformats.org/presentationml/2006/main">
  <p:sldMasterIdLst>
    <p:sldMasterId xmlns:r="http://schemas.openxmlformats.org/officeDocument/2006/relationships" id="2147483648" r:id="Rfb017f9f80ac44f7"/>
  </p:sldMasterIdLst>
  <p:notesMasterIdLst>
    <p:notesMasterId xmlns:r="http://schemas.openxmlformats.org/officeDocument/2006/relationships" r:id="Rb1a6911fc62b4f5f"/>
  </p:notesMasterIdLst>
  <p:sldIdLst>
    <p:sldId xmlns:r="http://schemas.openxmlformats.org/officeDocument/2006/relationships" id="256" r:id="R775ab6cc7e6144ea"/>
    <p:sldId xmlns:r="http://schemas.openxmlformats.org/officeDocument/2006/relationships" id="257" r:id="R644cfc5f37ed4b81"/>
    <p:sldId xmlns:r="http://schemas.openxmlformats.org/officeDocument/2006/relationships" id="258" r:id="R2adc9aebfe084409"/>
    <p:sldId xmlns:r="http://schemas.openxmlformats.org/officeDocument/2006/relationships" id="259" r:id="R1d2a425c3b9d4370"/>
    <p:sldId xmlns:r="http://schemas.openxmlformats.org/officeDocument/2006/relationships" id="260" r:id="Rbd6ec667ec2740cf"/>
    <p:sldId xmlns:r="http://schemas.openxmlformats.org/officeDocument/2006/relationships" id="261" r:id="R2d543ac192274cb0"/>
    <p:sldId xmlns:r="http://schemas.openxmlformats.org/officeDocument/2006/relationships" id="262" r:id="Rf8b760ead39341c5"/>
    <p:sldId xmlns:r="http://schemas.openxmlformats.org/officeDocument/2006/relationships" id="263" r:id="R1cb93b835c0146b2"/>
    <p:sldId xmlns:r="http://schemas.openxmlformats.org/officeDocument/2006/relationships" id="264" r:id="Rf79423450d97434d"/>
    <p:sldId xmlns:r="http://schemas.openxmlformats.org/officeDocument/2006/relationships" id="265" r:id="Rca6b4c1c39124d1b"/>
    <p:sldId xmlns:r="http://schemas.openxmlformats.org/officeDocument/2006/relationships" id="266" r:id="Rd754773ac1704fa6"/>
    <p:sldId xmlns:r="http://schemas.openxmlformats.org/officeDocument/2006/relationships" id="267" r:id="R9826daabd6274c38"/>
    <p:sldId xmlns:r="http://schemas.openxmlformats.org/officeDocument/2006/relationships" id="268" r:id="Rf9c99a6154b44f2a"/>
    <p:sldId xmlns:r="http://schemas.openxmlformats.org/officeDocument/2006/relationships" id="269" r:id="R45ad24229fc645d5"/>
    <p:sldId xmlns:r="http://schemas.openxmlformats.org/officeDocument/2006/relationships" id="270" r:id="R9b40146bfa0e4cff"/>
    <p:sldId xmlns:r="http://schemas.openxmlformats.org/officeDocument/2006/relationships" id="271" r:id="R167cbb685e5847ca"/>
    <p:sldId xmlns:r="http://schemas.openxmlformats.org/officeDocument/2006/relationships" id="272" r:id="R2c25d870a01f4ab1"/>
    <p:sldId xmlns:r="http://schemas.openxmlformats.org/officeDocument/2006/relationships" id="273" r:id="Raf6d9e9503964c41"/>
    <p:sldId xmlns:r="http://schemas.openxmlformats.org/officeDocument/2006/relationships" id="274" r:id="R4b0a29a40a5f4c1e"/>
    <p:sldId xmlns:r="http://schemas.openxmlformats.org/officeDocument/2006/relationships" id="275" r:id="R4d64cd6a4aca4b8d"/>
    <p:sldId xmlns:r="http://schemas.openxmlformats.org/officeDocument/2006/relationships" id="276" r:id="R8240ff8d8ac64c86"/>
    <p:sldId xmlns:r="http://schemas.openxmlformats.org/officeDocument/2006/relationships" id="277" r:id="Rd98823da3006434e"/>
    <p:sldId xmlns:r="http://schemas.openxmlformats.org/officeDocument/2006/relationships" id="278" r:id="Rda25e1b79eee4463"/>
    <p:sldId xmlns:r="http://schemas.openxmlformats.org/officeDocument/2006/relationships" id="279" r:id="R013e6763fdba47e2"/>
    <p:sldId xmlns:r="http://schemas.openxmlformats.org/officeDocument/2006/relationships" id="280" r:id="Rfd0a434d568e4ac9"/>
    <p:sldId xmlns:r="http://schemas.openxmlformats.org/officeDocument/2006/relationships" id="281" r:id="R64514b88c8624c51"/>
    <p:sldId xmlns:r="http://schemas.openxmlformats.org/officeDocument/2006/relationships" id="282" r:id="R7989ee6582b748fa"/>
    <p:sldId xmlns:r="http://schemas.openxmlformats.org/officeDocument/2006/relationships" id="283" r:id="Rea0ae7437f474cc3"/>
    <p:sldId xmlns:r="http://schemas.openxmlformats.org/officeDocument/2006/relationships" id="284" r:id="R313d82757f5c4768"/>
    <p:sldId xmlns:r="http://schemas.openxmlformats.org/officeDocument/2006/relationships" id="285" r:id="Rcccd5161600143e7"/>
    <p:sldId xmlns:r="http://schemas.openxmlformats.org/officeDocument/2006/relationships" id="286" r:id="Ra9aaf6c6842f4ba6"/>
    <p:sldId xmlns:r="http://schemas.openxmlformats.org/officeDocument/2006/relationships" id="287" r:id="R6f4ec79afc014d04"/>
    <p:sldId xmlns:r="http://schemas.openxmlformats.org/officeDocument/2006/relationships" id="288" r:id="R347447f305af4707"/>
    <p:sldId xmlns:r="http://schemas.openxmlformats.org/officeDocument/2006/relationships" id="289" r:id="R0d9429695c794024"/>
    <p:sldId xmlns:r="http://schemas.openxmlformats.org/officeDocument/2006/relationships" id="290" r:id="Rb543940fd8cf42c2"/>
    <p:sldId xmlns:r="http://schemas.openxmlformats.org/officeDocument/2006/relationships" id="291" r:id="R07dde902b3824bf4"/>
    <p:sldId xmlns:r="http://schemas.openxmlformats.org/officeDocument/2006/relationships" id="292" r:id="Rc7171e8b8b8040f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5cda05c46e49d1" /><Relationship Type="http://schemas.openxmlformats.org/officeDocument/2006/relationships/slideMaster" Target="/ppt/slideMasters/slideMaster1.xml" Id="Rfb017f9f80ac44f7" /><Relationship Type="http://schemas.openxmlformats.org/officeDocument/2006/relationships/notesMaster" Target="/ppt/notesMasters/notesMaster1.xml" Id="Rb1a6911fc62b4f5f" /><Relationship Type="http://schemas.openxmlformats.org/officeDocument/2006/relationships/presProps" Target="/ppt/presProps.xml" Id="R1c3c03f0538547dd" /><Relationship Type="http://schemas.openxmlformats.org/officeDocument/2006/relationships/tableStyles" Target="/ppt/tableStyles.xml" Id="Rf22b9c91fd374161" /><Relationship Type="http://schemas.openxmlformats.org/officeDocument/2006/relationships/slide" Target="/ppt/slides/slide1.xml" Id="R775ab6cc7e6144ea" /><Relationship Type="http://schemas.openxmlformats.org/officeDocument/2006/relationships/slide" Target="/ppt/slides/slide2.xml" Id="R644cfc5f37ed4b81" /><Relationship Type="http://schemas.openxmlformats.org/officeDocument/2006/relationships/slide" Target="/ppt/slides/slide3.xml" Id="R2adc9aebfe084409" /><Relationship Type="http://schemas.openxmlformats.org/officeDocument/2006/relationships/slide" Target="/ppt/slides/slide4.xml" Id="R1d2a425c3b9d4370" /><Relationship Type="http://schemas.openxmlformats.org/officeDocument/2006/relationships/slide" Target="/ppt/slides/slide5.xml" Id="Rbd6ec667ec2740cf" /><Relationship Type="http://schemas.openxmlformats.org/officeDocument/2006/relationships/slide" Target="/ppt/slides/slide6.xml" Id="R2d543ac192274cb0" /><Relationship Type="http://schemas.openxmlformats.org/officeDocument/2006/relationships/slide" Target="/ppt/slides/slide7.xml" Id="Rf8b760ead39341c5" /><Relationship Type="http://schemas.openxmlformats.org/officeDocument/2006/relationships/slide" Target="/ppt/slides/slide8.xml" Id="R1cb93b835c0146b2" /><Relationship Type="http://schemas.openxmlformats.org/officeDocument/2006/relationships/slide" Target="/ppt/slides/slide9.xml" Id="Rf79423450d97434d" /><Relationship Type="http://schemas.openxmlformats.org/officeDocument/2006/relationships/slide" Target="/ppt/slides/slide10.xml" Id="Rca6b4c1c39124d1b" /><Relationship Type="http://schemas.openxmlformats.org/officeDocument/2006/relationships/slide" Target="/ppt/slides/slide11.xml" Id="Rd754773ac1704fa6" /><Relationship Type="http://schemas.openxmlformats.org/officeDocument/2006/relationships/slide" Target="/ppt/slides/slide12.xml" Id="R9826daabd6274c38" /><Relationship Type="http://schemas.openxmlformats.org/officeDocument/2006/relationships/slide" Target="/ppt/slides/slide13.xml" Id="Rf9c99a6154b44f2a" /><Relationship Type="http://schemas.openxmlformats.org/officeDocument/2006/relationships/slide" Target="/ppt/slides/slide14.xml" Id="R45ad24229fc645d5" /><Relationship Type="http://schemas.openxmlformats.org/officeDocument/2006/relationships/slide" Target="/ppt/slides/slide15.xml" Id="R9b40146bfa0e4cff" /><Relationship Type="http://schemas.openxmlformats.org/officeDocument/2006/relationships/slide" Target="/ppt/slides/slide16.xml" Id="R167cbb685e5847ca" /><Relationship Type="http://schemas.openxmlformats.org/officeDocument/2006/relationships/slide" Target="/ppt/slides/slide17.xml" Id="R2c25d870a01f4ab1" /><Relationship Type="http://schemas.openxmlformats.org/officeDocument/2006/relationships/slide" Target="/ppt/slides/slide18.xml" Id="Raf6d9e9503964c41" /><Relationship Type="http://schemas.openxmlformats.org/officeDocument/2006/relationships/slide" Target="/ppt/slides/slide19.xml" Id="R4b0a29a40a5f4c1e" /><Relationship Type="http://schemas.openxmlformats.org/officeDocument/2006/relationships/slide" Target="/ppt/slides/slide20.xml" Id="R4d64cd6a4aca4b8d" /><Relationship Type="http://schemas.openxmlformats.org/officeDocument/2006/relationships/slide" Target="/ppt/slides/slide21.xml" Id="R8240ff8d8ac64c86" /><Relationship Type="http://schemas.openxmlformats.org/officeDocument/2006/relationships/slide" Target="/ppt/slides/slide22.xml" Id="Rd98823da3006434e" /><Relationship Type="http://schemas.openxmlformats.org/officeDocument/2006/relationships/slide" Target="/ppt/slides/slide23.xml" Id="Rda25e1b79eee4463" /><Relationship Type="http://schemas.openxmlformats.org/officeDocument/2006/relationships/slide" Target="/ppt/slides/slide24.xml" Id="R013e6763fdba47e2" /><Relationship Type="http://schemas.openxmlformats.org/officeDocument/2006/relationships/slide" Target="/ppt/slides/slide25.xml" Id="Rfd0a434d568e4ac9" /><Relationship Type="http://schemas.openxmlformats.org/officeDocument/2006/relationships/slide" Target="/ppt/slides/slide26.xml" Id="R64514b88c8624c51" /><Relationship Type="http://schemas.openxmlformats.org/officeDocument/2006/relationships/slide" Target="/ppt/slides/slide27.xml" Id="R7989ee6582b748fa" /><Relationship Type="http://schemas.openxmlformats.org/officeDocument/2006/relationships/slide" Target="/ppt/slides/slide28.xml" Id="Rea0ae7437f474cc3" /><Relationship Type="http://schemas.openxmlformats.org/officeDocument/2006/relationships/slide" Target="/ppt/slides/slide29.xml" Id="R313d82757f5c4768" /><Relationship Type="http://schemas.openxmlformats.org/officeDocument/2006/relationships/slide" Target="/ppt/slides/slide30.xml" Id="Rcccd5161600143e7" /><Relationship Type="http://schemas.openxmlformats.org/officeDocument/2006/relationships/slide" Target="/ppt/slides/slide31.xml" Id="Ra9aaf6c6842f4ba6" /><Relationship Type="http://schemas.openxmlformats.org/officeDocument/2006/relationships/slide" Target="/ppt/slides/slide32.xml" Id="R6f4ec79afc014d04" /><Relationship Type="http://schemas.openxmlformats.org/officeDocument/2006/relationships/slide" Target="/ppt/slides/slide33.xml" Id="R347447f305af4707" /><Relationship Type="http://schemas.openxmlformats.org/officeDocument/2006/relationships/slide" Target="/ppt/slides/slide34.xml" Id="R0d9429695c794024" /><Relationship Type="http://schemas.openxmlformats.org/officeDocument/2006/relationships/slide" Target="/ppt/slides/slide35.xml" Id="Rb543940fd8cf42c2" /><Relationship Type="http://schemas.openxmlformats.org/officeDocument/2006/relationships/slide" Target="/ppt/slides/slide36.xml" Id="R07dde902b3824bf4" /><Relationship Type="http://schemas.openxmlformats.org/officeDocument/2006/relationships/slide" Target="/ppt/slides/slide37.xml" Id="Rc7171e8b8b8040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3a762aa28a45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0d9abe88044788" /><Relationship Type="http://schemas.openxmlformats.org/officeDocument/2006/relationships/notesMaster" Target="/ppt/notesMasters/notesMaster1.xml" Id="R8657c98059cb42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147cedb3a3451c" /><Relationship Type="http://schemas.openxmlformats.org/officeDocument/2006/relationships/notesMaster" Target="/ppt/notesMasters/notesMaster1.xml" Id="Rfe776c6faca34e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a7252ae2424234" /><Relationship Type="http://schemas.openxmlformats.org/officeDocument/2006/relationships/notesMaster" Target="/ppt/notesMasters/notesMaster1.xml" Id="Rf7d1d48944c64f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758eac4eb94d6a" /><Relationship Type="http://schemas.openxmlformats.org/officeDocument/2006/relationships/notesMaster" Target="/ppt/notesMasters/notesMaster1.xml" Id="R60859d805b1040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63b8cbd38e432a" /><Relationship Type="http://schemas.openxmlformats.org/officeDocument/2006/relationships/notesMaster" Target="/ppt/notesMasters/notesMaster1.xml" Id="Rc9302642a85f40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2e13f2b8d74fb7" /><Relationship Type="http://schemas.openxmlformats.org/officeDocument/2006/relationships/notesMaster" Target="/ppt/notesMasters/notesMaster1.xml" Id="Rd26feef8f1c24e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2a16ae8da54752" /><Relationship Type="http://schemas.openxmlformats.org/officeDocument/2006/relationships/notesMaster" Target="/ppt/notesMasters/notesMaster1.xml" Id="Rc8d9985da1f94c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5ac96dddf547e2" /><Relationship Type="http://schemas.openxmlformats.org/officeDocument/2006/relationships/notesMaster" Target="/ppt/notesMasters/notesMaster1.xml" Id="Rf25efe09b25540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42c721b59948de" /><Relationship Type="http://schemas.openxmlformats.org/officeDocument/2006/relationships/notesMaster" Target="/ppt/notesMasters/notesMaster1.xml" Id="Rcf58d44b48a646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d691bca09f41dc" /><Relationship Type="http://schemas.openxmlformats.org/officeDocument/2006/relationships/notesMaster" Target="/ppt/notesMasters/notesMaster1.xml" Id="R9bdd6219900249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c887771f1140c8" /><Relationship Type="http://schemas.openxmlformats.org/officeDocument/2006/relationships/notesMaster" Target="/ppt/notesMasters/notesMaster1.xml" Id="R9e2fe5c5a89948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536f513c7145a8" /><Relationship Type="http://schemas.openxmlformats.org/officeDocument/2006/relationships/notesMaster" Target="/ppt/notesMasters/notesMaster1.xml" Id="R886e0893bcd449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d81b337d044b3f" /><Relationship Type="http://schemas.openxmlformats.org/officeDocument/2006/relationships/notesMaster" Target="/ppt/notesMasters/notesMaster1.xml" Id="R172e9f6959984f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61f1cb06564f44" /><Relationship Type="http://schemas.openxmlformats.org/officeDocument/2006/relationships/notesMaster" Target="/ppt/notesMasters/notesMaster1.xml" Id="R52c6c391ab8048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617aa2b7eb34b8c" /><Relationship Type="http://schemas.openxmlformats.org/officeDocument/2006/relationships/notesMaster" Target="/ppt/notesMasters/notesMaster1.xml" Id="R6b3d64f04fe447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b010c023104228" /><Relationship Type="http://schemas.openxmlformats.org/officeDocument/2006/relationships/notesMaster" Target="/ppt/notesMasters/notesMaster1.xml" Id="R495e81f5921b49a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d1573ddb044930" /><Relationship Type="http://schemas.openxmlformats.org/officeDocument/2006/relationships/notesMaster" Target="/ppt/notesMasters/notesMaster1.xml" Id="Rc994cbf279c841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04afd683124286" /><Relationship Type="http://schemas.openxmlformats.org/officeDocument/2006/relationships/notesMaster" Target="/ppt/notesMasters/notesMaster1.xml" Id="R9f9e6fad48e94a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ec0723fe146411e" /><Relationship Type="http://schemas.openxmlformats.org/officeDocument/2006/relationships/notesMaster" Target="/ppt/notesMasters/notesMaster1.xml" Id="Rfe65cf1d487d46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6141490ca314d61" /><Relationship Type="http://schemas.openxmlformats.org/officeDocument/2006/relationships/notesMaster" Target="/ppt/notesMasters/notesMaster1.xml" Id="R952d740cbc7d414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46d10c07a954148" /><Relationship Type="http://schemas.openxmlformats.org/officeDocument/2006/relationships/notesMaster" Target="/ppt/notesMasters/notesMaster1.xml" Id="R47e8442ae99f4dc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cb3440421e4fa0" /><Relationship Type="http://schemas.openxmlformats.org/officeDocument/2006/relationships/notesMaster" Target="/ppt/notesMasters/notesMaster1.xml" Id="R11bffa0e4c6f494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6fd860c827a4b4d" /><Relationship Type="http://schemas.openxmlformats.org/officeDocument/2006/relationships/notesMaster" Target="/ppt/notesMasters/notesMaster1.xml" Id="Radbcc3dd4bea498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475a73380e94c23" /><Relationship Type="http://schemas.openxmlformats.org/officeDocument/2006/relationships/notesMaster" Target="/ppt/notesMasters/notesMaster1.xml" Id="R1516be6840c849b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b5aaf1ebb094502" /><Relationship Type="http://schemas.openxmlformats.org/officeDocument/2006/relationships/notesMaster" Target="/ppt/notesMasters/notesMaster1.xml" Id="Rbd2c6fbf2a9040e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7d70941a3094302" /><Relationship Type="http://schemas.openxmlformats.org/officeDocument/2006/relationships/notesMaster" Target="/ppt/notesMasters/notesMaster1.xml" Id="Rb321f0cc55b44a1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52c16013d714482" /><Relationship Type="http://schemas.openxmlformats.org/officeDocument/2006/relationships/notesMaster" Target="/ppt/notesMasters/notesMaster1.xml" Id="R2ce9c20b67b3494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3a5ef5857e04ed2" /><Relationship Type="http://schemas.openxmlformats.org/officeDocument/2006/relationships/notesMaster" Target="/ppt/notesMasters/notesMaster1.xml" Id="R0403c1dcf9ce4a8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e189eca15654b38" /><Relationship Type="http://schemas.openxmlformats.org/officeDocument/2006/relationships/notesMaster" Target="/ppt/notesMasters/notesMaster1.xml" Id="Ra210179e971a4f6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2e311301ff94b48" /><Relationship Type="http://schemas.openxmlformats.org/officeDocument/2006/relationships/notesMaster" Target="/ppt/notesMasters/notesMaster1.xml" Id="Rc3b4fc34911642d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dcdd6b5208f43f1" /><Relationship Type="http://schemas.openxmlformats.org/officeDocument/2006/relationships/notesMaster" Target="/ppt/notesMasters/notesMaster1.xml" Id="R488c36aac7fb405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e9a18336dd3416c" /><Relationship Type="http://schemas.openxmlformats.org/officeDocument/2006/relationships/notesMaster" Target="/ppt/notesMasters/notesMaster1.xml" Id="R0e1434d121a34f9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ed449f457664671" /><Relationship Type="http://schemas.openxmlformats.org/officeDocument/2006/relationships/notesMaster" Target="/ppt/notesMasters/notesMaster1.xml" Id="R1e488009c7f541e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59b98b08f3849b8" /><Relationship Type="http://schemas.openxmlformats.org/officeDocument/2006/relationships/notesMaster" Target="/ppt/notesMasters/notesMaster1.xml" Id="R2f54165a117f4a1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9f69ecd1ede4735" /><Relationship Type="http://schemas.openxmlformats.org/officeDocument/2006/relationships/notesMaster" Target="/ppt/notesMasters/notesMaster1.xml" Id="Rdea1765740fc4f8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90223a996ab49a4" /><Relationship Type="http://schemas.openxmlformats.org/officeDocument/2006/relationships/notesMaster" Target="/ppt/notesMasters/notesMaster1.xml" Id="R6d59fbd54ef440d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3a5dd2a50e34db6" /><Relationship Type="http://schemas.openxmlformats.org/officeDocument/2006/relationships/notesMaster" Target="/ppt/notesMasters/notesMaster1.xml" Id="R8b5ac574a03548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dosya bağımsız bir ders sunumudur. Kod örneklerini sırayla ele alın. Bir örneği başka sayfanın koduyla birleştirmeyin. İlk üç sunumun çalıştırılabilir örneklerinde gerekli sınıf ve main tanımları aynı sayfadadır.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Android uygulamasını Android sistemi başlatır. Buradaki main, dil öğrenmek için kullandığımız konsol programının girişidir. Konsol çıktısının telefonda otomatik bir TextView oluşturmadığını açıklayın. Örnekler Kotlin/JVM ortamında tek tek çalıştırılabilir.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https://kotlinlang.org/docs/basic-syntax.html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Öğrenciden kendi adını yazmasını isteyin. println("ad") ile println(ad) arasındaki farkı gösterin: birincisi ad sözcüğünü, ikincisi saklanan değeri yazdırır.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https://kotlinlang.org/docs/basic-syntax.html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bir karşılaştırma işareti değildir. Sağdaki değer soldaki değişkene atanır. var sözcüğünü yalnız ilk tanımda kullanıyoruz.</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https://kotlinlang.org/docs/basic-syntax.html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Öğrencilerden her satırdaki ismi, tipi ve değeri göstermelerini isteyin. Int değişkene metin atayamayız. Double örneği para hesabı önerisi değildir, yalnızca ondalıklı veri tipini tanıtır.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https://kotlinlang.org/docs/basic-types.html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Bölmeye henüz girmeyin. İki Int ile bölme tam sayı bölmesidir. Bu ayrıntıyı ortalama örneği verilecekse ayrıca açıklayın.</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https://kotlinlang.org/docs/basic-syntax.html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Karşılaştırmalar: == eşit, != farklı, &gt; büyük, &lt; küçük, &gt;= büyük veya eşit, &lt;= küçük veya eşit. Bunları tahtada küçük örneklerle gösterin.</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Önce puanı 40, sonra 50, sonra 70 yaparak sonucu tahmin ettirin. Eşik değeri olan 50 özellikle denenmeli.</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Koşulların sırasını değiştirmenin sonucu değiştirebileceğini anlatın. puan &gt;= 50 ilk sırada olsaydı 90 puan da o dalda kalırdı.</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Sayıyı artıran satırı elle yazmamıza gerek olmadığını gösterin. Öğrenciye 1..5 yapınca kaç satır oluşacağını sorun.</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İndeks ve eleman sayısı aynı şey değildir. Bu dizinin size değeri 3, son indeksi 2’dir. Dizi tipi Array&lt;String&gt; olarak çıkarılır.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https://kotlinlang.org/docs/arrays.html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 nesnenin tüm içeriğini değişmez yapmaz. Sadece bu isme yeni referans atamayı sınırlar. Bu açıklamayı nesne referansına ayrıntılı girmeden somut kodla verin.</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https://kotlinlang.org/docs/arrays.html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Dizi ile liste aynı tür değildir. List bir salt okunur arayüzdür, her List nesnesinin her koşulda değişmez olduğu söylenmemeli. Başka bir değişebilir referansın paylaşılması ileri ayrıntıdır.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 ile liste değişkenine yeniden atama yapılmaz, add mevcut nesnenin içeriğini değiştirir. Kullanıcının gerçek projesindeki noteList aynı fikri kullanır. Henüz projedeki Adapter yapısına geçmeyin.</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removeAt(0) konuma göre siler, remove("Süt al") değere göre siler. Öğrenciler karıştırırsa bu farkı tahtada belirtin.</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https://kotlinlang.org/docs/list-operations.html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Burada indeks kullanmadan elemanın kendisini alıyoruz. for yapısı listeyi silmez veya değiştirmez.</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Fonksiyon tanımını main dışına koyduğumuzu açıkça gösterin. Öğrenciye çağrıyı iki kez yazdırın, iki Merhaba çıktısını gözlemleyin.</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Parametre tanımdaki isimdir, argüman çağrıdaki gerçek değerdir. + burada iki metni birleştirir. Bu sayfadaki örnek gerekli tanım ve main ile tamdır.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Önce topla(3,4) ifadesinin yerine 7 yazılmış gibi düşünmelerini isteyin. return ekrana yazdırmaz. println ekrana yazar.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 anlamlı bir iş verisi taşımayan dönüş türüdür. Boş işlem demek değildir. println ve return aynı kod içinde bulunabilir ancak farklı görevleri vardır.</a:t>
            </a:r>
          </a:p>
          <a:p xmlns:a="http://schemas.openxmlformats.org/drawingml/2006/main">
            <a:r>
              <a:t/>
            </a:r>
          </a:p>
          <a:p xmlns:a="http://schemas.openxmlformats.org/drawingml/2006/main">
            <a:r>
              <a:t>Kaynaklar:</a:t>
            </a:r>
          </a:p>
          <a:p xmlns:a="http://schemas.openxmlformats.org/drawingml/2006/main">
            <a:r>
              <a:t>https://kotlinlang.org/docs/functions.html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bir yeni konu slaydı değil, öğrenilen yapıların kontrollü birleşimidir. Fonksiyon gövdesi aynı sayfada bulunur.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için cevaplar:</a:t>
            </a:r>
          </a:p>
          <a:p xmlns:a="http://schemas.openxmlformats.org/drawingml/2006/main">
            <a:r>
              <a:t>1) 5. 2) 2. 3) Kaldı. Öğrenciden her cevabı gerekçesiyle açıklamasını isteyin.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Öğrencilerden kendi seçtikleri iki notu bir listede tutan ve for ile yazdıran bir main yazmalarını isteyin. Resmî kaynaklar ilgili sayfaların notlarındadır.</a:t>
            </a:r>
          </a:p>
          <a:p xmlns:a="http://schemas.openxmlformats.org/drawingml/2006/main">
            <a:r>
              <a:t/>
            </a:r>
          </a:p>
          <a:p xmlns:a="http://schemas.openxmlformats.org/drawingml/2006/main">
            <a:r>
              <a:t>Kaynaklar:</a:t>
            </a:r>
          </a:p>
          <a:p xmlns:a="http://schemas.openxmlformats.org/drawingml/2006/main">
            <a:r>
              <a:t>https://kotlinlang.org/docs/basic-syntax.html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23 sayfa temel derstir. Bu ek bölüm ayrı bir ders saatinde işlenebilir. Örnekler konsol programıdır. Sınıf veya interface bilgisi gerektirmez.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Sabit tam sayı fiyatları yalnız dil örneğidir. Varsayılan değer fonksiyon tanımında, isimli argüman çağrı sırasında bulunur. Öğrenciye toplam(30, 2) sonucunu sorun.</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Sırasıyla -1, 0, 100 ve 101 deneyin. Beklenen değerler false, true, true, false. || iki koşuldan en az birinin doğru olmasını ister; sonraki erken dönüş örneğinde kullanılır.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 işlemlik if gövdesinde süslü parantez atlanabilir. Önceki örneklerdeki blok yazımı da geçerlidir. return tüm programı değil, içinde olduğu fonksiyonu bitirir.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Boş liste için döngü hiç çalışmaz ve 0 döner. Fonksiyon girdiyi değiştirmez. Sonuc değişkeni her çağrıda yeniden sıfırlanır.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fonksiyonun girdisinin 0..100 aralığında doğrulandığı varsayılır. Eşik değer 50 de seçilir. Boş liste ve tümü kalan öğrenciler için boş liste döner. Hazır filter kullanmadan mekanizmayı gösteriyoruz.</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etkiye yan etki denir. Önceki gecenler fonksiyonu yeni liste üretirken bu örnek verilen listeyi değiştirir. List türü add sunmaz, MutableList sunar.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ile bölünseydi iki Int için sonuç 57 olurdu. Girdilerin geçerli puan olduğu varsayılmıştır. İki ayrı fonksiyonun parametre isimleri farklı olabilir.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Öğrencilere önce kâğıt üzerinde 180 / 3 = 60 ve geçen sayısı 2 hesaplatın. Geçme eşiği varsayılan 50 olacak. Veri doğrulama bu programın ön koşuludur.</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Tam kod ayrıca Sinav_Raporu.kt dosyasında. isEmpty listenin boş olup olmadığını söyler. Ortalama fonksiyonunun sözleşmesi: liste boş olmamalıdır; main bunu kontrol eder. toplam Double olduğu için bölme ondalıklıdır. Eşik parametresini 70 yaparak geçen sayısının 1 olduğunu gösterin. Sınıf veya nesne tabanlı tasarım gerekmiyor.</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Denemeler: boş liste için yalnız Henüz puan yok. [50] için ortalama 50.0, geçen 1, kalan 0. [0,100] için ortalama 50.0, geçen 1, kalan 1. Geliştirme görevi: en yüksek puanı ayrı fonksiyonla buldurun; boş liste kontrolünden sonra çağırın.</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Android projesinden alınmış kod değildir; konsolda çalışabilen yeni bir alıştırmadır. trim metnin iki ucunu temizler, contains aynı metnin listede olup olmadığını denetler. Büyük/küçük harf duyarlıdır: Oku ve oku farklı kabul edilir.</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Tam kod ayrıca Kontrollu_Not_Defteri.kt dosyasında. isEmpty String üzerinde boş metni kontrol eder. İlk iki return listeyi değiştirmeden false döndürür. add satırına ulaşan çağrı listeye ekler ve true döndürür. Çıktı aşağıda iki sütunda okunur. Bu uygulama sabit deneme girdileri kullanır; klavyeden giriş veya kalıcı kayıt içermez.</a:t>
            </a:r>
          </a:p>
          <a:p xmlns:a="http://schemas.openxmlformats.org/drawingml/2006/main">
            <a:r>
              <a:t/>
            </a:r>
          </a:p>
          <a:p xmlns:a="http://schemas.openxmlformats.org/drawingml/2006/main">
            <a:r>
              <a:t>Uygulama: Bu sayfanın kodunu ayrı bir Kotlin/JVM dosyasında çalıştırın. Sınıf ve main tanımları bu sayfada tamdır. Yalnız sınıf tanımı olan sayfalar konsola çıktı üretmez.</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Zor geliştirme görevi: notSil(notlar, metin): Boolean fonksiyonu yazın. trim uygulayın, sonra remove sonucunu döndürün. Var olan Oku silinince true ve [Ders çalış], tekrar silinince false beklenir. İkinci görev: en fazla 5 not kabul edin, sınır kontrolünü add öncesine koyun. Öğrenci hata nedenini de döndürmek isterse String sonuçla ayrı bir sürüm deneyebilir; yeni kavramları aynı derste yığmayın.</a:t>
            </a:r>
          </a:p>
          <a:p xmlns:a="http://schemas.openxmlformats.org/drawingml/2006/main">
            <a:r>
              <a:t/>
            </a:r>
          </a:p>
          <a:p xmlns:a="http://schemas.openxmlformats.org/drawingml/2006/main">
            <a:r>
              <a:t>Kaynaklar:</a:t>
            </a:r>
          </a:p>
          <a:p xmlns:a="http://schemas.openxmlformats.org/drawingml/2006/main">
            <a:r>
              <a:t>https://kotlinlang.org/docs/functions.html</a:t>
            </a:r>
          </a:p>
          <a:p xmlns:a="http://schemas.openxmlformats.org/drawingml/2006/main">
            <a:r>
              <a:t>https://kotlinlang.org/docs/collections-overview.html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d7f5780eb84e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6a2feed51748ac" /><Relationship Type="http://schemas.openxmlformats.org/officeDocument/2006/relationships/slideLayout" Target="/ppt/slideLayouts/slideLayout1.xml" Id="R07fd37c2f78b40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fd37c2f78b40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c85fecff86466f" /><Relationship Type="http://schemas.openxmlformats.org/officeDocument/2006/relationships/notesSlide" Target="/ppt/notesSlides/notesSlide1.xml" Id="R98f0dd16da1e41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f247961b864247" /><Relationship Type="http://schemas.openxmlformats.org/officeDocument/2006/relationships/notesSlide" Target="/ppt/notesSlides/notesSlide2.xml" Id="Rfa257374fd8240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64c42f19a34aea" /><Relationship Type="http://schemas.openxmlformats.org/officeDocument/2006/relationships/notesSlide" Target="/ppt/notesSlides/notesSlide3.xml" Id="R74d620e18dcb4f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687f07826d4d77" /><Relationship Type="http://schemas.openxmlformats.org/officeDocument/2006/relationships/notesSlide" Target="/ppt/notesSlides/notesSlide4.xml" Id="R234dd441b3da44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5bfbb522054a53" /><Relationship Type="http://schemas.openxmlformats.org/officeDocument/2006/relationships/notesSlide" Target="/ppt/notesSlides/notesSlide5.xml" Id="R2e73a8caf16d42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6a89045bbe4a4d" /><Relationship Type="http://schemas.openxmlformats.org/officeDocument/2006/relationships/notesSlide" Target="/ppt/notesSlides/notesSlide6.xml" Id="R0454b82786e643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cd6b379601845c2" /><Relationship Type="http://schemas.openxmlformats.org/officeDocument/2006/relationships/notesSlide" Target="/ppt/notesSlides/notesSlide7.xml" Id="R0c210a186dd547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65df71ac3d4265" /><Relationship Type="http://schemas.openxmlformats.org/officeDocument/2006/relationships/notesSlide" Target="/ppt/notesSlides/notesSlide8.xml" Id="R8ff1676aa55741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981b3476e34cf2" /><Relationship Type="http://schemas.openxmlformats.org/officeDocument/2006/relationships/notesSlide" Target="/ppt/notesSlides/notesSlide9.xml" Id="R6de8ece4abf440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e27cce4e2441ed" /><Relationship Type="http://schemas.openxmlformats.org/officeDocument/2006/relationships/notesSlide" Target="/ppt/notesSlides/notesSlide10.xml" Id="R2e33269431f940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9ef3184a514932" /><Relationship Type="http://schemas.openxmlformats.org/officeDocument/2006/relationships/notesSlide" Target="/ppt/notesSlides/notesSlide11.xml" Id="R038d28e370074c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dc51e660bea4750" /><Relationship Type="http://schemas.openxmlformats.org/officeDocument/2006/relationships/notesSlide" Target="/ppt/notesSlides/notesSlide12.xml" Id="R86150621fa4648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fc3cfc6e0548ca" /><Relationship Type="http://schemas.openxmlformats.org/officeDocument/2006/relationships/notesSlide" Target="/ppt/notesSlides/notesSlide13.xml" Id="R1481eb1fd6dd40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81de3f25044dc0" /><Relationship Type="http://schemas.openxmlformats.org/officeDocument/2006/relationships/notesSlide" Target="/ppt/notesSlides/notesSlide14.xml" Id="R44874da667a845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2c520ed7c643cb" /><Relationship Type="http://schemas.openxmlformats.org/officeDocument/2006/relationships/notesSlide" Target="/ppt/notesSlides/notesSlide15.xml" Id="Rf2f9b5a618ed4c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f5a8c8159b64d6a" /><Relationship Type="http://schemas.openxmlformats.org/officeDocument/2006/relationships/notesSlide" Target="/ppt/notesSlides/notesSlide16.xml" Id="R345985561466449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da597d51d64b34" /><Relationship Type="http://schemas.openxmlformats.org/officeDocument/2006/relationships/notesSlide" Target="/ppt/notesSlides/notesSlide17.xml" Id="R0fdbb636c19c4e6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f8d8c1ac7fd49f7" /><Relationship Type="http://schemas.openxmlformats.org/officeDocument/2006/relationships/notesSlide" Target="/ppt/notesSlides/notesSlide18.xml" Id="R385b2fa75f0947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5c4cd70a548486f" /><Relationship Type="http://schemas.openxmlformats.org/officeDocument/2006/relationships/notesSlide" Target="/ppt/notesSlides/notesSlide19.xml" Id="Rb48566b26cb446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405fe74b1cc420c" /><Relationship Type="http://schemas.openxmlformats.org/officeDocument/2006/relationships/notesSlide" Target="/ppt/notesSlides/notesSlide20.xml" Id="R5016fc16ed3542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fc101507c324191" /><Relationship Type="http://schemas.openxmlformats.org/officeDocument/2006/relationships/notesSlide" Target="/ppt/notesSlides/notesSlide21.xml" Id="R6507cbf9f7914a1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7b5d4d6ea8b4403" /><Relationship Type="http://schemas.openxmlformats.org/officeDocument/2006/relationships/notesSlide" Target="/ppt/notesSlides/notesSlide22.xml" Id="Re09e8ac01a814e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463e5a5e59a4e97" /><Relationship Type="http://schemas.openxmlformats.org/officeDocument/2006/relationships/notesSlide" Target="/ppt/notesSlides/notesSlide23.xml" Id="Raa41bd60782e47c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ae6102e4bc24638" /><Relationship Type="http://schemas.openxmlformats.org/officeDocument/2006/relationships/notesSlide" Target="/ppt/notesSlides/notesSlide24.xml" Id="R14dd2b991a1c44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f87f3cc68ea48fa" /><Relationship Type="http://schemas.openxmlformats.org/officeDocument/2006/relationships/notesSlide" Target="/ppt/notesSlides/notesSlide25.xml" Id="Rec3ab3718ec849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7f22c5fd7754363" /><Relationship Type="http://schemas.openxmlformats.org/officeDocument/2006/relationships/notesSlide" Target="/ppt/notesSlides/notesSlide26.xml" Id="R13dbcf3743874c8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f919b81784b4f64" /><Relationship Type="http://schemas.openxmlformats.org/officeDocument/2006/relationships/notesSlide" Target="/ppt/notesSlides/notesSlide27.xml" Id="Rfcc443f42ea34f7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9c8b9a0d78a4fbf" /><Relationship Type="http://schemas.openxmlformats.org/officeDocument/2006/relationships/notesSlide" Target="/ppt/notesSlides/notesSlide28.xml" Id="R3d7b600221a1409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5ec15a595ae4ef4" /><Relationship Type="http://schemas.openxmlformats.org/officeDocument/2006/relationships/notesSlide" Target="/ppt/notesSlides/notesSlide29.xml" Id="R6aad3abb7ade43b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20c87c4df124b9d" /><Relationship Type="http://schemas.openxmlformats.org/officeDocument/2006/relationships/notesSlide" Target="/ppt/notesSlides/notesSlide30.xml" Id="R29242987f48449c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213a40698eb4dca" /><Relationship Type="http://schemas.openxmlformats.org/officeDocument/2006/relationships/notesSlide" Target="/ppt/notesSlides/notesSlide31.xml" Id="Rcf040d7f311d4f1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67c6316aa684a1b" /><Relationship Type="http://schemas.openxmlformats.org/officeDocument/2006/relationships/notesSlide" Target="/ppt/notesSlides/notesSlide32.xml" Id="Ree84918ddfd843c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77d962bf4a7446e" /><Relationship Type="http://schemas.openxmlformats.org/officeDocument/2006/relationships/notesSlide" Target="/ppt/notesSlides/notesSlide33.xml" Id="Raa21a7eebe31407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80326b6bd8e4bf8" /><Relationship Type="http://schemas.openxmlformats.org/officeDocument/2006/relationships/notesSlide" Target="/ppt/notesSlides/notesSlide34.xml" Id="Rae5808ee77d445e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57e9d11603a4130" /><Relationship Type="http://schemas.openxmlformats.org/officeDocument/2006/relationships/notesSlide" Target="/ppt/notesSlides/notesSlide35.xml" Id="R6d7c0a1f4af3444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d21642d1ac9455e" /><Relationship Type="http://schemas.openxmlformats.org/officeDocument/2006/relationships/notesSlide" Target="/ppt/notesSlides/notesSlide36.xml" Id="R4ea7ed6a78b645a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2a9f060e1e94ead" /><Relationship Type="http://schemas.openxmlformats.org/officeDocument/2006/relationships/notesSlide" Target="/ppt/notesSlides/notesSlide37.xml" Id="Rfd5efb2e5698493e" /></Relationships>
</file>

<file path=ppt/slides/slide1.xml><?xml version="1.0" encoding="utf-8"?>
<p:sld xmlns:p="http://schemas.openxmlformats.org/presentationml/2006/main">
  <p:cSld>
    <p:bg>
      <p:bgPr>
        <a:solidFill xmlns:a="http://schemas.openxmlformats.org/drawingml/2006/main">
          <a:srgbClr val="11223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E934A50-2E53-43EA-A6AA-C3EF8221CE7D}"/>
              </a:ext>
            </a:extLst>
          </p:cNvPr>
          <p:cNvSpPr>
            <a:spLocks xmlns:a="http://schemas.openxmlformats.org/drawingml/2006/main" noGrp="1"/>
          </p:cNvSpPr>
          <p:nvPr/>
        </p:nvSpPr>
        <p:spPr>
          <a:xfrm xmlns:a="http://schemas.openxmlformats.org/drawingml/2006/main">
            <a:off x="781050" y="723900"/>
            <a:ext cx="1295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1">
                <a:solidFill>
                  <a:srgbClr val="75DDCA"/>
                </a:solidFill>
                <a:latin typeface="Arial"/>
                <a:ea typeface="Arial"/>
                <a:cs typeface="Arial"/>
              </a:defRPr>
            </a:pPr>
            <a:r>
              <a:rPr sz="2100" b="1">
                <a:solidFill>
                  <a:srgbClr val="75DDCA"/>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4C363881-D761-41EC-B42F-5C827796D015}"/>
              </a:ext>
            </a:extLst>
          </p:cNvPr>
          <p:cNvSpPr>
            <a:spLocks xmlns:a="http://schemas.openxmlformats.org/drawingml/2006/main" noGrp="1"/>
          </p:cNvSpPr>
          <p:nvPr/>
        </p:nvSpPr>
        <p:spPr>
          <a:xfrm xmlns:a="http://schemas.openxmlformats.org/drawingml/2006/main">
            <a:off x="742950" y="2114550"/>
            <a:ext cx="1366837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6300" b="1">
                <a:solidFill>
                  <a:srgbClr val="F5F8FA"/>
                </a:solidFill>
                <a:latin typeface="Arial"/>
                <a:ea typeface="Arial"/>
                <a:cs typeface="Arial"/>
              </a:defRPr>
            </a:pPr>
            <a:r>
              <a:rPr sz="6300" b="1">
                <a:solidFill>
                  <a:srgbClr val="F5F8FA"/>
                </a:solidFill>
                <a:latin typeface="Arial"/>
                <a:ea typeface="Arial"/>
                <a:cs typeface="Arial"/>
              </a:rPr>
              <a:t>Kotlin temelleri</a:t>
            </a:r>
          </a:p>
        </p:txBody>
      </p:sp>
      <p:sp>
        <p:nvSpPr>
          <p:cNvPr id="3" name="">
            <a:extLst xmlns:a="http://schemas.openxmlformats.org/drawingml/2006/main">
              <a:ext uri="{FF2B5EF4-FFF2-40B4-BE49-F238E27FC236}">
                <a16:creationId xmlns:a16="http://schemas.microsoft.com/office/drawing/2014/main" id="{638F8785-9AF2-4CFC-92AD-D2B6930ECC76}"/>
              </a:ext>
            </a:extLst>
          </p:cNvPr>
          <p:cNvSpPr>
            <a:spLocks xmlns:a="http://schemas.openxmlformats.org/drawingml/2006/main" noGrp="1"/>
          </p:cNvSpPr>
          <p:nvPr/>
        </p:nvSpPr>
        <p:spPr>
          <a:xfrm xmlns:a="http://schemas.openxmlformats.org/drawingml/2006/main">
            <a:off x="800100" y="5715000"/>
            <a:ext cx="13335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700" b="0">
                <a:solidFill>
                  <a:srgbClr val="BECCD7"/>
                </a:solidFill>
                <a:latin typeface="Arial"/>
                <a:ea typeface="Arial"/>
                <a:cs typeface="Arial"/>
              </a:defRPr>
            </a:pPr>
            <a:r>
              <a:rPr sz="2700" b="0">
                <a:solidFill>
                  <a:srgbClr val="BECCD7"/>
                </a:solidFill>
                <a:latin typeface="Arial"/>
                <a:ea typeface="Arial"/>
                <a:cs typeface="Arial"/>
              </a:rPr>
              <a:t>Değişken, karar, tekrar, dizi, liste ve fonksiyon</a:t>
            </a:r>
          </a:p>
          <a:p xmlns:a="http://schemas.openxmlformats.org/drawingml/2006/main">
            <a:pPr>
              <a:lnSpc>
                <a:spcPct val="108000"/>
              </a:lnSpc>
              <a:buNone/>
              <a:defRPr sz="2700" b="0">
                <a:solidFill>
                  <a:srgbClr val="BECCD7"/>
                </a:solidFill>
                <a:latin typeface="Arial"/>
                <a:ea typeface="Arial"/>
                <a:cs typeface="Arial"/>
              </a:defRPr>
            </a:pPr>
            <a:r>
              <a:rPr sz="2700" b="0">
                <a:solidFill>
                  <a:srgbClr val="BECCD7"/>
                </a:solidFill>
                <a:latin typeface="Arial"/>
                <a:ea typeface="Arial"/>
                <a:cs typeface="Arial"/>
              </a:rPr>
              <a:t>Sıfırdan başlayanlar için 1. sunum</a:t>
            </a:r>
          </a:p>
        </p:txBody>
      </p:sp>
    </p:spTree>
    <p:extLst>
      <p:ext uri="{BB962C8B-B14F-4D97-AF65-F5344CB8AC3E}">
        <p14:creationId xmlns:p14="http://schemas.microsoft.com/office/powerpoint/2010/main" val="73281487"/>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00BE280-55DC-4EC8-954B-A17F2CE4EC4F}"/>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B8B0AAE3-5BDE-4747-AE70-177F48B12958}"/>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Program nereden başlar?</a:t>
            </a:r>
          </a:p>
        </p:txBody>
      </p:sp>
      <p:sp>
        <p:nvSpPr>
          <p:cNvPr id="3" name="">
            <a:extLst xmlns:a="http://schemas.openxmlformats.org/drawingml/2006/main">
              <a:ext uri="{FF2B5EF4-FFF2-40B4-BE49-F238E27FC236}">
                <a16:creationId xmlns:a16="http://schemas.microsoft.com/office/drawing/2014/main" id="{93A58BF9-1277-4827-8268-16163368F8E3}"/>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Konsol programında ilk çalışacak işlemleri main fonksiyonunun içine yazarız.</a:t>
            </a:r>
          </a:p>
        </p:txBody>
      </p:sp>
      <p:sp>
        <p:nvSpPr>
          <p:cNvPr id="4" name="">
            <a:extLst xmlns:a="http://schemas.openxmlformats.org/drawingml/2006/main">
              <a:ext uri="{FF2B5EF4-FFF2-40B4-BE49-F238E27FC236}">
                <a16:creationId xmlns:a16="http://schemas.microsoft.com/office/drawing/2014/main" id="{53014DB3-9E1F-4864-A61D-48B9E2D9547E}"/>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8C8289F3-9065-482D-ADF7-D6D3CB82AFEF}"/>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49D66B7D-6EF2-42C1-83BF-C7A70B72A02F}"/>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"Merhaba"</a:t>
            </a:r>
            <a:r>
              <a:t>)</a:t>
            </a:r>
          </a:p>
        </p:txBody>
      </p:sp>
      <p:sp>
        <p:nvSpPr>
          <p:cNvPr id="7" name="">
            <a:extLst xmlns:a="http://schemas.openxmlformats.org/drawingml/2006/main">
              <a:ext uri="{FF2B5EF4-FFF2-40B4-BE49-F238E27FC236}">
                <a16:creationId xmlns:a16="http://schemas.microsoft.com/office/drawing/2014/main" id="{A7488F67-30F6-453F-A7E5-4CA0960C5FA6}"/>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8" name="">
            <a:extLst xmlns:a="http://schemas.openxmlformats.org/drawingml/2006/main">
              <a:ext uri="{FF2B5EF4-FFF2-40B4-BE49-F238E27FC236}">
                <a16:creationId xmlns:a16="http://schemas.microsoft.com/office/drawing/2014/main" id="{B3DC935A-3FEF-4AFF-9838-EFAAC107AF49}"/>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fun main()</a:t>
            </a:r>
          </a:p>
        </p:txBody>
      </p:sp>
      <p:sp>
        <p:nvSpPr>
          <p:cNvPr id="9" name="">
            <a:extLst xmlns:a="http://schemas.openxmlformats.org/drawingml/2006/main">
              <a:ext uri="{FF2B5EF4-FFF2-40B4-BE49-F238E27FC236}">
                <a16:creationId xmlns:a16="http://schemas.microsoft.com/office/drawing/2014/main" id="{16ABA469-0B5C-41E6-8968-DCA6814A9A66}"/>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Programın başlangıç yerini tanımlar. Şimdilik bu yazımı örneklerin dış çerçevesi olarak kullanacağız.</a:t>
            </a:r>
          </a:p>
        </p:txBody>
      </p:sp>
      <p:sp>
        <p:nvSpPr>
          <p:cNvPr id="10" name="">
            <a:extLst xmlns:a="http://schemas.openxmlformats.org/drawingml/2006/main">
              <a:ext uri="{FF2B5EF4-FFF2-40B4-BE49-F238E27FC236}">
                <a16:creationId xmlns:a16="http://schemas.microsoft.com/office/drawing/2014/main" id="{7FD27504-F7B2-4527-B0F9-5D21A936E0DE}"/>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println(...)</a:t>
            </a:r>
          </a:p>
        </p:txBody>
      </p:sp>
      <p:sp>
        <p:nvSpPr>
          <p:cNvPr id="11" name="">
            <a:extLst xmlns:a="http://schemas.openxmlformats.org/drawingml/2006/main">
              <a:ext uri="{FF2B5EF4-FFF2-40B4-BE49-F238E27FC236}">
                <a16:creationId xmlns:a16="http://schemas.microsoft.com/office/drawing/2014/main" id="{20B11DA8-45A1-489D-9DB4-051A55A0C56E}"/>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Parantez içindeki metni konsola yazar. Metinleri çift tırnak arasına koyarız.</a:t>
            </a:r>
          </a:p>
        </p:txBody>
      </p:sp>
      <p:sp>
        <p:nvSpPr>
          <p:cNvPr id="12" name="">
            <a:extLst xmlns:a="http://schemas.openxmlformats.org/drawingml/2006/main">
              <a:ext uri="{FF2B5EF4-FFF2-40B4-BE49-F238E27FC236}">
                <a16:creationId xmlns:a16="http://schemas.microsoft.com/office/drawing/2014/main" id="{A55449CA-61D6-4BA3-BAD1-5D7A3AA4FD33}"/>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3" name="">
            <a:extLst xmlns:a="http://schemas.openxmlformats.org/drawingml/2006/main">
              <a:ext uri="{FF2B5EF4-FFF2-40B4-BE49-F238E27FC236}">
                <a16:creationId xmlns:a16="http://schemas.microsoft.com/office/drawing/2014/main" id="{90772A7C-098B-42A8-A30B-E43C65FC138B}"/>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Merhaba</a:t>
            </a:r>
          </a:p>
        </p:txBody>
      </p:sp>
      <p:sp>
        <p:nvSpPr>
          <p:cNvPr id="14" name="">
            <a:extLst xmlns:a="http://schemas.openxmlformats.org/drawingml/2006/main">
              <a:ext uri="{FF2B5EF4-FFF2-40B4-BE49-F238E27FC236}">
                <a16:creationId xmlns:a16="http://schemas.microsoft.com/office/drawing/2014/main" id="{ADBD91A2-B14D-4295-AE79-529FEC7AE63C}"/>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 / 37</a:t>
            </a:r>
          </a:p>
        </p:txBody>
      </p:sp>
    </p:spTree>
    <p:extLst>
      <p:ext uri="{BB962C8B-B14F-4D97-AF65-F5344CB8AC3E}">
        <p14:creationId xmlns:p14="http://schemas.microsoft.com/office/powerpoint/2010/main" val="740051544"/>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E8D6EDE-49A3-41AF-9705-0122DBE385D3}"/>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B04153FA-B893-4AD3-8F0D-3483AE5A91E8}"/>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Değişken nedir?</a:t>
            </a:r>
          </a:p>
        </p:txBody>
      </p:sp>
      <p:sp>
        <p:nvSpPr>
          <p:cNvPr id="3" name="">
            <a:extLst xmlns:a="http://schemas.openxmlformats.org/drawingml/2006/main">
              <a:ext uri="{FF2B5EF4-FFF2-40B4-BE49-F238E27FC236}">
                <a16:creationId xmlns:a16="http://schemas.microsoft.com/office/drawing/2014/main" id="{8F616F19-1030-44F4-A814-0249BE7C5779}"/>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Değişken, programdaki bir değere verdiğimiz isimdir. İsim sayesinde o değeri tekrar kullanırız.</a:t>
            </a:r>
          </a:p>
        </p:txBody>
      </p:sp>
      <p:sp>
        <p:nvSpPr>
          <p:cNvPr id="4" name="">
            <a:extLst xmlns:a="http://schemas.openxmlformats.org/drawingml/2006/main">
              <a:ext uri="{FF2B5EF4-FFF2-40B4-BE49-F238E27FC236}">
                <a16:creationId xmlns:a16="http://schemas.microsoft.com/office/drawing/2014/main" id="{8BA2FA68-B31B-4DD8-9912-9F6EED9348A0}"/>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B98DDBD0-B513-41B6-A413-455A06B8FF8E}"/>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51FD7151-0BA5-42E1-B4C4-8E8C128D6AA1}"/>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ad = </a:t>
            </a:r>
            <a:r>
              <a:rPr>
                <a:solidFill>
                  <a:srgbClr val="397425"/>
                </a:solidFill>
              </a:rPr>
              <a:t>"Ayşe"</a:t>
            </a:r>
          </a:p>
        </p:txBody>
      </p:sp>
      <p:sp>
        <p:nvSpPr>
          <p:cNvPr id="7" name="">
            <a:extLst xmlns:a="http://schemas.openxmlformats.org/drawingml/2006/main">
              <a:ext uri="{FF2B5EF4-FFF2-40B4-BE49-F238E27FC236}">
                <a16:creationId xmlns:a16="http://schemas.microsoft.com/office/drawing/2014/main" id="{2353F768-BE7C-4C6B-A29A-14501CC1EFAE}"/>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println(ad)</a:t>
            </a:r>
          </a:p>
        </p:txBody>
      </p:sp>
      <p:sp>
        <p:nvSpPr>
          <p:cNvPr id="8" name="">
            <a:extLst xmlns:a="http://schemas.openxmlformats.org/drawingml/2006/main">
              <a:ext uri="{FF2B5EF4-FFF2-40B4-BE49-F238E27FC236}">
                <a16:creationId xmlns:a16="http://schemas.microsoft.com/office/drawing/2014/main" id="{DD8E36CB-C3E9-4C84-83A9-3D1B7F544290}"/>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9" name="">
            <a:extLst xmlns:a="http://schemas.openxmlformats.org/drawingml/2006/main">
              <a:ext uri="{FF2B5EF4-FFF2-40B4-BE49-F238E27FC236}">
                <a16:creationId xmlns:a16="http://schemas.microsoft.com/office/drawing/2014/main" id="{A3F82DC2-E030-449A-AABE-019AE122A55C}"/>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val ad</a:t>
            </a:r>
          </a:p>
        </p:txBody>
      </p:sp>
      <p:sp>
        <p:nvSpPr>
          <p:cNvPr id="10" name="">
            <a:extLst xmlns:a="http://schemas.openxmlformats.org/drawingml/2006/main">
              <a:ext uri="{FF2B5EF4-FFF2-40B4-BE49-F238E27FC236}">
                <a16:creationId xmlns:a16="http://schemas.microsoft.com/office/drawing/2014/main" id="{79C1E66F-3643-4126-82AB-12F8B3F5BD98}"/>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ad isminde bir değişken tanımlar. val ile bu isme daha sonra başka değer atayamayız.</a:t>
            </a:r>
          </a:p>
        </p:txBody>
      </p:sp>
      <p:sp>
        <p:nvSpPr>
          <p:cNvPr id="11" name="">
            <a:extLst xmlns:a="http://schemas.openxmlformats.org/drawingml/2006/main">
              <a:ext uri="{FF2B5EF4-FFF2-40B4-BE49-F238E27FC236}">
                <a16:creationId xmlns:a16="http://schemas.microsoft.com/office/drawing/2014/main" id="{B0D7FD32-EDD5-4CDE-9086-0BF6D83CF7E4}"/>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 "Ayşe"</a:t>
            </a:r>
          </a:p>
        </p:txBody>
      </p:sp>
      <p:sp>
        <p:nvSpPr>
          <p:cNvPr id="12" name="">
            <a:extLst xmlns:a="http://schemas.openxmlformats.org/drawingml/2006/main">
              <a:ext uri="{FF2B5EF4-FFF2-40B4-BE49-F238E27FC236}">
                <a16:creationId xmlns:a16="http://schemas.microsoft.com/office/drawing/2014/main" id="{4A1137AF-4325-42BE-B13F-07AAFAC183B4}"/>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Ayşe metnini ad değişkenine atar. println(ad), değişkenin içindeki değeri yazar.</a:t>
            </a:r>
          </a:p>
        </p:txBody>
      </p:sp>
      <p:sp>
        <p:nvSpPr>
          <p:cNvPr id="13" name="">
            <a:extLst xmlns:a="http://schemas.openxmlformats.org/drawingml/2006/main">
              <a:ext uri="{FF2B5EF4-FFF2-40B4-BE49-F238E27FC236}">
                <a16:creationId xmlns:a16="http://schemas.microsoft.com/office/drawing/2014/main" id="{AC4433A3-35AB-4D40-BFA6-58D99EDEC995}"/>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4" name="">
            <a:extLst xmlns:a="http://schemas.openxmlformats.org/drawingml/2006/main">
              <a:ext uri="{FF2B5EF4-FFF2-40B4-BE49-F238E27FC236}">
                <a16:creationId xmlns:a16="http://schemas.microsoft.com/office/drawing/2014/main" id="{1896DFEC-FF20-4588-AEBC-3F51087CEA12}"/>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Ayşe</a:t>
            </a:r>
          </a:p>
        </p:txBody>
      </p:sp>
      <p:sp>
        <p:nvSpPr>
          <p:cNvPr id="15" name="">
            <a:extLst xmlns:a="http://schemas.openxmlformats.org/drawingml/2006/main">
              <a:ext uri="{FF2B5EF4-FFF2-40B4-BE49-F238E27FC236}">
                <a16:creationId xmlns:a16="http://schemas.microsoft.com/office/drawing/2014/main" id="{C328F3CC-E5B6-4B00-92D2-E959A01352F5}"/>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 / 37</a:t>
            </a:r>
          </a:p>
        </p:txBody>
      </p:sp>
    </p:spTree>
    <p:extLst>
      <p:ext uri="{BB962C8B-B14F-4D97-AF65-F5344CB8AC3E}">
        <p14:creationId xmlns:p14="http://schemas.microsoft.com/office/powerpoint/2010/main" val="759443977"/>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2B2E817-3B54-4190-A6A2-C998E0F7870B}"/>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8C139A1D-1A3C-46B6-81FC-37783D46B90F}"/>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Değer nasıl değiştirilir?</a:t>
            </a:r>
          </a:p>
        </p:txBody>
      </p:sp>
      <p:sp>
        <p:nvSpPr>
          <p:cNvPr id="3" name="">
            <a:extLst xmlns:a="http://schemas.openxmlformats.org/drawingml/2006/main">
              <a:ext uri="{FF2B5EF4-FFF2-40B4-BE49-F238E27FC236}">
                <a16:creationId xmlns:a16="http://schemas.microsoft.com/office/drawing/2014/main" id="{08AFFE26-CADE-45A2-A04F-BE69FDD99EAE}"/>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Değişkene sonradan yeni bir değer vereceksek var kullanırız.</a:t>
            </a:r>
          </a:p>
        </p:txBody>
      </p:sp>
      <p:sp>
        <p:nvSpPr>
          <p:cNvPr id="4" name="">
            <a:extLst xmlns:a="http://schemas.openxmlformats.org/drawingml/2006/main">
              <a:ext uri="{FF2B5EF4-FFF2-40B4-BE49-F238E27FC236}">
                <a16:creationId xmlns:a16="http://schemas.microsoft.com/office/drawing/2014/main" id="{02E1D600-DADB-4361-B33D-9D7A6F8D4E2C}"/>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41E40F52-2A7E-4153-B468-1A9D495DFF9F}"/>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52DFBB76-9B87-4706-9DAB-9F3CEC217EF9}"/>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var</a:t>
            </a:r>
            <a:r>
              <a:t> puan = </a:t>
            </a:r>
            <a:r>
              <a:rPr>
                <a:solidFill>
                  <a:srgbClr val="A45110"/>
                </a:solidFill>
              </a:rPr>
              <a:t>60</a:t>
            </a:r>
          </a:p>
        </p:txBody>
      </p:sp>
      <p:sp>
        <p:nvSpPr>
          <p:cNvPr id="7" name="">
            <a:extLst xmlns:a="http://schemas.openxmlformats.org/drawingml/2006/main">
              <a:ext uri="{FF2B5EF4-FFF2-40B4-BE49-F238E27FC236}">
                <a16:creationId xmlns:a16="http://schemas.microsoft.com/office/drawing/2014/main" id="{DEB7F443-120A-4C49-8B92-3CAEB4FE876C}"/>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puan = </a:t>
            </a:r>
            <a:r>
              <a:rPr>
                <a:solidFill>
                  <a:srgbClr val="A45110"/>
                </a:solidFill>
              </a:rPr>
              <a:t>80</a:t>
            </a:r>
          </a:p>
        </p:txBody>
      </p:sp>
      <p:sp>
        <p:nvSpPr>
          <p:cNvPr id="8" name="">
            <a:extLst xmlns:a="http://schemas.openxmlformats.org/drawingml/2006/main">
              <a:ext uri="{FF2B5EF4-FFF2-40B4-BE49-F238E27FC236}">
                <a16:creationId xmlns:a16="http://schemas.microsoft.com/office/drawing/2014/main" id="{5B356FCF-5631-4936-9BA0-E438CF9D924F}"/>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println(puan)</a:t>
            </a:r>
          </a:p>
        </p:txBody>
      </p:sp>
      <p:sp>
        <p:nvSpPr>
          <p:cNvPr id="9" name="">
            <a:extLst xmlns:a="http://schemas.openxmlformats.org/drawingml/2006/main">
              <a:ext uri="{FF2B5EF4-FFF2-40B4-BE49-F238E27FC236}">
                <a16:creationId xmlns:a16="http://schemas.microsoft.com/office/drawing/2014/main" id="{07B3F7FB-C53B-4A33-A3EE-A8A08063D92D}"/>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0" name="">
            <a:extLst xmlns:a="http://schemas.openxmlformats.org/drawingml/2006/main">
              <a:ext uri="{FF2B5EF4-FFF2-40B4-BE49-F238E27FC236}">
                <a16:creationId xmlns:a16="http://schemas.microsoft.com/office/drawing/2014/main" id="{B2451198-F9D4-4652-9168-0DA34C89913D}"/>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İlk atama</a:t>
            </a:r>
          </a:p>
        </p:txBody>
      </p:sp>
      <p:sp>
        <p:nvSpPr>
          <p:cNvPr id="11" name="">
            <a:extLst xmlns:a="http://schemas.openxmlformats.org/drawingml/2006/main">
              <a:ext uri="{FF2B5EF4-FFF2-40B4-BE49-F238E27FC236}">
                <a16:creationId xmlns:a16="http://schemas.microsoft.com/office/drawing/2014/main" id="{E0E096E5-16B5-4AC7-8877-0F612A736E9A}"/>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var puan = 60, başlangıç değerini belirler.</a:t>
            </a:r>
          </a:p>
        </p:txBody>
      </p:sp>
      <p:sp>
        <p:nvSpPr>
          <p:cNvPr id="12" name="">
            <a:extLst xmlns:a="http://schemas.openxmlformats.org/drawingml/2006/main">
              <a:ext uri="{FF2B5EF4-FFF2-40B4-BE49-F238E27FC236}">
                <a16:creationId xmlns:a16="http://schemas.microsoft.com/office/drawing/2014/main" id="{D83C33BC-78F8-422E-8C02-FA202968804B}"/>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Yeni atama</a:t>
            </a:r>
          </a:p>
        </p:txBody>
      </p:sp>
      <p:sp>
        <p:nvSpPr>
          <p:cNvPr id="13" name="">
            <a:extLst xmlns:a="http://schemas.openxmlformats.org/drawingml/2006/main">
              <a:ext uri="{FF2B5EF4-FFF2-40B4-BE49-F238E27FC236}">
                <a16:creationId xmlns:a16="http://schemas.microsoft.com/office/drawing/2014/main" id="{E97B01E5-DA01-4617-9609-AA5B145599BE}"/>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puan = 80, eski değerin yerine 80 koyar. val kullanılsaydı ikinci atama derleme hatası olurdu.</a:t>
            </a:r>
          </a:p>
        </p:txBody>
      </p:sp>
      <p:sp>
        <p:nvSpPr>
          <p:cNvPr id="14" name="">
            <a:extLst xmlns:a="http://schemas.openxmlformats.org/drawingml/2006/main">
              <a:ext uri="{FF2B5EF4-FFF2-40B4-BE49-F238E27FC236}">
                <a16:creationId xmlns:a16="http://schemas.microsoft.com/office/drawing/2014/main" id="{81679B84-3EEA-4534-BC8D-212EEBA9B4B3}"/>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5" name="">
            <a:extLst xmlns:a="http://schemas.openxmlformats.org/drawingml/2006/main">
              <a:ext uri="{FF2B5EF4-FFF2-40B4-BE49-F238E27FC236}">
                <a16:creationId xmlns:a16="http://schemas.microsoft.com/office/drawing/2014/main" id="{D27F38F6-92EC-4C68-B7A8-55313FB42582}"/>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80</a:t>
            </a:r>
          </a:p>
        </p:txBody>
      </p:sp>
      <p:sp>
        <p:nvSpPr>
          <p:cNvPr id="16" name="">
            <a:extLst xmlns:a="http://schemas.openxmlformats.org/drawingml/2006/main">
              <a:ext uri="{FF2B5EF4-FFF2-40B4-BE49-F238E27FC236}">
                <a16:creationId xmlns:a16="http://schemas.microsoft.com/office/drawing/2014/main" id="{D2ADAE13-1ECF-404D-B89C-C62DA186D47A}"/>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4 / 37</a:t>
            </a:r>
          </a:p>
        </p:txBody>
      </p:sp>
    </p:spTree>
    <p:extLst>
      <p:ext uri="{BB962C8B-B14F-4D97-AF65-F5344CB8AC3E}">
        <p14:creationId xmlns:p14="http://schemas.microsoft.com/office/powerpoint/2010/main" val="1135139461"/>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75BC1E-DC67-4496-8690-33DD227A7997}"/>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D6ADD28D-048B-49CA-A60F-5BA0D654A9B6}"/>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Veri tipi neyi belirtir?</a:t>
            </a:r>
          </a:p>
        </p:txBody>
      </p:sp>
      <p:sp>
        <p:nvSpPr>
          <p:cNvPr id="3" name="">
            <a:extLst xmlns:a="http://schemas.openxmlformats.org/drawingml/2006/main">
              <a:ext uri="{FF2B5EF4-FFF2-40B4-BE49-F238E27FC236}">
                <a16:creationId xmlns:a16="http://schemas.microsoft.com/office/drawing/2014/main" id="{96B28060-139B-470C-9C36-6382D03534FB}"/>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Veri tipi, bir değişkende hangi tür değerlerin bulunabileceğini söyler.</a:t>
            </a:r>
          </a:p>
        </p:txBody>
      </p:sp>
      <p:sp>
        <p:nvSpPr>
          <p:cNvPr id="4" name="">
            <a:extLst xmlns:a="http://schemas.openxmlformats.org/drawingml/2006/main">
              <a:ext uri="{FF2B5EF4-FFF2-40B4-BE49-F238E27FC236}">
                <a16:creationId xmlns:a16="http://schemas.microsoft.com/office/drawing/2014/main" id="{FFE4E192-5A2C-43FF-8399-F3EB37937FD3}"/>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84D39A10-1785-49BB-8324-CCA453C9F26D}"/>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95C3415A-7364-4C78-B245-01C14B9B640B}"/>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ad: String = </a:t>
            </a:r>
            <a:r>
              <a:rPr>
                <a:solidFill>
                  <a:srgbClr val="397425"/>
                </a:solidFill>
              </a:rPr>
              <a:t>"Ayşe"</a:t>
            </a:r>
          </a:p>
        </p:txBody>
      </p:sp>
      <p:sp>
        <p:nvSpPr>
          <p:cNvPr id="7" name="">
            <a:extLst xmlns:a="http://schemas.openxmlformats.org/drawingml/2006/main">
              <a:ext uri="{FF2B5EF4-FFF2-40B4-BE49-F238E27FC236}">
                <a16:creationId xmlns:a16="http://schemas.microsoft.com/office/drawing/2014/main" id="{4536CB2E-857A-48E8-B32D-BB1B74BFB8DC}"/>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yas: Int = </a:t>
            </a:r>
            <a:r>
              <a:rPr>
                <a:solidFill>
                  <a:srgbClr val="A45110"/>
                </a:solidFill>
              </a:rPr>
              <a:t>16</a:t>
            </a:r>
          </a:p>
        </p:txBody>
      </p:sp>
      <p:sp>
        <p:nvSpPr>
          <p:cNvPr id="8" name="">
            <a:extLst xmlns:a="http://schemas.openxmlformats.org/drawingml/2006/main">
              <a:ext uri="{FF2B5EF4-FFF2-40B4-BE49-F238E27FC236}">
                <a16:creationId xmlns:a16="http://schemas.microsoft.com/office/drawing/2014/main" id="{6827D5F9-222D-4D08-B1EA-955A037E31AE}"/>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ortalama: Double = </a:t>
            </a:r>
            <a:r>
              <a:rPr>
                <a:solidFill>
                  <a:srgbClr val="A45110"/>
                </a:solidFill>
              </a:rPr>
              <a:t>82</a:t>
            </a:r>
            <a:r>
              <a:t>.</a:t>
            </a:r>
            <a:r>
              <a:rPr>
                <a:solidFill>
                  <a:srgbClr val="A45110"/>
                </a:solidFill>
              </a:rPr>
              <a:t>5</a:t>
            </a:r>
          </a:p>
        </p:txBody>
      </p:sp>
      <p:sp>
        <p:nvSpPr>
          <p:cNvPr id="9" name="">
            <a:extLst xmlns:a="http://schemas.openxmlformats.org/drawingml/2006/main">
              <a:ext uri="{FF2B5EF4-FFF2-40B4-BE49-F238E27FC236}">
                <a16:creationId xmlns:a16="http://schemas.microsoft.com/office/drawing/2014/main" id="{54A146AC-951F-40E4-9AA5-75F3851912CF}"/>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gecti: Boolean = </a:t>
            </a:r>
            <a:r>
              <a:rPr>
                <a:solidFill>
                  <a:srgbClr val="6941A5"/>
                </a:solidFill>
              </a:rPr>
              <a:t>true</a:t>
            </a:r>
          </a:p>
        </p:txBody>
      </p:sp>
      <p:sp>
        <p:nvSpPr>
          <p:cNvPr id="10" name="">
            <a:extLst xmlns:a="http://schemas.openxmlformats.org/drawingml/2006/main">
              <a:ext uri="{FF2B5EF4-FFF2-40B4-BE49-F238E27FC236}">
                <a16:creationId xmlns:a16="http://schemas.microsoft.com/office/drawing/2014/main" id="{B9EBA558-38A7-4593-9E40-A18EE3C807E8}"/>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println(yas)</a:t>
            </a:r>
          </a:p>
        </p:txBody>
      </p:sp>
      <p:sp>
        <p:nvSpPr>
          <p:cNvPr id="11" name="">
            <a:extLst xmlns:a="http://schemas.openxmlformats.org/drawingml/2006/main">
              <a:ext uri="{FF2B5EF4-FFF2-40B4-BE49-F238E27FC236}">
                <a16:creationId xmlns:a16="http://schemas.microsoft.com/office/drawing/2014/main" id="{1ADFEA9D-ECF7-4392-8296-8C7615F50CB3}"/>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2" name="">
            <a:extLst xmlns:a="http://schemas.openxmlformats.org/drawingml/2006/main">
              <a:ext uri="{FF2B5EF4-FFF2-40B4-BE49-F238E27FC236}">
                <a16:creationId xmlns:a16="http://schemas.microsoft.com/office/drawing/2014/main" id="{5CE9D175-94C5-48C9-89E4-CD0ECF5DB82B}"/>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Tipler</a:t>
            </a:r>
          </a:p>
        </p:txBody>
      </p:sp>
      <p:sp>
        <p:nvSpPr>
          <p:cNvPr id="13" name="">
            <a:extLst xmlns:a="http://schemas.openxmlformats.org/drawingml/2006/main">
              <a:ext uri="{FF2B5EF4-FFF2-40B4-BE49-F238E27FC236}">
                <a16:creationId xmlns:a16="http://schemas.microsoft.com/office/drawing/2014/main" id="{1C978405-85DF-4F15-947D-D837F5D26746}"/>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String metin, Int tam sayı, Double ondalıklı sayı, Boolean true veya false değeridir.</a:t>
            </a:r>
          </a:p>
        </p:txBody>
      </p:sp>
      <p:sp>
        <p:nvSpPr>
          <p:cNvPr id="14" name="">
            <a:extLst xmlns:a="http://schemas.openxmlformats.org/drawingml/2006/main">
              <a:ext uri="{FF2B5EF4-FFF2-40B4-BE49-F238E27FC236}">
                <a16:creationId xmlns:a16="http://schemas.microsoft.com/office/drawing/2014/main" id="{F02E946F-7ABC-47E1-8A6E-E26D3E26299F}"/>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 işareti</a:t>
            </a:r>
          </a:p>
        </p:txBody>
      </p:sp>
      <p:sp>
        <p:nvSpPr>
          <p:cNvPr id="15" name="">
            <a:extLst xmlns:a="http://schemas.openxmlformats.org/drawingml/2006/main">
              <a:ext uri="{FF2B5EF4-FFF2-40B4-BE49-F238E27FC236}">
                <a16:creationId xmlns:a16="http://schemas.microsoft.com/office/drawing/2014/main" id="{9B38920B-049B-4822-AE3E-9EB26D358A9F}"/>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İsimden sonraki tip bilgisini ayırır. Kotlin, yas = 16 yazımından Int tipini de çıkarabilir.</a:t>
            </a:r>
          </a:p>
        </p:txBody>
      </p:sp>
      <p:sp>
        <p:nvSpPr>
          <p:cNvPr id="16" name="">
            <a:extLst xmlns:a="http://schemas.openxmlformats.org/drawingml/2006/main">
              <a:ext uri="{FF2B5EF4-FFF2-40B4-BE49-F238E27FC236}">
                <a16:creationId xmlns:a16="http://schemas.microsoft.com/office/drawing/2014/main" id="{83B52B9F-7116-4EAB-9DEB-8F035D6AC409}"/>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7" name="">
            <a:extLst xmlns:a="http://schemas.openxmlformats.org/drawingml/2006/main">
              <a:ext uri="{FF2B5EF4-FFF2-40B4-BE49-F238E27FC236}">
                <a16:creationId xmlns:a16="http://schemas.microsoft.com/office/drawing/2014/main" id="{C2369DC9-BF81-4BD1-B2D2-B59CF2C66A76}"/>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16</a:t>
            </a:r>
          </a:p>
        </p:txBody>
      </p:sp>
      <p:sp>
        <p:nvSpPr>
          <p:cNvPr id="18" name="">
            <a:extLst xmlns:a="http://schemas.openxmlformats.org/drawingml/2006/main">
              <a:ext uri="{FF2B5EF4-FFF2-40B4-BE49-F238E27FC236}">
                <a16:creationId xmlns:a16="http://schemas.microsoft.com/office/drawing/2014/main" id="{F85384E6-D1DD-4914-A456-8DC0D1EE874E}"/>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5 / 37</a:t>
            </a:r>
          </a:p>
        </p:txBody>
      </p:sp>
    </p:spTree>
    <p:extLst>
      <p:ext uri="{BB962C8B-B14F-4D97-AF65-F5344CB8AC3E}">
        <p14:creationId xmlns:p14="http://schemas.microsoft.com/office/powerpoint/2010/main" val="2091228963"/>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C33189B-55F9-4BB0-9184-79E3D7D34C9F}"/>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EDB9B6E1-667C-416B-B099-91CFC4A2027E}"/>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Değerlerle işlem yapmak</a:t>
            </a:r>
          </a:p>
        </p:txBody>
      </p:sp>
      <p:sp>
        <p:nvSpPr>
          <p:cNvPr id="3" name="">
            <a:extLst xmlns:a="http://schemas.openxmlformats.org/drawingml/2006/main">
              <a:ext uri="{FF2B5EF4-FFF2-40B4-BE49-F238E27FC236}">
                <a16:creationId xmlns:a16="http://schemas.microsoft.com/office/drawing/2014/main" id="{F58A6F43-A67E-4A29-81CB-39FDFA9883E7}"/>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Değişkenleri hesaplamalarda kullanabiliriz. Hesabın sonucunu başka bir değişkende tutabiliriz.</a:t>
            </a:r>
          </a:p>
        </p:txBody>
      </p:sp>
      <p:sp>
        <p:nvSpPr>
          <p:cNvPr id="4" name="">
            <a:extLst xmlns:a="http://schemas.openxmlformats.org/drawingml/2006/main">
              <a:ext uri="{FF2B5EF4-FFF2-40B4-BE49-F238E27FC236}">
                <a16:creationId xmlns:a16="http://schemas.microsoft.com/office/drawing/2014/main" id="{916EBAB8-5F47-4DF5-8196-882B0EBF16BC}"/>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28E3CE39-FAFC-42BC-9B0D-B5952515D83B}"/>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186F92C1-28C0-466F-8300-34DC634F8474}"/>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ilkPuan = </a:t>
            </a:r>
            <a:r>
              <a:rPr>
                <a:solidFill>
                  <a:srgbClr val="A45110"/>
                </a:solidFill>
              </a:rPr>
              <a:t>60</a:t>
            </a:r>
          </a:p>
        </p:txBody>
      </p:sp>
      <p:sp>
        <p:nvSpPr>
          <p:cNvPr id="7" name="">
            <a:extLst xmlns:a="http://schemas.openxmlformats.org/drawingml/2006/main">
              <a:ext uri="{FF2B5EF4-FFF2-40B4-BE49-F238E27FC236}">
                <a16:creationId xmlns:a16="http://schemas.microsoft.com/office/drawing/2014/main" id="{31317629-B451-4AC3-A803-3B0A99B1BD70}"/>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ikinciPuan = </a:t>
            </a:r>
            <a:r>
              <a:rPr>
                <a:solidFill>
                  <a:srgbClr val="A45110"/>
                </a:solidFill>
              </a:rPr>
              <a:t>80</a:t>
            </a:r>
          </a:p>
        </p:txBody>
      </p:sp>
      <p:sp>
        <p:nvSpPr>
          <p:cNvPr id="8" name="">
            <a:extLst xmlns:a="http://schemas.openxmlformats.org/drawingml/2006/main">
              <a:ext uri="{FF2B5EF4-FFF2-40B4-BE49-F238E27FC236}">
                <a16:creationId xmlns:a16="http://schemas.microsoft.com/office/drawing/2014/main" id="{EC645EC6-E704-49AA-9FB3-2DDC76F4DD3B}"/>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toplam = ilkPuan + ikinciPuan</a:t>
            </a:r>
          </a:p>
        </p:txBody>
      </p:sp>
      <p:sp>
        <p:nvSpPr>
          <p:cNvPr id="9" name="">
            <a:extLst xmlns:a="http://schemas.openxmlformats.org/drawingml/2006/main">
              <a:ext uri="{FF2B5EF4-FFF2-40B4-BE49-F238E27FC236}">
                <a16:creationId xmlns:a16="http://schemas.microsoft.com/office/drawing/2014/main" id="{F6CD0720-3069-413B-9839-7E1892829F65}"/>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println(toplam)</a:t>
            </a:r>
          </a:p>
        </p:txBody>
      </p:sp>
      <p:sp>
        <p:nvSpPr>
          <p:cNvPr id="10" name="">
            <a:extLst xmlns:a="http://schemas.openxmlformats.org/drawingml/2006/main">
              <a:ext uri="{FF2B5EF4-FFF2-40B4-BE49-F238E27FC236}">
                <a16:creationId xmlns:a16="http://schemas.microsoft.com/office/drawing/2014/main" id="{E4522DF4-1B12-454F-8800-27097369E69A}"/>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1" name="">
            <a:extLst xmlns:a="http://schemas.openxmlformats.org/drawingml/2006/main">
              <a:ext uri="{FF2B5EF4-FFF2-40B4-BE49-F238E27FC236}">
                <a16:creationId xmlns:a16="http://schemas.microsoft.com/office/drawing/2014/main" id="{F526C510-B027-43ED-9EC5-DC08F3E16B9E}"/>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 işareti</a:t>
            </a:r>
          </a:p>
        </p:txBody>
      </p:sp>
      <p:sp>
        <p:nvSpPr>
          <p:cNvPr id="12" name="">
            <a:extLst xmlns:a="http://schemas.openxmlformats.org/drawingml/2006/main">
              <a:ext uri="{FF2B5EF4-FFF2-40B4-BE49-F238E27FC236}">
                <a16:creationId xmlns:a16="http://schemas.microsoft.com/office/drawing/2014/main" id="{4487F849-93BB-4F5A-990A-3A942A0AF465}"/>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İki tam sayıyı toplar. Benzer biçimde -, * ve / işlemleri vardır.</a:t>
            </a:r>
          </a:p>
        </p:txBody>
      </p:sp>
      <p:sp>
        <p:nvSpPr>
          <p:cNvPr id="13" name="">
            <a:extLst xmlns:a="http://schemas.openxmlformats.org/drawingml/2006/main">
              <a:ext uri="{FF2B5EF4-FFF2-40B4-BE49-F238E27FC236}">
                <a16:creationId xmlns:a16="http://schemas.microsoft.com/office/drawing/2014/main" id="{9422C36E-F277-4A9D-85A5-BFBFBC1DB9D5}"/>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toplam</a:t>
            </a:r>
          </a:p>
        </p:txBody>
      </p:sp>
      <p:sp>
        <p:nvSpPr>
          <p:cNvPr id="14" name="">
            <a:extLst xmlns:a="http://schemas.openxmlformats.org/drawingml/2006/main">
              <a:ext uri="{FF2B5EF4-FFF2-40B4-BE49-F238E27FC236}">
                <a16:creationId xmlns:a16="http://schemas.microsoft.com/office/drawing/2014/main" id="{AF2046C6-D93A-424A-B370-8538E7E4ED7B}"/>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Hesaplanan 140 değerini tutar. Program satırları yukarıdan aşağıya çalıştırır.</a:t>
            </a:r>
          </a:p>
        </p:txBody>
      </p:sp>
      <p:sp>
        <p:nvSpPr>
          <p:cNvPr id="15" name="">
            <a:extLst xmlns:a="http://schemas.openxmlformats.org/drawingml/2006/main">
              <a:ext uri="{FF2B5EF4-FFF2-40B4-BE49-F238E27FC236}">
                <a16:creationId xmlns:a16="http://schemas.microsoft.com/office/drawing/2014/main" id="{51CA8513-18C3-41C8-868B-8FF2B1108481}"/>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6" name="">
            <a:extLst xmlns:a="http://schemas.openxmlformats.org/drawingml/2006/main">
              <a:ext uri="{FF2B5EF4-FFF2-40B4-BE49-F238E27FC236}">
                <a16:creationId xmlns:a16="http://schemas.microsoft.com/office/drawing/2014/main" id="{40D8C0B1-6D44-48E5-BA4F-CC50B316EEAE}"/>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140</a:t>
            </a:r>
          </a:p>
        </p:txBody>
      </p:sp>
      <p:sp>
        <p:nvSpPr>
          <p:cNvPr id="17" name="">
            <a:extLst xmlns:a="http://schemas.openxmlformats.org/drawingml/2006/main">
              <a:ext uri="{FF2B5EF4-FFF2-40B4-BE49-F238E27FC236}">
                <a16:creationId xmlns:a16="http://schemas.microsoft.com/office/drawing/2014/main" id="{954CC5D8-9ADA-42BC-9059-5870EB7E75AD}"/>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6 / 37</a:t>
            </a:r>
          </a:p>
        </p:txBody>
      </p:sp>
    </p:spTree>
    <p:extLst>
      <p:ext uri="{BB962C8B-B14F-4D97-AF65-F5344CB8AC3E}">
        <p14:creationId xmlns:p14="http://schemas.microsoft.com/office/powerpoint/2010/main" val="301442397"/>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42EE7EF-73AC-4838-9A02-C8B5EF7822D9}"/>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6645F43B-A2E8-454E-A06B-CD779ADE7216}"/>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if: koşul doğruysa çalışır</a:t>
            </a:r>
          </a:p>
        </p:txBody>
      </p:sp>
      <p:sp>
        <p:nvSpPr>
          <p:cNvPr id="3" name="">
            <a:extLst xmlns:a="http://schemas.openxmlformats.org/drawingml/2006/main">
              <a:ext uri="{FF2B5EF4-FFF2-40B4-BE49-F238E27FC236}">
                <a16:creationId xmlns:a16="http://schemas.microsoft.com/office/drawing/2014/main" id="{650E8A55-7ABB-4015-99AB-6F60936B277F}"/>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Bazı işlemleri yalnız belirli bir koşul sağlanınca yapmak isteriz. Bu kararı if ile veririz.</a:t>
            </a:r>
          </a:p>
        </p:txBody>
      </p:sp>
      <p:sp>
        <p:nvSpPr>
          <p:cNvPr id="4" name="">
            <a:extLst xmlns:a="http://schemas.openxmlformats.org/drawingml/2006/main">
              <a:ext uri="{FF2B5EF4-FFF2-40B4-BE49-F238E27FC236}">
                <a16:creationId xmlns:a16="http://schemas.microsoft.com/office/drawing/2014/main" id="{01CE05C1-72AE-4408-9454-7E6AE85A6F35}"/>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B6178E61-CD9D-4425-A67E-60A88025E6F5}"/>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103D4145-F366-4690-98F1-C28392E1FEFF}"/>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puan = </a:t>
            </a:r>
            <a:r>
              <a:rPr>
                <a:solidFill>
                  <a:srgbClr val="A45110"/>
                </a:solidFill>
              </a:rPr>
              <a:t>70</a:t>
            </a:r>
          </a:p>
        </p:txBody>
      </p:sp>
      <p:sp>
        <p:nvSpPr>
          <p:cNvPr id="7" name="">
            <a:extLst xmlns:a="http://schemas.openxmlformats.org/drawingml/2006/main">
              <a:ext uri="{FF2B5EF4-FFF2-40B4-BE49-F238E27FC236}">
                <a16:creationId xmlns:a16="http://schemas.microsoft.com/office/drawing/2014/main" id="{0C6B2F44-89DD-46E2-829D-18E766B2844B}"/>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if</a:t>
            </a:r>
            <a:r>
              <a:t> (puan &gt;= </a:t>
            </a:r>
            <a:r>
              <a:rPr>
                <a:solidFill>
                  <a:srgbClr val="A45110"/>
                </a:solidFill>
              </a:rPr>
              <a:t>50</a:t>
            </a:r>
            <a:r>
              <a:t>) {</a:t>
            </a:r>
          </a:p>
        </p:txBody>
      </p:sp>
      <p:sp>
        <p:nvSpPr>
          <p:cNvPr id="8" name="">
            <a:extLst xmlns:a="http://schemas.openxmlformats.org/drawingml/2006/main">
              <a:ext uri="{FF2B5EF4-FFF2-40B4-BE49-F238E27FC236}">
                <a16:creationId xmlns:a16="http://schemas.microsoft.com/office/drawing/2014/main" id="{26194859-E0E9-4347-9ED5-F3AD2A805C8B}"/>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"Geçti"</a:t>
            </a:r>
            <a:r>
              <a:t>)</a:t>
            </a:r>
          </a:p>
        </p:txBody>
      </p:sp>
      <p:sp>
        <p:nvSpPr>
          <p:cNvPr id="9" name="">
            <a:extLst xmlns:a="http://schemas.openxmlformats.org/drawingml/2006/main">
              <a:ext uri="{FF2B5EF4-FFF2-40B4-BE49-F238E27FC236}">
                <a16:creationId xmlns:a16="http://schemas.microsoft.com/office/drawing/2014/main" id="{8AE5B330-61ED-4670-9B08-84D2D9342DB7}"/>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0" name="">
            <a:extLst xmlns:a="http://schemas.openxmlformats.org/drawingml/2006/main">
              <a:ext uri="{FF2B5EF4-FFF2-40B4-BE49-F238E27FC236}">
                <a16:creationId xmlns:a16="http://schemas.microsoft.com/office/drawing/2014/main" id="{0E543E38-9CF1-4697-8400-698F6D69E0F7}"/>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1" name="">
            <a:extLst xmlns:a="http://schemas.openxmlformats.org/drawingml/2006/main">
              <a:ext uri="{FF2B5EF4-FFF2-40B4-BE49-F238E27FC236}">
                <a16:creationId xmlns:a16="http://schemas.microsoft.com/office/drawing/2014/main" id="{1B9D6544-CD22-47C3-82B4-DACF8ADA1B28}"/>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Koşul</a:t>
            </a:r>
          </a:p>
        </p:txBody>
      </p:sp>
      <p:sp>
        <p:nvSpPr>
          <p:cNvPr id="12" name="">
            <a:extLst xmlns:a="http://schemas.openxmlformats.org/drawingml/2006/main">
              <a:ext uri="{FF2B5EF4-FFF2-40B4-BE49-F238E27FC236}">
                <a16:creationId xmlns:a16="http://schemas.microsoft.com/office/drawing/2014/main" id="{134989A9-47A0-4F44-BC0B-6DB176962278}"/>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puan &gt;= 50, puan en az 50 mi diye sorar. Cevap true veya false olur.</a:t>
            </a:r>
          </a:p>
        </p:txBody>
      </p:sp>
      <p:sp>
        <p:nvSpPr>
          <p:cNvPr id="13" name="">
            <a:extLst xmlns:a="http://schemas.openxmlformats.org/drawingml/2006/main">
              <a:ext uri="{FF2B5EF4-FFF2-40B4-BE49-F238E27FC236}">
                <a16:creationId xmlns:a16="http://schemas.microsoft.com/office/drawing/2014/main" id="{4500566E-5856-4648-B6C5-0A6ACDA275D0}"/>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Kod bloğu</a:t>
            </a:r>
          </a:p>
        </p:txBody>
      </p:sp>
      <p:sp>
        <p:nvSpPr>
          <p:cNvPr id="14" name="">
            <a:extLst xmlns:a="http://schemas.openxmlformats.org/drawingml/2006/main">
              <a:ext uri="{FF2B5EF4-FFF2-40B4-BE49-F238E27FC236}">
                <a16:creationId xmlns:a16="http://schemas.microsoft.com/office/drawing/2014/main" id="{8BA24F50-CD02-49DB-95E5-D1BC6E3B942F}"/>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Koşul true ise süslü parantezlerin içi çalışır. Puan 40 olsaydı bu program yazı yazdırmazdı.</a:t>
            </a:r>
          </a:p>
        </p:txBody>
      </p:sp>
      <p:sp>
        <p:nvSpPr>
          <p:cNvPr id="15" name="">
            <a:extLst xmlns:a="http://schemas.openxmlformats.org/drawingml/2006/main">
              <a:ext uri="{FF2B5EF4-FFF2-40B4-BE49-F238E27FC236}">
                <a16:creationId xmlns:a16="http://schemas.microsoft.com/office/drawing/2014/main" id="{434849ED-6167-4317-AC67-1C28F6935AE4}"/>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6" name="">
            <a:extLst xmlns:a="http://schemas.openxmlformats.org/drawingml/2006/main">
              <a:ext uri="{FF2B5EF4-FFF2-40B4-BE49-F238E27FC236}">
                <a16:creationId xmlns:a16="http://schemas.microsoft.com/office/drawing/2014/main" id="{09B34141-516B-4130-AB41-166E15EC2135}"/>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Geçti</a:t>
            </a:r>
          </a:p>
        </p:txBody>
      </p:sp>
      <p:sp>
        <p:nvSpPr>
          <p:cNvPr id="17" name="">
            <a:extLst xmlns:a="http://schemas.openxmlformats.org/drawingml/2006/main">
              <a:ext uri="{FF2B5EF4-FFF2-40B4-BE49-F238E27FC236}">
                <a16:creationId xmlns:a16="http://schemas.microsoft.com/office/drawing/2014/main" id="{43654575-3596-4203-B2DD-D035ED4EA09F}"/>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7 / 37</a:t>
            </a:r>
          </a:p>
        </p:txBody>
      </p:sp>
    </p:spTree>
    <p:extLst>
      <p:ext uri="{BB962C8B-B14F-4D97-AF65-F5344CB8AC3E}">
        <p14:creationId xmlns:p14="http://schemas.microsoft.com/office/powerpoint/2010/main" val="90231504"/>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CDA3985-CD39-496C-8E3E-D49892829D8B}"/>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EBA4D406-A88C-4A87-8DB9-569ED8F5447E}"/>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if–else: iki sonuçtan birini seçmek</a:t>
            </a:r>
          </a:p>
        </p:txBody>
      </p:sp>
      <p:sp>
        <p:nvSpPr>
          <p:cNvPr id="3" name="">
            <a:extLst xmlns:a="http://schemas.openxmlformats.org/drawingml/2006/main">
              <a:ext uri="{FF2B5EF4-FFF2-40B4-BE49-F238E27FC236}">
                <a16:creationId xmlns:a16="http://schemas.microsoft.com/office/drawing/2014/main" id="{83447520-0B17-44B3-9EAB-60671EAB3A93}"/>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Koşul yanlış olduğunda yapılacak işlemi else bölümüne yazarız.</a:t>
            </a:r>
          </a:p>
        </p:txBody>
      </p:sp>
      <p:sp>
        <p:nvSpPr>
          <p:cNvPr id="4" name="">
            <a:extLst xmlns:a="http://schemas.openxmlformats.org/drawingml/2006/main">
              <a:ext uri="{FF2B5EF4-FFF2-40B4-BE49-F238E27FC236}">
                <a16:creationId xmlns:a16="http://schemas.microsoft.com/office/drawing/2014/main" id="{55847A05-04CC-4C88-AFEB-5A7EEC3D0614}"/>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3925BEAE-9FCB-4118-A0C2-F082883E1C71}"/>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BF40A602-43BA-44B4-BDBD-0B91E50F3364}"/>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puan = </a:t>
            </a:r>
            <a:r>
              <a:rPr>
                <a:solidFill>
                  <a:srgbClr val="A45110"/>
                </a:solidFill>
              </a:rPr>
              <a:t>40</a:t>
            </a:r>
          </a:p>
        </p:txBody>
      </p:sp>
      <p:sp>
        <p:nvSpPr>
          <p:cNvPr id="7" name="">
            <a:extLst xmlns:a="http://schemas.openxmlformats.org/drawingml/2006/main">
              <a:ext uri="{FF2B5EF4-FFF2-40B4-BE49-F238E27FC236}">
                <a16:creationId xmlns:a16="http://schemas.microsoft.com/office/drawing/2014/main" id="{21E50926-3974-4E8D-B649-CFA260DF5D8D}"/>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if</a:t>
            </a:r>
            <a:r>
              <a:t> (puan &gt;= </a:t>
            </a:r>
            <a:r>
              <a:rPr>
                <a:solidFill>
                  <a:srgbClr val="A45110"/>
                </a:solidFill>
              </a:rPr>
              <a:t>50</a:t>
            </a:r>
            <a:r>
              <a:t>) {</a:t>
            </a:r>
          </a:p>
        </p:txBody>
      </p:sp>
      <p:sp>
        <p:nvSpPr>
          <p:cNvPr id="8" name="">
            <a:extLst xmlns:a="http://schemas.openxmlformats.org/drawingml/2006/main">
              <a:ext uri="{FF2B5EF4-FFF2-40B4-BE49-F238E27FC236}">
                <a16:creationId xmlns:a16="http://schemas.microsoft.com/office/drawing/2014/main" id="{D4B8E58E-0F62-4AEE-856C-703175D8D2C5}"/>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"Geçti"</a:t>
            </a:r>
            <a:r>
              <a:t>)</a:t>
            </a:r>
          </a:p>
        </p:txBody>
      </p:sp>
      <p:sp>
        <p:nvSpPr>
          <p:cNvPr id="9" name="">
            <a:extLst xmlns:a="http://schemas.openxmlformats.org/drawingml/2006/main">
              <a:ext uri="{FF2B5EF4-FFF2-40B4-BE49-F238E27FC236}">
                <a16:creationId xmlns:a16="http://schemas.microsoft.com/office/drawing/2014/main" id="{623C6CB2-FCC1-43BA-BE7C-E1A5EDE236A7}"/>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 </a:t>
            </a:r>
            <a:r>
              <a:rPr>
                <a:solidFill>
                  <a:srgbClr val="6941A5"/>
                </a:solidFill>
              </a:rPr>
              <a:t>else</a:t>
            </a:r>
            <a:r>
              <a:t> {</a:t>
            </a:r>
          </a:p>
        </p:txBody>
      </p:sp>
      <p:sp>
        <p:nvSpPr>
          <p:cNvPr id="10" name="">
            <a:extLst xmlns:a="http://schemas.openxmlformats.org/drawingml/2006/main">
              <a:ext uri="{FF2B5EF4-FFF2-40B4-BE49-F238E27FC236}">
                <a16:creationId xmlns:a16="http://schemas.microsoft.com/office/drawing/2014/main" id="{FCCC9DE9-D300-4617-85FB-EE237681BF58}"/>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"Kaldı"</a:t>
            </a:r>
            <a:r>
              <a:t>)</a:t>
            </a:r>
          </a:p>
        </p:txBody>
      </p:sp>
      <p:sp>
        <p:nvSpPr>
          <p:cNvPr id="11" name="">
            <a:extLst xmlns:a="http://schemas.openxmlformats.org/drawingml/2006/main">
              <a:ext uri="{FF2B5EF4-FFF2-40B4-BE49-F238E27FC236}">
                <a16:creationId xmlns:a16="http://schemas.microsoft.com/office/drawing/2014/main" id="{9DE1424D-E330-445B-A80D-901055C36104}"/>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2" name="">
            <a:extLst xmlns:a="http://schemas.openxmlformats.org/drawingml/2006/main">
              <a:ext uri="{FF2B5EF4-FFF2-40B4-BE49-F238E27FC236}">
                <a16:creationId xmlns:a16="http://schemas.microsoft.com/office/drawing/2014/main" id="{3A5E0C02-28F2-46A5-A056-AEEA7F7156C4}"/>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3" name="">
            <a:extLst xmlns:a="http://schemas.openxmlformats.org/drawingml/2006/main">
              <a:ext uri="{FF2B5EF4-FFF2-40B4-BE49-F238E27FC236}">
                <a16:creationId xmlns:a16="http://schemas.microsoft.com/office/drawing/2014/main" id="{4B974709-88D1-4E7A-89B4-A44E87CF57DC}"/>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if bölümü</a:t>
            </a:r>
          </a:p>
        </p:txBody>
      </p:sp>
      <p:sp>
        <p:nvSpPr>
          <p:cNvPr id="14" name="">
            <a:extLst xmlns:a="http://schemas.openxmlformats.org/drawingml/2006/main">
              <a:ext uri="{FF2B5EF4-FFF2-40B4-BE49-F238E27FC236}">
                <a16:creationId xmlns:a16="http://schemas.microsoft.com/office/drawing/2014/main" id="{96701DCF-A172-4E55-B403-8237BDEA4FA9}"/>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Puan 50 veya daha yüksekse Geçti yazar.</a:t>
            </a:r>
          </a:p>
        </p:txBody>
      </p:sp>
      <p:sp>
        <p:nvSpPr>
          <p:cNvPr id="15" name="">
            <a:extLst xmlns:a="http://schemas.openxmlformats.org/drawingml/2006/main">
              <a:ext uri="{FF2B5EF4-FFF2-40B4-BE49-F238E27FC236}">
                <a16:creationId xmlns:a16="http://schemas.microsoft.com/office/drawing/2014/main" id="{FF3102A5-30D0-4C6C-BDF4-A5CF228B989B}"/>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else bölümü</a:t>
            </a:r>
          </a:p>
        </p:txBody>
      </p:sp>
      <p:sp>
        <p:nvSpPr>
          <p:cNvPr id="16" name="">
            <a:extLst xmlns:a="http://schemas.openxmlformats.org/drawingml/2006/main">
              <a:ext uri="{FF2B5EF4-FFF2-40B4-BE49-F238E27FC236}">
                <a16:creationId xmlns:a16="http://schemas.microsoft.com/office/drawing/2014/main" id="{692EDE48-D3DE-4675-A329-C8C40BBDB9C3}"/>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Diğer durumda Kaldı yazar. Bu örnekte iki bölümden yalnız biri çalışır.</a:t>
            </a:r>
          </a:p>
        </p:txBody>
      </p:sp>
      <p:sp>
        <p:nvSpPr>
          <p:cNvPr id="17" name="">
            <a:extLst xmlns:a="http://schemas.openxmlformats.org/drawingml/2006/main">
              <a:ext uri="{FF2B5EF4-FFF2-40B4-BE49-F238E27FC236}">
                <a16:creationId xmlns:a16="http://schemas.microsoft.com/office/drawing/2014/main" id="{60F80E55-236B-4310-9B30-43E8EE6C4554}"/>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8" name="">
            <a:extLst xmlns:a="http://schemas.openxmlformats.org/drawingml/2006/main">
              <a:ext uri="{FF2B5EF4-FFF2-40B4-BE49-F238E27FC236}">
                <a16:creationId xmlns:a16="http://schemas.microsoft.com/office/drawing/2014/main" id="{8A988F11-1231-431B-8258-FA3B20C1FE81}"/>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Kaldı</a:t>
            </a:r>
          </a:p>
        </p:txBody>
      </p:sp>
      <p:sp>
        <p:nvSpPr>
          <p:cNvPr id="19" name="">
            <a:extLst xmlns:a="http://schemas.openxmlformats.org/drawingml/2006/main">
              <a:ext uri="{FF2B5EF4-FFF2-40B4-BE49-F238E27FC236}">
                <a16:creationId xmlns:a16="http://schemas.microsoft.com/office/drawing/2014/main" id="{3D918CF9-EA20-4BAC-A557-36B544770A7A}"/>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8 / 37</a:t>
            </a:r>
          </a:p>
        </p:txBody>
      </p:sp>
    </p:spTree>
    <p:extLst>
      <p:ext uri="{BB962C8B-B14F-4D97-AF65-F5344CB8AC3E}">
        <p14:creationId xmlns:p14="http://schemas.microsoft.com/office/powerpoint/2010/main" val="71653153"/>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05C2622-0461-4A7C-861B-961BA662B510}"/>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4EBF7640-56DD-4FDD-BDAC-A48A1FE790A9}"/>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else if: üçüncü olasılığı eklemek</a:t>
            </a:r>
          </a:p>
        </p:txBody>
      </p:sp>
      <p:sp>
        <p:nvSpPr>
          <p:cNvPr id="3" name="">
            <a:extLst xmlns:a="http://schemas.openxmlformats.org/drawingml/2006/main">
              <a:ext uri="{FF2B5EF4-FFF2-40B4-BE49-F238E27FC236}">
                <a16:creationId xmlns:a16="http://schemas.microsoft.com/office/drawing/2014/main" id="{51C2C42D-9D3B-4F93-84D4-45899EC530AE}"/>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İkiden fazla durum varsa koşulları sırayla kontrol edebiliriz.</a:t>
            </a:r>
          </a:p>
        </p:txBody>
      </p:sp>
      <p:sp>
        <p:nvSpPr>
          <p:cNvPr id="4" name="">
            <a:extLst xmlns:a="http://schemas.openxmlformats.org/drawingml/2006/main">
              <a:ext uri="{FF2B5EF4-FFF2-40B4-BE49-F238E27FC236}">
                <a16:creationId xmlns:a16="http://schemas.microsoft.com/office/drawing/2014/main" id="{3708B610-2FB3-42BA-A2E2-71D451C6F1E4}"/>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8E162D3B-FF76-4358-8212-4ED3A2AD5D75}"/>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FA75F452-566E-48A1-B63B-57073127D6F9}"/>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puan = </a:t>
            </a:r>
            <a:r>
              <a:rPr>
                <a:solidFill>
                  <a:srgbClr val="A45110"/>
                </a:solidFill>
              </a:rPr>
              <a:t>75</a:t>
            </a:r>
          </a:p>
        </p:txBody>
      </p:sp>
      <p:sp>
        <p:nvSpPr>
          <p:cNvPr id="7" name="">
            <a:extLst xmlns:a="http://schemas.openxmlformats.org/drawingml/2006/main">
              <a:ext uri="{FF2B5EF4-FFF2-40B4-BE49-F238E27FC236}">
                <a16:creationId xmlns:a16="http://schemas.microsoft.com/office/drawing/2014/main" id="{9845DAD0-05F2-4F0C-92D1-1E5246D0C0C5}"/>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if</a:t>
            </a:r>
            <a:r>
              <a:t> (puan &gt;= </a:t>
            </a:r>
            <a:r>
              <a:rPr>
                <a:solidFill>
                  <a:srgbClr val="A45110"/>
                </a:solidFill>
              </a:rPr>
              <a:t>85</a:t>
            </a:r>
            <a:r>
              <a:t>) {</a:t>
            </a:r>
          </a:p>
        </p:txBody>
      </p:sp>
      <p:sp>
        <p:nvSpPr>
          <p:cNvPr id="8" name="">
            <a:extLst xmlns:a="http://schemas.openxmlformats.org/drawingml/2006/main">
              <a:ext uri="{FF2B5EF4-FFF2-40B4-BE49-F238E27FC236}">
                <a16:creationId xmlns:a16="http://schemas.microsoft.com/office/drawing/2014/main" id="{320E8B36-2525-47F9-97F0-362A5DFDC013}"/>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"Çok iyi"</a:t>
            </a:r>
            <a:r>
              <a:t>)</a:t>
            </a:r>
          </a:p>
        </p:txBody>
      </p:sp>
      <p:sp>
        <p:nvSpPr>
          <p:cNvPr id="9" name="">
            <a:extLst xmlns:a="http://schemas.openxmlformats.org/drawingml/2006/main">
              <a:ext uri="{FF2B5EF4-FFF2-40B4-BE49-F238E27FC236}">
                <a16:creationId xmlns:a16="http://schemas.microsoft.com/office/drawing/2014/main" id="{79805EEE-BF89-4984-B248-3A34A683EC11}"/>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 </a:t>
            </a:r>
            <a:r>
              <a:rPr>
                <a:solidFill>
                  <a:srgbClr val="6941A5"/>
                </a:solidFill>
              </a:rPr>
              <a:t>else</a:t>
            </a:r>
            <a:r>
              <a:t> </a:t>
            </a:r>
            <a:r>
              <a:rPr>
                <a:solidFill>
                  <a:srgbClr val="6941A5"/>
                </a:solidFill>
              </a:rPr>
              <a:t>if</a:t>
            </a:r>
            <a:r>
              <a:t> (puan &gt;= </a:t>
            </a:r>
            <a:r>
              <a:rPr>
                <a:solidFill>
                  <a:srgbClr val="A45110"/>
                </a:solidFill>
              </a:rPr>
              <a:t>50</a:t>
            </a:r>
            <a:r>
              <a:t>) {</a:t>
            </a:r>
          </a:p>
        </p:txBody>
      </p:sp>
      <p:sp>
        <p:nvSpPr>
          <p:cNvPr id="10" name="">
            <a:extLst xmlns:a="http://schemas.openxmlformats.org/drawingml/2006/main">
              <a:ext uri="{FF2B5EF4-FFF2-40B4-BE49-F238E27FC236}">
                <a16:creationId xmlns:a16="http://schemas.microsoft.com/office/drawing/2014/main" id="{8FD22C3A-2CA0-4041-B9A1-CA6CD5F9AB76}"/>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"Geçti"</a:t>
            </a:r>
            <a:r>
              <a:t>)</a:t>
            </a:r>
          </a:p>
        </p:txBody>
      </p:sp>
      <p:sp>
        <p:nvSpPr>
          <p:cNvPr id="11" name="">
            <a:extLst xmlns:a="http://schemas.openxmlformats.org/drawingml/2006/main">
              <a:ext uri="{FF2B5EF4-FFF2-40B4-BE49-F238E27FC236}">
                <a16:creationId xmlns:a16="http://schemas.microsoft.com/office/drawing/2014/main" id="{0D545478-52F1-4382-A8D4-2A1E2619F479}"/>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 </a:t>
            </a:r>
            <a:r>
              <a:rPr>
                <a:solidFill>
                  <a:srgbClr val="6941A5"/>
                </a:solidFill>
              </a:rPr>
              <a:t>else</a:t>
            </a:r>
            <a:r>
              <a:t> {</a:t>
            </a:r>
          </a:p>
        </p:txBody>
      </p:sp>
      <p:sp>
        <p:nvSpPr>
          <p:cNvPr id="12" name="">
            <a:extLst xmlns:a="http://schemas.openxmlformats.org/drawingml/2006/main">
              <a:ext uri="{FF2B5EF4-FFF2-40B4-BE49-F238E27FC236}">
                <a16:creationId xmlns:a16="http://schemas.microsoft.com/office/drawing/2014/main" id="{DD11B348-32C1-4B67-A47E-54C6E787CBB9}"/>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"Kaldı"</a:t>
            </a:r>
            <a:r>
              <a:t>)</a:t>
            </a:r>
          </a:p>
        </p:txBody>
      </p:sp>
      <p:sp>
        <p:nvSpPr>
          <p:cNvPr id="13" name="">
            <a:extLst xmlns:a="http://schemas.openxmlformats.org/drawingml/2006/main">
              <a:ext uri="{FF2B5EF4-FFF2-40B4-BE49-F238E27FC236}">
                <a16:creationId xmlns:a16="http://schemas.microsoft.com/office/drawing/2014/main" id="{CC313320-971A-41DD-986D-D8E3C590C5A7}"/>
              </a:ext>
            </a:extLst>
          </p:cNvPr>
          <p:cNvSpPr>
            <a:spLocks xmlns:a="http://schemas.openxmlformats.org/drawingml/2006/main" noGrp="1"/>
          </p:cNvSpPr>
          <p:nvPr/>
        </p:nvSpPr>
        <p:spPr>
          <a:xfrm xmlns:a="http://schemas.openxmlformats.org/drawingml/2006/main">
            <a:off x="742950" y="56483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4" name="">
            <a:extLst xmlns:a="http://schemas.openxmlformats.org/drawingml/2006/main">
              <a:ext uri="{FF2B5EF4-FFF2-40B4-BE49-F238E27FC236}">
                <a16:creationId xmlns:a16="http://schemas.microsoft.com/office/drawing/2014/main" id="{7BE73C86-8D12-4B45-91C3-5D1F09756FBE}"/>
              </a:ext>
            </a:extLst>
          </p:cNvPr>
          <p:cNvSpPr>
            <a:spLocks xmlns:a="http://schemas.openxmlformats.org/drawingml/2006/main" noGrp="1"/>
          </p:cNvSpPr>
          <p:nvPr/>
        </p:nvSpPr>
        <p:spPr>
          <a:xfrm xmlns:a="http://schemas.openxmlformats.org/drawingml/2006/main">
            <a:off x="742950" y="59721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5" name="">
            <a:extLst xmlns:a="http://schemas.openxmlformats.org/drawingml/2006/main">
              <a:ext uri="{FF2B5EF4-FFF2-40B4-BE49-F238E27FC236}">
                <a16:creationId xmlns:a16="http://schemas.microsoft.com/office/drawing/2014/main" id="{D56695FE-CB9E-4D04-80E9-FA8557F073FF}"/>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Kontrol sırası</a:t>
            </a:r>
          </a:p>
        </p:txBody>
      </p:sp>
      <p:sp>
        <p:nvSpPr>
          <p:cNvPr id="16" name="">
            <a:extLst xmlns:a="http://schemas.openxmlformats.org/drawingml/2006/main">
              <a:ext uri="{FF2B5EF4-FFF2-40B4-BE49-F238E27FC236}">
                <a16:creationId xmlns:a16="http://schemas.microsoft.com/office/drawing/2014/main" id="{B89722B9-BB1E-4D08-8E8C-30A082960135}"/>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Önce 85 koşuluna bakılır. Sağlanmazsa 50 koşulu denenir.</a:t>
            </a:r>
          </a:p>
        </p:txBody>
      </p:sp>
      <p:sp>
        <p:nvSpPr>
          <p:cNvPr id="17" name="">
            <a:extLst xmlns:a="http://schemas.openxmlformats.org/drawingml/2006/main">
              <a:ext uri="{FF2B5EF4-FFF2-40B4-BE49-F238E27FC236}">
                <a16:creationId xmlns:a16="http://schemas.microsoft.com/office/drawing/2014/main" id="{092179DF-9060-4026-A3B4-FA891934A0E5}"/>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İlk uygun bölüm</a:t>
            </a:r>
          </a:p>
        </p:txBody>
      </p:sp>
      <p:sp>
        <p:nvSpPr>
          <p:cNvPr id="18" name="">
            <a:extLst xmlns:a="http://schemas.openxmlformats.org/drawingml/2006/main">
              <a:ext uri="{FF2B5EF4-FFF2-40B4-BE49-F238E27FC236}">
                <a16:creationId xmlns:a16="http://schemas.microsoft.com/office/drawing/2014/main" id="{9D09F5C9-4158-4217-8047-6550FE7BED07}"/>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75, ikinci koşulu sağlar. Bir bölüm seçildikten sonra diğer bölümler çalışmaz.</a:t>
            </a:r>
          </a:p>
        </p:txBody>
      </p:sp>
      <p:sp>
        <p:nvSpPr>
          <p:cNvPr id="19" name="">
            <a:extLst xmlns:a="http://schemas.openxmlformats.org/drawingml/2006/main">
              <a:ext uri="{FF2B5EF4-FFF2-40B4-BE49-F238E27FC236}">
                <a16:creationId xmlns:a16="http://schemas.microsoft.com/office/drawing/2014/main" id="{4F241291-E898-4261-9618-76F6945A94CE}"/>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0" name="">
            <a:extLst xmlns:a="http://schemas.openxmlformats.org/drawingml/2006/main">
              <a:ext uri="{FF2B5EF4-FFF2-40B4-BE49-F238E27FC236}">
                <a16:creationId xmlns:a16="http://schemas.microsoft.com/office/drawing/2014/main" id="{1B0E2EFA-792E-4D84-B2CE-6AB359ADFF78}"/>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Geçti</a:t>
            </a:r>
          </a:p>
        </p:txBody>
      </p:sp>
      <p:sp>
        <p:nvSpPr>
          <p:cNvPr id="21" name="">
            <a:extLst xmlns:a="http://schemas.openxmlformats.org/drawingml/2006/main">
              <a:ext uri="{FF2B5EF4-FFF2-40B4-BE49-F238E27FC236}">
                <a16:creationId xmlns:a16="http://schemas.microsoft.com/office/drawing/2014/main" id="{1A6D5424-1216-4689-80BB-99A3F495E904}"/>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9 / 37</a:t>
            </a:r>
          </a:p>
        </p:txBody>
      </p:sp>
    </p:spTree>
    <p:extLst>
      <p:ext uri="{BB962C8B-B14F-4D97-AF65-F5344CB8AC3E}">
        <p14:creationId xmlns:p14="http://schemas.microsoft.com/office/powerpoint/2010/main" val="1898095583"/>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1B8394D-D9C7-4CFC-B394-68A24B4BFA2F}"/>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1A60E24D-A736-4B30-8AB7-06188C249F7F}"/>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for: bir işi tekrar etmek</a:t>
            </a:r>
          </a:p>
        </p:txBody>
      </p:sp>
      <p:sp>
        <p:nvSpPr>
          <p:cNvPr id="3" name="">
            <a:extLst xmlns:a="http://schemas.openxmlformats.org/drawingml/2006/main">
              <a:ext uri="{FF2B5EF4-FFF2-40B4-BE49-F238E27FC236}">
                <a16:creationId xmlns:a16="http://schemas.microsoft.com/office/drawing/2014/main" id="{C8AF3674-67FC-4AA4-AE02-1B8284388825}"/>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Aynı işlemi birden fazla kez yapmak için döngü kullanırız.</a:t>
            </a:r>
          </a:p>
        </p:txBody>
      </p:sp>
      <p:sp>
        <p:nvSpPr>
          <p:cNvPr id="4" name="">
            <a:extLst xmlns:a="http://schemas.openxmlformats.org/drawingml/2006/main">
              <a:ext uri="{FF2B5EF4-FFF2-40B4-BE49-F238E27FC236}">
                <a16:creationId xmlns:a16="http://schemas.microsoft.com/office/drawing/2014/main" id="{A1568AE4-3A52-4357-9047-2D9B68B10F07}"/>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8BB1AA16-DF99-4980-8F7B-560A0F6FC16F}"/>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CDF72270-A60C-4AC3-BCC0-87971448BC6D}"/>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for</a:t>
            </a:r>
            <a:r>
              <a:t> (sayi </a:t>
            </a:r>
            <a:r>
              <a:rPr>
                <a:solidFill>
                  <a:srgbClr val="6941A5"/>
                </a:solidFill>
              </a:rPr>
              <a:t>in</a:t>
            </a:r>
            <a:r>
              <a:t> </a:t>
            </a:r>
            <a:r>
              <a:rPr>
                <a:solidFill>
                  <a:srgbClr val="A45110"/>
                </a:solidFill>
              </a:rPr>
              <a:t>1</a:t>
            </a:r>
            <a:r>
              <a:t>..</a:t>
            </a:r>
            <a:r>
              <a:rPr>
                <a:solidFill>
                  <a:srgbClr val="A45110"/>
                </a:solidFill>
              </a:rPr>
              <a:t>3</a:t>
            </a:r>
            <a:r>
              <a:t>) {</a:t>
            </a:r>
          </a:p>
        </p:txBody>
      </p:sp>
      <p:sp>
        <p:nvSpPr>
          <p:cNvPr id="7" name="">
            <a:extLst xmlns:a="http://schemas.openxmlformats.org/drawingml/2006/main">
              <a:ext uri="{FF2B5EF4-FFF2-40B4-BE49-F238E27FC236}">
                <a16:creationId xmlns:a16="http://schemas.microsoft.com/office/drawing/2014/main" id="{15882F76-EA5D-4A20-85FA-63E4654B5DD9}"/>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println(sayi)</a:t>
            </a:r>
          </a:p>
        </p:txBody>
      </p:sp>
      <p:sp>
        <p:nvSpPr>
          <p:cNvPr id="8" name="">
            <a:extLst xmlns:a="http://schemas.openxmlformats.org/drawingml/2006/main">
              <a:ext uri="{FF2B5EF4-FFF2-40B4-BE49-F238E27FC236}">
                <a16:creationId xmlns:a16="http://schemas.microsoft.com/office/drawing/2014/main" id="{4012DAC2-5A0F-4E29-B01D-9A502D630A48}"/>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9" name="">
            <a:extLst xmlns:a="http://schemas.openxmlformats.org/drawingml/2006/main">
              <a:ext uri="{FF2B5EF4-FFF2-40B4-BE49-F238E27FC236}">
                <a16:creationId xmlns:a16="http://schemas.microsoft.com/office/drawing/2014/main" id="{1485E4D2-7B83-466B-AB69-1F19BEEE0371}"/>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0" name="">
            <a:extLst xmlns:a="http://schemas.openxmlformats.org/drawingml/2006/main">
              <a:ext uri="{FF2B5EF4-FFF2-40B4-BE49-F238E27FC236}">
                <a16:creationId xmlns:a16="http://schemas.microsoft.com/office/drawing/2014/main" id="{E0A34EA8-610D-4013-A5AF-82D662B56BF0}"/>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1..3</a:t>
            </a:r>
          </a:p>
        </p:txBody>
      </p:sp>
      <p:sp>
        <p:nvSpPr>
          <p:cNvPr id="11" name="">
            <a:extLst xmlns:a="http://schemas.openxmlformats.org/drawingml/2006/main">
              <a:ext uri="{FF2B5EF4-FFF2-40B4-BE49-F238E27FC236}">
                <a16:creationId xmlns:a16="http://schemas.microsoft.com/office/drawing/2014/main" id="{34EC4521-C5FB-4174-88D0-C385D1E75BE9}"/>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1, 2 ve 3 değerlerini kapsayan bir aralıktır. İki uç da dahildir.</a:t>
            </a:r>
          </a:p>
        </p:txBody>
      </p:sp>
      <p:sp>
        <p:nvSpPr>
          <p:cNvPr id="12" name="">
            <a:extLst xmlns:a="http://schemas.openxmlformats.org/drawingml/2006/main">
              <a:ext uri="{FF2B5EF4-FFF2-40B4-BE49-F238E27FC236}">
                <a16:creationId xmlns:a16="http://schemas.microsoft.com/office/drawing/2014/main" id="{368BEADC-EC3A-431F-A51C-4B3864C5F05C}"/>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sayi</a:t>
            </a:r>
          </a:p>
        </p:txBody>
      </p:sp>
      <p:sp>
        <p:nvSpPr>
          <p:cNvPr id="13" name="">
            <a:extLst xmlns:a="http://schemas.openxmlformats.org/drawingml/2006/main">
              <a:ext uri="{FF2B5EF4-FFF2-40B4-BE49-F238E27FC236}">
                <a16:creationId xmlns:a16="http://schemas.microsoft.com/office/drawing/2014/main" id="{0284AA84-8F58-4206-80B2-0EEBD24DD04C}"/>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Her turda sıradaki değeri alır. Gövde toplam üç kez çalışır.</a:t>
            </a:r>
          </a:p>
        </p:txBody>
      </p:sp>
      <p:sp>
        <p:nvSpPr>
          <p:cNvPr id="14" name="">
            <a:extLst xmlns:a="http://schemas.openxmlformats.org/drawingml/2006/main">
              <a:ext uri="{FF2B5EF4-FFF2-40B4-BE49-F238E27FC236}">
                <a16:creationId xmlns:a16="http://schemas.microsoft.com/office/drawing/2014/main" id="{EA885C29-3013-47C3-AFDC-02C196121EF5}"/>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5" name="">
            <a:extLst xmlns:a="http://schemas.openxmlformats.org/drawingml/2006/main">
              <a:ext uri="{FF2B5EF4-FFF2-40B4-BE49-F238E27FC236}">
                <a16:creationId xmlns:a16="http://schemas.microsoft.com/office/drawing/2014/main" id="{FA3F931C-D5DB-41C5-A50A-4A3A25B2CABD}"/>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1</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2</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3</a:t>
            </a:r>
          </a:p>
        </p:txBody>
      </p:sp>
      <p:sp>
        <p:nvSpPr>
          <p:cNvPr id="16" name="">
            <a:extLst xmlns:a="http://schemas.openxmlformats.org/drawingml/2006/main">
              <a:ext uri="{FF2B5EF4-FFF2-40B4-BE49-F238E27FC236}">
                <a16:creationId xmlns:a16="http://schemas.microsoft.com/office/drawing/2014/main" id="{34B7500C-9413-4107-A6D3-E9F49EC062DD}"/>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10 / 37</a:t>
            </a:r>
          </a:p>
        </p:txBody>
      </p:sp>
    </p:spTree>
    <p:extLst>
      <p:ext uri="{BB962C8B-B14F-4D97-AF65-F5344CB8AC3E}">
        <p14:creationId xmlns:p14="http://schemas.microsoft.com/office/powerpoint/2010/main" val="246566391"/>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DDB7D59-8014-4622-9425-5320F25CE323}"/>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B27FBFB8-02FE-4EBD-AE9D-060F0C81BADF}"/>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Dizi: değerleri sırayla tutmak</a:t>
            </a:r>
          </a:p>
        </p:txBody>
      </p:sp>
      <p:sp>
        <p:nvSpPr>
          <p:cNvPr id="3" name="">
            <a:extLst xmlns:a="http://schemas.openxmlformats.org/drawingml/2006/main">
              <a:ext uri="{FF2B5EF4-FFF2-40B4-BE49-F238E27FC236}">
                <a16:creationId xmlns:a16="http://schemas.microsoft.com/office/drawing/2014/main" id="{80F45B5F-5EFB-4C43-A1E5-AA93192EED2B}"/>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Dizi, eleman sayısı oluşturulduktan sonra değişmeyen bir veri grubudur.</a:t>
            </a:r>
          </a:p>
        </p:txBody>
      </p:sp>
      <p:sp>
        <p:nvSpPr>
          <p:cNvPr id="4" name="">
            <a:extLst xmlns:a="http://schemas.openxmlformats.org/drawingml/2006/main">
              <a:ext uri="{FF2B5EF4-FFF2-40B4-BE49-F238E27FC236}">
                <a16:creationId xmlns:a16="http://schemas.microsoft.com/office/drawing/2014/main" id="{ADAF5FFE-BA4E-499C-8AFC-4FB8E7492669}"/>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BF9E0E21-805C-4921-9671-68AA66906B29}"/>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DD962934-B1E9-4AEA-A8D7-079C0E9BF968}"/>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adlar = arrayOf(</a:t>
            </a:r>
            <a:r>
              <a:rPr>
                <a:solidFill>
                  <a:srgbClr val="397425"/>
                </a:solidFill>
              </a:rPr>
              <a:t>"Ayşe"</a:t>
            </a:r>
            <a:r>
              <a:t>, </a:t>
            </a:r>
            <a:r>
              <a:rPr>
                <a:solidFill>
                  <a:srgbClr val="397425"/>
                </a:solidFill>
              </a:rPr>
              <a:t>"Ali"</a:t>
            </a:r>
            <a:r>
              <a:t>, </a:t>
            </a:r>
            <a:r>
              <a:rPr>
                <a:solidFill>
                  <a:srgbClr val="397425"/>
                </a:solidFill>
              </a:rPr>
              <a:t>"Ece"</a:t>
            </a:r>
            <a:r>
              <a:t>)</a:t>
            </a:r>
          </a:p>
        </p:txBody>
      </p:sp>
      <p:sp>
        <p:nvSpPr>
          <p:cNvPr id="7" name="">
            <a:extLst xmlns:a="http://schemas.openxmlformats.org/drawingml/2006/main">
              <a:ext uri="{FF2B5EF4-FFF2-40B4-BE49-F238E27FC236}">
                <a16:creationId xmlns:a16="http://schemas.microsoft.com/office/drawing/2014/main" id="{5CC33068-6865-47D4-B316-E96F69E3D4B2}"/>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println(adlar[</a:t>
            </a:r>
            <a:r>
              <a:rPr>
                <a:solidFill>
                  <a:srgbClr val="A45110"/>
                </a:solidFill>
              </a:rPr>
              <a:t>0</a:t>
            </a:r>
            <a:r>
              <a:t>])</a:t>
            </a:r>
          </a:p>
        </p:txBody>
      </p:sp>
      <p:sp>
        <p:nvSpPr>
          <p:cNvPr id="8" name="">
            <a:extLst xmlns:a="http://schemas.openxmlformats.org/drawingml/2006/main">
              <a:ext uri="{FF2B5EF4-FFF2-40B4-BE49-F238E27FC236}">
                <a16:creationId xmlns:a16="http://schemas.microsoft.com/office/drawing/2014/main" id="{790CD131-7475-4483-BEB6-158531DA2A04}"/>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println(adlar[</a:t>
            </a:r>
            <a:r>
              <a:rPr>
                <a:solidFill>
                  <a:srgbClr val="A45110"/>
                </a:solidFill>
              </a:rPr>
              <a:t>2</a:t>
            </a:r>
            <a:r>
              <a:t>])</a:t>
            </a:r>
          </a:p>
        </p:txBody>
      </p:sp>
      <p:sp>
        <p:nvSpPr>
          <p:cNvPr id="9" name="">
            <a:extLst xmlns:a="http://schemas.openxmlformats.org/drawingml/2006/main">
              <a:ext uri="{FF2B5EF4-FFF2-40B4-BE49-F238E27FC236}">
                <a16:creationId xmlns:a16="http://schemas.microsoft.com/office/drawing/2014/main" id="{35B773B1-8FF1-40D4-8E1E-EA37D587E277}"/>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0" name="">
            <a:extLst xmlns:a="http://schemas.openxmlformats.org/drawingml/2006/main">
              <a:ext uri="{FF2B5EF4-FFF2-40B4-BE49-F238E27FC236}">
                <a16:creationId xmlns:a16="http://schemas.microsoft.com/office/drawing/2014/main" id="{1A9C7483-1A53-4929-9646-7B3DC69CBEAB}"/>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arrayOf(...)</a:t>
            </a:r>
          </a:p>
        </p:txBody>
      </p:sp>
      <p:sp>
        <p:nvSpPr>
          <p:cNvPr id="11" name="">
            <a:extLst xmlns:a="http://schemas.openxmlformats.org/drawingml/2006/main">
              <a:ext uri="{FF2B5EF4-FFF2-40B4-BE49-F238E27FC236}">
                <a16:creationId xmlns:a16="http://schemas.microsoft.com/office/drawing/2014/main" id="{0E57BE16-1F76-405A-B172-F5F490BDAB7F}"/>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Üç metin içeren bir dizi oluşturur.</a:t>
            </a:r>
          </a:p>
        </p:txBody>
      </p:sp>
      <p:sp>
        <p:nvSpPr>
          <p:cNvPr id="12" name="">
            <a:extLst xmlns:a="http://schemas.openxmlformats.org/drawingml/2006/main">
              <a:ext uri="{FF2B5EF4-FFF2-40B4-BE49-F238E27FC236}">
                <a16:creationId xmlns:a16="http://schemas.microsoft.com/office/drawing/2014/main" id="{F176E29F-E3F1-40A2-881F-FD891E3DFACB}"/>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[indeks]</a:t>
            </a:r>
          </a:p>
        </p:txBody>
      </p:sp>
      <p:sp>
        <p:nvSpPr>
          <p:cNvPr id="13" name="">
            <a:extLst xmlns:a="http://schemas.openxmlformats.org/drawingml/2006/main">
              <a:ext uri="{FF2B5EF4-FFF2-40B4-BE49-F238E27FC236}">
                <a16:creationId xmlns:a16="http://schemas.microsoft.com/office/drawing/2014/main" id="{FC6E0153-1C11-4B4F-B568-339980991AE4}"/>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İlk eleman 0, ikinci 1, üçüncü 2 konumundadır. adlar[3] bu dizide geçersizdir.</a:t>
            </a:r>
          </a:p>
        </p:txBody>
      </p:sp>
      <p:sp>
        <p:nvSpPr>
          <p:cNvPr id="14" name="">
            <a:extLst xmlns:a="http://schemas.openxmlformats.org/drawingml/2006/main">
              <a:ext uri="{FF2B5EF4-FFF2-40B4-BE49-F238E27FC236}">
                <a16:creationId xmlns:a16="http://schemas.microsoft.com/office/drawing/2014/main" id="{26CFEAF3-C47D-452C-AD3A-1AA3EC2B3400}"/>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5" name="">
            <a:extLst xmlns:a="http://schemas.openxmlformats.org/drawingml/2006/main">
              <a:ext uri="{FF2B5EF4-FFF2-40B4-BE49-F238E27FC236}">
                <a16:creationId xmlns:a16="http://schemas.microsoft.com/office/drawing/2014/main" id="{E12D05A7-EA73-4243-B280-7A0D4815FF1E}"/>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Ayşe</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Ece</a:t>
            </a:r>
          </a:p>
        </p:txBody>
      </p:sp>
      <p:sp>
        <p:nvSpPr>
          <p:cNvPr id="16" name="">
            <a:extLst xmlns:a="http://schemas.openxmlformats.org/drawingml/2006/main">
              <a:ext uri="{FF2B5EF4-FFF2-40B4-BE49-F238E27FC236}">
                <a16:creationId xmlns:a16="http://schemas.microsoft.com/office/drawing/2014/main" id="{F926CB38-AE31-41BA-9F13-2A1427AFFA11}"/>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11 / 37</a:t>
            </a:r>
          </a:p>
        </p:txBody>
      </p:sp>
    </p:spTree>
    <p:extLst>
      <p:ext uri="{BB962C8B-B14F-4D97-AF65-F5344CB8AC3E}">
        <p14:creationId xmlns:p14="http://schemas.microsoft.com/office/powerpoint/2010/main" val="1327852128"/>
      </p:ext>
    </p:extLst>
  </p:cSld>
</p:sld>
</file>

<file path=ppt/slides/slide1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13A853E-780C-4E4A-9F0B-6FB00BD87B64}"/>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0E47F6CA-2E0B-42BC-8098-055811B07DB5}"/>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Dizide bir değeri değiştirmek</a:t>
            </a:r>
          </a:p>
        </p:txBody>
      </p:sp>
      <p:sp>
        <p:nvSpPr>
          <p:cNvPr id="3" name="">
            <a:extLst xmlns:a="http://schemas.openxmlformats.org/drawingml/2006/main">
              <a:ext uri="{FF2B5EF4-FFF2-40B4-BE49-F238E27FC236}">
                <a16:creationId xmlns:a16="http://schemas.microsoft.com/office/drawing/2014/main" id="{F91222D0-374C-4C80-88EF-F6DF0D4BECC4}"/>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Dizinin uzunluğu sabittir, ancak içindeki elemanın değerini değiştirebiliriz.</a:t>
            </a:r>
          </a:p>
        </p:txBody>
      </p:sp>
      <p:sp>
        <p:nvSpPr>
          <p:cNvPr id="4" name="">
            <a:extLst xmlns:a="http://schemas.openxmlformats.org/drawingml/2006/main">
              <a:ext uri="{FF2B5EF4-FFF2-40B4-BE49-F238E27FC236}">
                <a16:creationId xmlns:a16="http://schemas.microsoft.com/office/drawing/2014/main" id="{5350A025-56DA-41F6-B85B-04ADAA772DCA}"/>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F383D2A5-F295-4D87-B589-DD5B2B65B139}"/>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99C32AEC-21E3-486C-89FA-B2A3107F2973}"/>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adlar = arrayOf(</a:t>
            </a:r>
            <a:r>
              <a:rPr>
                <a:solidFill>
                  <a:srgbClr val="397425"/>
                </a:solidFill>
              </a:rPr>
              <a:t>"Ayşe"</a:t>
            </a:r>
            <a:r>
              <a:t>, </a:t>
            </a:r>
            <a:r>
              <a:rPr>
                <a:solidFill>
                  <a:srgbClr val="397425"/>
                </a:solidFill>
              </a:rPr>
              <a:t>"Ali"</a:t>
            </a:r>
            <a:r>
              <a:t>)</a:t>
            </a:r>
          </a:p>
        </p:txBody>
      </p:sp>
      <p:sp>
        <p:nvSpPr>
          <p:cNvPr id="7" name="">
            <a:extLst xmlns:a="http://schemas.openxmlformats.org/drawingml/2006/main">
              <a:ext uri="{FF2B5EF4-FFF2-40B4-BE49-F238E27FC236}">
                <a16:creationId xmlns:a16="http://schemas.microsoft.com/office/drawing/2014/main" id="{59098E34-EBBE-4E59-A3CB-4E0D5B662808}"/>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adlar[</a:t>
            </a:r>
            <a:r>
              <a:rPr>
                <a:solidFill>
                  <a:srgbClr val="A45110"/>
                </a:solidFill>
              </a:rPr>
              <a:t>1</a:t>
            </a:r>
            <a:r>
              <a:t>] = </a:t>
            </a:r>
            <a:r>
              <a:rPr>
                <a:solidFill>
                  <a:srgbClr val="397425"/>
                </a:solidFill>
              </a:rPr>
              <a:t>"Ece"</a:t>
            </a:r>
          </a:p>
        </p:txBody>
      </p:sp>
      <p:sp>
        <p:nvSpPr>
          <p:cNvPr id="8" name="">
            <a:extLst xmlns:a="http://schemas.openxmlformats.org/drawingml/2006/main">
              <a:ext uri="{FF2B5EF4-FFF2-40B4-BE49-F238E27FC236}">
                <a16:creationId xmlns:a16="http://schemas.microsoft.com/office/drawing/2014/main" id="{9C06A3FC-EFB6-4C4D-A21C-F303208470E7}"/>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println(adlar[</a:t>
            </a:r>
            <a:r>
              <a:rPr>
                <a:solidFill>
                  <a:srgbClr val="A45110"/>
                </a:solidFill>
              </a:rPr>
              <a:t>1</a:t>
            </a:r>
            <a:r>
              <a:t>])</a:t>
            </a:r>
          </a:p>
        </p:txBody>
      </p:sp>
      <p:sp>
        <p:nvSpPr>
          <p:cNvPr id="9" name="">
            <a:extLst xmlns:a="http://schemas.openxmlformats.org/drawingml/2006/main">
              <a:ext uri="{FF2B5EF4-FFF2-40B4-BE49-F238E27FC236}">
                <a16:creationId xmlns:a16="http://schemas.microsoft.com/office/drawing/2014/main" id="{02E1586B-5863-4EC0-BD2E-CB662BD779D5}"/>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println(adlar.size)</a:t>
            </a:r>
          </a:p>
        </p:txBody>
      </p:sp>
      <p:sp>
        <p:nvSpPr>
          <p:cNvPr id="10" name="">
            <a:extLst xmlns:a="http://schemas.openxmlformats.org/drawingml/2006/main">
              <a:ext uri="{FF2B5EF4-FFF2-40B4-BE49-F238E27FC236}">
                <a16:creationId xmlns:a16="http://schemas.microsoft.com/office/drawing/2014/main" id="{6933B1E7-B91D-4AF7-8131-84931FAC2F68}"/>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1" name="">
            <a:extLst xmlns:a="http://schemas.openxmlformats.org/drawingml/2006/main">
              <a:ext uri="{FF2B5EF4-FFF2-40B4-BE49-F238E27FC236}">
                <a16:creationId xmlns:a16="http://schemas.microsoft.com/office/drawing/2014/main" id="{D99C1672-8165-473C-BC63-EDCECC56F5B9}"/>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Eleman değişimi</a:t>
            </a:r>
          </a:p>
        </p:txBody>
      </p:sp>
      <p:sp>
        <p:nvSpPr>
          <p:cNvPr id="12" name="">
            <a:extLst xmlns:a="http://schemas.openxmlformats.org/drawingml/2006/main">
              <a:ext uri="{FF2B5EF4-FFF2-40B4-BE49-F238E27FC236}">
                <a16:creationId xmlns:a16="http://schemas.microsoft.com/office/drawing/2014/main" id="{98B97D01-767C-41F1-8271-71095C292FDD}"/>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1 numaralı konumdaki Ali metninin yerine Ece yazılır.</a:t>
            </a:r>
          </a:p>
        </p:txBody>
      </p:sp>
      <p:sp>
        <p:nvSpPr>
          <p:cNvPr id="13" name="">
            <a:extLst xmlns:a="http://schemas.openxmlformats.org/drawingml/2006/main">
              <a:ext uri="{FF2B5EF4-FFF2-40B4-BE49-F238E27FC236}">
                <a16:creationId xmlns:a16="http://schemas.microsoft.com/office/drawing/2014/main" id="{A2FF7422-5567-46D6-8E29-7D14B7331A9B}"/>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val ayrıntısı</a:t>
            </a:r>
          </a:p>
        </p:txBody>
      </p:sp>
      <p:sp>
        <p:nvSpPr>
          <p:cNvPr id="14" name="">
            <a:extLst xmlns:a="http://schemas.openxmlformats.org/drawingml/2006/main">
              <a:ext uri="{FF2B5EF4-FFF2-40B4-BE49-F238E27FC236}">
                <a16:creationId xmlns:a16="http://schemas.microsoft.com/office/drawing/2014/main" id="{CF92B5CF-7D0B-4E55-B036-0E1A5009CEF6}"/>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adlar başka bir diziye atanmadı. Mevcut dizinin bir elemanı değişti, eleman sayısı yine 2.</a:t>
            </a:r>
          </a:p>
        </p:txBody>
      </p:sp>
      <p:sp>
        <p:nvSpPr>
          <p:cNvPr id="15" name="">
            <a:extLst xmlns:a="http://schemas.openxmlformats.org/drawingml/2006/main">
              <a:ext uri="{FF2B5EF4-FFF2-40B4-BE49-F238E27FC236}">
                <a16:creationId xmlns:a16="http://schemas.microsoft.com/office/drawing/2014/main" id="{758EEDFA-D059-4EE4-9AA2-F03CC25900E9}"/>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6" name="">
            <a:extLst xmlns:a="http://schemas.openxmlformats.org/drawingml/2006/main">
              <a:ext uri="{FF2B5EF4-FFF2-40B4-BE49-F238E27FC236}">
                <a16:creationId xmlns:a16="http://schemas.microsoft.com/office/drawing/2014/main" id="{51DA9FA0-B6A6-4287-8A00-49D99F437A83}"/>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Ece</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2</a:t>
            </a:r>
          </a:p>
        </p:txBody>
      </p:sp>
      <p:sp>
        <p:nvSpPr>
          <p:cNvPr id="17" name="">
            <a:extLst xmlns:a="http://schemas.openxmlformats.org/drawingml/2006/main">
              <a:ext uri="{FF2B5EF4-FFF2-40B4-BE49-F238E27FC236}">
                <a16:creationId xmlns:a16="http://schemas.microsoft.com/office/drawing/2014/main" id="{B4D2D081-C88A-4D83-BC0E-2F229B0737CE}"/>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12 / 37</a:t>
            </a:r>
          </a:p>
        </p:txBody>
      </p:sp>
    </p:spTree>
    <p:extLst>
      <p:ext uri="{BB962C8B-B14F-4D97-AF65-F5344CB8AC3E}">
        <p14:creationId xmlns:p14="http://schemas.microsoft.com/office/powerpoint/2010/main" val="63381892"/>
      </p:ext>
    </p:extLst>
  </p:cSld>
</p:sld>
</file>

<file path=ppt/slides/slide1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00EAF1-8BE2-4FDE-A97F-8C2EA2037B37}"/>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2EACC75F-84F6-43EB-8429-178DD46746F2}"/>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Liste: sıralı verileri okumak</a:t>
            </a:r>
          </a:p>
        </p:txBody>
      </p:sp>
      <p:sp>
        <p:nvSpPr>
          <p:cNvPr id="3" name="">
            <a:extLst xmlns:a="http://schemas.openxmlformats.org/drawingml/2006/main">
              <a:ext uri="{FF2B5EF4-FFF2-40B4-BE49-F238E27FC236}">
                <a16:creationId xmlns:a16="http://schemas.microsoft.com/office/drawing/2014/main" id="{F0C63CA9-FF56-44D0-8D66-5C4B1E32E317}"/>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List, birden fazla değere sıra numarasıyla erişmemizi sağlar.</a:t>
            </a:r>
          </a:p>
        </p:txBody>
      </p:sp>
      <p:sp>
        <p:nvSpPr>
          <p:cNvPr id="4" name="">
            <a:extLst xmlns:a="http://schemas.openxmlformats.org/drawingml/2006/main">
              <a:ext uri="{FF2B5EF4-FFF2-40B4-BE49-F238E27FC236}">
                <a16:creationId xmlns:a16="http://schemas.microsoft.com/office/drawing/2014/main" id="{11A86467-CD8A-4065-A7A3-1A3BD3B0F1FD}"/>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86E7DCD2-ABB9-4C33-84BA-3313EAD67115}"/>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25810629-851B-4BC2-B078-CB7036518742}"/>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dersler = listOf(</a:t>
            </a:r>
            <a:r>
              <a:rPr>
                <a:solidFill>
                  <a:srgbClr val="397425"/>
                </a:solidFill>
              </a:rPr>
              <a:t>"Kotlin"</a:t>
            </a:r>
            <a:r>
              <a:t>, </a:t>
            </a:r>
            <a:r>
              <a:rPr>
                <a:solidFill>
                  <a:srgbClr val="397425"/>
                </a:solidFill>
              </a:rPr>
              <a:t>"Android"</a:t>
            </a:r>
            <a:r>
              <a:t>)</a:t>
            </a:r>
          </a:p>
        </p:txBody>
      </p:sp>
      <p:sp>
        <p:nvSpPr>
          <p:cNvPr id="7" name="">
            <a:extLst xmlns:a="http://schemas.openxmlformats.org/drawingml/2006/main">
              <a:ext uri="{FF2B5EF4-FFF2-40B4-BE49-F238E27FC236}">
                <a16:creationId xmlns:a16="http://schemas.microsoft.com/office/drawing/2014/main" id="{3D465DEB-D312-4542-B83A-0DE836B5C5F3}"/>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println(dersler[</a:t>
            </a:r>
            <a:r>
              <a:rPr>
                <a:solidFill>
                  <a:srgbClr val="A45110"/>
                </a:solidFill>
              </a:rPr>
              <a:t>0</a:t>
            </a:r>
            <a:r>
              <a:t>])</a:t>
            </a:r>
          </a:p>
        </p:txBody>
      </p:sp>
      <p:sp>
        <p:nvSpPr>
          <p:cNvPr id="8" name="">
            <a:extLst xmlns:a="http://schemas.openxmlformats.org/drawingml/2006/main">
              <a:ext uri="{FF2B5EF4-FFF2-40B4-BE49-F238E27FC236}">
                <a16:creationId xmlns:a16="http://schemas.microsoft.com/office/drawing/2014/main" id="{5F82A6C0-C3AB-4DE3-89BE-DA3CFAB869F3}"/>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println(dersler.size)</a:t>
            </a:r>
          </a:p>
        </p:txBody>
      </p:sp>
      <p:sp>
        <p:nvSpPr>
          <p:cNvPr id="9" name="">
            <a:extLst xmlns:a="http://schemas.openxmlformats.org/drawingml/2006/main">
              <a:ext uri="{FF2B5EF4-FFF2-40B4-BE49-F238E27FC236}">
                <a16:creationId xmlns:a16="http://schemas.microsoft.com/office/drawing/2014/main" id="{3F5BF003-A2F8-4359-808A-E61823B6D6BD}"/>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0" name="">
            <a:extLst xmlns:a="http://schemas.openxmlformats.org/drawingml/2006/main">
              <a:ext uri="{FF2B5EF4-FFF2-40B4-BE49-F238E27FC236}">
                <a16:creationId xmlns:a16="http://schemas.microsoft.com/office/drawing/2014/main" id="{9486CAF1-0C57-4BFC-A19D-7B45B3B6FB56}"/>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listOf(...)</a:t>
            </a:r>
          </a:p>
        </p:txBody>
      </p:sp>
      <p:sp>
        <p:nvSpPr>
          <p:cNvPr id="11" name="">
            <a:extLst xmlns:a="http://schemas.openxmlformats.org/drawingml/2006/main">
              <a:ext uri="{FF2B5EF4-FFF2-40B4-BE49-F238E27FC236}">
                <a16:creationId xmlns:a16="http://schemas.microsoft.com/office/drawing/2014/main" id="{F8B6533D-73A5-4F09-8494-76D9EC245E80}"/>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Bu örnekte salt okunur bir liste üretir. [0] ilk elemanı verir.</a:t>
            </a:r>
          </a:p>
        </p:txBody>
      </p:sp>
      <p:sp>
        <p:nvSpPr>
          <p:cNvPr id="12" name="">
            <a:extLst xmlns:a="http://schemas.openxmlformats.org/drawingml/2006/main">
              <a:ext uri="{FF2B5EF4-FFF2-40B4-BE49-F238E27FC236}">
                <a16:creationId xmlns:a16="http://schemas.microsoft.com/office/drawing/2014/main" id="{EE09B40B-9BD3-4182-81F3-FFC8440D41A0}"/>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List üzerinden erişim</a:t>
            </a:r>
          </a:p>
        </p:txBody>
      </p:sp>
      <p:sp>
        <p:nvSpPr>
          <p:cNvPr id="13" name="">
            <a:extLst xmlns:a="http://schemas.openxmlformats.org/drawingml/2006/main">
              <a:ext uri="{FF2B5EF4-FFF2-40B4-BE49-F238E27FC236}">
                <a16:creationId xmlns:a16="http://schemas.microsoft.com/office/drawing/2014/main" id="{9C22A909-AEE4-49F6-9B28-E72DA5FB3374}"/>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Elemanları okuruz. Bu liste değişkeni add veya remove gibi değiştirme işlemleri sunmaz.</a:t>
            </a:r>
          </a:p>
        </p:txBody>
      </p:sp>
      <p:sp>
        <p:nvSpPr>
          <p:cNvPr id="14" name="">
            <a:extLst xmlns:a="http://schemas.openxmlformats.org/drawingml/2006/main">
              <a:ext uri="{FF2B5EF4-FFF2-40B4-BE49-F238E27FC236}">
                <a16:creationId xmlns:a16="http://schemas.microsoft.com/office/drawing/2014/main" id="{47046BE7-431D-4C04-81CD-172716F73EDB}"/>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5" name="">
            <a:extLst xmlns:a="http://schemas.openxmlformats.org/drawingml/2006/main">
              <a:ext uri="{FF2B5EF4-FFF2-40B4-BE49-F238E27FC236}">
                <a16:creationId xmlns:a16="http://schemas.microsoft.com/office/drawing/2014/main" id="{1D76DEA9-326C-4DC6-94C0-41AE8472D002}"/>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Kotlin</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2</a:t>
            </a:r>
          </a:p>
        </p:txBody>
      </p:sp>
      <p:sp>
        <p:nvSpPr>
          <p:cNvPr id="16" name="">
            <a:extLst xmlns:a="http://schemas.openxmlformats.org/drawingml/2006/main">
              <a:ext uri="{FF2B5EF4-FFF2-40B4-BE49-F238E27FC236}">
                <a16:creationId xmlns:a16="http://schemas.microsoft.com/office/drawing/2014/main" id="{216AECEF-BB24-4B1E-B6EA-6A7840DEEFA1}"/>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13 / 37</a:t>
            </a:r>
          </a:p>
        </p:txBody>
      </p:sp>
    </p:spTree>
    <p:extLst>
      <p:ext uri="{BB962C8B-B14F-4D97-AF65-F5344CB8AC3E}">
        <p14:creationId xmlns:p14="http://schemas.microsoft.com/office/powerpoint/2010/main" val="616116688"/>
      </p:ext>
    </p:extLst>
  </p:cSld>
</p:sld>
</file>

<file path=ppt/slides/slide1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6DB2650-7522-4D13-8744-E97763008EF5}"/>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3A9D8333-E18B-4D2C-AF58-FA5F53EE47D6}"/>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Değişebilir listeye eleman eklemek</a:t>
            </a:r>
          </a:p>
        </p:txBody>
      </p:sp>
      <p:sp>
        <p:nvSpPr>
          <p:cNvPr id="3" name="">
            <a:extLst xmlns:a="http://schemas.openxmlformats.org/drawingml/2006/main">
              <a:ext uri="{FF2B5EF4-FFF2-40B4-BE49-F238E27FC236}">
                <a16:creationId xmlns:a16="http://schemas.microsoft.com/office/drawing/2014/main" id="{9569AF31-90DE-43E7-AFD3-530C0BFCBCE6}"/>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Eleman eklemek veya silmek istediğimizde MutableList kullanırız.</a:t>
            </a:r>
          </a:p>
        </p:txBody>
      </p:sp>
      <p:sp>
        <p:nvSpPr>
          <p:cNvPr id="4" name="">
            <a:extLst xmlns:a="http://schemas.openxmlformats.org/drawingml/2006/main">
              <a:ext uri="{FF2B5EF4-FFF2-40B4-BE49-F238E27FC236}">
                <a16:creationId xmlns:a16="http://schemas.microsoft.com/office/drawing/2014/main" id="{A54FF656-5C55-44F2-87CB-E69EA9CAA232}"/>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B1F5EB11-173C-4E5C-8A22-80B03C801111}"/>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46C5E2E6-C402-411D-8F14-5944011D8BED}"/>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notlar = mutableListOf&lt;String&gt;()</a:t>
            </a:r>
          </a:p>
        </p:txBody>
      </p:sp>
      <p:sp>
        <p:nvSpPr>
          <p:cNvPr id="7" name="">
            <a:extLst xmlns:a="http://schemas.openxmlformats.org/drawingml/2006/main">
              <a:ext uri="{FF2B5EF4-FFF2-40B4-BE49-F238E27FC236}">
                <a16:creationId xmlns:a16="http://schemas.microsoft.com/office/drawing/2014/main" id="{ED5C94F0-07B3-4733-81E9-639C38FCF977}"/>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notlar.add(</a:t>
            </a:r>
            <a:r>
              <a:rPr>
                <a:solidFill>
                  <a:srgbClr val="397425"/>
                </a:solidFill>
              </a:rPr>
              <a:t>"Süt al"</a:t>
            </a:r>
            <a:r>
              <a:t>)</a:t>
            </a:r>
          </a:p>
        </p:txBody>
      </p:sp>
      <p:sp>
        <p:nvSpPr>
          <p:cNvPr id="8" name="">
            <a:extLst xmlns:a="http://schemas.openxmlformats.org/drawingml/2006/main">
              <a:ext uri="{FF2B5EF4-FFF2-40B4-BE49-F238E27FC236}">
                <a16:creationId xmlns:a16="http://schemas.microsoft.com/office/drawing/2014/main" id="{3A0BC6F2-A7F2-46BE-978F-41698D9BC8A4}"/>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notlar.add(</a:t>
            </a:r>
            <a:r>
              <a:rPr>
                <a:solidFill>
                  <a:srgbClr val="397425"/>
                </a:solidFill>
              </a:rPr>
              <a:t>"Ders çalış"</a:t>
            </a:r>
            <a:r>
              <a:t>)</a:t>
            </a:r>
          </a:p>
        </p:txBody>
      </p:sp>
      <p:sp>
        <p:nvSpPr>
          <p:cNvPr id="9" name="">
            <a:extLst xmlns:a="http://schemas.openxmlformats.org/drawingml/2006/main">
              <a:ext uri="{FF2B5EF4-FFF2-40B4-BE49-F238E27FC236}">
                <a16:creationId xmlns:a16="http://schemas.microsoft.com/office/drawing/2014/main" id="{BB2EE06E-EAD9-4170-8575-FACA71D806CD}"/>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println(notlar)</a:t>
            </a:r>
          </a:p>
        </p:txBody>
      </p:sp>
      <p:sp>
        <p:nvSpPr>
          <p:cNvPr id="10" name="">
            <a:extLst xmlns:a="http://schemas.openxmlformats.org/drawingml/2006/main">
              <a:ext uri="{FF2B5EF4-FFF2-40B4-BE49-F238E27FC236}">
                <a16:creationId xmlns:a16="http://schemas.microsoft.com/office/drawing/2014/main" id="{AD3BC5E4-E7A0-49CB-A546-FA72493A9D90}"/>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1" name="">
            <a:extLst xmlns:a="http://schemas.openxmlformats.org/drawingml/2006/main">
              <a:ext uri="{FF2B5EF4-FFF2-40B4-BE49-F238E27FC236}">
                <a16:creationId xmlns:a16="http://schemas.microsoft.com/office/drawing/2014/main" id="{C46AEB4C-994C-4D97-9152-5C8C5E061F74}"/>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&lt;String&gt;</a:t>
            </a:r>
          </a:p>
        </p:txBody>
      </p:sp>
      <p:sp>
        <p:nvSpPr>
          <p:cNvPr id="12" name="">
            <a:extLst xmlns:a="http://schemas.openxmlformats.org/drawingml/2006/main">
              <a:ext uri="{FF2B5EF4-FFF2-40B4-BE49-F238E27FC236}">
                <a16:creationId xmlns:a16="http://schemas.microsoft.com/office/drawing/2014/main" id="{B49C3EFE-07F7-4390-98EE-CA968B2A6FF2}"/>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Bu listeye metin koyacağımızı belirtir. Başlangıçta liste boştur.</a:t>
            </a:r>
          </a:p>
        </p:txBody>
      </p:sp>
      <p:sp>
        <p:nvSpPr>
          <p:cNvPr id="13" name="">
            <a:extLst xmlns:a="http://schemas.openxmlformats.org/drawingml/2006/main">
              <a:ext uri="{FF2B5EF4-FFF2-40B4-BE49-F238E27FC236}">
                <a16:creationId xmlns:a16="http://schemas.microsoft.com/office/drawing/2014/main" id="{FF71815C-684C-4827-8F21-C704A46CC95E}"/>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add(...)</a:t>
            </a:r>
          </a:p>
        </p:txBody>
      </p:sp>
      <p:sp>
        <p:nvSpPr>
          <p:cNvPr id="14" name="">
            <a:extLst xmlns:a="http://schemas.openxmlformats.org/drawingml/2006/main">
              <a:ext uri="{FF2B5EF4-FFF2-40B4-BE49-F238E27FC236}">
                <a16:creationId xmlns:a16="http://schemas.microsoft.com/office/drawing/2014/main" id="{7A914669-7C64-47E4-8B87-48B5310B6066}"/>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Listenin sonuna yeni bir eleman ekler. Eleman sayısı 0’dan 2’ye çıkar.</a:t>
            </a:r>
          </a:p>
        </p:txBody>
      </p:sp>
      <p:sp>
        <p:nvSpPr>
          <p:cNvPr id="15" name="">
            <a:extLst xmlns:a="http://schemas.openxmlformats.org/drawingml/2006/main">
              <a:ext uri="{FF2B5EF4-FFF2-40B4-BE49-F238E27FC236}">
                <a16:creationId xmlns:a16="http://schemas.microsoft.com/office/drawing/2014/main" id="{3E800294-95A0-4057-B1BF-1C24123234F5}"/>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6" name="">
            <a:extLst xmlns:a="http://schemas.openxmlformats.org/drawingml/2006/main">
              <a:ext uri="{FF2B5EF4-FFF2-40B4-BE49-F238E27FC236}">
                <a16:creationId xmlns:a16="http://schemas.microsoft.com/office/drawing/2014/main" id="{F6DB7160-3B02-468C-9036-A726E968EB17}"/>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[Süt al, Ders çalış]</a:t>
            </a:r>
          </a:p>
        </p:txBody>
      </p:sp>
      <p:sp>
        <p:nvSpPr>
          <p:cNvPr id="17" name="">
            <a:extLst xmlns:a="http://schemas.openxmlformats.org/drawingml/2006/main">
              <a:ext uri="{FF2B5EF4-FFF2-40B4-BE49-F238E27FC236}">
                <a16:creationId xmlns:a16="http://schemas.microsoft.com/office/drawing/2014/main" id="{ABAE5955-703C-4383-BF29-DE3B21E4375E}"/>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14 / 37</a:t>
            </a:r>
          </a:p>
        </p:txBody>
      </p:sp>
    </p:spTree>
    <p:extLst>
      <p:ext uri="{BB962C8B-B14F-4D97-AF65-F5344CB8AC3E}">
        <p14:creationId xmlns:p14="http://schemas.microsoft.com/office/powerpoint/2010/main" val="1258874840"/>
      </p:ext>
    </p:extLst>
  </p:cSld>
</p:sld>
</file>

<file path=ppt/slides/slide1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C9CC5D3-BCF9-4F43-9E75-C4B2648DFCEF}"/>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68E8B897-0984-4065-8876-5169FD8CBF42}"/>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Listeden eleman silmek</a:t>
            </a:r>
          </a:p>
        </p:txBody>
      </p:sp>
      <p:sp>
        <p:nvSpPr>
          <p:cNvPr id="3" name="">
            <a:extLst xmlns:a="http://schemas.openxmlformats.org/drawingml/2006/main">
              <a:ext uri="{FF2B5EF4-FFF2-40B4-BE49-F238E27FC236}">
                <a16:creationId xmlns:a16="http://schemas.microsoft.com/office/drawing/2014/main" id="{89843828-F667-4162-B1DA-4997C005805F}"/>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remove, verilen değerin listedeki ilk eşleşmesini siler.</a:t>
            </a:r>
          </a:p>
        </p:txBody>
      </p:sp>
      <p:sp>
        <p:nvSpPr>
          <p:cNvPr id="4" name="">
            <a:extLst xmlns:a="http://schemas.openxmlformats.org/drawingml/2006/main">
              <a:ext uri="{FF2B5EF4-FFF2-40B4-BE49-F238E27FC236}">
                <a16:creationId xmlns:a16="http://schemas.microsoft.com/office/drawing/2014/main" id="{8E279BD1-B9CA-499B-9D8C-6C3E944D2690}"/>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34342B52-2E0B-4E91-B719-E2026DA1A9D0}"/>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1CEB9A1E-147B-41F5-AE87-7BABE4912C5C}"/>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notlar = mutableListOf(</a:t>
            </a:r>
            <a:r>
              <a:rPr>
                <a:solidFill>
                  <a:srgbClr val="397425"/>
                </a:solidFill>
              </a:rPr>
              <a:t>"Süt al"</a:t>
            </a:r>
            <a:r>
              <a:t>, </a:t>
            </a:r>
            <a:r>
              <a:rPr>
                <a:solidFill>
                  <a:srgbClr val="397425"/>
                </a:solidFill>
              </a:rPr>
              <a:t>"Oku"</a:t>
            </a:r>
            <a:r>
              <a:t>)</a:t>
            </a:r>
          </a:p>
        </p:txBody>
      </p:sp>
      <p:sp>
        <p:nvSpPr>
          <p:cNvPr id="7" name="">
            <a:extLst xmlns:a="http://schemas.openxmlformats.org/drawingml/2006/main">
              <a:ext uri="{FF2B5EF4-FFF2-40B4-BE49-F238E27FC236}">
                <a16:creationId xmlns:a16="http://schemas.microsoft.com/office/drawing/2014/main" id="{9CA8B740-BB79-4511-880A-40D760C3EEA6}"/>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notlar.remove(</a:t>
            </a:r>
            <a:r>
              <a:rPr>
                <a:solidFill>
                  <a:srgbClr val="397425"/>
                </a:solidFill>
              </a:rPr>
              <a:t>"Süt al"</a:t>
            </a:r>
            <a:r>
              <a:t>)</a:t>
            </a:r>
          </a:p>
        </p:txBody>
      </p:sp>
      <p:sp>
        <p:nvSpPr>
          <p:cNvPr id="8" name="">
            <a:extLst xmlns:a="http://schemas.openxmlformats.org/drawingml/2006/main">
              <a:ext uri="{FF2B5EF4-FFF2-40B4-BE49-F238E27FC236}">
                <a16:creationId xmlns:a16="http://schemas.microsoft.com/office/drawing/2014/main" id="{42FE23C3-9A5D-4D7B-A74F-CD0BFC495C9C}"/>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println(notlar)</a:t>
            </a:r>
          </a:p>
        </p:txBody>
      </p:sp>
      <p:sp>
        <p:nvSpPr>
          <p:cNvPr id="9" name="">
            <a:extLst xmlns:a="http://schemas.openxmlformats.org/drawingml/2006/main">
              <a:ext uri="{FF2B5EF4-FFF2-40B4-BE49-F238E27FC236}">
                <a16:creationId xmlns:a16="http://schemas.microsoft.com/office/drawing/2014/main" id="{F0B2BE24-71D7-421B-8B02-C05A65F1CC9A}"/>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0" name="">
            <a:extLst xmlns:a="http://schemas.openxmlformats.org/drawingml/2006/main">
              <a:ext uri="{FF2B5EF4-FFF2-40B4-BE49-F238E27FC236}">
                <a16:creationId xmlns:a16="http://schemas.microsoft.com/office/drawing/2014/main" id="{7FCC21C8-DED5-49F3-B61F-4FAEF38EDF28}"/>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remove("Süt al")</a:t>
            </a:r>
          </a:p>
        </p:txBody>
      </p:sp>
      <p:sp>
        <p:nvSpPr>
          <p:cNvPr id="11" name="">
            <a:extLst xmlns:a="http://schemas.openxmlformats.org/drawingml/2006/main">
              <a:ext uri="{FF2B5EF4-FFF2-40B4-BE49-F238E27FC236}">
                <a16:creationId xmlns:a16="http://schemas.microsoft.com/office/drawing/2014/main" id="{662D7218-F6EF-4573-85BD-B31270AF840D}"/>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Bu metne eşit ilk elemanı bulup listeden çıkarır.</a:t>
            </a:r>
          </a:p>
        </p:txBody>
      </p:sp>
      <p:sp>
        <p:nvSpPr>
          <p:cNvPr id="12" name="">
            <a:extLst xmlns:a="http://schemas.openxmlformats.org/drawingml/2006/main">
              <a:ext uri="{FF2B5EF4-FFF2-40B4-BE49-F238E27FC236}">
                <a16:creationId xmlns:a16="http://schemas.microsoft.com/office/drawing/2014/main" id="{F3DF9F83-A537-43C5-A5F8-0475253635CB}"/>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Yeni içerik</a:t>
            </a:r>
          </a:p>
        </p:txBody>
      </p:sp>
      <p:sp>
        <p:nvSpPr>
          <p:cNvPr id="13" name="">
            <a:extLst xmlns:a="http://schemas.openxmlformats.org/drawingml/2006/main">
              <a:ext uri="{FF2B5EF4-FFF2-40B4-BE49-F238E27FC236}">
                <a16:creationId xmlns:a16="http://schemas.microsoft.com/office/drawing/2014/main" id="{21ECA05F-256F-4291-BA37-6ABC1C2B9A83}"/>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Oku elemanı listede kalır. Liste uzunluğu artık 1’dir.</a:t>
            </a:r>
          </a:p>
        </p:txBody>
      </p:sp>
      <p:sp>
        <p:nvSpPr>
          <p:cNvPr id="14" name="">
            <a:extLst xmlns:a="http://schemas.openxmlformats.org/drawingml/2006/main">
              <a:ext uri="{FF2B5EF4-FFF2-40B4-BE49-F238E27FC236}">
                <a16:creationId xmlns:a16="http://schemas.microsoft.com/office/drawing/2014/main" id="{A9923C45-4463-4854-9653-9149C41D9065}"/>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5" name="">
            <a:extLst xmlns:a="http://schemas.openxmlformats.org/drawingml/2006/main">
              <a:ext uri="{FF2B5EF4-FFF2-40B4-BE49-F238E27FC236}">
                <a16:creationId xmlns:a16="http://schemas.microsoft.com/office/drawing/2014/main" id="{3E619E12-1D44-4749-9A3D-846E9F49E5AB}"/>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[Oku]</a:t>
            </a:r>
          </a:p>
        </p:txBody>
      </p:sp>
      <p:sp>
        <p:nvSpPr>
          <p:cNvPr id="16" name="">
            <a:extLst xmlns:a="http://schemas.openxmlformats.org/drawingml/2006/main">
              <a:ext uri="{FF2B5EF4-FFF2-40B4-BE49-F238E27FC236}">
                <a16:creationId xmlns:a16="http://schemas.microsoft.com/office/drawing/2014/main" id="{14820BD1-56B3-4A31-B44E-22ACE8C87E4E}"/>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15 / 37</a:t>
            </a:r>
          </a:p>
        </p:txBody>
      </p:sp>
    </p:spTree>
    <p:extLst>
      <p:ext uri="{BB962C8B-B14F-4D97-AF65-F5344CB8AC3E}">
        <p14:creationId xmlns:p14="http://schemas.microsoft.com/office/powerpoint/2010/main" val="17429981"/>
      </p:ext>
    </p:extLst>
  </p:cSld>
</p:sld>
</file>

<file path=ppt/slides/slide1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3E93920-224D-4088-B3B0-6472BD22CB03}"/>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E86E9B1F-A414-481F-AA1D-E3742B577732}"/>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Listeyi for ile dolaşmak</a:t>
            </a:r>
          </a:p>
        </p:txBody>
      </p:sp>
      <p:sp>
        <p:nvSpPr>
          <p:cNvPr id="3" name="">
            <a:extLst xmlns:a="http://schemas.openxmlformats.org/drawingml/2006/main">
              <a:ext uri="{FF2B5EF4-FFF2-40B4-BE49-F238E27FC236}">
                <a16:creationId xmlns:a16="http://schemas.microsoft.com/office/drawing/2014/main" id="{0CB4E870-34A4-484C-9074-CFC38FDCA86B}"/>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Listedeki her eleman için aynı işlemi yapabiliriz.</a:t>
            </a:r>
          </a:p>
        </p:txBody>
      </p:sp>
      <p:sp>
        <p:nvSpPr>
          <p:cNvPr id="4" name="">
            <a:extLst xmlns:a="http://schemas.openxmlformats.org/drawingml/2006/main">
              <a:ext uri="{FF2B5EF4-FFF2-40B4-BE49-F238E27FC236}">
                <a16:creationId xmlns:a16="http://schemas.microsoft.com/office/drawing/2014/main" id="{C9742250-1AF9-4E0A-9F31-D2A9E8AC3867}"/>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0D4C2451-9835-4260-A1BF-5713154CE2EC}"/>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6" name="">
            <a:extLst xmlns:a="http://schemas.openxmlformats.org/drawingml/2006/main">
              <a:ext uri="{FF2B5EF4-FFF2-40B4-BE49-F238E27FC236}">
                <a16:creationId xmlns:a16="http://schemas.microsoft.com/office/drawing/2014/main" id="{BD111D8B-9BD5-4133-AC33-18D85C225FD5}"/>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notlar = listOf(</a:t>
            </a:r>
            <a:r>
              <a:rPr>
                <a:solidFill>
                  <a:srgbClr val="397425"/>
                </a:solidFill>
              </a:rPr>
              <a:t>"Süt al"</a:t>
            </a:r>
            <a:r>
              <a:t>, </a:t>
            </a:r>
            <a:r>
              <a:rPr>
                <a:solidFill>
                  <a:srgbClr val="397425"/>
                </a:solidFill>
              </a:rPr>
              <a:t>"Oku"</a:t>
            </a:r>
            <a:r>
              <a:t>)</a:t>
            </a:r>
          </a:p>
        </p:txBody>
      </p:sp>
      <p:sp>
        <p:nvSpPr>
          <p:cNvPr id="7" name="">
            <a:extLst xmlns:a="http://schemas.openxmlformats.org/drawingml/2006/main">
              <a:ext uri="{FF2B5EF4-FFF2-40B4-BE49-F238E27FC236}">
                <a16:creationId xmlns:a16="http://schemas.microsoft.com/office/drawing/2014/main" id="{825F5FD9-A9F9-4E81-AA2B-64179D08ACB3}"/>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for</a:t>
            </a:r>
            <a:r>
              <a:t> (not </a:t>
            </a:r>
            <a:r>
              <a:rPr>
                <a:solidFill>
                  <a:srgbClr val="6941A5"/>
                </a:solidFill>
              </a:rPr>
              <a:t>in</a:t>
            </a:r>
            <a:r>
              <a:t> notlar) {</a:t>
            </a:r>
          </a:p>
        </p:txBody>
      </p:sp>
      <p:sp>
        <p:nvSpPr>
          <p:cNvPr id="8" name="">
            <a:extLst xmlns:a="http://schemas.openxmlformats.org/drawingml/2006/main">
              <a:ext uri="{FF2B5EF4-FFF2-40B4-BE49-F238E27FC236}">
                <a16:creationId xmlns:a16="http://schemas.microsoft.com/office/drawing/2014/main" id="{9155B0B8-2690-4955-922C-6DB7C435B6A2}"/>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println(not)</a:t>
            </a:r>
          </a:p>
        </p:txBody>
      </p:sp>
      <p:sp>
        <p:nvSpPr>
          <p:cNvPr id="9" name="">
            <a:extLst xmlns:a="http://schemas.openxmlformats.org/drawingml/2006/main">
              <a:ext uri="{FF2B5EF4-FFF2-40B4-BE49-F238E27FC236}">
                <a16:creationId xmlns:a16="http://schemas.microsoft.com/office/drawing/2014/main" id="{3DC40977-66E8-420E-BC98-2A5897F1A32A}"/>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0" name="">
            <a:extLst xmlns:a="http://schemas.openxmlformats.org/drawingml/2006/main">
              <a:ext uri="{FF2B5EF4-FFF2-40B4-BE49-F238E27FC236}">
                <a16:creationId xmlns:a16="http://schemas.microsoft.com/office/drawing/2014/main" id="{26966D8B-853B-415D-9727-2FAF5FA231C4}"/>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1" name="">
            <a:extLst xmlns:a="http://schemas.openxmlformats.org/drawingml/2006/main">
              <a:ext uri="{FF2B5EF4-FFF2-40B4-BE49-F238E27FC236}">
                <a16:creationId xmlns:a16="http://schemas.microsoft.com/office/drawing/2014/main" id="{E0AEE0BC-0D8B-4FF8-8F49-88FD983512F2}"/>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İlk tur</a:t>
            </a:r>
          </a:p>
        </p:txBody>
      </p:sp>
      <p:sp>
        <p:nvSpPr>
          <p:cNvPr id="12" name="">
            <a:extLst xmlns:a="http://schemas.openxmlformats.org/drawingml/2006/main">
              <a:ext uri="{FF2B5EF4-FFF2-40B4-BE49-F238E27FC236}">
                <a16:creationId xmlns:a16="http://schemas.microsoft.com/office/drawing/2014/main" id="{D688BD5E-50AB-49E8-9BD1-23CB41DEC850}"/>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not değişkeni Süt al değerini alır ve ekrana yazar.</a:t>
            </a:r>
          </a:p>
        </p:txBody>
      </p:sp>
      <p:sp>
        <p:nvSpPr>
          <p:cNvPr id="13" name="">
            <a:extLst xmlns:a="http://schemas.openxmlformats.org/drawingml/2006/main">
              <a:ext uri="{FF2B5EF4-FFF2-40B4-BE49-F238E27FC236}">
                <a16:creationId xmlns:a16="http://schemas.microsoft.com/office/drawing/2014/main" id="{9E0F0F57-F187-40E3-9527-A370A83E69C5}"/>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İkinci tur</a:t>
            </a:r>
          </a:p>
        </p:txBody>
      </p:sp>
      <p:sp>
        <p:nvSpPr>
          <p:cNvPr id="14" name="">
            <a:extLst xmlns:a="http://schemas.openxmlformats.org/drawingml/2006/main">
              <a:ext uri="{FF2B5EF4-FFF2-40B4-BE49-F238E27FC236}">
                <a16:creationId xmlns:a16="http://schemas.microsoft.com/office/drawing/2014/main" id="{5FCC2E73-6414-4764-84A0-212BE419164C}"/>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not, Oku değerini alır. Elemanlar bitince döngü de biter.</a:t>
            </a:r>
          </a:p>
        </p:txBody>
      </p:sp>
      <p:sp>
        <p:nvSpPr>
          <p:cNvPr id="15" name="">
            <a:extLst xmlns:a="http://schemas.openxmlformats.org/drawingml/2006/main">
              <a:ext uri="{FF2B5EF4-FFF2-40B4-BE49-F238E27FC236}">
                <a16:creationId xmlns:a16="http://schemas.microsoft.com/office/drawing/2014/main" id="{6C0B5A42-82C7-4A24-B692-1676E5C828CB}"/>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6" name="">
            <a:extLst xmlns:a="http://schemas.openxmlformats.org/drawingml/2006/main">
              <a:ext uri="{FF2B5EF4-FFF2-40B4-BE49-F238E27FC236}">
                <a16:creationId xmlns:a16="http://schemas.microsoft.com/office/drawing/2014/main" id="{A19ADB49-85F7-47F0-A070-E17DB04C14FC}"/>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Süt al</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Oku</a:t>
            </a:r>
          </a:p>
        </p:txBody>
      </p:sp>
      <p:sp>
        <p:nvSpPr>
          <p:cNvPr id="17" name="">
            <a:extLst xmlns:a="http://schemas.openxmlformats.org/drawingml/2006/main">
              <a:ext uri="{FF2B5EF4-FFF2-40B4-BE49-F238E27FC236}">
                <a16:creationId xmlns:a16="http://schemas.microsoft.com/office/drawing/2014/main" id="{B4CBF021-6023-49B0-98D7-BB8B69356D8B}"/>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16 / 37</a:t>
            </a:r>
          </a:p>
        </p:txBody>
      </p:sp>
    </p:spTree>
    <p:extLst>
      <p:ext uri="{BB962C8B-B14F-4D97-AF65-F5344CB8AC3E}">
        <p14:creationId xmlns:p14="http://schemas.microsoft.com/office/powerpoint/2010/main" val="189773324"/>
      </p:ext>
    </p:extLst>
  </p:cSld>
</p:sld>
</file>

<file path=ppt/slides/slide1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FC7B16B-2526-48AA-B2D6-0D6CD2036C7D}"/>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423B9F78-F90D-4F21-9AD8-0874217757B3}"/>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Fonksiyon nedir?</a:t>
            </a:r>
          </a:p>
        </p:txBody>
      </p:sp>
      <p:sp>
        <p:nvSpPr>
          <p:cNvPr id="3" name="">
            <a:extLst xmlns:a="http://schemas.openxmlformats.org/drawingml/2006/main">
              <a:ext uri="{FF2B5EF4-FFF2-40B4-BE49-F238E27FC236}">
                <a16:creationId xmlns:a16="http://schemas.microsoft.com/office/drawing/2014/main" id="{8BA71F40-36ED-4F12-8224-04539584A404}"/>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Fonksiyon, bir işi yapan ve adıyla çağırabildiğimiz kod bölümüdür.</a:t>
            </a:r>
          </a:p>
        </p:txBody>
      </p:sp>
      <p:sp>
        <p:nvSpPr>
          <p:cNvPr id="4" name="">
            <a:extLst xmlns:a="http://schemas.openxmlformats.org/drawingml/2006/main">
              <a:ext uri="{FF2B5EF4-FFF2-40B4-BE49-F238E27FC236}">
                <a16:creationId xmlns:a16="http://schemas.microsoft.com/office/drawing/2014/main" id="{BC5897D7-C640-48F7-950A-4CD0E09D1122}"/>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F1FBBC48-67B8-4B1C-A223-F95336DBADD1}"/>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selamVer() {</a:t>
            </a:r>
          </a:p>
        </p:txBody>
      </p:sp>
      <p:sp>
        <p:nvSpPr>
          <p:cNvPr id="6" name="">
            <a:extLst xmlns:a="http://schemas.openxmlformats.org/drawingml/2006/main">
              <a:ext uri="{FF2B5EF4-FFF2-40B4-BE49-F238E27FC236}">
                <a16:creationId xmlns:a16="http://schemas.microsoft.com/office/drawing/2014/main" id="{2C5A8EC7-E227-4064-8054-C5B820BF3F8F}"/>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"Merhaba"</a:t>
            </a:r>
            <a:r>
              <a:t>)</a:t>
            </a:r>
          </a:p>
        </p:txBody>
      </p:sp>
      <p:sp>
        <p:nvSpPr>
          <p:cNvPr id="7" name="">
            <a:extLst xmlns:a="http://schemas.openxmlformats.org/drawingml/2006/main">
              <a:ext uri="{FF2B5EF4-FFF2-40B4-BE49-F238E27FC236}">
                <a16:creationId xmlns:a16="http://schemas.microsoft.com/office/drawing/2014/main" id="{A3F46201-896B-4BA6-8FE8-A7FC8BEA43F6}"/>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8" name="">
            <a:extLst xmlns:a="http://schemas.openxmlformats.org/drawingml/2006/main">
              <a:ext uri="{FF2B5EF4-FFF2-40B4-BE49-F238E27FC236}">
                <a16:creationId xmlns:a16="http://schemas.microsoft.com/office/drawing/2014/main" id="{047F8B5F-C0D4-4687-BE20-31BABE8985D5}"/>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9" name="">
            <a:extLst xmlns:a="http://schemas.openxmlformats.org/drawingml/2006/main">
              <a:ext uri="{FF2B5EF4-FFF2-40B4-BE49-F238E27FC236}">
                <a16:creationId xmlns:a16="http://schemas.microsoft.com/office/drawing/2014/main" id="{E3B3C767-9F28-48AE-BEA1-ADBEE3CC9A88}"/>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0" name="">
            <a:extLst xmlns:a="http://schemas.openxmlformats.org/drawingml/2006/main">
              <a:ext uri="{FF2B5EF4-FFF2-40B4-BE49-F238E27FC236}">
                <a16:creationId xmlns:a16="http://schemas.microsoft.com/office/drawing/2014/main" id="{CD287F4D-43BC-4BB4-AB60-52E28886EFE7}"/>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selamVer()</a:t>
            </a:r>
          </a:p>
        </p:txBody>
      </p:sp>
      <p:sp>
        <p:nvSpPr>
          <p:cNvPr id="11" name="">
            <a:extLst xmlns:a="http://schemas.openxmlformats.org/drawingml/2006/main">
              <a:ext uri="{FF2B5EF4-FFF2-40B4-BE49-F238E27FC236}">
                <a16:creationId xmlns:a16="http://schemas.microsoft.com/office/drawing/2014/main" id="{87B9BCF6-C9BE-481A-ACEC-E95BCAC20503}"/>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2" name="">
            <a:extLst xmlns:a="http://schemas.openxmlformats.org/drawingml/2006/main">
              <a:ext uri="{FF2B5EF4-FFF2-40B4-BE49-F238E27FC236}">
                <a16:creationId xmlns:a16="http://schemas.microsoft.com/office/drawing/2014/main" id="{552700F4-EA9F-46CA-A0BC-3F369438E513}"/>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Tanım</a:t>
            </a:r>
          </a:p>
        </p:txBody>
      </p:sp>
      <p:sp>
        <p:nvSpPr>
          <p:cNvPr id="13" name="">
            <a:extLst xmlns:a="http://schemas.openxmlformats.org/drawingml/2006/main">
              <a:ext uri="{FF2B5EF4-FFF2-40B4-BE49-F238E27FC236}">
                <a16:creationId xmlns:a16="http://schemas.microsoft.com/office/drawing/2014/main" id="{7315655B-EDCF-490A-B457-42C7D0A2A2F2}"/>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fun selamVer(), işlemin adını belirler. Süslü parantez içi yapılacak iştir.</a:t>
            </a:r>
          </a:p>
        </p:txBody>
      </p:sp>
      <p:sp>
        <p:nvSpPr>
          <p:cNvPr id="14" name="">
            <a:extLst xmlns:a="http://schemas.openxmlformats.org/drawingml/2006/main">
              <a:ext uri="{FF2B5EF4-FFF2-40B4-BE49-F238E27FC236}">
                <a16:creationId xmlns:a16="http://schemas.microsoft.com/office/drawing/2014/main" id="{C092B13A-3CDB-45EE-B82E-3D8092D30014}"/>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Çağrı</a:t>
            </a:r>
          </a:p>
        </p:txBody>
      </p:sp>
      <p:sp>
        <p:nvSpPr>
          <p:cNvPr id="15" name="">
            <a:extLst xmlns:a="http://schemas.openxmlformats.org/drawingml/2006/main">
              <a:ext uri="{FF2B5EF4-FFF2-40B4-BE49-F238E27FC236}">
                <a16:creationId xmlns:a16="http://schemas.microsoft.com/office/drawing/2014/main" id="{65F5E8BD-DD48-4A0D-8A21-3814A70F1D46}"/>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main içindeki selamVer() bu işi çalıştırır. Tanımı yazmak tek başına çalıştırmaz.</a:t>
            </a:r>
          </a:p>
        </p:txBody>
      </p:sp>
      <p:sp>
        <p:nvSpPr>
          <p:cNvPr id="16" name="">
            <a:extLst xmlns:a="http://schemas.openxmlformats.org/drawingml/2006/main">
              <a:ext uri="{FF2B5EF4-FFF2-40B4-BE49-F238E27FC236}">
                <a16:creationId xmlns:a16="http://schemas.microsoft.com/office/drawing/2014/main" id="{D09FA069-1B85-4DA7-A0AE-FFC6B6A08A6A}"/>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7" name="">
            <a:extLst xmlns:a="http://schemas.openxmlformats.org/drawingml/2006/main">
              <a:ext uri="{FF2B5EF4-FFF2-40B4-BE49-F238E27FC236}">
                <a16:creationId xmlns:a16="http://schemas.microsoft.com/office/drawing/2014/main" id="{98A48544-999B-4F76-9E6D-50C83B8865D6}"/>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Merhaba</a:t>
            </a:r>
          </a:p>
        </p:txBody>
      </p:sp>
      <p:sp>
        <p:nvSpPr>
          <p:cNvPr id="18" name="">
            <a:extLst xmlns:a="http://schemas.openxmlformats.org/drawingml/2006/main">
              <a:ext uri="{FF2B5EF4-FFF2-40B4-BE49-F238E27FC236}">
                <a16:creationId xmlns:a16="http://schemas.microsoft.com/office/drawing/2014/main" id="{8DB4A748-4540-4139-98A3-9FD85BA33E39}"/>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17 / 37</a:t>
            </a:r>
          </a:p>
        </p:txBody>
      </p:sp>
    </p:spTree>
    <p:extLst>
      <p:ext uri="{BB962C8B-B14F-4D97-AF65-F5344CB8AC3E}">
        <p14:creationId xmlns:p14="http://schemas.microsoft.com/office/powerpoint/2010/main" val="793472466"/>
      </p:ext>
    </p:extLst>
  </p:cSld>
</p:sld>
</file>

<file path=ppt/slides/slide1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1E9BC67-8316-4E84-9621-EBC6BD6003FE}"/>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BDC6581F-C021-482D-BD78-FDC6645CFE51}"/>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Fonksiyona parametre vermek</a:t>
            </a:r>
          </a:p>
        </p:txBody>
      </p:sp>
      <p:sp>
        <p:nvSpPr>
          <p:cNvPr id="3" name="">
            <a:extLst xmlns:a="http://schemas.openxmlformats.org/drawingml/2006/main">
              <a:ext uri="{FF2B5EF4-FFF2-40B4-BE49-F238E27FC236}">
                <a16:creationId xmlns:a16="http://schemas.microsoft.com/office/drawing/2014/main" id="{41632CBD-FC1A-4A73-A639-BCCE5FFBA6C3}"/>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Parametre, fonksiyona çalışırken kullanması için gönderdiğimiz bilgidir.</a:t>
            </a:r>
          </a:p>
        </p:txBody>
      </p:sp>
      <p:sp>
        <p:nvSpPr>
          <p:cNvPr id="4" name="">
            <a:extLst xmlns:a="http://schemas.openxmlformats.org/drawingml/2006/main">
              <a:ext uri="{FF2B5EF4-FFF2-40B4-BE49-F238E27FC236}">
                <a16:creationId xmlns:a16="http://schemas.microsoft.com/office/drawing/2014/main" id="{E611EAB1-6580-4249-99CA-1BA0CC2E37B0}"/>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6D5A1CDF-CFD4-443A-B6F2-9F23670D07A7}"/>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selamVer(ad: String) {</a:t>
            </a:r>
          </a:p>
        </p:txBody>
      </p:sp>
      <p:sp>
        <p:nvSpPr>
          <p:cNvPr id="6" name="">
            <a:extLst xmlns:a="http://schemas.openxmlformats.org/drawingml/2006/main">
              <a:ext uri="{FF2B5EF4-FFF2-40B4-BE49-F238E27FC236}">
                <a16:creationId xmlns:a16="http://schemas.microsoft.com/office/drawing/2014/main" id="{F69530F6-E128-45AD-9B8E-944D5A8898A0}"/>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"Merhaba "</a:t>
            </a:r>
            <a:r>
              <a:t> + ad)</a:t>
            </a:r>
          </a:p>
        </p:txBody>
      </p:sp>
      <p:sp>
        <p:nvSpPr>
          <p:cNvPr id="7" name="">
            <a:extLst xmlns:a="http://schemas.openxmlformats.org/drawingml/2006/main">
              <a:ext uri="{FF2B5EF4-FFF2-40B4-BE49-F238E27FC236}">
                <a16:creationId xmlns:a16="http://schemas.microsoft.com/office/drawing/2014/main" id="{A444281A-DB1C-42AD-89BC-7D90F80A273C}"/>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8" name="">
            <a:extLst xmlns:a="http://schemas.openxmlformats.org/drawingml/2006/main">
              <a:ext uri="{FF2B5EF4-FFF2-40B4-BE49-F238E27FC236}">
                <a16:creationId xmlns:a16="http://schemas.microsoft.com/office/drawing/2014/main" id="{AEE49CCD-088A-4EF8-8219-608205F4E5AD}"/>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9" name="">
            <a:extLst xmlns:a="http://schemas.openxmlformats.org/drawingml/2006/main">
              <a:ext uri="{FF2B5EF4-FFF2-40B4-BE49-F238E27FC236}">
                <a16:creationId xmlns:a16="http://schemas.microsoft.com/office/drawing/2014/main" id="{37E42A10-8E72-4C72-B690-3E0DBEC030D9}"/>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0" name="">
            <a:extLst xmlns:a="http://schemas.openxmlformats.org/drawingml/2006/main">
              <a:ext uri="{FF2B5EF4-FFF2-40B4-BE49-F238E27FC236}">
                <a16:creationId xmlns:a16="http://schemas.microsoft.com/office/drawing/2014/main" id="{833FF329-FD60-43BA-A65D-17B721911A99}"/>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selamVer(</a:t>
            </a:r>
            <a:r>
              <a:rPr>
                <a:solidFill>
                  <a:srgbClr val="397425"/>
                </a:solidFill>
              </a:rPr>
              <a:t>"Ayşe"</a:t>
            </a:r>
            <a:r>
              <a:t>)</a:t>
            </a:r>
          </a:p>
        </p:txBody>
      </p:sp>
      <p:sp>
        <p:nvSpPr>
          <p:cNvPr id="11" name="">
            <a:extLst xmlns:a="http://schemas.openxmlformats.org/drawingml/2006/main">
              <a:ext uri="{FF2B5EF4-FFF2-40B4-BE49-F238E27FC236}">
                <a16:creationId xmlns:a16="http://schemas.microsoft.com/office/drawing/2014/main" id="{29D7E7FF-612C-44BC-9F66-76889F0B4D21}"/>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selamVer(</a:t>
            </a:r>
            <a:r>
              <a:rPr>
                <a:solidFill>
                  <a:srgbClr val="397425"/>
                </a:solidFill>
              </a:rPr>
              <a:t>"Ali"</a:t>
            </a:r>
            <a:r>
              <a:t>)</a:t>
            </a:r>
          </a:p>
        </p:txBody>
      </p:sp>
      <p:sp>
        <p:nvSpPr>
          <p:cNvPr id="12" name="">
            <a:extLst xmlns:a="http://schemas.openxmlformats.org/drawingml/2006/main">
              <a:ext uri="{FF2B5EF4-FFF2-40B4-BE49-F238E27FC236}">
                <a16:creationId xmlns:a16="http://schemas.microsoft.com/office/drawing/2014/main" id="{AC4A3299-8739-4307-B48D-5A63DF9C53BD}"/>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3" name="">
            <a:extLst xmlns:a="http://schemas.openxmlformats.org/drawingml/2006/main">
              <a:ext uri="{FF2B5EF4-FFF2-40B4-BE49-F238E27FC236}">
                <a16:creationId xmlns:a16="http://schemas.microsoft.com/office/drawing/2014/main" id="{0BE7081A-996D-4158-BA78-5EC64BFCFA4A}"/>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ad: String</a:t>
            </a:r>
          </a:p>
        </p:txBody>
      </p:sp>
      <p:sp>
        <p:nvSpPr>
          <p:cNvPr id="14" name="">
            <a:extLst xmlns:a="http://schemas.openxmlformats.org/drawingml/2006/main">
              <a:ext uri="{FF2B5EF4-FFF2-40B4-BE49-F238E27FC236}">
                <a16:creationId xmlns:a16="http://schemas.microsoft.com/office/drawing/2014/main" id="{CB7B9249-13AE-4E33-9839-23450DFD1E96}"/>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Fonksiyon bir metin bekler. Çağrıda verilen değer ad ismiyle kullanılır.</a:t>
            </a:r>
          </a:p>
        </p:txBody>
      </p:sp>
      <p:sp>
        <p:nvSpPr>
          <p:cNvPr id="15" name="">
            <a:extLst xmlns:a="http://schemas.openxmlformats.org/drawingml/2006/main">
              <a:ext uri="{FF2B5EF4-FFF2-40B4-BE49-F238E27FC236}">
                <a16:creationId xmlns:a16="http://schemas.microsoft.com/office/drawing/2014/main" id="{D1AE570F-6B3B-4A46-9A87-FFA927E890E2}"/>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İki çağrı</a:t>
            </a:r>
          </a:p>
        </p:txBody>
      </p:sp>
      <p:sp>
        <p:nvSpPr>
          <p:cNvPr id="16" name="">
            <a:extLst xmlns:a="http://schemas.openxmlformats.org/drawingml/2006/main">
              <a:ext uri="{FF2B5EF4-FFF2-40B4-BE49-F238E27FC236}">
                <a16:creationId xmlns:a16="http://schemas.microsoft.com/office/drawing/2014/main" id="{4B61D7C7-A82B-4FDC-8BF4-6FB89A2E6D51}"/>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Aynı fonksiyon farklı girdilerle çalışır. İki ayrı selamlama fonksiyonu yazmamız gerekmez.</a:t>
            </a:r>
          </a:p>
        </p:txBody>
      </p:sp>
      <p:sp>
        <p:nvSpPr>
          <p:cNvPr id="17" name="">
            <a:extLst xmlns:a="http://schemas.openxmlformats.org/drawingml/2006/main">
              <a:ext uri="{FF2B5EF4-FFF2-40B4-BE49-F238E27FC236}">
                <a16:creationId xmlns:a16="http://schemas.microsoft.com/office/drawing/2014/main" id="{B05C7295-50D7-44D1-9609-D0F17E9F412D}"/>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8" name="">
            <a:extLst xmlns:a="http://schemas.openxmlformats.org/drawingml/2006/main">
              <a:ext uri="{FF2B5EF4-FFF2-40B4-BE49-F238E27FC236}">
                <a16:creationId xmlns:a16="http://schemas.microsoft.com/office/drawing/2014/main" id="{6EABADC6-A274-471E-8F2D-7D8147E5CB09}"/>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Merhaba Ayşe</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Merhaba Ali</a:t>
            </a:r>
          </a:p>
        </p:txBody>
      </p:sp>
      <p:sp>
        <p:nvSpPr>
          <p:cNvPr id="19" name="">
            <a:extLst xmlns:a="http://schemas.openxmlformats.org/drawingml/2006/main">
              <a:ext uri="{FF2B5EF4-FFF2-40B4-BE49-F238E27FC236}">
                <a16:creationId xmlns:a16="http://schemas.microsoft.com/office/drawing/2014/main" id="{F55317CF-63EF-4307-80A3-DD33DCA8CB70}"/>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18 / 37</a:t>
            </a:r>
          </a:p>
        </p:txBody>
      </p:sp>
    </p:spTree>
    <p:extLst>
      <p:ext uri="{BB962C8B-B14F-4D97-AF65-F5344CB8AC3E}">
        <p14:creationId xmlns:p14="http://schemas.microsoft.com/office/powerpoint/2010/main" val="653095941"/>
      </p:ext>
    </p:extLst>
  </p:cSld>
</p:sld>
</file>

<file path=ppt/slides/slide1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941DAA2-3AF1-419C-B0A8-AAAA401F5B6E}"/>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976D0564-AA68-4B6E-AEB9-6154378EC134}"/>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Fonksiyondan sonuç almak</a:t>
            </a:r>
          </a:p>
        </p:txBody>
      </p:sp>
      <p:sp>
        <p:nvSpPr>
          <p:cNvPr id="3" name="">
            <a:extLst xmlns:a="http://schemas.openxmlformats.org/drawingml/2006/main">
              <a:ext uri="{FF2B5EF4-FFF2-40B4-BE49-F238E27FC236}">
                <a16:creationId xmlns:a16="http://schemas.microsoft.com/office/drawing/2014/main" id="{1EB3F3D7-5CB0-4909-8EDB-1F4B39EB696C}"/>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return, hesaplanan değeri fonksiyonu çağıran yere gönderir.</a:t>
            </a:r>
          </a:p>
        </p:txBody>
      </p:sp>
      <p:sp>
        <p:nvSpPr>
          <p:cNvPr id="4" name="">
            <a:extLst xmlns:a="http://schemas.openxmlformats.org/drawingml/2006/main">
              <a:ext uri="{FF2B5EF4-FFF2-40B4-BE49-F238E27FC236}">
                <a16:creationId xmlns:a16="http://schemas.microsoft.com/office/drawing/2014/main" id="{3BEBA1A5-E5DD-4474-81F8-30B037B60330}"/>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91AB978B-BFC1-4C81-AB25-3964D41461EA}"/>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topla(a: Int, b: Int): Int {</a:t>
            </a:r>
          </a:p>
        </p:txBody>
      </p:sp>
      <p:sp>
        <p:nvSpPr>
          <p:cNvPr id="6" name="">
            <a:extLst xmlns:a="http://schemas.openxmlformats.org/drawingml/2006/main">
              <a:ext uri="{FF2B5EF4-FFF2-40B4-BE49-F238E27FC236}">
                <a16:creationId xmlns:a16="http://schemas.microsoft.com/office/drawing/2014/main" id="{CF1F7B1A-9D68-4FF6-8E65-64AFE07149C3}"/>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a + b</a:t>
            </a:r>
          </a:p>
        </p:txBody>
      </p:sp>
      <p:sp>
        <p:nvSpPr>
          <p:cNvPr id="7" name="">
            <a:extLst xmlns:a="http://schemas.openxmlformats.org/drawingml/2006/main">
              <a:ext uri="{FF2B5EF4-FFF2-40B4-BE49-F238E27FC236}">
                <a16:creationId xmlns:a16="http://schemas.microsoft.com/office/drawing/2014/main" id="{9C4DFD8F-42F2-481C-9927-948027D85686}"/>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8" name="">
            <a:extLst xmlns:a="http://schemas.openxmlformats.org/drawingml/2006/main">
              <a:ext uri="{FF2B5EF4-FFF2-40B4-BE49-F238E27FC236}">
                <a16:creationId xmlns:a16="http://schemas.microsoft.com/office/drawing/2014/main" id="{3CBF00AD-C4AD-43B4-8E55-DA87C498CCBA}"/>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9" name="">
            <a:extLst xmlns:a="http://schemas.openxmlformats.org/drawingml/2006/main">
              <a:ext uri="{FF2B5EF4-FFF2-40B4-BE49-F238E27FC236}">
                <a16:creationId xmlns:a16="http://schemas.microsoft.com/office/drawing/2014/main" id="{4AF9DBDF-AB3B-4DE8-9F80-E7CE7764339A}"/>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0" name="">
            <a:extLst xmlns:a="http://schemas.openxmlformats.org/drawingml/2006/main">
              <a:ext uri="{FF2B5EF4-FFF2-40B4-BE49-F238E27FC236}">
                <a16:creationId xmlns:a16="http://schemas.microsoft.com/office/drawing/2014/main" id="{E763A7A3-7240-42F2-BC36-14C356310B35}"/>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sonuc = topla(</a:t>
            </a:r>
            <a:r>
              <a:rPr>
                <a:solidFill>
                  <a:srgbClr val="A45110"/>
                </a:solidFill>
              </a:rPr>
              <a:t>3</a:t>
            </a:r>
            <a:r>
              <a:t>, </a:t>
            </a:r>
            <a:r>
              <a:rPr>
                <a:solidFill>
                  <a:srgbClr val="A45110"/>
                </a:solidFill>
              </a:rPr>
              <a:t>4</a:t>
            </a:r>
            <a:r>
              <a:t>)</a:t>
            </a:r>
          </a:p>
        </p:txBody>
      </p:sp>
      <p:sp>
        <p:nvSpPr>
          <p:cNvPr id="11" name="">
            <a:extLst xmlns:a="http://schemas.openxmlformats.org/drawingml/2006/main">
              <a:ext uri="{FF2B5EF4-FFF2-40B4-BE49-F238E27FC236}">
                <a16:creationId xmlns:a16="http://schemas.microsoft.com/office/drawing/2014/main" id="{16D998CA-1699-4024-B7DE-B8C1FCF8AA43}"/>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println(sonuc)</a:t>
            </a:r>
          </a:p>
        </p:txBody>
      </p:sp>
      <p:sp>
        <p:nvSpPr>
          <p:cNvPr id="12" name="">
            <a:extLst xmlns:a="http://schemas.openxmlformats.org/drawingml/2006/main">
              <a:ext uri="{FF2B5EF4-FFF2-40B4-BE49-F238E27FC236}">
                <a16:creationId xmlns:a16="http://schemas.microsoft.com/office/drawing/2014/main" id="{73BB380B-9E47-4D19-A305-10FE1D2B1672}"/>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3" name="">
            <a:extLst xmlns:a="http://schemas.openxmlformats.org/drawingml/2006/main">
              <a:ext uri="{FF2B5EF4-FFF2-40B4-BE49-F238E27FC236}">
                <a16:creationId xmlns:a16="http://schemas.microsoft.com/office/drawing/2014/main" id="{B9E4813E-D5AD-489B-B57D-9EA6F65E57B7}"/>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 Int</a:t>
            </a:r>
          </a:p>
        </p:txBody>
      </p:sp>
      <p:sp>
        <p:nvSpPr>
          <p:cNvPr id="14" name="">
            <a:extLst xmlns:a="http://schemas.openxmlformats.org/drawingml/2006/main">
              <a:ext uri="{FF2B5EF4-FFF2-40B4-BE49-F238E27FC236}">
                <a16:creationId xmlns:a16="http://schemas.microsoft.com/office/drawing/2014/main" id="{4A4C91B4-0DE0-4487-A91B-CA3BB8C77D4A}"/>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Fonksiyonun geriye tam sayı döndüreceğini belirtir. a ve b, iki giriş parametresidir.</a:t>
            </a:r>
          </a:p>
        </p:txBody>
      </p:sp>
      <p:sp>
        <p:nvSpPr>
          <p:cNvPr id="15" name="">
            <a:extLst xmlns:a="http://schemas.openxmlformats.org/drawingml/2006/main">
              <a:ext uri="{FF2B5EF4-FFF2-40B4-BE49-F238E27FC236}">
                <a16:creationId xmlns:a16="http://schemas.microsoft.com/office/drawing/2014/main" id="{8774A85B-0694-436C-9B7C-90B5ABD522D5}"/>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return a + b</a:t>
            </a:r>
          </a:p>
        </p:txBody>
      </p:sp>
      <p:sp>
        <p:nvSpPr>
          <p:cNvPr id="16" name="">
            <a:extLst xmlns:a="http://schemas.openxmlformats.org/drawingml/2006/main">
              <a:ext uri="{FF2B5EF4-FFF2-40B4-BE49-F238E27FC236}">
                <a16:creationId xmlns:a16="http://schemas.microsoft.com/office/drawing/2014/main" id="{EB5FF6EC-80AA-413A-814C-C5F15E2CE2DB}"/>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7 değerini çağıran yere verir. Bu değer sonuc değişkenine atanır.</a:t>
            </a:r>
          </a:p>
        </p:txBody>
      </p:sp>
      <p:sp>
        <p:nvSpPr>
          <p:cNvPr id="17" name="">
            <a:extLst xmlns:a="http://schemas.openxmlformats.org/drawingml/2006/main">
              <a:ext uri="{FF2B5EF4-FFF2-40B4-BE49-F238E27FC236}">
                <a16:creationId xmlns:a16="http://schemas.microsoft.com/office/drawing/2014/main" id="{4B1B76AC-E73E-4631-8BAF-B77D77EEE1F4}"/>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8" name="">
            <a:extLst xmlns:a="http://schemas.openxmlformats.org/drawingml/2006/main">
              <a:ext uri="{FF2B5EF4-FFF2-40B4-BE49-F238E27FC236}">
                <a16:creationId xmlns:a16="http://schemas.microsoft.com/office/drawing/2014/main" id="{DB0C9E75-13A5-48B9-B7EC-FD6E3AA700F1}"/>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7</a:t>
            </a:r>
          </a:p>
        </p:txBody>
      </p:sp>
      <p:sp>
        <p:nvSpPr>
          <p:cNvPr id="19" name="">
            <a:extLst xmlns:a="http://schemas.openxmlformats.org/drawingml/2006/main">
              <a:ext uri="{FF2B5EF4-FFF2-40B4-BE49-F238E27FC236}">
                <a16:creationId xmlns:a16="http://schemas.microsoft.com/office/drawing/2014/main" id="{EF3944B8-530D-4415-B1FA-96DF3D5A4F55}"/>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19 / 37</a:t>
            </a:r>
          </a:p>
        </p:txBody>
      </p:sp>
    </p:spTree>
    <p:extLst>
      <p:ext uri="{BB962C8B-B14F-4D97-AF65-F5344CB8AC3E}">
        <p14:creationId xmlns:p14="http://schemas.microsoft.com/office/powerpoint/2010/main" val="1806195651"/>
      </p:ext>
    </p:extLst>
  </p:cSld>
</p:sld>
</file>

<file path=ppt/slides/slide2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013D7C-8D26-43F5-930C-A501FFC361DA}"/>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1C45E6BC-9BF6-49D8-9B90-7638EAA33ABF}"/>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println ile return farkı</a:t>
            </a:r>
          </a:p>
        </p:txBody>
      </p:sp>
      <p:sp>
        <p:nvSpPr>
          <p:cNvPr id="3" name="">
            <a:extLst xmlns:a="http://schemas.openxmlformats.org/drawingml/2006/main">
              <a:ext uri="{FF2B5EF4-FFF2-40B4-BE49-F238E27FC236}">
                <a16:creationId xmlns:a16="http://schemas.microsoft.com/office/drawing/2014/main" id="{B737305A-9A88-4EE7-842E-D40898C54AF4}"/>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Biri sonucu gösterir, diğeri sonucu programın kullanabileceği şekilde geri verir.</a:t>
            </a:r>
          </a:p>
        </p:txBody>
      </p:sp>
      <p:sp>
        <p:nvSpPr>
          <p:cNvPr id="4" name="">
            <a:extLst xmlns:a="http://schemas.openxmlformats.org/drawingml/2006/main">
              <a:ext uri="{FF2B5EF4-FFF2-40B4-BE49-F238E27FC236}">
                <a16:creationId xmlns:a16="http://schemas.microsoft.com/office/drawing/2014/main" id="{F8AD97CF-1B17-4C8B-B12D-FAB727658F25}"/>
              </a:ext>
            </a:extLst>
          </p:cNvPr>
          <p:cNvSpPr>
            <a:spLocks xmlns:a="http://schemas.openxmlformats.org/drawingml/2006/main" noGrp="1"/>
          </p:cNvSpPr>
          <p:nvPr/>
        </p:nvSpPr>
        <p:spPr>
          <a:xfrm xmlns:a="http://schemas.openxmlformats.org/drawingml/2006/main">
            <a:off x="742950" y="310515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println(7)</a:t>
            </a:r>
          </a:p>
        </p:txBody>
      </p:sp>
      <p:sp>
        <p:nvSpPr>
          <p:cNvPr id="5" name="">
            <a:extLst xmlns:a="http://schemas.openxmlformats.org/drawingml/2006/main">
              <a:ext uri="{FF2B5EF4-FFF2-40B4-BE49-F238E27FC236}">
                <a16:creationId xmlns:a16="http://schemas.microsoft.com/office/drawing/2014/main" id="{B4ED9A6B-35DF-4EB7-8248-4681B7B12898}"/>
              </a:ext>
            </a:extLst>
          </p:cNvPr>
          <p:cNvSpPr>
            <a:spLocks xmlns:a="http://schemas.openxmlformats.org/drawingml/2006/main" noGrp="1"/>
          </p:cNvSpPr>
          <p:nvPr/>
        </p:nvSpPr>
        <p:spPr>
          <a:xfrm xmlns:a="http://schemas.openxmlformats.org/drawingml/2006/main">
            <a:off x="4552950" y="310515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Konsola 7 yazar. İşlemin amacı kullanıcıya veya geliştiriciye bilgi göstermektir.</a:t>
            </a:r>
          </a:p>
        </p:txBody>
      </p:sp>
      <p:sp>
        <p:nvSpPr>
          <p:cNvPr id="6" name="">
            <a:extLst xmlns:a="http://schemas.openxmlformats.org/drawingml/2006/main">
              <a:ext uri="{FF2B5EF4-FFF2-40B4-BE49-F238E27FC236}">
                <a16:creationId xmlns:a16="http://schemas.microsoft.com/office/drawing/2014/main" id="{CFF53719-F9A8-4452-8114-256373617503}"/>
              </a:ext>
            </a:extLst>
          </p:cNvPr>
          <p:cNvSpPr>
            <a:spLocks xmlns:a="http://schemas.openxmlformats.org/drawingml/2006/main" noGrp="1"/>
          </p:cNvSpPr>
          <p:nvPr/>
        </p:nvSpPr>
        <p:spPr>
          <a:xfrm xmlns:a="http://schemas.openxmlformats.org/drawingml/2006/main">
            <a:off x="742950" y="4600575"/>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return 7</a:t>
            </a:r>
          </a:p>
        </p:txBody>
      </p:sp>
      <p:sp>
        <p:nvSpPr>
          <p:cNvPr id="7" name="">
            <a:extLst xmlns:a="http://schemas.openxmlformats.org/drawingml/2006/main">
              <a:ext uri="{FF2B5EF4-FFF2-40B4-BE49-F238E27FC236}">
                <a16:creationId xmlns:a16="http://schemas.microsoft.com/office/drawing/2014/main" id="{63A0651A-A3FB-483D-BDCA-5EF6AC5AEE1F}"/>
              </a:ext>
            </a:extLst>
          </p:cNvPr>
          <p:cNvSpPr>
            <a:spLocks xmlns:a="http://schemas.openxmlformats.org/drawingml/2006/main" noGrp="1"/>
          </p:cNvSpPr>
          <p:nvPr/>
        </p:nvSpPr>
        <p:spPr>
          <a:xfrm xmlns:a="http://schemas.openxmlformats.org/drawingml/2006/main">
            <a:off x="4552950" y="4600575"/>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Fonksiyonun sonucunu 7 yapar. Başka kod bu sonucu saklayabilir veya hesapta kullanabilir.</a:t>
            </a:r>
          </a:p>
        </p:txBody>
      </p:sp>
      <p:sp>
        <p:nvSpPr>
          <p:cNvPr id="8" name="">
            <a:extLst xmlns:a="http://schemas.openxmlformats.org/drawingml/2006/main">
              <a:ext uri="{FF2B5EF4-FFF2-40B4-BE49-F238E27FC236}">
                <a16:creationId xmlns:a16="http://schemas.microsoft.com/office/drawing/2014/main" id="{4726F931-7EE1-4498-ADE0-E5F8C272DFA6}"/>
              </a:ext>
            </a:extLst>
          </p:cNvPr>
          <p:cNvSpPr>
            <a:spLocks xmlns:a="http://schemas.openxmlformats.org/drawingml/2006/main" noGrp="1"/>
          </p:cNvSpPr>
          <p:nvPr/>
        </p:nvSpPr>
        <p:spPr>
          <a:xfrm xmlns:a="http://schemas.openxmlformats.org/drawingml/2006/main">
            <a:off x="742950" y="609600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Sonuç döndürmeyen fonksiyon</a:t>
            </a:r>
          </a:p>
        </p:txBody>
      </p:sp>
      <p:sp>
        <p:nvSpPr>
          <p:cNvPr id="9" name="">
            <a:extLst xmlns:a="http://schemas.openxmlformats.org/drawingml/2006/main">
              <a:ext uri="{FF2B5EF4-FFF2-40B4-BE49-F238E27FC236}">
                <a16:creationId xmlns:a16="http://schemas.microsoft.com/office/drawing/2014/main" id="{CD82870B-7D01-4124-99D6-56E974C31444}"/>
              </a:ext>
            </a:extLst>
          </p:cNvPr>
          <p:cNvSpPr>
            <a:spLocks xmlns:a="http://schemas.openxmlformats.org/drawingml/2006/main" noGrp="1"/>
          </p:cNvSpPr>
          <p:nvPr/>
        </p:nvSpPr>
        <p:spPr>
          <a:xfrm xmlns:a="http://schemas.openxmlformats.org/drawingml/2006/main">
            <a:off x="4552950" y="609600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selamVer gibi fonksiyonlar Unit döndürür. Genellikle : Unit yazmayız.</a:t>
            </a:r>
          </a:p>
        </p:txBody>
      </p:sp>
      <p:sp>
        <p:nvSpPr>
          <p:cNvPr id="10" name="">
            <a:extLst xmlns:a="http://schemas.openxmlformats.org/drawingml/2006/main">
              <a:ext uri="{FF2B5EF4-FFF2-40B4-BE49-F238E27FC236}">
                <a16:creationId xmlns:a16="http://schemas.microsoft.com/office/drawing/2014/main" id="{5D1E2584-DED1-48DC-919B-E55B68396522}"/>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20 / 37</a:t>
            </a:r>
          </a:p>
        </p:txBody>
      </p:sp>
    </p:spTree>
    <p:extLst>
      <p:ext uri="{BB962C8B-B14F-4D97-AF65-F5344CB8AC3E}">
        <p14:creationId xmlns:p14="http://schemas.microsoft.com/office/powerpoint/2010/main" val="1949345650"/>
      </p:ext>
    </p:extLst>
  </p:cSld>
</p:sld>
</file>

<file path=ppt/slides/slide2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390719D-CF3A-4845-9E19-FDCEE4C6340F}"/>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7FD8AD0D-F951-4C79-B97D-DCB679FC3B57}"/>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Mini program: puana göre sonuç</a:t>
            </a:r>
          </a:p>
        </p:txBody>
      </p:sp>
      <p:sp>
        <p:nvSpPr>
          <p:cNvPr id="3" name="">
            <a:extLst xmlns:a="http://schemas.openxmlformats.org/drawingml/2006/main">
              <a:ext uri="{FF2B5EF4-FFF2-40B4-BE49-F238E27FC236}">
                <a16:creationId xmlns:a16="http://schemas.microsoft.com/office/drawing/2014/main" id="{ED3D6F2D-7319-4586-AD35-4DDDC65DDFD8}"/>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Daha önce öğrendiğimiz fonksiyon ve if–else yapılarını tek küçük programda kullanıyoruz.</a:t>
            </a:r>
          </a:p>
        </p:txBody>
      </p:sp>
      <p:sp>
        <p:nvSpPr>
          <p:cNvPr id="4" name="">
            <a:extLst xmlns:a="http://schemas.openxmlformats.org/drawingml/2006/main">
              <a:ext uri="{FF2B5EF4-FFF2-40B4-BE49-F238E27FC236}">
                <a16:creationId xmlns:a16="http://schemas.microsoft.com/office/drawing/2014/main" id="{6D49B89D-55DC-46CF-8615-41A8DB393AE3}"/>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DF05ABB5-706B-47D5-8CF7-AA12E5FC6E65}"/>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durum(puan: Int): String {</a:t>
            </a:r>
          </a:p>
        </p:txBody>
      </p:sp>
      <p:sp>
        <p:nvSpPr>
          <p:cNvPr id="6" name="">
            <a:extLst xmlns:a="http://schemas.openxmlformats.org/drawingml/2006/main">
              <a:ext uri="{FF2B5EF4-FFF2-40B4-BE49-F238E27FC236}">
                <a16:creationId xmlns:a16="http://schemas.microsoft.com/office/drawing/2014/main" id="{20DD87B5-D3A9-4FFB-A18A-A2BFC8F51CD4}"/>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if</a:t>
            </a:r>
            <a:r>
              <a:t> (puan &gt;= </a:t>
            </a:r>
            <a:r>
              <a:rPr>
                <a:solidFill>
                  <a:srgbClr val="A45110"/>
                </a:solidFill>
              </a:rPr>
              <a:t>50</a:t>
            </a:r>
            <a:r>
              <a:t>) {</a:t>
            </a:r>
          </a:p>
        </p:txBody>
      </p:sp>
      <p:sp>
        <p:nvSpPr>
          <p:cNvPr id="7" name="">
            <a:extLst xmlns:a="http://schemas.openxmlformats.org/drawingml/2006/main">
              <a:ext uri="{FF2B5EF4-FFF2-40B4-BE49-F238E27FC236}">
                <a16:creationId xmlns:a16="http://schemas.microsoft.com/office/drawing/2014/main" id="{E2FAB4DE-76BF-4F0B-904E-60874451FC84}"/>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a:t>
            </a:r>
            <a:r>
              <a:rPr>
                <a:solidFill>
                  <a:srgbClr val="397425"/>
                </a:solidFill>
              </a:rPr>
              <a:t>"Geçti"</a:t>
            </a:r>
          </a:p>
        </p:txBody>
      </p:sp>
      <p:sp>
        <p:nvSpPr>
          <p:cNvPr id="8" name="">
            <a:extLst xmlns:a="http://schemas.openxmlformats.org/drawingml/2006/main">
              <a:ext uri="{FF2B5EF4-FFF2-40B4-BE49-F238E27FC236}">
                <a16:creationId xmlns:a16="http://schemas.microsoft.com/office/drawing/2014/main" id="{10838E80-A66F-483D-A34F-EFDE45D45F96}"/>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 </a:t>
            </a:r>
            <a:r>
              <a:rPr>
                <a:solidFill>
                  <a:srgbClr val="6941A5"/>
                </a:solidFill>
              </a:rPr>
              <a:t>else</a:t>
            </a:r>
            <a:r>
              <a:t> {</a:t>
            </a:r>
          </a:p>
        </p:txBody>
      </p:sp>
      <p:sp>
        <p:nvSpPr>
          <p:cNvPr id="9" name="">
            <a:extLst xmlns:a="http://schemas.openxmlformats.org/drawingml/2006/main">
              <a:ext uri="{FF2B5EF4-FFF2-40B4-BE49-F238E27FC236}">
                <a16:creationId xmlns:a16="http://schemas.microsoft.com/office/drawing/2014/main" id="{D9C17C36-21FA-4937-8654-0522FB9EEFC3}"/>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a:t>
            </a:r>
            <a:r>
              <a:rPr>
                <a:solidFill>
                  <a:srgbClr val="397425"/>
                </a:solidFill>
              </a:rPr>
              <a:t>"Kaldı"</a:t>
            </a:r>
          </a:p>
        </p:txBody>
      </p:sp>
      <p:sp>
        <p:nvSpPr>
          <p:cNvPr id="10" name="">
            <a:extLst xmlns:a="http://schemas.openxmlformats.org/drawingml/2006/main">
              <a:ext uri="{FF2B5EF4-FFF2-40B4-BE49-F238E27FC236}">
                <a16:creationId xmlns:a16="http://schemas.microsoft.com/office/drawing/2014/main" id="{84145208-3309-411D-90F2-CEB8C411C56C}"/>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1" name="">
            <a:extLst xmlns:a="http://schemas.openxmlformats.org/drawingml/2006/main">
              <a:ext uri="{FF2B5EF4-FFF2-40B4-BE49-F238E27FC236}">
                <a16:creationId xmlns:a16="http://schemas.microsoft.com/office/drawing/2014/main" id="{7B3AF504-7878-45D5-AE63-1B4B441E4220}"/>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2" name="">
            <a:extLst xmlns:a="http://schemas.openxmlformats.org/drawingml/2006/main">
              <a:ext uri="{FF2B5EF4-FFF2-40B4-BE49-F238E27FC236}">
                <a16:creationId xmlns:a16="http://schemas.microsoft.com/office/drawing/2014/main" id="{93326086-EE64-4008-BF19-A574763D3A2B}"/>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3" name="">
            <a:extLst xmlns:a="http://schemas.openxmlformats.org/drawingml/2006/main">
              <a:ext uri="{FF2B5EF4-FFF2-40B4-BE49-F238E27FC236}">
                <a16:creationId xmlns:a16="http://schemas.microsoft.com/office/drawing/2014/main" id="{1C1E21E1-5FBB-42A1-8ECE-32E24BAB46FD}"/>
              </a:ext>
            </a:extLst>
          </p:cNvPr>
          <p:cNvSpPr>
            <a:spLocks xmlns:a="http://schemas.openxmlformats.org/drawingml/2006/main" noGrp="1"/>
          </p:cNvSpPr>
          <p:nvPr/>
        </p:nvSpPr>
        <p:spPr>
          <a:xfrm xmlns:a="http://schemas.openxmlformats.org/drawingml/2006/main">
            <a:off x="742950" y="56483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4" name="">
            <a:extLst xmlns:a="http://schemas.openxmlformats.org/drawingml/2006/main">
              <a:ext uri="{FF2B5EF4-FFF2-40B4-BE49-F238E27FC236}">
                <a16:creationId xmlns:a16="http://schemas.microsoft.com/office/drawing/2014/main" id="{A9B4F0B3-2782-48F6-8580-C7F08FEF7C06}"/>
              </a:ext>
            </a:extLst>
          </p:cNvPr>
          <p:cNvSpPr>
            <a:spLocks xmlns:a="http://schemas.openxmlformats.org/drawingml/2006/main" noGrp="1"/>
          </p:cNvSpPr>
          <p:nvPr/>
        </p:nvSpPr>
        <p:spPr>
          <a:xfrm xmlns:a="http://schemas.openxmlformats.org/drawingml/2006/main">
            <a:off x="742950" y="59721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println(durum(</a:t>
            </a:r>
            <a:r>
              <a:rPr>
                <a:solidFill>
                  <a:srgbClr val="A45110"/>
                </a:solidFill>
              </a:rPr>
              <a:t>70</a:t>
            </a:r>
            <a:r>
              <a:t>))</a:t>
            </a:r>
          </a:p>
        </p:txBody>
      </p:sp>
      <p:sp>
        <p:nvSpPr>
          <p:cNvPr id="15" name="">
            <a:extLst xmlns:a="http://schemas.openxmlformats.org/drawingml/2006/main">
              <a:ext uri="{FF2B5EF4-FFF2-40B4-BE49-F238E27FC236}">
                <a16:creationId xmlns:a16="http://schemas.microsoft.com/office/drawing/2014/main" id="{C19AC494-7AA9-431C-9225-760965BB11B9}"/>
              </a:ext>
            </a:extLst>
          </p:cNvPr>
          <p:cNvSpPr>
            <a:spLocks xmlns:a="http://schemas.openxmlformats.org/drawingml/2006/main" noGrp="1"/>
          </p:cNvSpPr>
          <p:nvPr/>
        </p:nvSpPr>
        <p:spPr>
          <a:xfrm xmlns:a="http://schemas.openxmlformats.org/drawingml/2006/main">
            <a:off x="742950" y="62960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6" name="">
            <a:extLst xmlns:a="http://schemas.openxmlformats.org/drawingml/2006/main">
              <a:ext uri="{FF2B5EF4-FFF2-40B4-BE49-F238E27FC236}">
                <a16:creationId xmlns:a16="http://schemas.microsoft.com/office/drawing/2014/main" id="{74A0A6FD-1D88-42AA-8156-6FBECA17EB66}"/>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Girdi</a:t>
            </a:r>
          </a:p>
        </p:txBody>
      </p:sp>
      <p:sp>
        <p:nvSpPr>
          <p:cNvPr id="17" name="">
            <a:extLst xmlns:a="http://schemas.openxmlformats.org/drawingml/2006/main">
              <a:ext uri="{FF2B5EF4-FFF2-40B4-BE49-F238E27FC236}">
                <a16:creationId xmlns:a16="http://schemas.microsoft.com/office/drawing/2014/main" id="{78EE4BA6-EEBF-4788-BA67-D6EB0777BEF3}"/>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main, durum fonksiyonuna 70 gönderir. puan parametresi bu değeri alır.</a:t>
            </a:r>
          </a:p>
        </p:txBody>
      </p:sp>
      <p:sp>
        <p:nvSpPr>
          <p:cNvPr id="18" name="">
            <a:extLst xmlns:a="http://schemas.openxmlformats.org/drawingml/2006/main">
              <a:ext uri="{FF2B5EF4-FFF2-40B4-BE49-F238E27FC236}">
                <a16:creationId xmlns:a16="http://schemas.microsoft.com/office/drawing/2014/main" id="{6043A2C4-1C3B-4C71-9A1B-0F7A81ABC706}"/>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Çıktı</a:t>
            </a:r>
          </a:p>
        </p:txBody>
      </p:sp>
      <p:sp>
        <p:nvSpPr>
          <p:cNvPr id="19" name="">
            <a:extLst xmlns:a="http://schemas.openxmlformats.org/drawingml/2006/main">
              <a:ext uri="{FF2B5EF4-FFF2-40B4-BE49-F238E27FC236}">
                <a16:creationId xmlns:a16="http://schemas.microsoft.com/office/drawing/2014/main" id="{858A9FB3-D482-4047-981D-53CCEF504749}"/>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Koşul doğru olduğu için Geçti döner. println bu sonucu konsola yazar.</a:t>
            </a:r>
          </a:p>
        </p:txBody>
      </p:sp>
      <p:sp>
        <p:nvSpPr>
          <p:cNvPr id="20" name="">
            <a:extLst xmlns:a="http://schemas.openxmlformats.org/drawingml/2006/main">
              <a:ext uri="{FF2B5EF4-FFF2-40B4-BE49-F238E27FC236}">
                <a16:creationId xmlns:a16="http://schemas.microsoft.com/office/drawing/2014/main" id="{2FFA0DF7-BFBB-4485-890D-BAA0475F4F0A}"/>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1" name="">
            <a:extLst xmlns:a="http://schemas.openxmlformats.org/drawingml/2006/main">
              <a:ext uri="{FF2B5EF4-FFF2-40B4-BE49-F238E27FC236}">
                <a16:creationId xmlns:a16="http://schemas.microsoft.com/office/drawing/2014/main" id="{BE6B58E4-1599-4039-8910-3BA150EA2192}"/>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Geçti</a:t>
            </a:r>
          </a:p>
        </p:txBody>
      </p:sp>
      <p:sp>
        <p:nvSpPr>
          <p:cNvPr id="22" name="">
            <a:extLst xmlns:a="http://schemas.openxmlformats.org/drawingml/2006/main">
              <a:ext uri="{FF2B5EF4-FFF2-40B4-BE49-F238E27FC236}">
                <a16:creationId xmlns:a16="http://schemas.microsoft.com/office/drawing/2014/main" id="{FD31689A-2530-48FD-A74A-D47639A2516F}"/>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21 / 37</a:t>
            </a:r>
          </a:p>
        </p:txBody>
      </p:sp>
    </p:spTree>
    <p:extLst>
      <p:ext uri="{BB962C8B-B14F-4D97-AF65-F5344CB8AC3E}">
        <p14:creationId xmlns:p14="http://schemas.microsoft.com/office/powerpoint/2010/main" val="1252021929"/>
      </p:ext>
    </p:extLst>
  </p:cSld>
</p:sld>
</file>

<file path=ppt/slides/slide2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DCB032-1EEA-4D14-8DB8-0DE82E6DCB3B}"/>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7A5A43AF-E6E2-4A29-9892-4AC5C88C9433}"/>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Kısa alıştırmalar</a:t>
            </a:r>
          </a:p>
        </p:txBody>
      </p:sp>
      <p:sp>
        <p:nvSpPr>
          <p:cNvPr id="3" name="">
            <a:extLst xmlns:a="http://schemas.openxmlformats.org/drawingml/2006/main">
              <a:ext uri="{FF2B5EF4-FFF2-40B4-BE49-F238E27FC236}">
                <a16:creationId xmlns:a16="http://schemas.microsoft.com/office/drawing/2014/main" id="{8DF1BC51-CB54-436E-8F7C-7E6671930341}"/>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Önce kendi cevabını düşün. Sonra kodu çalıştırarak kontrol et.</a:t>
            </a:r>
          </a:p>
        </p:txBody>
      </p:sp>
      <p:sp>
        <p:nvSpPr>
          <p:cNvPr id="4" name="">
            <a:extLst xmlns:a="http://schemas.openxmlformats.org/drawingml/2006/main">
              <a:ext uri="{FF2B5EF4-FFF2-40B4-BE49-F238E27FC236}">
                <a16:creationId xmlns:a16="http://schemas.microsoft.com/office/drawing/2014/main" id="{B62946C9-0F54-4832-B514-DCCBC4B06E65}"/>
              </a:ext>
            </a:extLst>
          </p:cNvPr>
          <p:cNvSpPr>
            <a:spLocks xmlns:a="http://schemas.openxmlformats.org/drawingml/2006/main" noGrp="1"/>
          </p:cNvSpPr>
          <p:nvPr/>
        </p:nvSpPr>
        <p:spPr>
          <a:xfrm xmlns:a="http://schemas.openxmlformats.org/drawingml/2006/main">
            <a:off x="742950" y="310515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Değişken</a:t>
            </a:r>
          </a:p>
        </p:txBody>
      </p:sp>
      <p:sp>
        <p:nvSpPr>
          <p:cNvPr id="5" name="">
            <a:extLst xmlns:a="http://schemas.openxmlformats.org/drawingml/2006/main">
              <a:ext uri="{FF2B5EF4-FFF2-40B4-BE49-F238E27FC236}">
                <a16:creationId xmlns:a16="http://schemas.microsoft.com/office/drawing/2014/main" id="{DDDC55CE-4B3C-47A0-9482-1218A887E5AC}"/>
              </a:ext>
            </a:extLst>
          </p:cNvPr>
          <p:cNvSpPr>
            <a:spLocks xmlns:a="http://schemas.openxmlformats.org/drawingml/2006/main" noGrp="1"/>
          </p:cNvSpPr>
          <p:nvPr/>
        </p:nvSpPr>
        <p:spPr>
          <a:xfrm xmlns:a="http://schemas.openxmlformats.org/drawingml/2006/main">
            <a:off x="4552950" y="310515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var sayi = 2 yazdıktan sonra sayi = sayi + 3 yaparsak değer kaç olur?</a:t>
            </a:r>
          </a:p>
        </p:txBody>
      </p:sp>
      <p:sp>
        <p:nvSpPr>
          <p:cNvPr id="6" name="">
            <a:extLst xmlns:a="http://schemas.openxmlformats.org/drawingml/2006/main">
              <a:ext uri="{FF2B5EF4-FFF2-40B4-BE49-F238E27FC236}">
                <a16:creationId xmlns:a16="http://schemas.microsoft.com/office/drawing/2014/main" id="{F79AD955-A1C7-491C-A1F3-3A1DC0C8706E}"/>
              </a:ext>
            </a:extLst>
          </p:cNvPr>
          <p:cNvSpPr>
            <a:spLocks xmlns:a="http://schemas.openxmlformats.org/drawingml/2006/main" noGrp="1"/>
          </p:cNvSpPr>
          <p:nvPr/>
        </p:nvSpPr>
        <p:spPr>
          <a:xfrm xmlns:a="http://schemas.openxmlformats.org/drawingml/2006/main">
            <a:off x="742950" y="4600575"/>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Liste</a:t>
            </a:r>
          </a:p>
        </p:txBody>
      </p:sp>
      <p:sp>
        <p:nvSpPr>
          <p:cNvPr id="7" name="">
            <a:extLst xmlns:a="http://schemas.openxmlformats.org/drawingml/2006/main">
              <a:ext uri="{FF2B5EF4-FFF2-40B4-BE49-F238E27FC236}">
                <a16:creationId xmlns:a16="http://schemas.microsoft.com/office/drawing/2014/main" id="{27A8C2C0-29F9-4FBA-BB13-F4033FB1223B}"/>
              </a:ext>
            </a:extLst>
          </p:cNvPr>
          <p:cNvSpPr>
            <a:spLocks xmlns:a="http://schemas.openxmlformats.org/drawingml/2006/main" noGrp="1"/>
          </p:cNvSpPr>
          <p:nvPr/>
        </p:nvSpPr>
        <p:spPr>
          <a:xfrm xmlns:a="http://schemas.openxmlformats.org/drawingml/2006/main">
            <a:off x="4552950" y="4600575"/>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Boş bir listeye iki kez add uygularsak size kaç olur?</a:t>
            </a:r>
          </a:p>
        </p:txBody>
      </p:sp>
      <p:sp>
        <p:nvSpPr>
          <p:cNvPr id="8" name="">
            <a:extLst xmlns:a="http://schemas.openxmlformats.org/drawingml/2006/main">
              <a:ext uri="{FF2B5EF4-FFF2-40B4-BE49-F238E27FC236}">
                <a16:creationId xmlns:a16="http://schemas.microsoft.com/office/drawing/2014/main" id="{675442E0-036F-41C6-A6EF-4D71FAC7AE3C}"/>
              </a:ext>
            </a:extLst>
          </p:cNvPr>
          <p:cNvSpPr>
            <a:spLocks xmlns:a="http://schemas.openxmlformats.org/drawingml/2006/main" noGrp="1"/>
          </p:cNvSpPr>
          <p:nvPr/>
        </p:nvSpPr>
        <p:spPr>
          <a:xfrm xmlns:a="http://schemas.openxmlformats.org/drawingml/2006/main">
            <a:off x="742950" y="609600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Fonksiyon</a:t>
            </a:r>
          </a:p>
        </p:txBody>
      </p:sp>
      <p:sp>
        <p:nvSpPr>
          <p:cNvPr id="9" name="">
            <a:extLst xmlns:a="http://schemas.openxmlformats.org/drawingml/2006/main">
              <a:ext uri="{FF2B5EF4-FFF2-40B4-BE49-F238E27FC236}">
                <a16:creationId xmlns:a16="http://schemas.microsoft.com/office/drawing/2014/main" id="{87CA8122-BD1E-4C8A-8E07-DCF6706F17F4}"/>
              </a:ext>
            </a:extLst>
          </p:cNvPr>
          <p:cNvSpPr>
            <a:spLocks xmlns:a="http://schemas.openxmlformats.org/drawingml/2006/main" noGrp="1"/>
          </p:cNvSpPr>
          <p:nvPr/>
        </p:nvSpPr>
        <p:spPr>
          <a:xfrm xmlns:a="http://schemas.openxmlformats.org/drawingml/2006/main">
            <a:off x="4552950" y="609600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durum(40) çağrısının hangi metni döndürmesini beklersin?</a:t>
            </a:r>
          </a:p>
        </p:txBody>
      </p:sp>
      <p:sp>
        <p:nvSpPr>
          <p:cNvPr id="10" name="">
            <a:extLst xmlns:a="http://schemas.openxmlformats.org/drawingml/2006/main">
              <a:ext uri="{FF2B5EF4-FFF2-40B4-BE49-F238E27FC236}">
                <a16:creationId xmlns:a16="http://schemas.microsoft.com/office/drawing/2014/main" id="{0319D001-4199-4EE8-9193-7AC3E54C8EAD}"/>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22 / 37</a:t>
            </a:r>
          </a:p>
        </p:txBody>
      </p:sp>
    </p:spTree>
    <p:extLst>
      <p:ext uri="{BB962C8B-B14F-4D97-AF65-F5344CB8AC3E}">
        <p14:creationId xmlns:p14="http://schemas.microsoft.com/office/powerpoint/2010/main" val="1054977792"/>
      </p:ext>
    </p:extLst>
  </p:cSld>
</p:sld>
</file>

<file path=ppt/slides/slide2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9B3497-9D28-4B89-ADC6-D49E11F078AF}"/>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5E79AA99-F87D-4D5C-A345-B24AD6CCA624}"/>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Bu sunumda öğrendiklerimiz</a:t>
            </a:r>
          </a:p>
        </p:txBody>
      </p:sp>
      <p:sp>
        <p:nvSpPr>
          <p:cNvPr id="3" name="">
            <a:extLst xmlns:a="http://schemas.openxmlformats.org/drawingml/2006/main">
              <a:ext uri="{FF2B5EF4-FFF2-40B4-BE49-F238E27FC236}">
                <a16:creationId xmlns:a16="http://schemas.microsoft.com/office/drawing/2014/main" id="{C3151820-E16C-4070-A8A7-A27F2A5F29AD}"/>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Bu bilgiler, ikinci sunumdaki sınıf ve nesneleri okumak için yeterli başlangıcı sağlar.</a:t>
            </a:r>
          </a:p>
        </p:txBody>
      </p:sp>
      <p:sp>
        <p:nvSpPr>
          <p:cNvPr id="4" name="">
            <a:extLst xmlns:a="http://schemas.openxmlformats.org/drawingml/2006/main">
              <a:ext uri="{FF2B5EF4-FFF2-40B4-BE49-F238E27FC236}">
                <a16:creationId xmlns:a16="http://schemas.microsoft.com/office/drawing/2014/main" id="{ACBC6E02-A4C6-4B3C-8B12-A6E116CA007D}"/>
              </a:ext>
            </a:extLst>
          </p:cNvPr>
          <p:cNvSpPr>
            <a:spLocks xmlns:a="http://schemas.openxmlformats.org/drawingml/2006/main" noGrp="1"/>
          </p:cNvSpPr>
          <p:nvPr/>
        </p:nvSpPr>
        <p:spPr>
          <a:xfrm xmlns:a="http://schemas.openxmlformats.org/drawingml/2006/main">
            <a:off x="742950" y="310515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Veri</a:t>
            </a:r>
          </a:p>
        </p:txBody>
      </p:sp>
      <p:sp>
        <p:nvSpPr>
          <p:cNvPr id="5" name="">
            <a:extLst xmlns:a="http://schemas.openxmlformats.org/drawingml/2006/main">
              <a:ext uri="{FF2B5EF4-FFF2-40B4-BE49-F238E27FC236}">
                <a16:creationId xmlns:a16="http://schemas.microsoft.com/office/drawing/2014/main" id="{353315AB-17FF-4F2A-962C-B26C3E9CFE90}"/>
              </a:ext>
            </a:extLst>
          </p:cNvPr>
          <p:cNvSpPr>
            <a:spLocks xmlns:a="http://schemas.openxmlformats.org/drawingml/2006/main" noGrp="1"/>
          </p:cNvSpPr>
          <p:nvPr/>
        </p:nvSpPr>
        <p:spPr>
          <a:xfrm xmlns:a="http://schemas.openxmlformats.org/drawingml/2006/main">
            <a:off x="4552950" y="310515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val ve var ile değer tuttuk. Dizi ve liste ile birden fazla değeri grupladık.</a:t>
            </a:r>
          </a:p>
        </p:txBody>
      </p:sp>
      <p:sp>
        <p:nvSpPr>
          <p:cNvPr id="6" name="">
            <a:extLst xmlns:a="http://schemas.openxmlformats.org/drawingml/2006/main">
              <a:ext uri="{FF2B5EF4-FFF2-40B4-BE49-F238E27FC236}">
                <a16:creationId xmlns:a16="http://schemas.microsoft.com/office/drawing/2014/main" id="{CF77B414-63DE-48E0-93C9-1BCCF3137BB5}"/>
              </a:ext>
            </a:extLst>
          </p:cNvPr>
          <p:cNvSpPr>
            <a:spLocks xmlns:a="http://schemas.openxmlformats.org/drawingml/2006/main" noGrp="1"/>
          </p:cNvSpPr>
          <p:nvPr/>
        </p:nvSpPr>
        <p:spPr>
          <a:xfrm xmlns:a="http://schemas.openxmlformats.org/drawingml/2006/main">
            <a:off x="742950" y="4600575"/>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Akış</a:t>
            </a:r>
          </a:p>
        </p:txBody>
      </p:sp>
      <p:sp>
        <p:nvSpPr>
          <p:cNvPr id="7" name="">
            <a:extLst xmlns:a="http://schemas.openxmlformats.org/drawingml/2006/main">
              <a:ext uri="{FF2B5EF4-FFF2-40B4-BE49-F238E27FC236}">
                <a16:creationId xmlns:a16="http://schemas.microsoft.com/office/drawing/2014/main" id="{5A574A40-127F-4FCB-BCE3-DE4DE3F01225}"/>
              </a:ext>
            </a:extLst>
          </p:cNvPr>
          <p:cNvSpPr>
            <a:spLocks xmlns:a="http://schemas.openxmlformats.org/drawingml/2006/main" noGrp="1"/>
          </p:cNvSpPr>
          <p:nvPr/>
        </p:nvSpPr>
        <p:spPr>
          <a:xfrm xmlns:a="http://schemas.openxmlformats.org/drawingml/2006/main">
            <a:off x="4552950" y="4600575"/>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if–else ile karar verdik. for ile aynı işlemi tekrarladık.</a:t>
            </a:r>
          </a:p>
        </p:txBody>
      </p:sp>
      <p:sp>
        <p:nvSpPr>
          <p:cNvPr id="8" name="">
            <a:extLst xmlns:a="http://schemas.openxmlformats.org/drawingml/2006/main">
              <a:ext uri="{FF2B5EF4-FFF2-40B4-BE49-F238E27FC236}">
                <a16:creationId xmlns:a16="http://schemas.microsoft.com/office/drawing/2014/main" id="{A25DBB15-AD59-4B6F-9D4B-391BD6322882}"/>
              </a:ext>
            </a:extLst>
          </p:cNvPr>
          <p:cNvSpPr>
            <a:spLocks xmlns:a="http://schemas.openxmlformats.org/drawingml/2006/main" noGrp="1"/>
          </p:cNvSpPr>
          <p:nvPr/>
        </p:nvSpPr>
        <p:spPr>
          <a:xfrm xmlns:a="http://schemas.openxmlformats.org/drawingml/2006/main">
            <a:off x="742950" y="609600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Fonksiyon</a:t>
            </a:r>
          </a:p>
        </p:txBody>
      </p:sp>
      <p:sp>
        <p:nvSpPr>
          <p:cNvPr id="9" name="">
            <a:extLst xmlns:a="http://schemas.openxmlformats.org/drawingml/2006/main">
              <a:ext uri="{FF2B5EF4-FFF2-40B4-BE49-F238E27FC236}">
                <a16:creationId xmlns:a16="http://schemas.microsoft.com/office/drawing/2014/main" id="{19DCFDE1-A184-493A-B260-644CF758C2AE}"/>
              </a:ext>
            </a:extLst>
          </p:cNvPr>
          <p:cNvSpPr>
            <a:spLocks xmlns:a="http://schemas.openxmlformats.org/drawingml/2006/main" noGrp="1"/>
          </p:cNvSpPr>
          <p:nvPr/>
        </p:nvSpPr>
        <p:spPr>
          <a:xfrm xmlns:a="http://schemas.openxmlformats.org/drawingml/2006/main">
            <a:off x="4552950" y="609600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Bir işlemi adlandırdık, parametre verdik ve sonuç aldık.</a:t>
            </a:r>
          </a:p>
        </p:txBody>
      </p:sp>
      <p:sp>
        <p:nvSpPr>
          <p:cNvPr id="10" name="">
            <a:extLst xmlns:a="http://schemas.openxmlformats.org/drawingml/2006/main">
              <a:ext uri="{FF2B5EF4-FFF2-40B4-BE49-F238E27FC236}">
                <a16:creationId xmlns:a16="http://schemas.microsoft.com/office/drawing/2014/main" id="{73ED036F-6CD0-4411-9CEB-5551347A3D57}"/>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23 / 37</a:t>
            </a:r>
          </a:p>
        </p:txBody>
      </p:sp>
    </p:spTree>
    <p:extLst>
      <p:ext uri="{BB962C8B-B14F-4D97-AF65-F5344CB8AC3E}">
        <p14:creationId xmlns:p14="http://schemas.microsoft.com/office/powerpoint/2010/main" val="1481413463"/>
      </p:ext>
    </p:extLst>
  </p:cSld>
</p:sld>
</file>

<file path=ppt/slides/slide2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A244F0-6C81-4CB2-9B4E-FD04BDB3982E}"/>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803948AF-3A28-45A3-9725-C2A088A40834}"/>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Fonksiyonlarda bir adım ileri</a:t>
            </a:r>
          </a:p>
        </p:txBody>
      </p:sp>
      <p:sp>
        <p:nvSpPr>
          <p:cNvPr id="3" name="">
            <a:extLst xmlns:a="http://schemas.openxmlformats.org/drawingml/2006/main">
              <a:ext uri="{FF2B5EF4-FFF2-40B4-BE49-F238E27FC236}">
                <a16:creationId xmlns:a16="http://schemas.microsoft.com/office/drawing/2014/main" id="{D47A6575-39BA-4CBC-84F2-3E1097063B89}"/>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Şimdi bildiğimiz yapıları biraz daha büyük işler için kullanacağız.</a:t>
            </a:r>
          </a:p>
        </p:txBody>
      </p:sp>
      <p:sp>
        <p:nvSpPr>
          <p:cNvPr id="4" name="">
            <a:extLst xmlns:a="http://schemas.openxmlformats.org/drawingml/2006/main">
              <a:ext uri="{FF2B5EF4-FFF2-40B4-BE49-F238E27FC236}">
                <a16:creationId xmlns:a16="http://schemas.microsoft.com/office/drawing/2014/main" id="{866A21BF-CE55-46AE-AB8B-8EB80D84E0E6}"/>
              </a:ext>
            </a:extLst>
          </p:cNvPr>
          <p:cNvSpPr>
            <a:spLocks xmlns:a="http://schemas.openxmlformats.org/drawingml/2006/main" noGrp="1"/>
          </p:cNvSpPr>
          <p:nvPr/>
        </p:nvSpPr>
        <p:spPr>
          <a:xfrm xmlns:a="http://schemas.openxmlformats.org/drawingml/2006/main">
            <a:off x="742950" y="310515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Önce küçük adımlar</a:t>
            </a:r>
          </a:p>
        </p:txBody>
      </p:sp>
      <p:sp>
        <p:nvSpPr>
          <p:cNvPr id="5" name="">
            <a:extLst xmlns:a="http://schemas.openxmlformats.org/drawingml/2006/main">
              <a:ext uri="{FF2B5EF4-FFF2-40B4-BE49-F238E27FC236}">
                <a16:creationId xmlns:a16="http://schemas.microsoft.com/office/drawing/2014/main" id="{7DD38BC2-D64F-4C7D-B19B-B8C2B20E987A}"/>
              </a:ext>
            </a:extLst>
          </p:cNvPr>
          <p:cNvSpPr>
            <a:spLocks xmlns:a="http://schemas.openxmlformats.org/drawingml/2006/main" noGrp="1"/>
          </p:cNvSpPr>
          <p:nvPr/>
        </p:nvSpPr>
        <p:spPr>
          <a:xfrm xmlns:a="http://schemas.openxmlformats.org/drawingml/2006/main">
            <a:off x="4552950" y="310515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Varsayılan değer, isimli çağrı, erken dönüş ve liste alan fonksiyonlar.</a:t>
            </a:r>
          </a:p>
        </p:txBody>
      </p:sp>
      <p:sp>
        <p:nvSpPr>
          <p:cNvPr id="6" name="">
            <a:extLst xmlns:a="http://schemas.openxmlformats.org/drawingml/2006/main">
              <a:ext uri="{FF2B5EF4-FFF2-40B4-BE49-F238E27FC236}">
                <a16:creationId xmlns:a16="http://schemas.microsoft.com/office/drawing/2014/main" id="{C3D00134-6BD6-4549-B790-78EE6BBA59AD}"/>
              </a:ext>
            </a:extLst>
          </p:cNvPr>
          <p:cNvSpPr>
            <a:spLocks xmlns:a="http://schemas.openxmlformats.org/drawingml/2006/main" noGrp="1"/>
          </p:cNvSpPr>
          <p:nvPr/>
        </p:nvSpPr>
        <p:spPr>
          <a:xfrm xmlns:a="http://schemas.openxmlformats.org/drawingml/2006/main">
            <a:off x="742950" y="4600575"/>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Sonra işbirliği</a:t>
            </a:r>
          </a:p>
        </p:txBody>
      </p:sp>
      <p:sp>
        <p:nvSpPr>
          <p:cNvPr id="7" name="">
            <a:extLst xmlns:a="http://schemas.openxmlformats.org/drawingml/2006/main">
              <a:ext uri="{FF2B5EF4-FFF2-40B4-BE49-F238E27FC236}">
                <a16:creationId xmlns:a16="http://schemas.microsoft.com/office/drawing/2014/main" id="{01B9F800-574B-4486-958E-55CB3A3362D6}"/>
              </a:ext>
            </a:extLst>
          </p:cNvPr>
          <p:cNvSpPr>
            <a:spLocks xmlns:a="http://schemas.openxmlformats.org/drawingml/2006/main" noGrp="1"/>
          </p:cNvSpPr>
          <p:nvPr/>
        </p:nvSpPr>
        <p:spPr>
          <a:xfrm xmlns:a="http://schemas.openxmlformats.org/drawingml/2006/main">
            <a:off x="4552950" y="4600575"/>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Bir fonksiyonun ürettiği sonucu başka bir fonksiyona vereceğiz.</a:t>
            </a:r>
          </a:p>
        </p:txBody>
      </p:sp>
      <p:sp>
        <p:nvSpPr>
          <p:cNvPr id="8" name="">
            <a:extLst xmlns:a="http://schemas.openxmlformats.org/drawingml/2006/main">
              <a:ext uri="{FF2B5EF4-FFF2-40B4-BE49-F238E27FC236}">
                <a16:creationId xmlns:a16="http://schemas.microsoft.com/office/drawing/2014/main" id="{98F603A7-0D28-4FC8-89A9-982DB5C33528}"/>
              </a:ext>
            </a:extLst>
          </p:cNvPr>
          <p:cNvSpPr>
            <a:spLocks xmlns:a="http://schemas.openxmlformats.org/drawingml/2006/main" noGrp="1"/>
          </p:cNvSpPr>
          <p:nvPr/>
        </p:nvSpPr>
        <p:spPr>
          <a:xfrm xmlns:a="http://schemas.openxmlformats.org/drawingml/2006/main">
            <a:off x="742950" y="609600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En sonda iki program</a:t>
            </a:r>
          </a:p>
        </p:txBody>
      </p:sp>
      <p:sp>
        <p:nvSpPr>
          <p:cNvPr id="9" name="">
            <a:extLst xmlns:a="http://schemas.openxmlformats.org/drawingml/2006/main">
              <a:ext uri="{FF2B5EF4-FFF2-40B4-BE49-F238E27FC236}">
                <a16:creationId xmlns:a16="http://schemas.microsoft.com/office/drawing/2014/main" id="{649847E9-0137-4271-AEF2-674CA1BB445B}"/>
              </a:ext>
            </a:extLst>
          </p:cNvPr>
          <p:cNvSpPr>
            <a:spLocks xmlns:a="http://schemas.openxmlformats.org/drawingml/2006/main" noGrp="1"/>
          </p:cNvSpPr>
          <p:nvPr/>
        </p:nvSpPr>
        <p:spPr>
          <a:xfrm xmlns:a="http://schemas.openxmlformats.org/drawingml/2006/main">
            <a:off x="4552950" y="609600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Sınav raporu ve kontrollü not defteri. Her programın tam kodu kendi sayfasında.</a:t>
            </a:r>
          </a:p>
        </p:txBody>
      </p:sp>
      <p:sp>
        <p:nvSpPr>
          <p:cNvPr id="10" name="">
            <a:extLst xmlns:a="http://schemas.openxmlformats.org/drawingml/2006/main">
              <a:ext uri="{FF2B5EF4-FFF2-40B4-BE49-F238E27FC236}">
                <a16:creationId xmlns:a16="http://schemas.microsoft.com/office/drawing/2014/main" id="{85C25CD5-9359-49AA-B56C-C2854D2EC0DC}"/>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24 / 37</a:t>
            </a:r>
          </a:p>
        </p:txBody>
      </p:sp>
    </p:spTree>
    <p:extLst>
      <p:ext uri="{BB962C8B-B14F-4D97-AF65-F5344CB8AC3E}">
        <p14:creationId xmlns:p14="http://schemas.microsoft.com/office/powerpoint/2010/main" val="2100308534"/>
      </p:ext>
    </p:extLst>
  </p:cSld>
</p:sld>
</file>

<file path=ppt/slides/slide2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EE2F781-1E17-41F4-93DB-4999DD6720FF}"/>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8FD91088-6E8B-40ED-8D84-10ED933F2960}"/>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Varsayılan parametre ve isimli çağrı</a:t>
            </a:r>
          </a:p>
        </p:txBody>
      </p:sp>
      <p:sp>
        <p:nvSpPr>
          <p:cNvPr id="3" name="">
            <a:extLst xmlns:a="http://schemas.openxmlformats.org/drawingml/2006/main">
              <a:ext uri="{FF2B5EF4-FFF2-40B4-BE49-F238E27FC236}">
                <a16:creationId xmlns:a16="http://schemas.microsoft.com/office/drawing/2014/main" id="{4E9DB3F7-8CBB-476B-B4B9-D4F2DB90B94D}"/>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Parametreye başlangıç değeri verebilir, çağrıda parametrenin adını yazabiliriz.</a:t>
            </a:r>
          </a:p>
        </p:txBody>
      </p:sp>
      <p:sp>
        <p:nvSpPr>
          <p:cNvPr id="4" name="">
            <a:extLst xmlns:a="http://schemas.openxmlformats.org/drawingml/2006/main">
              <a:ext uri="{FF2B5EF4-FFF2-40B4-BE49-F238E27FC236}">
                <a16:creationId xmlns:a16="http://schemas.microsoft.com/office/drawing/2014/main" id="{112D5073-2EAC-4D1F-819F-09BCBCB00927}"/>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4503FCFD-8C5E-42FC-80B0-E0179D4D1211}"/>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toplam(fiyat: Int, adet: Int = </a:t>
            </a:r>
            <a:r>
              <a:rPr>
                <a:solidFill>
                  <a:srgbClr val="A45110"/>
                </a:solidFill>
              </a:rPr>
              <a:t>1</a:t>
            </a:r>
            <a:r>
              <a:t>): Int {</a:t>
            </a:r>
          </a:p>
        </p:txBody>
      </p:sp>
      <p:sp>
        <p:nvSpPr>
          <p:cNvPr id="6" name="">
            <a:extLst xmlns:a="http://schemas.openxmlformats.org/drawingml/2006/main">
              <a:ext uri="{FF2B5EF4-FFF2-40B4-BE49-F238E27FC236}">
                <a16:creationId xmlns:a16="http://schemas.microsoft.com/office/drawing/2014/main" id="{B799EDD6-1266-4FAC-9042-9FCAB4418020}"/>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fiyat * adet</a:t>
            </a:r>
          </a:p>
        </p:txBody>
      </p:sp>
      <p:sp>
        <p:nvSpPr>
          <p:cNvPr id="7" name="">
            <a:extLst xmlns:a="http://schemas.openxmlformats.org/drawingml/2006/main">
              <a:ext uri="{FF2B5EF4-FFF2-40B4-BE49-F238E27FC236}">
                <a16:creationId xmlns:a16="http://schemas.microsoft.com/office/drawing/2014/main" id="{C0154751-C3CF-4353-9CCD-4AAB3C87AC22}"/>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8" name="">
            <a:extLst xmlns:a="http://schemas.openxmlformats.org/drawingml/2006/main">
              <a:ext uri="{FF2B5EF4-FFF2-40B4-BE49-F238E27FC236}">
                <a16:creationId xmlns:a16="http://schemas.microsoft.com/office/drawing/2014/main" id="{EEF2AEED-1F95-4CBC-8769-8984C7861BC2}"/>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9" name="">
            <a:extLst xmlns:a="http://schemas.openxmlformats.org/drawingml/2006/main">
              <a:ext uri="{FF2B5EF4-FFF2-40B4-BE49-F238E27FC236}">
                <a16:creationId xmlns:a16="http://schemas.microsoft.com/office/drawing/2014/main" id="{802A499D-E029-442D-9923-06A0CE5B1E3E}"/>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0" name="">
            <a:extLst xmlns:a="http://schemas.openxmlformats.org/drawingml/2006/main">
              <a:ext uri="{FF2B5EF4-FFF2-40B4-BE49-F238E27FC236}">
                <a16:creationId xmlns:a16="http://schemas.microsoft.com/office/drawing/2014/main" id="{6C9BADB4-2CBF-415D-AB6D-3C4CACB08F6F}"/>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println(toplam(</a:t>
            </a:r>
            <a:r>
              <a:rPr>
                <a:solidFill>
                  <a:srgbClr val="A45110"/>
                </a:solidFill>
              </a:rPr>
              <a:t>30</a:t>
            </a:r>
            <a:r>
              <a:t>))</a:t>
            </a:r>
          </a:p>
        </p:txBody>
      </p:sp>
      <p:sp>
        <p:nvSpPr>
          <p:cNvPr id="11" name="">
            <a:extLst xmlns:a="http://schemas.openxmlformats.org/drawingml/2006/main">
              <a:ext uri="{FF2B5EF4-FFF2-40B4-BE49-F238E27FC236}">
                <a16:creationId xmlns:a16="http://schemas.microsoft.com/office/drawing/2014/main" id="{4CB8DDFD-602D-4682-9FE3-1B12FDFD6CEA}"/>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println(toplam(adet = </a:t>
            </a:r>
            <a:r>
              <a:rPr>
                <a:solidFill>
                  <a:srgbClr val="A45110"/>
                </a:solidFill>
              </a:rPr>
              <a:t>3</a:t>
            </a:r>
            <a:r>
              <a:t>, fiyat = </a:t>
            </a:r>
            <a:r>
              <a:rPr>
                <a:solidFill>
                  <a:srgbClr val="A45110"/>
                </a:solidFill>
              </a:rPr>
              <a:t>30</a:t>
            </a:r>
            <a:r>
              <a:t>))</a:t>
            </a:r>
          </a:p>
        </p:txBody>
      </p:sp>
      <p:sp>
        <p:nvSpPr>
          <p:cNvPr id="12" name="">
            <a:extLst xmlns:a="http://schemas.openxmlformats.org/drawingml/2006/main">
              <a:ext uri="{FF2B5EF4-FFF2-40B4-BE49-F238E27FC236}">
                <a16:creationId xmlns:a16="http://schemas.microsoft.com/office/drawing/2014/main" id="{D282A4D4-C8EE-47D7-B0D6-54F4E41A31AC}"/>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3" name="">
            <a:extLst xmlns:a="http://schemas.openxmlformats.org/drawingml/2006/main">
              <a:ext uri="{FF2B5EF4-FFF2-40B4-BE49-F238E27FC236}">
                <a16:creationId xmlns:a16="http://schemas.microsoft.com/office/drawing/2014/main" id="{4FAC63F3-7AEA-4F0D-9CD6-F80AFC99C366}"/>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Varsayılan adet</a:t>
            </a:r>
          </a:p>
        </p:txBody>
      </p:sp>
      <p:sp>
        <p:nvSpPr>
          <p:cNvPr id="14" name="">
            <a:extLst xmlns:a="http://schemas.openxmlformats.org/drawingml/2006/main">
              <a:ext uri="{FF2B5EF4-FFF2-40B4-BE49-F238E27FC236}">
                <a16:creationId xmlns:a16="http://schemas.microsoft.com/office/drawing/2014/main" id="{AEF9E15B-B0DF-4886-BD84-25802B3DC02B}"/>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İlk çağrı adet göndermediği için 1 kullanılır. Sonuç 30 olur.</a:t>
            </a:r>
          </a:p>
        </p:txBody>
      </p:sp>
      <p:sp>
        <p:nvSpPr>
          <p:cNvPr id="15" name="">
            <a:extLst xmlns:a="http://schemas.openxmlformats.org/drawingml/2006/main">
              <a:ext uri="{FF2B5EF4-FFF2-40B4-BE49-F238E27FC236}">
                <a16:creationId xmlns:a16="http://schemas.microsoft.com/office/drawing/2014/main" id="{828FED7F-5689-4D3C-9303-3BAD2D0371D6}"/>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İsimli argüman</a:t>
            </a:r>
          </a:p>
        </p:txBody>
      </p:sp>
      <p:sp>
        <p:nvSpPr>
          <p:cNvPr id="16" name="">
            <a:extLst xmlns:a="http://schemas.openxmlformats.org/drawingml/2006/main">
              <a:ext uri="{FF2B5EF4-FFF2-40B4-BE49-F238E27FC236}">
                <a16:creationId xmlns:a16="http://schemas.microsoft.com/office/drawing/2014/main" id="{4C38BD3E-4A1A-4243-AAEE-395A7DE941E8}"/>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İkinci çağrıda değerlerin hangi parametreye gittiği açıktır. Sonuç 90 olur.</a:t>
            </a:r>
          </a:p>
        </p:txBody>
      </p:sp>
      <p:sp>
        <p:nvSpPr>
          <p:cNvPr id="17" name="">
            <a:extLst xmlns:a="http://schemas.openxmlformats.org/drawingml/2006/main">
              <a:ext uri="{FF2B5EF4-FFF2-40B4-BE49-F238E27FC236}">
                <a16:creationId xmlns:a16="http://schemas.microsoft.com/office/drawing/2014/main" id="{34934560-3ECD-4E2B-802B-3CB80F34E151}"/>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8" name="">
            <a:extLst xmlns:a="http://schemas.openxmlformats.org/drawingml/2006/main">
              <a:ext uri="{FF2B5EF4-FFF2-40B4-BE49-F238E27FC236}">
                <a16:creationId xmlns:a16="http://schemas.microsoft.com/office/drawing/2014/main" id="{76B0CFC2-BFD1-4BCD-ACCF-F0CB0A95B358}"/>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30</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90</a:t>
            </a:r>
          </a:p>
        </p:txBody>
      </p:sp>
      <p:sp>
        <p:nvSpPr>
          <p:cNvPr id="19" name="">
            <a:extLst xmlns:a="http://schemas.openxmlformats.org/drawingml/2006/main">
              <a:ext uri="{FF2B5EF4-FFF2-40B4-BE49-F238E27FC236}">
                <a16:creationId xmlns:a16="http://schemas.microsoft.com/office/drawing/2014/main" id="{DC35AE54-02C5-4C34-9429-1F36B4B3185A}"/>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25 / 37</a:t>
            </a:r>
          </a:p>
        </p:txBody>
      </p:sp>
    </p:spTree>
    <p:extLst>
      <p:ext uri="{BB962C8B-B14F-4D97-AF65-F5344CB8AC3E}">
        <p14:creationId xmlns:p14="http://schemas.microsoft.com/office/powerpoint/2010/main" val="1601194227"/>
      </p:ext>
    </p:extLst>
  </p:cSld>
</p:sld>
</file>

<file path=ppt/slides/slide2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259A0AD-DD16-4BC5-AC3B-375178939A40}"/>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EF1ABE3B-21ED-4481-AAF7-AC9B54B04170}"/>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Boolean döndüren kontrol fonksiyonu</a:t>
            </a:r>
          </a:p>
        </p:txBody>
      </p:sp>
      <p:sp>
        <p:nvSpPr>
          <p:cNvPr id="3" name="">
            <a:extLst xmlns:a="http://schemas.openxmlformats.org/drawingml/2006/main">
              <a:ext uri="{FF2B5EF4-FFF2-40B4-BE49-F238E27FC236}">
                <a16:creationId xmlns:a16="http://schemas.microsoft.com/office/drawing/2014/main" id="{F2E74178-4FE8-47E0-8C82-35EAC73EF06A}"/>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kontrolün cevabını true veya false olarak döndürüp if içinde kullanabiliriz.</a:t>
            </a:r>
          </a:p>
        </p:txBody>
      </p:sp>
      <p:sp>
        <p:nvSpPr>
          <p:cNvPr id="4" name="">
            <a:extLst xmlns:a="http://schemas.openxmlformats.org/drawingml/2006/main">
              <a:ext uri="{FF2B5EF4-FFF2-40B4-BE49-F238E27FC236}">
                <a16:creationId xmlns:a16="http://schemas.microsoft.com/office/drawing/2014/main" id="{33BEC1AC-7F35-4B53-8409-4977A4DAD0BD}"/>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706810C2-A86E-4646-8BC6-C7E647CF95D7}"/>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gecerliMi(puan: Int): Boolean {</a:t>
            </a:r>
          </a:p>
        </p:txBody>
      </p:sp>
      <p:sp>
        <p:nvSpPr>
          <p:cNvPr id="6" name="">
            <a:extLst xmlns:a="http://schemas.openxmlformats.org/drawingml/2006/main">
              <a:ext uri="{FF2B5EF4-FFF2-40B4-BE49-F238E27FC236}">
                <a16:creationId xmlns:a16="http://schemas.microsoft.com/office/drawing/2014/main" id="{8E91B516-B04E-4D54-B598-30B3F639C105}"/>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puan &gt;= </a:t>
            </a:r>
            <a:r>
              <a:rPr>
                <a:solidFill>
                  <a:srgbClr val="A45110"/>
                </a:solidFill>
              </a:rPr>
              <a:t>0</a:t>
            </a:r>
            <a:r>
              <a:t> &amp;&amp; puan &lt;= </a:t>
            </a:r>
            <a:r>
              <a:rPr>
                <a:solidFill>
                  <a:srgbClr val="A45110"/>
                </a:solidFill>
              </a:rPr>
              <a:t>100</a:t>
            </a:r>
          </a:p>
        </p:txBody>
      </p:sp>
      <p:sp>
        <p:nvSpPr>
          <p:cNvPr id="7" name="">
            <a:extLst xmlns:a="http://schemas.openxmlformats.org/drawingml/2006/main">
              <a:ext uri="{FF2B5EF4-FFF2-40B4-BE49-F238E27FC236}">
                <a16:creationId xmlns:a16="http://schemas.microsoft.com/office/drawing/2014/main" id="{2738985B-3C70-4A96-B409-C7B7425B626E}"/>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8" name="">
            <a:extLst xmlns:a="http://schemas.openxmlformats.org/drawingml/2006/main">
              <a:ext uri="{FF2B5EF4-FFF2-40B4-BE49-F238E27FC236}">
                <a16:creationId xmlns:a16="http://schemas.microsoft.com/office/drawing/2014/main" id="{C71B320B-7D5F-4D5E-BD28-D483A59173BB}"/>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9" name="">
            <a:extLst xmlns:a="http://schemas.openxmlformats.org/drawingml/2006/main">
              <a:ext uri="{FF2B5EF4-FFF2-40B4-BE49-F238E27FC236}">
                <a16:creationId xmlns:a16="http://schemas.microsoft.com/office/drawing/2014/main" id="{F26DEE51-7709-45C4-B005-30B923A1C5D6}"/>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0" name="">
            <a:extLst xmlns:a="http://schemas.openxmlformats.org/drawingml/2006/main">
              <a:ext uri="{FF2B5EF4-FFF2-40B4-BE49-F238E27FC236}">
                <a16:creationId xmlns:a16="http://schemas.microsoft.com/office/drawing/2014/main" id="{65C59C0B-AA91-48E1-BECF-6EF32C725CE4}"/>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if</a:t>
            </a:r>
            <a:r>
              <a:t> (gecerliMi(</a:t>
            </a:r>
            <a:r>
              <a:rPr>
                <a:solidFill>
                  <a:srgbClr val="A45110"/>
                </a:solidFill>
              </a:rPr>
              <a:t>85</a:t>
            </a:r>
            <a:r>
              <a:t>)) {</a:t>
            </a:r>
          </a:p>
        </p:txBody>
      </p:sp>
      <p:sp>
        <p:nvSpPr>
          <p:cNvPr id="11" name="">
            <a:extLst xmlns:a="http://schemas.openxmlformats.org/drawingml/2006/main">
              <a:ext uri="{FF2B5EF4-FFF2-40B4-BE49-F238E27FC236}">
                <a16:creationId xmlns:a16="http://schemas.microsoft.com/office/drawing/2014/main" id="{7AA4547E-CD54-490A-9713-E9C8BBDB39CE}"/>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"Puan kabul edildi"</a:t>
            </a:r>
            <a:r>
              <a:t>)</a:t>
            </a:r>
          </a:p>
        </p:txBody>
      </p:sp>
      <p:sp>
        <p:nvSpPr>
          <p:cNvPr id="12" name="">
            <a:extLst xmlns:a="http://schemas.openxmlformats.org/drawingml/2006/main">
              <a:ext uri="{FF2B5EF4-FFF2-40B4-BE49-F238E27FC236}">
                <a16:creationId xmlns:a16="http://schemas.microsoft.com/office/drawing/2014/main" id="{5B4C485C-5B2E-4A16-8F34-870C73FF9AC3}"/>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 </a:t>
            </a:r>
            <a:r>
              <a:rPr>
                <a:solidFill>
                  <a:srgbClr val="6941A5"/>
                </a:solidFill>
              </a:rPr>
              <a:t>else</a:t>
            </a:r>
            <a:r>
              <a:t> {</a:t>
            </a:r>
          </a:p>
        </p:txBody>
      </p:sp>
      <p:sp>
        <p:nvSpPr>
          <p:cNvPr id="13" name="">
            <a:extLst xmlns:a="http://schemas.openxmlformats.org/drawingml/2006/main">
              <a:ext uri="{FF2B5EF4-FFF2-40B4-BE49-F238E27FC236}">
                <a16:creationId xmlns:a16="http://schemas.microsoft.com/office/drawing/2014/main" id="{BD2D2C6C-B372-4192-B9B0-036E6AB95CCB}"/>
              </a:ext>
            </a:extLst>
          </p:cNvPr>
          <p:cNvSpPr>
            <a:spLocks xmlns:a="http://schemas.openxmlformats.org/drawingml/2006/main" noGrp="1"/>
          </p:cNvSpPr>
          <p:nvPr/>
        </p:nvSpPr>
        <p:spPr>
          <a:xfrm xmlns:a="http://schemas.openxmlformats.org/drawingml/2006/main">
            <a:off x="742950" y="56483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a:t>
            </a:r>
            <a:r>
              <a:rPr>
                <a:solidFill>
                  <a:srgbClr val="397425"/>
                </a:solidFill>
              </a:rPr>
              <a:t>"Geçersiz puan"</a:t>
            </a:r>
            <a:r>
              <a:t>)</a:t>
            </a:r>
          </a:p>
        </p:txBody>
      </p:sp>
      <p:sp>
        <p:nvSpPr>
          <p:cNvPr id="14" name="">
            <a:extLst xmlns:a="http://schemas.openxmlformats.org/drawingml/2006/main">
              <a:ext uri="{FF2B5EF4-FFF2-40B4-BE49-F238E27FC236}">
                <a16:creationId xmlns:a16="http://schemas.microsoft.com/office/drawing/2014/main" id="{CB1EC03D-61A3-4070-8FFC-88E4C63790E7}"/>
              </a:ext>
            </a:extLst>
          </p:cNvPr>
          <p:cNvSpPr>
            <a:spLocks xmlns:a="http://schemas.openxmlformats.org/drawingml/2006/main" noGrp="1"/>
          </p:cNvSpPr>
          <p:nvPr/>
        </p:nvSpPr>
        <p:spPr>
          <a:xfrm xmlns:a="http://schemas.openxmlformats.org/drawingml/2006/main">
            <a:off x="742950" y="59721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5" name="">
            <a:extLst xmlns:a="http://schemas.openxmlformats.org/drawingml/2006/main">
              <a:ext uri="{FF2B5EF4-FFF2-40B4-BE49-F238E27FC236}">
                <a16:creationId xmlns:a16="http://schemas.microsoft.com/office/drawing/2014/main" id="{49489D1C-C951-4AD5-A935-D9325F24F5A5}"/>
              </a:ext>
            </a:extLst>
          </p:cNvPr>
          <p:cNvSpPr>
            <a:spLocks xmlns:a="http://schemas.openxmlformats.org/drawingml/2006/main" noGrp="1"/>
          </p:cNvSpPr>
          <p:nvPr/>
        </p:nvSpPr>
        <p:spPr>
          <a:xfrm xmlns:a="http://schemas.openxmlformats.org/drawingml/2006/main">
            <a:off x="742950" y="62960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6" name="">
            <a:extLst xmlns:a="http://schemas.openxmlformats.org/drawingml/2006/main">
              <a:ext uri="{FF2B5EF4-FFF2-40B4-BE49-F238E27FC236}">
                <a16:creationId xmlns:a16="http://schemas.microsoft.com/office/drawing/2014/main" id="{DCD75A5E-804D-4A73-99E6-4DC295D46137}"/>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&amp;&amp;: iki koşul birlikte</a:t>
            </a:r>
          </a:p>
        </p:txBody>
      </p:sp>
      <p:sp>
        <p:nvSpPr>
          <p:cNvPr id="17" name="">
            <a:extLst xmlns:a="http://schemas.openxmlformats.org/drawingml/2006/main">
              <a:ext uri="{FF2B5EF4-FFF2-40B4-BE49-F238E27FC236}">
                <a16:creationId xmlns:a16="http://schemas.microsoft.com/office/drawing/2014/main" id="{B6CE9582-3B61-4DAB-9475-1D123FE92E64}"/>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Puan hem en az 0 hem en fazla 100 olmalıdır. İkisi de doğruysa true döner.</a:t>
            </a:r>
          </a:p>
        </p:txBody>
      </p:sp>
      <p:sp>
        <p:nvSpPr>
          <p:cNvPr id="18" name="">
            <a:extLst xmlns:a="http://schemas.openxmlformats.org/drawingml/2006/main">
              <a:ext uri="{FF2B5EF4-FFF2-40B4-BE49-F238E27FC236}">
                <a16:creationId xmlns:a16="http://schemas.microsoft.com/office/drawing/2014/main" id="{48B03529-0368-4784-A1DB-7A5CFC7E84C2}"/>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if içinde çağrı</a:t>
            </a:r>
          </a:p>
        </p:txBody>
      </p:sp>
      <p:sp>
        <p:nvSpPr>
          <p:cNvPr id="19" name="">
            <a:extLst xmlns:a="http://schemas.openxmlformats.org/drawingml/2006/main">
              <a:ext uri="{FF2B5EF4-FFF2-40B4-BE49-F238E27FC236}">
                <a16:creationId xmlns:a16="http://schemas.microsoft.com/office/drawing/2014/main" id="{998B0566-D5E4-4512-A341-75D5E741BD03}"/>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gecerliMi(85) yerine true gelir. Bu nedenle ilk bölüm çalışır.</a:t>
            </a:r>
          </a:p>
        </p:txBody>
      </p:sp>
      <p:sp>
        <p:nvSpPr>
          <p:cNvPr id="20" name="">
            <a:extLst xmlns:a="http://schemas.openxmlformats.org/drawingml/2006/main">
              <a:ext uri="{FF2B5EF4-FFF2-40B4-BE49-F238E27FC236}">
                <a16:creationId xmlns:a16="http://schemas.microsoft.com/office/drawing/2014/main" id="{385C7A24-CAFC-41D6-A90F-F12D52262E65}"/>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1" name="">
            <a:extLst xmlns:a="http://schemas.openxmlformats.org/drawingml/2006/main">
              <a:ext uri="{FF2B5EF4-FFF2-40B4-BE49-F238E27FC236}">
                <a16:creationId xmlns:a16="http://schemas.microsoft.com/office/drawing/2014/main" id="{90343F82-F863-46E2-8913-2EB0C7097A94}"/>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Puan kabul edildi</a:t>
            </a:r>
          </a:p>
        </p:txBody>
      </p:sp>
      <p:sp>
        <p:nvSpPr>
          <p:cNvPr id="22" name="">
            <a:extLst xmlns:a="http://schemas.openxmlformats.org/drawingml/2006/main">
              <a:ext uri="{FF2B5EF4-FFF2-40B4-BE49-F238E27FC236}">
                <a16:creationId xmlns:a16="http://schemas.microsoft.com/office/drawing/2014/main" id="{73FD6322-0B4F-4A40-9869-8D7E583E88F4}"/>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26 / 37</a:t>
            </a:r>
          </a:p>
        </p:txBody>
      </p:sp>
    </p:spTree>
    <p:extLst>
      <p:ext uri="{BB962C8B-B14F-4D97-AF65-F5344CB8AC3E}">
        <p14:creationId xmlns:p14="http://schemas.microsoft.com/office/powerpoint/2010/main" val="1159021006"/>
      </p:ext>
    </p:extLst>
  </p:cSld>
</p:sld>
</file>

<file path=ppt/slides/slide2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632725C-E9F8-45EF-B5E4-67622032663E}"/>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DF0449D1-7403-4904-9F60-740AABC1DCA7}"/>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Erken return ile geçersiz girdiyi ayırmak</a:t>
            </a:r>
          </a:p>
        </p:txBody>
      </p:sp>
      <p:sp>
        <p:nvSpPr>
          <p:cNvPr id="3" name="">
            <a:extLst xmlns:a="http://schemas.openxmlformats.org/drawingml/2006/main">
              <a:ext uri="{FF2B5EF4-FFF2-40B4-BE49-F238E27FC236}">
                <a16:creationId xmlns:a16="http://schemas.microsoft.com/office/drawing/2014/main" id="{3C63CE35-1876-4F00-8880-494FB803301E}"/>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return çalıştığında fonksiyon biter. Altındaki satırlara devam edilmez.</a:t>
            </a:r>
          </a:p>
        </p:txBody>
      </p:sp>
      <p:sp>
        <p:nvSpPr>
          <p:cNvPr id="4" name="">
            <a:extLst xmlns:a="http://schemas.openxmlformats.org/drawingml/2006/main">
              <a:ext uri="{FF2B5EF4-FFF2-40B4-BE49-F238E27FC236}">
                <a16:creationId xmlns:a16="http://schemas.microsoft.com/office/drawing/2014/main" id="{0E90B45F-EB03-4756-9B8C-52C3B7CE1EB5}"/>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D7F24CF6-0070-4C60-B39D-14C6A2D2A741}"/>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durum(puan: Int): String {</a:t>
            </a:r>
          </a:p>
        </p:txBody>
      </p:sp>
      <p:sp>
        <p:nvSpPr>
          <p:cNvPr id="6" name="">
            <a:extLst xmlns:a="http://schemas.openxmlformats.org/drawingml/2006/main">
              <a:ext uri="{FF2B5EF4-FFF2-40B4-BE49-F238E27FC236}">
                <a16:creationId xmlns:a16="http://schemas.microsoft.com/office/drawing/2014/main" id="{CC3678CC-8DE2-4FAA-9AD7-6C22238108B9}"/>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if</a:t>
            </a:r>
            <a:r>
              <a:t> (puan &lt; </a:t>
            </a:r>
            <a:r>
              <a:rPr>
                <a:solidFill>
                  <a:srgbClr val="A45110"/>
                </a:solidFill>
              </a:rPr>
              <a:t>0</a:t>
            </a:r>
            <a:r>
              <a:t> || puan &gt; </a:t>
            </a:r>
            <a:r>
              <a:rPr>
                <a:solidFill>
                  <a:srgbClr val="A45110"/>
                </a:solidFill>
              </a:rPr>
              <a:t>100</a:t>
            </a:r>
            <a:r>
              <a:t>) {</a:t>
            </a:r>
          </a:p>
        </p:txBody>
      </p:sp>
      <p:sp>
        <p:nvSpPr>
          <p:cNvPr id="7" name="">
            <a:extLst xmlns:a="http://schemas.openxmlformats.org/drawingml/2006/main">
              <a:ext uri="{FF2B5EF4-FFF2-40B4-BE49-F238E27FC236}">
                <a16:creationId xmlns:a16="http://schemas.microsoft.com/office/drawing/2014/main" id="{88ECD96C-3B22-4D70-A50B-88D950778B22}"/>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a:t>
            </a:r>
            <a:r>
              <a:rPr>
                <a:solidFill>
                  <a:srgbClr val="397425"/>
                </a:solidFill>
              </a:rPr>
              <a:t>"Geçersiz"</a:t>
            </a:r>
          </a:p>
        </p:txBody>
      </p:sp>
      <p:sp>
        <p:nvSpPr>
          <p:cNvPr id="8" name="">
            <a:extLst xmlns:a="http://schemas.openxmlformats.org/drawingml/2006/main">
              <a:ext uri="{FF2B5EF4-FFF2-40B4-BE49-F238E27FC236}">
                <a16:creationId xmlns:a16="http://schemas.microsoft.com/office/drawing/2014/main" id="{000A317B-522D-4359-A4DF-54E3DE13DEB1}"/>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9" name="">
            <a:extLst xmlns:a="http://schemas.openxmlformats.org/drawingml/2006/main">
              <a:ext uri="{FF2B5EF4-FFF2-40B4-BE49-F238E27FC236}">
                <a16:creationId xmlns:a16="http://schemas.microsoft.com/office/drawing/2014/main" id="{26D1B8FF-8E1E-47F2-9BF1-2C0701E6EC68}"/>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if</a:t>
            </a:r>
            <a:r>
              <a:t> (puan &gt;= </a:t>
            </a:r>
            <a:r>
              <a:rPr>
                <a:solidFill>
                  <a:srgbClr val="A45110"/>
                </a:solidFill>
              </a:rPr>
              <a:t>50</a:t>
            </a:r>
            <a:r>
              <a:t>) </a:t>
            </a:r>
            <a:r>
              <a:rPr>
                <a:solidFill>
                  <a:srgbClr val="6941A5"/>
                </a:solidFill>
              </a:rPr>
              <a:t>return</a:t>
            </a:r>
            <a:r>
              <a:t> </a:t>
            </a:r>
            <a:r>
              <a:rPr>
                <a:solidFill>
                  <a:srgbClr val="397425"/>
                </a:solidFill>
              </a:rPr>
              <a:t>"Geçti"</a:t>
            </a:r>
          </a:p>
        </p:txBody>
      </p:sp>
      <p:sp>
        <p:nvSpPr>
          <p:cNvPr id="10" name="">
            <a:extLst xmlns:a="http://schemas.openxmlformats.org/drawingml/2006/main">
              <a:ext uri="{FF2B5EF4-FFF2-40B4-BE49-F238E27FC236}">
                <a16:creationId xmlns:a16="http://schemas.microsoft.com/office/drawing/2014/main" id="{3BADA91B-39B3-4982-849B-1B6FE3AA4890}"/>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a:t>
            </a:r>
            <a:r>
              <a:rPr>
                <a:solidFill>
                  <a:srgbClr val="397425"/>
                </a:solidFill>
              </a:rPr>
              <a:t>"Kaldı"</a:t>
            </a:r>
          </a:p>
        </p:txBody>
      </p:sp>
      <p:sp>
        <p:nvSpPr>
          <p:cNvPr id="11" name="">
            <a:extLst xmlns:a="http://schemas.openxmlformats.org/drawingml/2006/main">
              <a:ext uri="{FF2B5EF4-FFF2-40B4-BE49-F238E27FC236}">
                <a16:creationId xmlns:a16="http://schemas.microsoft.com/office/drawing/2014/main" id="{7E3100E8-6425-4D32-B9E1-BA22964D0073}"/>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2" name="">
            <a:extLst xmlns:a="http://schemas.openxmlformats.org/drawingml/2006/main">
              <a:ext uri="{FF2B5EF4-FFF2-40B4-BE49-F238E27FC236}">
                <a16:creationId xmlns:a16="http://schemas.microsoft.com/office/drawing/2014/main" id="{1AB70B79-2687-49DE-AD7F-90AF45853AD6}"/>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3" name="">
            <a:extLst xmlns:a="http://schemas.openxmlformats.org/drawingml/2006/main">
              <a:ext uri="{FF2B5EF4-FFF2-40B4-BE49-F238E27FC236}">
                <a16:creationId xmlns:a16="http://schemas.microsoft.com/office/drawing/2014/main" id="{D28624A3-1206-47D4-8B34-4778D7BC52C7}"/>
              </a:ext>
            </a:extLst>
          </p:cNvPr>
          <p:cNvSpPr>
            <a:spLocks xmlns:a="http://schemas.openxmlformats.org/drawingml/2006/main" noGrp="1"/>
          </p:cNvSpPr>
          <p:nvPr/>
        </p:nvSpPr>
        <p:spPr>
          <a:xfrm xmlns:a="http://schemas.openxmlformats.org/drawingml/2006/main">
            <a:off x="742950" y="56483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4" name="">
            <a:extLst xmlns:a="http://schemas.openxmlformats.org/drawingml/2006/main">
              <a:ext uri="{FF2B5EF4-FFF2-40B4-BE49-F238E27FC236}">
                <a16:creationId xmlns:a16="http://schemas.microsoft.com/office/drawing/2014/main" id="{97E2B719-D4AA-4D0D-80D7-54E5AF2F45F2}"/>
              </a:ext>
            </a:extLst>
          </p:cNvPr>
          <p:cNvSpPr>
            <a:spLocks xmlns:a="http://schemas.openxmlformats.org/drawingml/2006/main" noGrp="1"/>
          </p:cNvSpPr>
          <p:nvPr/>
        </p:nvSpPr>
        <p:spPr>
          <a:xfrm xmlns:a="http://schemas.openxmlformats.org/drawingml/2006/main">
            <a:off x="742950" y="59721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println(durum(</a:t>
            </a:r>
            <a:r>
              <a:rPr>
                <a:solidFill>
                  <a:srgbClr val="A45110"/>
                </a:solidFill>
              </a:rPr>
              <a:t>120</a:t>
            </a:r>
            <a:r>
              <a:t>))</a:t>
            </a:r>
          </a:p>
        </p:txBody>
      </p:sp>
      <p:sp>
        <p:nvSpPr>
          <p:cNvPr id="15" name="">
            <a:extLst xmlns:a="http://schemas.openxmlformats.org/drawingml/2006/main">
              <a:ext uri="{FF2B5EF4-FFF2-40B4-BE49-F238E27FC236}">
                <a16:creationId xmlns:a16="http://schemas.microsoft.com/office/drawing/2014/main" id="{F7A450FF-BB2B-47E0-80CA-C465A22E6479}"/>
              </a:ext>
            </a:extLst>
          </p:cNvPr>
          <p:cNvSpPr>
            <a:spLocks xmlns:a="http://schemas.openxmlformats.org/drawingml/2006/main" noGrp="1"/>
          </p:cNvSpPr>
          <p:nvPr/>
        </p:nvSpPr>
        <p:spPr>
          <a:xfrm xmlns:a="http://schemas.openxmlformats.org/drawingml/2006/main">
            <a:off x="742950" y="62960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println(durum(</a:t>
            </a:r>
            <a:r>
              <a:rPr>
                <a:solidFill>
                  <a:srgbClr val="A45110"/>
                </a:solidFill>
              </a:rPr>
              <a:t>40</a:t>
            </a:r>
            <a:r>
              <a:t>))</a:t>
            </a:r>
          </a:p>
        </p:txBody>
      </p:sp>
      <p:sp>
        <p:nvSpPr>
          <p:cNvPr id="16" name="">
            <a:extLst xmlns:a="http://schemas.openxmlformats.org/drawingml/2006/main">
              <a:ext uri="{FF2B5EF4-FFF2-40B4-BE49-F238E27FC236}">
                <a16:creationId xmlns:a16="http://schemas.microsoft.com/office/drawing/2014/main" id="{1ED67434-1068-4E51-A321-2CB9D8D9FF7B}"/>
              </a:ext>
            </a:extLst>
          </p:cNvPr>
          <p:cNvSpPr>
            <a:spLocks xmlns:a="http://schemas.openxmlformats.org/drawingml/2006/main" noGrp="1"/>
          </p:cNvSpPr>
          <p:nvPr/>
        </p:nvSpPr>
        <p:spPr>
          <a:xfrm xmlns:a="http://schemas.openxmlformats.org/drawingml/2006/main">
            <a:off x="742950" y="66198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7" name="">
            <a:extLst xmlns:a="http://schemas.openxmlformats.org/drawingml/2006/main">
              <a:ext uri="{FF2B5EF4-FFF2-40B4-BE49-F238E27FC236}">
                <a16:creationId xmlns:a16="http://schemas.microsoft.com/office/drawing/2014/main" id="{3922245D-8954-445D-84D7-5EEF75AD4935}"/>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 en az bir koşul</a:t>
            </a:r>
          </a:p>
        </p:txBody>
      </p:sp>
      <p:sp>
        <p:nvSpPr>
          <p:cNvPr id="18" name="">
            <a:extLst xmlns:a="http://schemas.openxmlformats.org/drawingml/2006/main">
              <a:ext uri="{FF2B5EF4-FFF2-40B4-BE49-F238E27FC236}">
                <a16:creationId xmlns:a16="http://schemas.microsoft.com/office/drawing/2014/main" id="{D1DB7537-C633-49C2-8F28-2D94B9E9C1A2}"/>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Puan 0’dan küçük VEYA 100’den büyükse Geçersiz dönerek hemen çıkar.</a:t>
            </a:r>
          </a:p>
        </p:txBody>
      </p:sp>
      <p:sp>
        <p:nvSpPr>
          <p:cNvPr id="19" name="">
            <a:extLst xmlns:a="http://schemas.openxmlformats.org/drawingml/2006/main">
              <a:ext uri="{FF2B5EF4-FFF2-40B4-BE49-F238E27FC236}">
                <a16:creationId xmlns:a16="http://schemas.microsoft.com/office/drawing/2014/main" id="{C5D03E23-59DE-48AA-84FD-913C88F5B593}"/>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Normal akış</a:t>
            </a:r>
          </a:p>
        </p:txBody>
      </p:sp>
      <p:sp>
        <p:nvSpPr>
          <p:cNvPr id="20" name="">
            <a:extLst xmlns:a="http://schemas.openxmlformats.org/drawingml/2006/main">
              <a:ext uri="{FF2B5EF4-FFF2-40B4-BE49-F238E27FC236}">
                <a16:creationId xmlns:a16="http://schemas.microsoft.com/office/drawing/2014/main" id="{B5C6BD4A-0544-4D56-AF2B-C9530BF355B1}"/>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40 geçerli aralıktadır. 50 koşulu sağlanmaz, son satırdan Kaldı döner.</a:t>
            </a:r>
          </a:p>
        </p:txBody>
      </p:sp>
      <p:sp>
        <p:nvSpPr>
          <p:cNvPr id="21" name="">
            <a:extLst xmlns:a="http://schemas.openxmlformats.org/drawingml/2006/main">
              <a:ext uri="{FF2B5EF4-FFF2-40B4-BE49-F238E27FC236}">
                <a16:creationId xmlns:a16="http://schemas.microsoft.com/office/drawing/2014/main" id="{A6ACDFD5-1CDE-476C-9A2B-4D66A5023E28}"/>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2" name="">
            <a:extLst xmlns:a="http://schemas.openxmlformats.org/drawingml/2006/main">
              <a:ext uri="{FF2B5EF4-FFF2-40B4-BE49-F238E27FC236}">
                <a16:creationId xmlns:a16="http://schemas.microsoft.com/office/drawing/2014/main" id="{CF321C3B-2CC9-4B4E-9F29-2622DA6BCCAE}"/>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Geçersiz</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Kaldı</a:t>
            </a:r>
          </a:p>
        </p:txBody>
      </p:sp>
      <p:sp>
        <p:nvSpPr>
          <p:cNvPr id="23" name="">
            <a:extLst xmlns:a="http://schemas.openxmlformats.org/drawingml/2006/main">
              <a:ext uri="{FF2B5EF4-FFF2-40B4-BE49-F238E27FC236}">
                <a16:creationId xmlns:a16="http://schemas.microsoft.com/office/drawing/2014/main" id="{96550C57-5F58-4DCA-88D9-C61EE99E5C8C}"/>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27 / 37</a:t>
            </a:r>
          </a:p>
        </p:txBody>
      </p:sp>
    </p:spTree>
    <p:extLst>
      <p:ext uri="{BB962C8B-B14F-4D97-AF65-F5344CB8AC3E}">
        <p14:creationId xmlns:p14="http://schemas.microsoft.com/office/powerpoint/2010/main" val="613186429"/>
      </p:ext>
    </p:extLst>
  </p:cSld>
</p:sld>
</file>

<file path=ppt/slides/slide2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F4FDA20-007D-4138-A57C-D4ADCBF3FB98}"/>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BC482D86-B708-4C44-AA27-27D100239E70}"/>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Liste alan ve toplam döndüren fonksiyon</a:t>
            </a:r>
          </a:p>
        </p:txBody>
      </p:sp>
      <p:sp>
        <p:nvSpPr>
          <p:cNvPr id="3" name="">
            <a:extLst xmlns:a="http://schemas.openxmlformats.org/drawingml/2006/main">
              <a:ext uri="{FF2B5EF4-FFF2-40B4-BE49-F238E27FC236}">
                <a16:creationId xmlns:a16="http://schemas.microsoft.com/office/drawing/2014/main" id="{B58742B7-3361-48D0-BD41-BF07C8476B69}"/>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Fonksiyona tek sayı yerine bir sayı listesi gönderebiliriz.</a:t>
            </a:r>
          </a:p>
        </p:txBody>
      </p:sp>
      <p:sp>
        <p:nvSpPr>
          <p:cNvPr id="4" name="">
            <a:extLst xmlns:a="http://schemas.openxmlformats.org/drawingml/2006/main">
              <a:ext uri="{FF2B5EF4-FFF2-40B4-BE49-F238E27FC236}">
                <a16:creationId xmlns:a16="http://schemas.microsoft.com/office/drawing/2014/main" id="{75C497D8-2B7A-475E-8520-E4A98AE740E6}"/>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555C0A1D-1A08-4A77-B0DF-BD710528DBB1}"/>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toplam(puanlar: List&lt;Int&gt;): Int {</a:t>
            </a:r>
          </a:p>
        </p:txBody>
      </p:sp>
      <p:sp>
        <p:nvSpPr>
          <p:cNvPr id="6" name="">
            <a:extLst xmlns:a="http://schemas.openxmlformats.org/drawingml/2006/main">
              <a:ext uri="{FF2B5EF4-FFF2-40B4-BE49-F238E27FC236}">
                <a16:creationId xmlns:a16="http://schemas.microsoft.com/office/drawing/2014/main" id="{B040E5DD-F1A5-41E7-A406-C7D1A92B56F1}"/>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var</a:t>
            </a:r>
            <a:r>
              <a:t> sonuc = </a:t>
            </a:r>
            <a:r>
              <a:rPr>
                <a:solidFill>
                  <a:srgbClr val="A45110"/>
                </a:solidFill>
              </a:rPr>
              <a:t>0</a:t>
            </a:r>
          </a:p>
        </p:txBody>
      </p:sp>
      <p:sp>
        <p:nvSpPr>
          <p:cNvPr id="7" name="">
            <a:extLst xmlns:a="http://schemas.openxmlformats.org/drawingml/2006/main">
              <a:ext uri="{FF2B5EF4-FFF2-40B4-BE49-F238E27FC236}">
                <a16:creationId xmlns:a16="http://schemas.microsoft.com/office/drawing/2014/main" id="{27470450-8D09-4753-AE30-C775884740A5}"/>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for</a:t>
            </a:r>
            <a:r>
              <a:t> (puan </a:t>
            </a:r>
            <a:r>
              <a:rPr>
                <a:solidFill>
                  <a:srgbClr val="6941A5"/>
                </a:solidFill>
              </a:rPr>
              <a:t>in</a:t>
            </a:r>
            <a:r>
              <a:t> puanlar) {</a:t>
            </a:r>
          </a:p>
        </p:txBody>
      </p:sp>
      <p:sp>
        <p:nvSpPr>
          <p:cNvPr id="8" name="">
            <a:extLst xmlns:a="http://schemas.openxmlformats.org/drawingml/2006/main">
              <a:ext uri="{FF2B5EF4-FFF2-40B4-BE49-F238E27FC236}">
                <a16:creationId xmlns:a16="http://schemas.microsoft.com/office/drawing/2014/main" id="{1CFC3EA6-D58B-49AD-9222-0C32DABA2AB6}"/>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sonuc = sonuc + puan</a:t>
            </a:r>
          </a:p>
        </p:txBody>
      </p:sp>
      <p:sp>
        <p:nvSpPr>
          <p:cNvPr id="9" name="">
            <a:extLst xmlns:a="http://schemas.openxmlformats.org/drawingml/2006/main">
              <a:ext uri="{FF2B5EF4-FFF2-40B4-BE49-F238E27FC236}">
                <a16:creationId xmlns:a16="http://schemas.microsoft.com/office/drawing/2014/main" id="{C03A15E2-ADF5-4DA5-9B0B-451A9871E0B1}"/>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0" name="">
            <a:extLst xmlns:a="http://schemas.openxmlformats.org/drawingml/2006/main">
              <a:ext uri="{FF2B5EF4-FFF2-40B4-BE49-F238E27FC236}">
                <a16:creationId xmlns:a16="http://schemas.microsoft.com/office/drawing/2014/main" id="{7F4FD585-F988-47F4-B0DE-C54658E850F8}"/>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sonuc</a:t>
            </a:r>
          </a:p>
        </p:txBody>
      </p:sp>
      <p:sp>
        <p:nvSpPr>
          <p:cNvPr id="11" name="">
            <a:extLst xmlns:a="http://schemas.openxmlformats.org/drawingml/2006/main">
              <a:ext uri="{FF2B5EF4-FFF2-40B4-BE49-F238E27FC236}">
                <a16:creationId xmlns:a16="http://schemas.microsoft.com/office/drawing/2014/main" id="{B742E370-1A12-4E50-98AA-8B4B99EDE4E4}"/>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2" name="">
            <a:extLst xmlns:a="http://schemas.openxmlformats.org/drawingml/2006/main">
              <a:ext uri="{FF2B5EF4-FFF2-40B4-BE49-F238E27FC236}">
                <a16:creationId xmlns:a16="http://schemas.microsoft.com/office/drawing/2014/main" id="{53F4F3BA-25C5-46D2-BB25-E7603899D2B6}"/>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3" name="">
            <a:extLst xmlns:a="http://schemas.openxmlformats.org/drawingml/2006/main">
              <a:ext uri="{FF2B5EF4-FFF2-40B4-BE49-F238E27FC236}">
                <a16:creationId xmlns:a16="http://schemas.microsoft.com/office/drawing/2014/main" id="{7C4122B3-07E9-4437-886F-A93923453F55}"/>
              </a:ext>
            </a:extLst>
          </p:cNvPr>
          <p:cNvSpPr>
            <a:spLocks xmlns:a="http://schemas.openxmlformats.org/drawingml/2006/main" noGrp="1"/>
          </p:cNvSpPr>
          <p:nvPr/>
        </p:nvSpPr>
        <p:spPr>
          <a:xfrm xmlns:a="http://schemas.openxmlformats.org/drawingml/2006/main">
            <a:off x="742950" y="56483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4" name="">
            <a:extLst xmlns:a="http://schemas.openxmlformats.org/drawingml/2006/main">
              <a:ext uri="{FF2B5EF4-FFF2-40B4-BE49-F238E27FC236}">
                <a16:creationId xmlns:a16="http://schemas.microsoft.com/office/drawing/2014/main" id="{323F79D7-85CC-405E-AFD5-DB64DEA891CD}"/>
              </a:ext>
            </a:extLst>
          </p:cNvPr>
          <p:cNvSpPr>
            <a:spLocks xmlns:a="http://schemas.openxmlformats.org/drawingml/2006/main" noGrp="1"/>
          </p:cNvSpPr>
          <p:nvPr/>
        </p:nvSpPr>
        <p:spPr>
          <a:xfrm xmlns:a="http://schemas.openxmlformats.org/drawingml/2006/main">
            <a:off x="742950" y="59721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println(toplam(listOf(</a:t>
            </a:r>
            <a:r>
              <a:rPr>
                <a:solidFill>
                  <a:srgbClr val="A45110"/>
                </a:solidFill>
              </a:rPr>
              <a:t>40</a:t>
            </a:r>
            <a:r>
              <a:t>, </a:t>
            </a:r>
            <a:r>
              <a:rPr>
                <a:solidFill>
                  <a:srgbClr val="A45110"/>
                </a:solidFill>
              </a:rPr>
              <a:t>60</a:t>
            </a:r>
            <a:r>
              <a:t>, </a:t>
            </a:r>
            <a:r>
              <a:rPr>
                <a:solidFill>
                  <a:srgbClr val="A45110"/>
                </a:solidFill>
              </a:rPr>
              <a:t>80</a:t>
            </a:r>
            <a:r>
              <a:t>)))</a:t>
            </a:r>
          </a:p>
        </p:txBody>
      </p:sp>
      <p:sp>
        <p:nvSpPr>
          <p:cNvPr id="15" name="">
            <a:extLst xmlns:a="http://schemas.openxmlformats.org/drawingml/2006/main">
              <a:ext uri="{FF2B5EF4-FFF2-40B4-BE49-F238E27FC236}">
                <a16:creationId xmlns:a16="http://schemas.microsoft.com/office/drawing/2014/main" id="{9F5CB363-2855-4EFF-9BA6-8F73BFE1688C}"/>
              </a:ext>
            </a:extLst>
          </p:cNvPr>
          <p:cNvSpPr>
            <a:spLocks xmlns:a="http://schemas.openxmlformats.org/drawingml/2006/main" noGrp="1"/>
          </p:cNvSpPr>
          <p:nvPr/>
        </p:nvSpPr>
        <p:spPr>
          <a:xfrm xmlns:a="http://schemas.openxmlformats.org/drawingml/2006/main">
            <a:off x="742950" y="62960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6" name="">
            <a:extLst xmlns:a="http://schemas.openxmlformats.org/drawingml/2006/main">
              <a:ext uri="{FF2B5EF4-FFF2-40B4-BE49-F238E27FC236}">
                <a16:creationId xmlns:a16="http://schemas.microsoft.com/office/drawing/2014/main" id="{84D2DE99-D6B5-4C50-8100-3C8D6F3B864D}"/>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Birikim değişkeni</a:t>
            </a:r>
          </a:p>
        </p:txBody>
      </p:sp>
      <p:sp>
        <p:nvSpPr>
          <p:cNvPr id="17" name="">
            <a:extLst xmlns:a="http://schemas.openxmlformats.org/drawingml/2006/main">
              <a:ext uri="{FF2B5EF4-FFF2-40B4-BE49-F238E27FC236}">
                <a16:creationId xmlns:a16="http://schemas.microsoft.com/office/drawing/2014/main" id="{306F4DAF-92BF-433B-A895-7F765C96910D}"/>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sonuc sıfırdan başlar. Döngüde önce 40, sonra 100, en son 180 olur.</a:t>
            </a:r>
          </a:p>
        </p:txBody>
      </p:sp>
      <p:sp>
        <p:nvSpPr>
          <p:cNvPr id="18" name="">
            <a:extLst xmlns:a="http://schemas.openxmlformats.org/drawingml/2006/main">
              <a:ext uri="{FF2B5EF4-FFF2-40B4-BE49-F238E27FC236}">
                <a16:creationId xmlns:a16="http://schemas.microsoft.com/office/drawing/2014/main" id="{B8046549-63BC-4F33-A866-3C6AB0C430A3}"/>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return konumu</a:t>
            </a:r>
          </a:p>
        </p:txBody>
      </p:sp>
      <p:sp>
        <p:nvSpPr>
          <p:cNvPr id="19" name="">
            <a:extLst xmlns:a="http://schemas.openxmlformats.org/drawingml/2006/main">
              <a:ext uri="{FF2B5EF4-FFF2-40B4-BE49-F238E27FC236}">
                <a16:creationId xmlns:a16="http://schemas.microsoft.com/office/drawing/2014/main" id="{F544DF9D-85AD-4799-8053-202D5BD16FEC}"/>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Döngü bittikten sonra toplam döner. İçine yazsaydık ilk turda çıkardık.</a:t>
            </a:r>
          </a:p>
        </p:txBody>
      </p:sp>
      <p:sp>
        <p:nvSpPr>
          <p:cNvPr id="20" name="">
            <a:extLst xmlns:a="http://schemas.openxmlformats.org/drawingml/2006/main">
              <a:ext uri="{FF2B5EF4-FFF2-40B4-BE49-F238E27FC236}">
                <a16:creationId xmlns:a16="http://schemas.microsoft.com/office/drawing/2014/main" id="{7F1C5BCE-45BE-426A-AA48-7B26BDD28AA9}"/>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1" name="">
            <a:extLst xmlns:a="http://schemas.openxmlformats.org/drawingml/2006/main">
              <a:ext uri="{FF2B5EF4-FFF2-40B4-BE49-F238E27FC236}">
                <a16:creationId xmlns:a16="http://schemas.microsoft.com/office/drawing/2014/main" id="{72173C65-D3A0-40D3-8C30-C9E12A7407C1}"/>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180</a:t>
            </a:r>
          </a:p>
        </p:txBody>
      </p:sp>
      <p:sp>
        <p:nvSpPr>
          <p:cNvPr id="22" name="">
            <a:extLst xmlns:a="http://schemas.openxmlformats.org/drawingml/2006/main">
              <a:ext uri="{FF2B5EF4-FFF2-40B4-BE49-F238E27FC236}">
                <a16:creationId xmlns:a16="http://schemas.microsoft.com/office/drawing/2014/main" id="{6132F8AB-659F-409A-A69C-0D0AB0711B24}"/>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28 / 37</a:t>
            </a:r>
          </a:p>
        </p:txBody>
      </p:sp>
    </p:spTree>
    <p:extLst>
      <p:ext uri="{BB962C8B-B14F-4D97-AF65-F5344CB8AC3E}">
        <p14:creationId xmlns:p14="http://schemas.microsoft.com/office/powerpoint/2010/main" val="429495791"/>
      </p:ext>
    </p:extLst>
  </p:cSld>
</p:sld>
</file>

<file path=ppt/slides/slide2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B73EA6D-F1C8-43E7-B822-82BC5BE0894D}"/>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FC7B1633-AB74-4EAF-B201-E385DB27DC36}"/>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Fonksiyondan yeni liste döndürmek</a:t>
            </a:r>
          </a:p>
        </p:txBody>
      </p:sp>
      <p:sp>
        <p:nvSpPr>
          <p:cNvPr id="3" name="">
            <a:extLst xmlns:a="http://schemas.openxmlformats.org/drawingml/2006/main">
              <a:ext uri="{FF2B5EF4-FFF2-40B4-BE49-F238E27FC236}">
                <a16:creationId xmlns:a16="http://schemas.microsoft.com/office/drawing/2014/main" id="{123725A6-6CBB-41C8-AC3F-A9168CC1E788}"/>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listedeki uygun değerleri seçip yeni bir listede toplayabiliriz.</a:t>
            </a:r>
          </a:p>
        </p:txBody>
      </p:sp>
      <p:sp>
        <p:nvSpPr>
          <p:cNvPr id="4" name="">
            <a:extLst xmlns:a="http://schemas.openxmlformats.org/drawingml/2006/main">
              <a:ext uri="{FF2B5EF4-FFF2-40B4-BE49-F238E27FC236}">
                <a16:creationId xmlns:a16="http://schemas.microsoft.com/office/drawing/2014/main" id="{B0A1C68E-058C-44D3-BB2E-DEE3B768AADC}"/>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C52B26A9-866B-432B-8280-5F4C7F194FE3}"/>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gecenler(puanlar: List&lt;Int&gt;): List&lt;Int&gt; {</a:t>
            </a:r>
          </a:p>
        </p:txBody>
      </p:sp>
      <p:sp>
        <p:nvSpPr>
          <p:cNvPr id="6" name="">
            <a:extLst xmlns:a="http://schemas.openxmlformats.org/drawingml/2006/main">
              <a:ext uri="{FF2B5EF4-FFF2-40B4-BE49-F238E27FC236}">
                <a16:creationId xmlns:a16="http://schemas.microsoft.com/office/drawing/2014/main" id="{4DE8F916-1FAA-4B52-B94B-CCB52CF13BEB}"/>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secilen = mutableListOf&lt;Int&gt;()</a:t>
            </a:r>
          </a:p>
        </p:txBody>
      </p:sp>
      <p:sp>
        <p:nvSpPr>
          <p:cNvPr id="7" name="">
            <a:extLst xmlns:a="http://schemas.openxmlformats.org/drawingml/2006/main">
              <a:ext uri="{FF2B5EF4-FFF2-40B4-BE49-F238E27FC236}">
                <a16:creationId xmlns:a16="http://schemas.microsoft.com/office/drawing/2014/main" id="{AA16214A-A448-403D-A26B-F1B8765F448C}"/>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for</a:t>
            </a:r>
            <a:r>
              <a:t> (puan </a:t>
            </a:r>
            <a:r>
              <a:rPr>
                <a:solidFill>
                  <a:srgbClr val="6941A5"/>
                </a:solidFill>
              </a:rPr>
              <a:t>in</a:t>
            </a:r>
            <a:r>
              <a:t> puanlar) {</a:t>
            </a:r>
          </a:p>
        </p:txBody>
      </p:sp>
      <p:sp>
        <p:nvSpPr>
          <p:cNvPr id="8" name="">
            <a:extLst xmlns:a="http://schemas.openxmlformats.org/drawingml/2006/main">
              <a:ext uri="{FF2B5EF4-FFF2-40B4-BE49-F238E27FC236}">
                <a16:creationId xmlns:a16="http://schemas.microsoft.com/office/drawing/2014/main" id="{87988233-7F5A-4CD6-B435-0EEBECF014B5}"/>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if</a:t>
            </a:r>
            <a:r>
              <a:t> (puan &gt;= </a:t>
            </a:r>
            <a:r>
              <a:rPr>
                <a:solidFill>
                  <a:srgbClr val="A45110"/>
                </a:solidFill>
              </a:rPr>
              <a:t>50</a:t>
            </a:r>
            <a:r>
              <a:t>) secilen.add(puan)</a:t>
            </a:r>
          </a:p>
        </p:txBody>
      </p:sp>
      <p:sp>
        <p:nvSpPr>
          <p:cNvPr id="9" name="">
            <a:extLst xmlns:a="http://schemas.openxmlformats.org/drawingml/2006/main">
              <a:ext uri="{FF2B5EF4-FFF2-40B4-BE49-F238E27FC236}">
                <a16:creationId xmlns:a16="http://schemas.microsoft.com/office/drawing/2014/main" id="{497D1144-6C9F-440F-A85F-11E3285CDD76}"/>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0" name="">
            <a:extLst xmlns:a="http://schemas.openxmlformats.org/drawingml/2006/main">
              <a:ext uri="{FF2B5EF4-FFF2-40B4-BE49-F238E27FC236}">
                <a16:creationId xmlns:a16="http://schemas.microsoft.com/office/drawing/2014/main" id="{03DCE85C-FB31-4EF9-8EA2-780510E82F97}"/>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secilen</a:t>
            </a:r>
          </a:p>
        </p:txBody>
      </p:sp>
      <p:sp>
        <p:nvSpPr>
          <p:cNvPr id="11" name="">
            <a:extLst xmlns:a="http://schemas.openxmlformats.org/drawingml/2006/main">
              <a:ext uri="{FF2B5EF4-FFF2-40B4-BE49-F238E27FC236}">
                <a16:creationId xmlns:a16="http://schemas.microsoft.com/office/drawing/2014/main" id="{84132A65-7850-4F9B-9EFC-13E9624B39E5}"/>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2" name="">
            <a:extLst xmlns:a="http://schemas.openxmlformats.org/drawingml/2006/main">
              <a:ext uri="{FF2B5EF4-FFF2-40B4-BE49-F238E27FC236}">
                <a16:creationId xmlns:a16="http://schemas.microsoft.com/office/drawing/2014/main" id="{A8021DF2-05CB-40D6-86C8-FA1D26AF9251}"/>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13" name="">
            <a:extLst xmlns:a="http://schemas.openxmlformats.org/drawingml/2006/main">
              <a:ext uri="{FF2B5EF4-FFF2-40B4-BE49-F238E27FC236}">
                <a16:creationId xmlns:a16="http://schemas.microsoft.com/office/drawing/2014/main" id="{BDB6EDDE-57A9-40CD-B6D0-57E6DADD36A8}"/>
              </a:ext>
            </a:extLst>
          </p:cNvPr>
          <p:cNvSpPr>
            <a:spLocks xmlns:a="http://schemas.openxmlformats.org/drawingml/2006/main" noGrp="1"/>
          </p:cNvSpPr>
          <p:nvPr/>
        </p:nvSpPr>
        <p:spPr>
          <a:xfrm xmlns:a="http://schemas.openxmlformats.org/drawingml/2006/main">
            <a:off x="742950" y="56483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4" name="">
            <a:extLst xmlns:a="http://schemas.openxmlformats.org/drawingml/2006/main">
              <a:ext uri="{FF2B5EF4-FFF2-40B4-BE49-F238E27FC236}">
                <a16:creationId xmlns:a16="http://schemas.microsoft.com/office/drawing/2014/main" id="{94E5DF05-476E-4AD2-9ED2-DF1AEC8888F3}"/>
              </a:ext>
            </a:extLst>
          </p:cNvPr>
          <p:cNvSpPr>
            <a:spLocks xmlns:a="http://schemas.openxmlformats.org/drawingml/2006/main" noGrp="1"/>
          </p:cNvSpPr>
          <p:nvPr/>
        </p:nvSpPr>
        <p:spPr>
          <a:xfrm xmlns:a="http://schemas.openxmlformats.org/drawingml/2006/main">
            <a:off x="742950" y="59721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sonuc = gecenler(listOf(</a:t>
            </a:r>
            <a:r>
              <a:rPr>
                <a:solidFill>
                  <a:srgbClr val="A45110"/>
                </a:solidFill>
              </a:rPr>
              <a:t>40</a:t>
            </a:r>
            <a:r>
              <a:t>, </a:t>
            </a:r>
            <a:r>
              <a:rPr>
                <a:solidFill>
                  <a:srgbClr val="A45110"/>
                </a:solidFill>
              </a:rPr>
              <a:t>60</a:t>
            </a:r>
            <a:r>
              <a:t>, </a:t>
            </a:r>
            <a:r>
              <a:rPr>
                <a:solidFill>
                  <a:srgbClr val="A45110"/>
                </a:solidFill>
              </a:rPr>
              <a:t>80</a:t>
            </a:r>
            <a:r>
              <a:t>))</a:t>
            </a:r>
          </a:p>
        </p:txBody>
      </p:sp>
      <p:sp>
        <p:nvSpPr>
          <p:cNvPr id="15" name="">
            <a:extLst xmlns:a="http://schemas.openxmlformats.org/drawingml/2006/main">
              <a:ext uri="{FF2B5EF4-FFF2-40B4-BE49-F238E27FC236}">
                <a16:creationId xmlns:a16="http://schemas.microsoft.com/office/drawing/2014/main" id="{9DABDFD5-7D0A-4998-B02B-B7DDD600B463}"/>
              </a:ext>
            </a:extLst>
          </p:cNvPr>
          <p:cNvSpPr>
            <a:spLocks xmlns:a="http://schemas.openxmlformats.org/drawingml/2006/main" noGrp="1"/>
          </p:cNvSpPr>
          <p:nvPr/>
        </p:nvSpPr>
        <p:spPr>
          <a:xfrm xmlns:a="http://schemas.openxmlformats.org/drawingml/2006/main">
            <a:off x="742950" y="62960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println(sonuc)</a:t>
            </a:r>
          </a:p>
        </p:txBody>
      </p:sp>
      <p:sp>
        <p:nvSpPr>
          <p:cNvPr id="16" name="">
            <a:extLst xmlns:a="http://schemas.openxmlformats.org/drawingml/2006/main">
              <a:ext uri="{FF2B5EF4-FFF2-40B4-BE49-F238E27FC236}">
                <a16:creationId xmlns:a16="http://schemas.microsoft.com/office/drawing/2014/main" id="{43E1A03F-93D8-40A6-8B03-F4BB15559374}"/>
              </a:ext>
            </a:extLst>
          </p:cNvPr>
          <p:cNvSpPr>
            <a:spLocks xmlns:a="http://schemas.openxmlformats.org/drawingml/2006/main" noGrp="1"/>
          </p:cNvSpPr>
          <p:nvPr/>
        </p:nvSpPr>
        <p:spPr>
          <a:xfrm xmlns:a="http://schemas.openxmlformats.org/drawingml/2006/main">
            <a:off x="742950" y="66198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7" name="">
            <a:extLst xmlns:a="http://schemas.openxmlformats.org/drawingml/2006/main">
              <a:ext uri="{FF2B5EF4-FFF2-40B4-BE49-F238E27FC236}">
                <a16:creationId xmlns:a16="http://schemas.microsoft.com/office/drawing/2014/main" id="{C2595F2B-D918-4520-A5AE-E28496C24EA6}"/>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Giriş ve çıkış</a:t>
            </a:r>
          </a:p>
        </p:txBody>
      </p:sp>
      <p:sp>
        <p:nvSpPr>
          <p:cNvPr id="18" name="">
            <a:extLst xmlns:a="http://schemas.openxmlformats.org/drawingml/2006/main">
              <a:ext uri="{FF2B5EF4-FFF2-40B4-BE49-F238E27FC236}">
                <a16:creationId xmlns:a16="http://schemas.microsoft.com/office/drawing/2014/main" id="{07D3E1DA-F0BC-4D9F-9E9D-0D402244AADC}"/>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Girdi üç puanlı listedir. Çıktı yalnız 60 ve 80’i içeren yeni listedir.</a:t>
            </a:r>
          </a:p>
        </p:txBody>
      </p:sp>
      <p:sp>
        <p:nvSpPr>
          <p:cNvPr id="19" name="">
            <a:extLst xmlns:a="http://schemas.openxmlformats.org/drawingml/2006/main">
              <a:ext uri="{FF2B5EF4-FFF2-40B4-BE49-F238E27FC236}">
                <a16:creationId xmlns:a16="http://schemas.microsoft.com/office/drawing/2014/main" id="{9E4C209D-725E-4935-AB2D-56CBB9E8C313}"/>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Eski liste korunur</a:t>
            </a:r>
          </a:p>
        </p:txBody>
      </p:sp>
      <p:sp>
        <p:nvSpPr>
          <p:cNvPr id="20" name="">
            <a:extLst xmlns:a="http://schemas.openxmlformats.org/drawingml/2006/main">
              <a:ext uri="{FF2B5EF4-FFF2-40B4-BE49-F238E27FC236}">
                <a16:creationId xmlns:a16="http://schemas.microsoft.com/office/drawing/2014/main" id="{22C6C55B-8589-46E5-B290-EEE5D60E5DCD}"/>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Ekleme secilen listesine yapılır. Gelen puanlar listesi değiştirilmez.</a:t>
            </a:r>
          </a:p>
        </p:txBody>
      </p:sp>
      <p:sp>
        <p:nvSpPr>
          <p:cNvPr id="21" name="">
            <a:extLst xmlns:a="http://schemas.openxmlformats.org/drawingml/2006/main">
              <a:ext uri="{FF2B5EF4-FFF2-40B4-BE49-F238E27FC236}">
                <a16:creationId xmlns:a16="http://schemas.microsoft.com/office/drawing/2014/main" id="{0FDF4678-7239-432A-BEB8-263E2812E05B}"/>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2" name="">
            <a:extLst xmlns:a="http://schemas.openxmlformats.org/drawingml/2006/main">
              <a:ext uri="{FF2B5EF4-FFF2-40B4-BE49-F238E27FC236}">
                <a16:creationId xmlns:a16="http://schemas.microsoft.com/office/drawing/2014/main" id="{D9C19043-3914-4160-A372-2955C4C7CF2C}"/>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[60, 80]</a:t>
            </a:r>
          </a:p>
        </p:txBody>
      </p:sp>
      <p:sp>
        <p:nvSpPr>
          <p:cNvPr id="23" name="">
            <a:extLst xmlns:a="http://schemas.openxmlformats.org/drawingml/2006/main">
              <a:ext uri="{FF2B5EF4-FFF2-40B4-BE49-F238E27FC236}">
                <a16:creationId xmlns:a16="http://schemas.microsoft.com/office/drawing/2014/main" id="{5DC3E0FF-257F-41D3-A3E0-C6B7C63B3F87}"/>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29 / 37</a:t>
            </a:r>
          </a:p>
        </p:txBody>
      </p:sp>
    </p:spTree>
    <p:extLst>
      <p:ext uri="{BB962C8B-B14F-4D97-AF65-F5344CB8AC3E}">
        <p14:creationId xmlns:p14="http://schemas.microsoft.com/office/powerpoint/2010/main" val="976970253"/>
      </p:ext>
    </p:extLst>
  </p:cSld>
</p:sld>
</file>

<file path=ppt/slides/slide3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F48C3E8-9178-4DF5-9A59-A9F4DA4CC464}"/>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A3E8A0D2-04B8-41B4-8E97-6250429A54AA}"/>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Fonksiyonun listeyi değiştirmesi</a:t>
            </a:r>
          </a:p>
        </p:txBody>
      </p:sp>
      <p:sp>
        <p:nvSpPr>
          <p:cNvPr id="3" name="">
            <a:extLst xmlns:a="http://schemas.openxmlformats.org/drawingml/2006/main">
              <a:ext uri="{FF2B5EF4-FFF2-40B4-BE49-F238E27FC236}">
                <a16:creationId xmlns:a16="http://schemas.microsoft.com/office/drawing/2014/main" id="{CAE7B5F5-811C-497C-BDFC-09A07E1052C8}"/>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MutableList alan fonksiyon, kendisine gönderilen listenin içeriğini değiştirebilir.</a:t>
            </a:r>
          </a:p>
        </p:txBody>
      </p:sp>
      <p:sp>
        <p:nvSpPr>
          <p:cNvPr id="4" name="">
            <a:extLst xmlns:a="http://schemas.openxmlformats.org/drawingml/2006/main">
              <a:ext uri="{FF2B5EF4-FFF2-40B4-BE49-F238E27FC236}">
                <a16:creationId xmlns:a16="http://schemas.microsoft.com/office/drawing/2014/main" id="{67E1D6C7-2C5A-4396-B368-465D84B9A7C2}"/>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E247040D-DF61-44C3-97CD-1E667E461ABF}"/>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ekle(notlar: MutableList&lt;String&gt;) {</a:t>
            </a:r>
          </a:p>
        </p:txBody>
      </p:sp>
      <p:sp>
        <p:nvSpPr>
          <p:cNvPr id="6" name="">
            <a:extLst xmlns:a="http://schemas.openxmlformats.org/drawingml/2006/main">
              <a:ext uri="{FF2B5EF4-FFF2-40B4-BE49-F238E27FC236}">
                <a16:creationId xmlns:a16="http://schemas.microsoft.com/office/drawing/2014/main" id="{ACECD793-751B-45E0-8D1B-F61A2D40AA20}"/>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notlar.add(</a:t>
            </a:r>
            <a:r>
              <a:rPr>
                <a:solidFill>
                  <a:srgbClr val="397425"/>
                </a:solidFill>
              </a:rPr>
              <a:t>"Ders çalış"</a:t>
            </a:r>
            <a:r>
              <a:t>)</a:t>
            </a:r>
          </a:p>
        </p:txBody>
      </p:sp>
      <p:sp>
        <p:nvSpPr>
          <p:cNvPr id="7" name="">
            <a:extLst xmlns:a="http://schemas.openxmlformats.org/drawingml/2006/main">
              <a:ext uri="{FF2B5EF4-FFF2-40B4-BE49-F238E27FC236}">
                <a16:creationId xmlns:a16="http://schemas.microsoft.com/office/drawing/2014/main" id="{FAAD185A-17C6-4D5B-B52A-91214C2BBB1C}"/>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8" name="">
            <a:extLst xmlns:a="http://schemas.openxmlformats.org/drawingml/2006/main">
              <a:ext uri="{FF2B5EF4-FFF2-40B4-BE49-F238E27FC236}">
                <a16:creationId xmlns:a16="http://schemas.microsoft.com/office/drawing/2014/main" id="{873F05F5-9DE0-486B-A926-64C5E45870BF}"/>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p>
        </p:txBody>
      </p:sp>
      <p:sp>
        <p:nvSpPr>
          <p:cNvPr id="9" name="">
            <a:extLst xmlns:a="http://schemas.openxmlformats.org/drawingml/2006/main">
              <a:ext uri="{FF2B5EF4-FFF2-40B4-BE49-F238E27FC236}">
                <a16:creationId xmlns:a16="http://schemas.microsoft.com/office/drawing/2014/main" id="{D653D33F-5805-43D8-BA4C-74012564F360}"/>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0" name="">
            <a:extLst xmlns:a="http://schemas.openxmlformats.org/drawingml/2006/main">
              <a:ext uri="{FF2B5EF4-FFF2-40B4-BE49-F238E27FC236}">
                <a16:creationId xmlns:a16="http://schemas.microsoft.com/office/drawing/2014/main" id="{5A84A91A-2F01-4947-B243-4E00A098B62F}"/>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liste = mutableListOf(</a:t>
            </a:r>
            <a:r>
              <a:rPr>
                <a:solidFill>
                  <a:srgbClr val="397425"/>
                </a:solidFill>
              </a:rPr>
              <a:t>"Oku"</a:t>
            </a:r>
            <a:r>
              <a:t>)</a:t>
            </a:r>
          </a:p>
        </p:txBody>
      </p:sp>
      <p:sp>
        <p:nvSpPr>
          <p:cNvPr id="11" name="">
            <a:extLst xmlns:a="http://schemas.openxmlformats.org/drawingml/2006/main">
              <a:ext uri="{FF2B5EF4-FFF2-40B4-BE49-F238E27FC236}">
                <a16:creationId xmlns:a16="http://schemas.microsoft.com/office/drawing/2014/main" id="{926E8AFD-904D-4648-A1EC-7325E401C092}"/>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ekle(liste)</a:t>
            </a:r>
          </a:p>
        </p:txBody>
      </p:sp>
      <p:sp>
        <p:nvSpPr>
          <p:cNvPr id="12" name="">
            <a:extLst xmlns:a="http://schemas.openxmlformats.org/drawingml/2006/main">
              <a:ext uri="{FF2B5EF4-FFF2-40B4-BE49-F238E27FC236}">
                <a16:creationId xmlns:a16="http://schemas.microsoft.com/office/drawing/2014/main" id="{014BEF68-C9BD-40CF-AF05-6F113EE6E420}"/>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println(liste)</a:t>
            </a:r>
          </a:p>
        </p:txBody>
      </p:sp>
      <p:sp>
        <p:nvSpPr>
          <p:cNvPr id="13" name="">
            <a:extLst xmlns:a="http://schemas.openxmlformats.org/drawingml/2006/main">
              <a:ext uri="{FF2B5EF4-FFF2-40B4-BE49-F238E27FC236}">
                <a16:creationId xmlns:a16="http://schemas.microsoft.com/office/drawing/2014/main" id="{3B39CF4C-87E3-4EB3-8945-BDB1C9F29349}"/>
              </a:ext>
            </a:extLst>
          </p:cNvPr>
          <p:cNvSpPr>
            <a:spLocks xmlns:a="http://schemas.openxmlformats.org/drawingml/2006/main" noGrp="1"/>
          </p:cNvSpPr>
          <p:nvPr/>
        </p:nvSpPr>
        <p:spPr>
          <a:xfrm xmlns:a="http://schemas.openxmlformats.org/drawingml/2006/main">
            <a:off x="742950" y="56483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4" name="">
            <a:extLst xmlns:a="http://schemas.openxmlformats.org/drawingml/2006/main">
              <a:ext uri="{FF2B5EF4-FFF2-40B4-BE49-F238E27FC236}">
                <a16:creationId xmlns:a16="http://schemas.microsoft.com/office/drawing/2014/main" id="{0AB7576B-9E36-4B91-8742-472D3DF30895}"/>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Aynı liste</a:t>
            </a:r>
          </a:p>
        </p:txBody>
      </p:sp>
      <p:sp>
        <p:nvSpPr>
          <p:cNvPr id="15" name="">
            <a:extLst xmlns:a="http://schemas.openxmlformats.org/drawingml/2006/main">
              <a:ext uri="{FF2B5EF4-FFF2-40B4-BE49-F238E27FC236}">
                <a16:creationId xmlns:a16="http://schemas.microsoft.com/office/drawing/2014/main" id="{BBB5DDD4-F1F1-4BF8-832E-3A9572667BAD}"/>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liste ve notlar bu çağrıda aynı listeye erişir. Fonksiyon içinde add yapılır.</a:t>
            </a:r>
          </a:p>
        </p:txBody>
      </p:sp>
      <p:sp>
        <p:nvSpPr>
          <p:cNvPr id="16" name="">
            <a:extLst xmlns:a="http://schemas.openxmlformats.org/drawingml/2006/main">
              <a:ext uri="{FF2B5EF4-FFF2-40B4-BE49-F238E27FC236}">
                <a16:creationId xmlns:a16="http://schemas.microsoft.com/office/drawing/2014/main" id="{38D5433D-617D-486E-96FD-985A63BC0FF4}"/>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Geri dönüş olmasa da</a:t>
            </a:r>
          </a:p>
        </p:txBody>
      </p:sp>
      <p:sp>
        <p:nvSpPr>
          <p:cNvPr id="17" name="">
            <a:extLst xmlns:a="http://schemas.openxmlformats.org/drawingml/2006/main">
              <a:ext uri="{FF2B5EF4-FFF2-40B4-BE49-F238E27FC236}">
                <a16:creationId xmlns:a16="http://schemas.microsoft.com/office/drawing/2014/main" id="{925E2C2A-5361-4441-9DFD-86CF28D77F4A}"/>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Fonksiyon liste döndürmez. Ancak mevcut listenin içeriği değişmiş olur.</a:t>
            </a:r>
          </a:p>
        </p:txBody>
      </p:sp>
      <p:sp>
        <p:nvSpPr>
          <p:cNvPr id="18" name="">
            <a:extLst xmlns:a="http://schemas.openxmlformats.org/drawingml/2006/main">
              <a:ext uri="{FF2B5EF4-FFF2-40B4-BE49-F238E27FC236}">
                <a16:creationId xmlns:a16="http://schemas.microsoft.com/office/drawing/2014/main" id="{3C780E23-3F61-43A3-B038-0E4C5101D8E2}"/>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9" name="">
            <a:extLst xmlns:a="http://schemas.openxmlformats.org/drawingml/2006/main">
              <a:ext uri="{FF2B5EF4-FFF2-40B4-BE49-F238E27FC236}">
                <a16:creationId xmlns:a16="http://schemas.microsoft.com/office/drawing/2014/main" id="{1DF4C7A1-2381-49DC-AE81-02D438A83E8F}"/>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[Oku, Ders çalış]</a:t>
            </a:r>
          </a:p>
        </p:txBody>
      </p:sp>
      <p:sp>
        <p:nvSpPr>
          <p:cNvPr id="20" name="">
            <a:extLst xmlns:a="http://schemas.openxmlformats.org/drawingml/2006/main">
              <a:ext uri="{FF2B5EF4-FFF2-40B4-BE49-F238E27FC236}">
                <a16:creationId xmlns:a16="http://schemas.microsoft.com/office/drawing/2014/main" id="{DD0E5561-3892-4848-8705-C8D176B85677}"/>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30 / 37</a:t>
            </a:r>
          </a:p>
        </p:txBody>
      </p:sp>
    </p:spTree>
    <p:extLst>
      <p:ext uri="{BB962C8B-B14F-4D97-AF65-F5344CB8AC3E}">
        <p14:creationId xmlns:p14="http://schemas.microsoft.com/office/powerpoint/2010/main" val="1665806209"/>
      </p:ext>
    </p:extLst>
  </p:cSld>
</p:sld>
</file>

<file path=ppt/slides/slide3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59EDB86-3085-4E2E-84F1-A1B63393F9D3}"/>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E3C8ED29-66FB-46F3-A17C-8434A03BA5F5}"/>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İki fonksiyon birlikte çalışıyor</a:t>
            </a:r>
          </a:p>
        </p:txBody>
      </p:sp>
      <p:sp>
        <p:nvSpPr>
          <p:cNvPr id="3" name="">
            <a:extLst xmlns:a="http://schemas.openxmlformats.org/drawingml/2006/main">
              <a:ext uri="{FF2B5EF4-FFF2-40B4-BE49-F238E27FC236}">
                <a16:creationId xmlns:a16="http://schemas.microsoft.com/office/drawing/2014/main" id="{28DF184F-6BF5-4D26-ACF4-BA908C766D16}"/>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işin sonucunu başka bir fonksiyona vererek işlemi küçük parçalara ayırabiliriz.</a:t>
            </a:r>
          </a:p>
        </p:txBody>
      </p:sp>
      <p:sp>
        <p:nvSpPr>
          <p:cNvPr id="4" name="">
            <a:extLst xmlns:a="http://schemas.openxmlformats.org/drawingml/2006/main">
              <a:ext uri="{FF2B5EF4-FFF2-40B4-BE49-F238E27FC236}">
                <a16:creationId xmlns:a16="http://schemas.microsoft.com/office/drawing/2014/main" id="{E6734D49-90A0-4C22-B387-B81D43A2035E}"/>
              </a:ext>
            </a:extLst>
          </p:cNvPr>
          <p:cNvSpPr>
            <a:spLocks xmlns:a="http://schemas.openxmlformats.org/drawingml/2006/main" noGrp="1"/>
          </p:cNvSpPr>
          <p:nvPr/>
        </p:nvSpPr>
        <p:spPr>
          <a:xfrm xmlns:a="http://schemas.openxmlformats.org/drawingml/2006/main">
            <a:off x="742950" y="2609850"/>
            <a:ext cx="871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
            <a:extLst xmlns:a="http://schemas.openxmlformats.org/drawingml/2006/main">
              <a:ext uri="{FF2B5EF4-FFF2-40B4-BE49-F238E27FC236}">
                <a16:creationId xmlns:a16="http://schemas.microsoft.com/office/drawing/2014/main" id="{A04CEEC7-6E34-4063-B757-FDE2F2037875}"/>
              </a:ext>
            </a:extLst>
          </p:cNvPr>
          <p:cNvSpPr>
            <a:spLocks xmlns:a="http://schemas.openxmlformats.org/drawingml/2006/main" noGrp="1"/>
          </p:cNvSpPr>
          <p:nvPr/>
        </p:nvSpPr>
        <p:spPr>
          <a:xfrm xmlns:a="http://schemas.openxmlformats.org/drawingml/2006/main">
            <a:off x="742950" y="30575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ortalama(a: Int, b: Int): Double {</a:t>
            </a:r>
          </a:p>
        </p:txBody>
      </p:sp>
      <p:sp>
        <p:nvSpPr>
          <p:cNvPr id="6" name="">
            <a:extLst xmlns:a="http://schemas.openxmlformats.org/drawingml/2006/main">
              <a:ext uri="{FF2B5EF4-FFF2-40B4-BE49-F238E27FC236}">
                <a16:creationId xmlns:a16="http://schemas.microsoft.com/office/drawing/2014/main" id="{B2C3F8D6-7CA8-4CBD-B740-E66A26F68496}"/>
              </a:ext>
            </a:extLst>
          </p:cNvPr>
          <p:cNvSpPr>
            <a:spLocks xmlns:a="http://schemas.openxmlformats.org/drawingml/2006/main" noGrp="1"/>
          </p:cNvSpPr>
          <p:nvPr/>
        </p:nvSpPr>
        <p:spPr>
          <a:xfrm xmlns:a="http://schemas.openxmlformats.org/drawingml/2006/main">
            <a:off x="742950" y="33813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(a + b) / </a:t>
            </a:r>
            <a:r>
              <a:rPr>
                <a:solidFill>
                  <a:srgbClr val="A45110"/>
                </a:solidFill>
              </a:rPr>
              <a:t>2</a:t>
            </a:r>
            <a:r>
              <a:t>.</a:t>
            </a:r>
            <a:r>
              <a:rPr>
                <a:solidFill>
                  <a:srgbClr val="A45110"/>
                </a:solidFill>
              </a:rPr>
              <a:t>0</a:t>
            </a:r>
          </a:p>
        </p:txBody>
      </p:sp>
      <p:sp>
        <p:nvSpPr>
          <p:cNvPr id="7" name="">
            <a:extLst xmlns:a="http://schemas.openxmlformats.org/drawingml/2006/main">
              <a:ext uri="{FF2B5EF4-FFF2-40B4-BE49-F238E27FC236}">
                <a16:creationId xmlns:a16="http://schemas.microsoft.com/office/drawing/2014/main" id="{86842DB0-1D9D-4C1F-B59A-271915BF9599}"/>
              </a:ext>
            </a:extLst>
          </p:cNvPr>
          <p:cNvSpPr>
            <a:spLocks xmlns:a="http://schemas.openxmlformats.org/drawingml/2006/main" noGrp="1"/>
          </p:cNvSpPr>
          <p:nvPr/>
        </p:nvSpPr>
        <p:spPr>
          <a:xfrm xmlns:a="http://schemas.openxmlformats.org/drawingml/2006/main">
            <a:off x="742950" y="37052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8" name="">
            <a:extLst xmlns:a="http://schemas.openxmlformats.org/drawingml/2006/main">
              <a:ext uri="{FF2B5EF4-FFF2-40B4-BE49-F238E27FC236}">
                <a16:creationId xmlns:a16="http://schemas.microsoft.com/office/drawing/2014/main" id="{F9551ED8-15D1-40A0-B7F4-AC617C06FF0E}"/>
              </a:ext>
            </a:extLst>
          </p:cNvPr>
          <p:cNvSpPr>
            <a:spLocks xmlns:a="http://schemas.openxmlformats.org/drawingml/2006/main" noGrp="1"/>
          </p:cNvSpPr>
          <p:nvPr/>
        </p:nvSpPr>
        <p:spPr>
          <a:xfrm xmlns:a="http://schemas.openxmlformats.org/drawingml/2006/main">
            <a:off x="742950" y="40290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durum(puan: Double): String {</a:t>
            </a:r>
          </a:p>
        </p:txBody>
      </p:sp>
      <p:sp>
        <p:nvSpPr>
          <p:cNvPr id="9" name="">
            <a:extLst xmlns:a="http://schemas.openxmlformats.org/drawingml/2006/main">
              <a:ext uri="{FF2B5EF4-FFF2-40B4-BE49-F238E27FC236}">
                <a16:creationId xmlns:a16="http://schemas.microsoft.com/office/drawing/2014/main" id="{8044D379-E9AB-4DD9-8C80-77288377B6CF}"/>
              </a:ext>
            </a:extLst>
          </p:cNvPr>
          <p:cNvSpPr>
            <a:spLocks xmlns:a="http://schemas.openxmlformats.org/drawingml/2006/main" noGrp="1"/>
          </p:cNvSpPr>
          <p:nvPr/>
        </p:nvSpPr>
        <p:spPr>
          <a:xfrm xmlns:a="http://schemas.openxmlformats.org/drawingml/2006/main">
            <a:off x="742950" y="43529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if</a:t>
            </a:r>
            <a:r>
              <a:t> (puan &gt;= </a:t>
            </a:r>
            <a:r>
              <a:rPr>
                <a:solidFill>
                  <a:srgbClr val="A45110"/>
                </a:solidFill>
              </a:rPr>
              <a:t>50</a:t>
            </a:r>
            <a:r>
              <a:t>) </a:t>
            </a:r>
            <a:r>
              <a:rPr>
                <a:solidFill>
                  <a:srgbClr val="6941A5"/>
                </a:solidFill>
              </a:rPr>
              <a:t>return</a:t>
            </a:r>
            <a:r>
              <a:t> </a:t>
            </a:r>
            <a:r>
              <a:rPr>
                <a:solidFill>
                  <a:srgbClr val="397425"/>
                </a:solidFill>
              </a:rPr>
              <a:t>"Geçti"</a:t>
            </a:r>
          </a:p>
        </p:txBody>
      </p:sp>
      <p:sp>
        <p:nvSpPr>
          <p:cNvPr id="10" name="">
            <a:extLst xmlns:a="http://schemas.openxmlformats.org/drawingml/2006/main">
              <a:ext uri="{FF2B5EF4-FFF2-40B4-BE49-F238E27FC236}">
                <a16:creationId xmlns:a16="http://schemas.microsoft.com/office/drawing/2014/main" id="{8865F1A7-49D7-4305-B6DE-3C88F0692102}"/>
              </a:ext>
            </a:extLst>
          </p:cNvPr>
          <p:cNvSpPr>
            <a:spLocks xmlns:a="http://schemas.openxmlformats.org/drawingml/2006/main" noGrp="1"/>
          </p:cNvSpPr>
          <p:nvPr/>
        </p:nvSpPr>
        <p:spPr>
          <a:xfrm xmlns:a="http://schemas.openxmlformats.org/drawingml/2006/main">
            <a:off x="742950" y="46767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return</a:t>
            </a:r>
            <a:r>
              <a:t> </a:t>
            </a:r>
            <a:r>
              <a:rPr>
                <a:solidFill>
                  <a:srgbClr val="397425"/>
                </a:solidFill>
              </a:rPr>
              <a:t>"Kaldı"</a:t>
            </a:r>
          </a:p>
        </p:txBody>
      </p:sp>
      <p:sp>
        <p:nvSpPr>
          <p:cNvPr id="11" name="">
            <a:extLst xmlns:a="http://schemas.openxmlformats.org/drawingml/2006/main">
              <a:ext uri="{FF2B5EF4-FFF2-40B4-BE49-F238E27FC236}">
                <a16:creationId xmlns:a16="http://schemas.microsoft.com/office/drawing/2014/main" id="{1654E705-3B4E-44DB-87E9-106EB3CF8774}"/>
              </a:ext>
            </a:extLst>
          </p:cNvPr>
          <p:cNvSpPr>
            <a:spLocks xmlns:a="http://schemas.openxmlformats.org/drawingml/2006/main" noGrp="1"/>
          </p:cNvSpPr>
          <p:nvPr/>
        </p:nvSpPr>
        <p:spPr>
          <a:xfrm xmlns:a="http://schemas.openxmlformats.org/drawingml/2006/main">
            <a:off x="742950" y="50006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2" name="">
            <a:extLst xmlns:a="http://schemas.openxmlformats.org/drawingml/2006/main">
              <a:ext uri="{FF2B5EF4-FFF2-40B4-BE49-F238E27FC236}">
                <a16:creationId xmlns:a16="http://schemas.microsoft.com/office/drawing/2014/main" id="{F361B0D3-CAE5-44E1-A0E7-7210C5502F5E}"/>
              </a:ext>
            </a:extLst>
          </p:cNvPr>
          <p:cNvSpPr>
            <a:spLocks xmlns:a="http://schemas.openxmlformats.org/drawingml/2006/main" noGrp="1"/>
          </p:cNvSpPr>
          <p:nvPr/>
        </p:nvSpPr>
        <p:spPr>
          <a:xfrm xmlns:a="http://schemas.openxmlformats.org/drawingml/2006/main">
            <a:off x="742950" y="53244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rPr>
                <a:solidFill>
                  <a:srgbClr val="6941A5"/>
                </a:solidFill>
              </a:rPr>
              <a:t>fun</a:t>
            </a:r>
            <a:r>
              <a:t> main() {</a:t>
            </a:r>
          </a:p>
        </p:txBody>
      </p:sp>
      <p:sp>
        <p:nvSpPr>
          <p:cNvPr id="13" name="">
            <a:extLst xmlns:a="http://schemas.openxmlformats.org/drawingml/2006/main">
              <a:ext uri="{FF2B5EF4-FFF2-40B4-BE49-F238E27FC236}">
                <a16:creationId xmlns:a16="http://schemas.microsoft.com/office/drawing/2014/main" id="{CADE8B40-1698-4D59-8A41-8C7C6B5062D7}"/>
              </a:ext>
            </a:extLst>
          </p:cNvPr>
          <p:cNvSpPr>
            <a:spLocks xmlns:a="http://schemas.openxmlformats.org/drawingml/2006/main" noGrp="1"/>
          </p:cNvSpPr>
          <p:nvPr/>
        </p:nvSpPr>
        <p:spPr>
          <a:xfrm xmlns:a="http://schemas.openxmlformats.org/drawingml/2006/main">
            <a:off x="742950" y="56483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a:t>
            </a:r>
            <a:r>
              <a:rPr>
                <a:solidFill>
                  <a:srgbClr val="6941A5"/>
                </a:solidFill>
              </a:rPr>
              <a:t>val</a:t>
            </a:r>
            <a:r>
              <a:t> sonuc = ortalama(</a:t>
            </a:r>
            <a:r>
              <a:rPr>
                <a:solidFill>
                  <a:srgbClr val="A45110"/>
                </a:solidFill>
              </a:rPr>
              <a:t>40</a:t>
            </a:r>
            <a:r>
              <a:t>, </a:t>
            </a:r>
            <a:r>
              <a:rPr>
                <a:solidFill>
                  <a:srgbClr val="A45110"/>
                </a:solidFill>
              </a:rPr>
              <a:t>75</a:t>
            </a:r>
            <a:r>
              <a:t>)</a:t>
            </a:r>
          </a:p>
        </p:txBody>
      </p:sp>
      <p:sp>
        <p:nvSpPr>
          <p:cNvPr id="14" name="">
            <a:extLst xmlns:a="http://schemas.openxmlformats.org/drawingml/2006/main">
              <a:ext uri="{FF2B5EF4-FFF2-40B4-BE49-F238E27FC236}">
                <a16:creationId xmlns:a16="http://schemas.microsoft.com/office/drawing/2014/main" id="{20C19EC3-E378-4999-90FF-70579F364CC2}"/>
              </a:ext>
            </a:extLst>
          </p:cNvPr>
          <p:cNvSpPr>
            <a:spLocks xmlns:a="http://schemas.openxmlformats.org/drawingml/2006/main" noGrp="1"/>
          </p:cNvSpPr>
          <p:nvPr/>
        </p:nvSpPr>
        <p:spPr>
          <a:xfrm xmlns:a="http://schemas.openxmlformats.org/drawingml/2006/main">
            <a:off x="742950" y="59721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println(sonuc)</a:t>
            </a:r>
          </a:p>
        </p:txBody>
      </p:sp>
      <p:sp>
        <p:nvSpPr>
          <p:cNvPr id="15" name="">
            <a:extLst xmlns:a="http://schemas.openxmlformats.org/drawingml/2006/main">
              <a:ext uri="{FF2B5EF4-FFF2-40B4-BE49-F238E27FC236}">
                <a16:creationId xmlns:a16="http://schemas.microsoft.com/office/drawing/2014/main" id="{EACB2308-F28A-4860-AF44-CC0F8E4A9FA3}"/>
              </a:ext>
            </a:extLst>
          </p:cNvPr>
          <p:cNvSpPr>
            <a:spLocks xmlns:a="http://schemas.openxmlformats.org/drawingml/2006/main" noGrp="1"/>
          </p:cNvSpPr>
          <p:nvPr/>
        </p:nvSpPr>
        <p:spPr>
          <a:xfrm xmlns:a="http://schemas.openxmlformats.org/drawingml/2006/main">
            <a:off x="742950" y="629602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    println(durum(sonuc))</a:t>
            </a:r>
          </a:p>
        </p:txBody>
      </p:sp>
      <p:sp>
        <p:nvSpPr>
          <p:cNvPr id="16" name="">
            <a:extLst xmlns:a="http://schemas.openxmlformats.org/drawingml/2006/main">
              <a:ext uri="{FF2B5EF4-FFF2-40B4-BE49-F238E27FC236}">
                <a16:creationId xmlns:a16="http://schemas.microsoft.com/office/drawing/2014/main" id="{545E2503-3423-43BA-83D9-DD1BCC767C90}"/>
              </a:ext>
            </a:extLst>
          </p:cNvPr>
          <p:cNvSpPr>
            <a:spLocks xmlns:a="http://schemas.openxmlformats.org/drawingml/2006/main" noGrp="1"/>
          </p:cNvSpPr>
          <p:nvPr/>
        </p:nvSpPr>
        <p:spPr>
          <a:xfrm xmlns:a="http://schemas.openxmlformats.org/drawingml/2006/main">
            <a:off x="742950" y="6619875"/>
            <a:ext cx="878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52F3D"/>
                </a:solidFill>
                <a:latin typeface="Consolas"/>
                <a:ea typeface="Consolas"/>
                <a:cs typeface="Consolas"/>
              </a:defRPr>
            </a:pPr>
            <a:r>
              <a:t>}</a:t>
            </a:r>
          </a:p>
        </p:txBody>
      </p:sp>
      <p:sp>
        <p:nvSpPr>
          <p:cNvPr id="17" name="">
            <a:extLst xmlns:a="http://schemas.openxmlformats.org/drawingml/2006/main">
              <a:ext uri="{FF2B5EF4-FFF2-40B4-BE49-F238E27FC236}">
                <a16:creationId xmlns:a16="http://schemas.microsoft.com/office/drawing/2014/main" id="{6B65FA89-1FD4-4C1D-9A31-379FAE0B4EE0}"/>
              </a:ext>
            </a:extLst>
          </p:cNvPr>
          <p:cNvSpPr>
            <a:spLocks xmlns:a="http://schemas.openxmlformats.org/drawingml/2006/main" noGrp="1"/>
          </p:cNvSpPr>
          <p:nvPr/>
        </p:nvSpPr>
        <p:spPr>
          <a:xfrm xmlns:a="http://schemas.openxmlformats.org/drawingml/2006/main">
            <a:off x="9944100" y="3000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Önce hesaplama</a:t>
            </a:r>
          </a:p>
        </p:txBody>
      </p:sp>
      <p:sp>
        <p:nvSpPr>
          <p:cNvPr id="18" name="">
            <a:extLst xmlns:a="http://schemas.openxmlformats.org/drawingml/2006/main">
              <a:ext uri="{FF2B5EF4-FFF2-40B4-BE49-F238E27FC236}">
                <a16:creationId xmlns:a16="http://schemas.microsoft.com/office/drawing/2014/main" id="{62773AA7-7578-41E9-9B94-5C295BA36755}"/>
              </a:ext>
            </a:extLst>
          </p:cNvPr>
          <p:cNvSpPr>
            <a:spLocks xmlns:a="http://schemas.openxmlformats.org/drawingml/2006/main" noGrp="1"/>
          </p:cNvSpPr>
          <p:nvPr/>
        </p:nvSpPr>
        <p:spPr>
          <a:xfrm xmlns:a="http://schemas.openxmlformats.org/drawingml/2006/main">
            <a:off x="9944100" y="3571875"/>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ortalama 57.5 döndürür. 2.0 ile bölmek ondalıklı sonuç verir.</a:t>
            </a:r>
          </a:p>
        </p:txBody>
      </p:sp>
      <p:sp>
        <p:nvSpPr>
          <p:cNvPr id="19" name="">
            <a:extLst xmlns:a="http://schemas.openxmlformats.org/drawingml/2006/main">
              <a:ext uri="{FF2B5EF4-FFF2-40B4-BE49-F238E27FC236}">
                <a16:creationId xmlns:a16="http://schemas.microsoft.com/office/drawing/2014/main" id="{09D41D80-509B-497D-84F8-EE8E42EF64EE}"/>
              </a:ext>
            </a:extLst>
          </p:cNvPr>
          <p:cNvSpPr>
            <a:spLocks xmlns:a="http://schemas.openxmlformats.org/drawingml/2006/main" noGrp="1"/>
          </p:cNvSpPr>
          <p:nvPr/>
        </p:nvSpPr>
        <p:spPr>
          <a:xfrm xmlns:a="http://schemas.openxmlformats.org/drawingml/2006/main">
            <a:off x="9944100" y="5219700"/>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Sonra karar</a:t>
            </a:r>
          </a:p>
        </p:txBody>
      </p:sp>
      <p:sp>
        <p:nvSpPr>
          <p:cNvPr id="20" name="">
            <a:extLst xmlns:a="http://schemas.openxmlformats.org/drawingml/2006/main">
              <a:ext uri="{FF2B5EF4-FFF2-40B4-BE49-F238E27FC236}">
                <a16:creationId xmlns:a16="http://schemas.microsoft.com/office/drawing/2014/main" id="{5E60BE2B-8528-4E3D-94DF-2383C99B3EA3}"/>
              </a:ext>
            </a:extLst>
          </p:cNvPr>
          <p:cNvSpPr>
            <a:spLocks xmlns:a="http://schemas.openxmlformats.org/drawingml/2006/main" noGrp="1"/>
          </p:cNvSpPr>
          <p:nvPr/>
        </p:nvSpPr>
        <p:spPr>
          <a:xfrm xmlns:a="http://schemas.openxmlformats.org/drawingml/2006/main">
            <a:off x="9944100" y="5791200"/>
            <a:ext cx="45148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durum, 57.5 değerini alır ve Geçti döndürür. Her fonksiyon tek işi yapar.</a:t>
            </a:r>
          </a:p>
        </p:txBody>
      </p:sp>
      <p:sp>
        <p:nvSpPr>
          <p:cNvPr id="21" name="">
            <a:extLst xmlns:a="http://schemas.openxmlformats.org/drawingml/2006/main">
              <a:ext uri="{FF2B5EF4-FFF2-40B4-BE49-F238E27FC236}">
                <a16:creationId xmlns:a16="http://schemas.microsoft.com/office/drawing/2014/main" id="{9DD91861-9DC2-4AB6-870E-13F2C94BE482}"/>
              </a:ext>
            </a:extLst>
          </p:cNvPr>
          <p:cNvSpPr>
            <a:spLocks xmlns:a="http://schemas.openxmlformats.org/drawingml/2006/main" noGrp="1"/>
          </p:cNvSpPr>
          <p:nvPr/>
        </p:nvSpPr>
        <p:spPr>
          <a:xfrm xmlns:a="http://schemas.openxmlformats.org/drawingml/2006/main">
            <a:off x="742950" y="7496175"/>
            <a:ext cx="169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2" name="">
            <a:extLst xmlns:a="http://schemas.openxmlformats.org/drawingml/2006/main">
              <a:ext uri="{FF2B5EF4-FFF2-40B4-BE49-F238E27FC236}">
                <a16:creationId xmlns:a16="http://schemas.microsoft.com/office/drawing/2014/main" id="{DFB6435F-1B65-4ECF-92B1-7CFA6125C434}"/>
              </a:ext>
            </a:extLst>
          </p:cNvPr>
          <p:cNvSpPr>
            <a:spLocks xmlns:a="http://schemas.openxmlformats.org/drawingml/2006/main" noGrp="1"/>
          </p:cNvSpPr>
          <p:nvPr/>
        </p:nvSpPr>
        <p:spPr>
          <a:xfrm xmlns:a="http://schemas.openxmlformats.org/drawingml/2006/main">
            <a:off x="2686050" y="7458075"/>
            <a:ext cx="1181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57.5</a:t>
            </a:r>
          </a:p>
          <a:p xmlns:a="http://schemas.openxmlformats.org/drawingml/2006/main">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Geçti</a:t>
            </a:r>
          </a:p>
        </p:txBody>
      </p:sp>
      <p:sp>
        <p:nvSpPr>
          <p:cNvPr id="23" name="">
            <a:extLst xmlns:a="http://schemas.openxmlformats.org/drawingml/2006/main">
              <a:ext uri="{FF2B5EF4-FFF2-40B4-BE49-F238E27FC236}">
                <a16:creationId xmlns:a16="http://schemas.microsoft.com/office/drawing/2014/main" id="{C45814E5-9FCE-4592-BFD4-EF72E517CEE8}"/>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31 / 37</a:t>
            </a:r>
          </a:p>
        </p:txBody>
      </p:sp>
    </p:spTree>
    <p:extLst>
      <p:ext uri="{BB962C8B-B14F-4D97-AF65-F5344CB8AC3E}">
        <p14:creationId xmlns:p14="http://schemas.microsoft.com/office/powerpoint/2010/main" val="486421642"/>
      </p:ext>
    </p:extLst>
  </p:cSld>
</p:sld>
</file>

<file path=ppt/slides/slide3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4CDB1D6-041D-4760-B64C-62E1F22A0C16}"/>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5BE951F5-6F76-4DC2-9C10-DD9824A6A9AF}"/>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Program 1: sınıfın sınav raporu</a:t>
            </a:r>
          </a:p>
        </p:txBody>
      </p:sp>
      <p:sp>
        <p:nvSpPr>
          <p:cNvPr id="3" name="">
            <a:extLst xmlns:a="http://schemas.openxmlformats.org/drawingml/2006/main">
              <a:ext uri="{FF2B5EF4-FFF2-40B4-BE49-F238E27FC236}">
                <a16:creationId xmlns:a16="http://schemas.microsoft.com/office/drawing/2014/main" id="{5C9CE5C8-1133-49FE-B068-C7C934DBC942}"/>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Birden fazla öğrencinin puanını inceleyip ortalama ve geçen öğrenci sayısını hesaplayacağız.</a:t>
            </a:r>
          </a:p>
        </p:txBody>
      </p:sp>
      <p:sp>
        <p:nvSpPr>
          <p:cNvPr id="4" name="">
            <a:extLst xmlns:a="http://schemas.openxmlformats.org/drawingml/2006/main">
              <a:ext uri="{FF2B5EF4-FFF2-40B4-BE49-F238E27FC236}">
                <a16:creationId xmlns:a16="http://schemas.microsoft.com/office/drawing/2014/main" id="{FE138654-3021-4991-8F0B-40003771F9AE}"/>
              </a:ext>
            </a:extLst>
          </p:cNvPr>
          <p:cNvSpPr>
            <a:spLocks xmlns:a="http://schemas.openxmlformats.org/drawingml/2006/main" noGrp="1"/>
          </p:cNvSpPr>
          <p:nvPr/>
        </p:nvSpPr>
        <p:spPr>
          <a:xfrm xmlns:a="http://schemas.openxmlformats.org/drawingml/2006/main">
            <a:off x="742950" y="310515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Girdi</a:t>
            </a:r>
          </a:p>
        </p:txBody>
      </p:sp>
      <p:sp>
        <p:nvSpPr>
          <p:cNvPr id="5" name="">
            <a:extLst xmlns:a="http://schemas.openxmlformats.org/drawingml/2006/main">
              <a:ext uri="{FF2B5EF4-FFF2-40B4-BE49-F238E27FC236}">
                <a16:creationId xmlns:a16="http://schemas.microsoft.com/office/drawing/2014/main" id="{6798E723-2B24-436C-BA8D-D4462BEBB752}"/>
              </a:ext>
            </a:extLst>
          </p:cNvPr>
          <p:cNvSpPr>
            <a:spLocks xmlns:a="http://schemas.openxmlformats.org/drawingml/2006/main" noGrp="1"/>
          </p:cNvSpPr>
          <p:nvPr/>
        </p:nvSpPr>
        <p:spPr>
          <a:xfrm xmlns:a="http://schemas.openxmlformats.org/drawingml/2006/main">
            <a:off x="4552950" y="310515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0..100 aralığında olduğu önceden kontrol edilmiş bir puan listesi. Örnek: 40, 60, 80.</a:t>
            </a:r>
          </a:p>
        </p:txBody>
      </p:sp>
      <p:sp>
        <p:nvSpPr>
          <p:cNvPr id="6" name="">
            <a:extLst xmlns:a="http://schemas.openxmlformats.org/drawingml/2006/main">
              <a:ext uri="{FF2B5EF4-FFF2-40B4-BE49-F238E27FC236}">
                <a16:creationId xmlns:a16="http://schemas.microsoft.com/office/drawing/2014/main" id="{A0C0AAB3-0E52-4B53-A186-88889A041445}"/>
              </a:ext>
            </a:extLst>
          </p:cNvPr>
          <p:cNvSpPr>
            <a:spLocks xmlns:a="http://schemas.openxmlformats.org/drawingml/2006/main" noGrp="1"/>
          </p:cNvSpPr>
          <p:nvPr/>
        </p:nvSpPr>
        <p:spPr>
          <a:xfrm xmlns:a="http://schemas.openxmlformats.org/drawingml/2006/main">
            <a:off x="742950" y="4600575"/>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Fonksiyonlar</a:t>
            </a:r>
          </a:p>
        </p:txBody>
      </p:sp>
      <p:sp>
        <p:nvSpPr>
          <p:cNvPr id="7" name="">
            <a:extLst xmlns:a="http://schemas.openxmlformats.org/drawingml/2006/main">
              <a:ext uri="{FF2B5EF4-FFF2-40B4-BE49-F238E27FC236}">
                <a16:creationId xmlns:a16="http://schemas.microsoft.com/office/drawing/2014/main" id="{F13C1D47-1196-4071-B451-49572550A4D2}"/>
              </a:ext>
            </a:extLst>
          </p:cNvPr>
          <p:cNvSpPr>
            <a:spLocks xmlns:a="http://schemas.openxmlformats.org/drawingml/2006/main" noGrp="1"/>
          </p:cNvSpPr>
          <p:nvPr/>
        </p:nvSpPr>
        <p:spPr>
          <a:xfrm xmlns:a="http://schemas.openxmlformats.org/drawingml/2006/main">
            <a:off x="4552950" y="4600575"/>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ortalama hesap yapar. gecenSayisi eşik puanını karşılayan öğrencileri sayar.</a:t>
            </a:r>
          </a:p>
        </p:txBody>
      </p:sp>
      <p:sp>
        <p:nvSpPr>
          <p:cNvPr id="8" name="">
            <a:extLst xmlns:a="http://schemas.openxmlformats.org/drawingml/2006/main">
              <a:ext uri="{FF2B5EF4-FFF2-40B4-BE49-F238E27FC236}">
                <a16:creationId xmlns:a16="http://schemas.microsoft.com/office/drawing/2014/main" id="{D5244757-F91A-453C-9571-1593F3614EF2}"/>
              </a:ext>
            </a:extLst>
          </p:cNvPr>
          <p:cNvSpPr>
            <a:spLocks xmlns:a="http://schemas.openxmlformats.org/drawingml/2006/main" noGrp="1"/>
          </p:cNvSpPr>
          <p:nvPr/>
        </p:nvSpPr>
        <p:spPr>
          <a:xfrm xmlns:a="http://schemas.openxmlformats.org/drawingml/2006/main">
            <a:off x="742950" y="609600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Özel durum</a:t>
            </a:r>
          </a:p>
        </p:txBody>
      </p:sp>
      <p:sp>
        <p:nvSpPr>
          <p:cNvPr id="9" name="">
            <a:extLst xmlns:a="http://schemas.openxmlformats.org/drawingml/2006/main">
              <a:ext uri="{FF2B5EF4-FFF2-40B4-BE49-F238E27FC236}">
                <a16:creationId xmlns:a16="http://schemas.microsoft.com/office/drawing/2014/main" id="{97BD5CFB-E77F-4B12-8988-6CF07D459E5B}"/>
              </a:ext>
            </a:extLst>
          </p:cNvPr>
          <p:cNvSpPr>
            <a:spLocks xmlns:a="http://schemas.openxmlformats.org/drawingml/2006/main" noGrp="1"/>
          </p:cNvSpPr>
          <p:nvPr/>
        </p:nvSpPr>
        <p:spPr>
          <a:xfrm xmlns:a="http://schemas.openxmlformats.org/drawingml/2006/main">
            <a:off x="4552950" y="609600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Liste boşsa ortalama hesaplanmaz. main, açıklama yazıp erken return ile biter.</a:t>
            </a:r>
          </a:p>
        </p:txBody>
      </p:sp>
      <p:sp>
        <p:nvSpPr>
          <p:cNvPr id="10" name="">
            <a:extLst xmlns:a="http://schemas.openxmlformats.org/drawingml/2006/main">
              <a:ext uri="{FF2B5EF4-FFF2-40B4-BE49-F238E27FC236}">
                <a16:creationId xmlns:a16="http://schemas.microsoft.com/office/drawing/2014/main" id="{F246E67F-A9BA-4548-8338-1E55F395B3B3}"/>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32 / 37</a:t>
            </a:r>
          </a:p>
        </p:txBody>
      </p:sp>
    </p:spTree>
    <p:extLst>
      <p:ext uri="{BB962C8B-B14F-4D97-AF65-F5344CB8AC3E}">
        <p14:creationId xmlns:p14="http://schemas.microsoft.com/office/powerpoint/2010/main" val="586107834"/>
      </p:ext>
    </p:extLst>
  </p:cSld>
</p:sld>
</file>

<file path=ppt/slides/slide3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DE1BA04-0043-4FBF-8178-9EA61F25F447}"/>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0A706C1F-C625-45F9-9819-4D6C39E104B5}"/>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Sınav raporu: tam program</a:t>
            </a:r>
          </a:p>
        </p:txBody>
      </p:sp>
      <p:sp>
        <p:nvSpPr>
          <p:cNvPr id="3" name="">
            <a:extLst xmlns:a="http://schemas.openxmlformats.org/drawingml/2006/main">
              <a:ext uri="{FF2B5EF4-FFF2-40B4-BE49-F238E27FC236}">
                <a16:creationId xmlns:a16="http://schemas.microsoft.com/office/drawing/2014/main" id="{69017098-0027-4871-AADE-E59471ECDF98}"/>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İki sütunu tek .kt dosyasına sırayla koyabilirsin. Sol taraf fonksiyonlar, sağ taraf main.</a:t>
            </a:r>
          </a:p>
        </p:txBody>
      </p:sp>
      <p:sp>
        <p:nvSpPr>
          <p:cNvPr id="4" name="">
            <a:extLst xmlns:a="http://schemas.openxmlformats.org/drawingml/2006/main">
              <a:ext uri="{FF2B5EF4-FFF2-40B4-BE49-F238E27FC236}">
                <a16:creationId xmlns:a16="http://schemas.microsoft.com/office/drawing/2014/main" id="{C86A47FC-EA6C-404D-B075-8EC08A66A559}"/>
              </a:ext>
            </a:extLst>
          </p:cNvPr>
          <p:cNvSpPr>
            <a:spLocks xmlns:a="http://schemas.openxmlformats.org/drawingml/2006/main" noGrp="1"/>
          </p:cNvSpPr>
          <p:nvPr/>
        </p:nvSpPr>
        <p:spPr>
          <a:xfrm xmlns:a="http://schemas.openxmlformats.org/drawingml/2006/main">
            <a:off x="742950" y="26098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Fonksiyonlar</a:t>
            </a:r>
          </a:p>
        </p:txBody>
      </p:sp>
      <p:sp>
        <p:nvSpPr>
          <p:cNvPr id="5" name="">
            <a:extLst xmlns:a="http://schemas.openxmlformats.org/drawingml/2006/main">
              <a:ext uri="{FF2B5EF4-FFF2-40B4-BE49-F238E27FC236}">
                <a16:creationId xmlns:a16="http://schemas.microsoft.com/office/drawing/2014/main" id="{3E33A9A7-DF0E-497F-9303-33CC48F8B8BA}"/>
              </a:ext>
            </a:extLst>
          </p:cNvPr>
          <p:cNvSpPr>
            <a:spLocks xmlns:a="http://schemas.openxmlformats.org/drawingml/2006/main" noGrp="1"/>
          </p:cNvSpPr>
          <p:nvPr/>
        </p:nvSpPr>
        <p:spPr>
          <a:xfrm xmlns:a="http://schemas.openxmlformats.org/drawingml/2006/main">
            <a:off x="7924800" y="26098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Programın başlangıcı: main</a:t>
            </a:r>
          </a:p>
        </p:txBody>
      </p:sp>
      <p:sp>
        <p:nvSpPr>
          <p:cNvPr id="6" name="">
            <a:extLst xmlns:a="http://schemas.openxmlformats.org/drawingml/2006/main">
              <a:ext uri="{FF2B5EF4-FFF2-40B4-BE49-F238E27FC236}">
                <a16:creationId xmlns:a16="http://schemas.microsoft.com/office/drawing/2014/main" id="{068256BE-BDCF-45E3-B690-60E86E0DB364}"/>
              </a:ext>
            </a:extLst>
          </p:cNvPr>
          <p:cNvSpPr>
            <a:spLocks xmlns:a="http://schemas.openxmlformats.org/drawingml/2006/main" noGrp="1"/>
          </p:cNvSpPr>
          <p:nvPr/>
        </p:nvSpPr>
        <p:spPr>
          <a:xfrm xmlns:a="http://schemas.openxmlformats.org/drawingml/2006/main">
            <a:off x="742950" y="30003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rPr>
                <a:solidFill>
                  <a:srgbClr val="6941A5"/>
                </a:solidFill>
              </a:rPr>
              <a:t>fun</a:t>
            </a:r>
            <a:r>
              <a:t> ortalama(puanlar: List&lt;Int&gt;): Double {</a:t>
            </a:r>
          </a:p>
        </p:txBody>
      </p:sp>
      <p:sp>
        <p:nvSpPr>
          <p:cNvPr id="7" name="">
            <a:extLst xmlns:a="http://schemas.openxmlformats.org/drawingml/2006/main">
              <a:ext uri="{FF2B5EF4-FFF2-40B4-BE49-F238E27FC236}">
                <a16:creationId xmlns:a16="http://schemas.microsoft.com/office/drawing/2014/main" id="{CB161C26-DC48-4998-BBB2-6496DF9FB878}"/>
              </a:ext>
            </a:extLst>
          </p:cNvPr>
          <p:cNvSpPr>
            <a:spLocks xmlns:a="http://schemas.openxmlformats.org/drawingml/2006/main" noGrp="1"/>
          </p:cNvSpPr>
          <p:nvPr/>
        </p:nvSpPr>
        <p:spPr>
          <a:xfrm xmlns:a="http://schemas.openxmlformats.org/drawingml/2006/main">
            <a:off x="742950" y="32575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var</a:t>
            </a:r>
            <a:r>
              <a:t> toplam = </a:t>
            </a:r>
            <a:r>
              <a:rPr>
                <a:solidFill>
                  <a:srgbClr val="A45110"/>
                </a:solidFill>
              </a:rPr>
              <a:t>0</a:t>
            </a:r>
            <a:r>
              <a:t>.</a:t>
            </a:r>
            <a:r>
              <a:rPr>
                <a:solidFill>
                  <a:srgbClr val="A45110"/>
                </a:solidFill>
              </a:rPr>
              <a:t>0</a:t>
            </a:r>
          </a:p>
        </p:txBody>
      </p:sp>
      <p:sp>
        <p:nvSpPr>
          <p:cNvPr id="8" name="">
            <a:extLst xmlns:a="http://schemas.openxmlformats.org/drawingml/2006/main">
              <a:ext uri="{FF2B5EF4-FFF2-40B4-BE49-F238E27FC236}">
                <a16:creationId xmlns:a16="http://schemas.microsoft.com/office/drawing/2014/main" id="{635E29EF-5A39-458E-A151-D56D2773E9BC}"/>
              </a:ext>
            </a:extLst>
          </p:cNvPr>
          <p:cNvSpPr>
            <a:spLocks xmlns:a="http://schemas.openxmlformats.org/drawingml/2006/main" noGrp="1"/>
          </p:cNvSpPr>
          <p:nvPr/>
        </p:nvSpPr>
        <p:spPr>
          <a:xfrm xmlns:a="http://schemas.openxmlformats.org/drawingml/2006/main">
            <a:off x="742950" y="35147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for</a:t>
            </a:r>
            <a:r>
              <a:t> (puan </a:t>
            </a:r>
            <a:r>
              <a:rPr>
                <a:solidFill>
                  <a:srgbClr val="6941A5"/>
                </a:solidFill>
              </a:rPr>
              <a:t>in</a:t>
            </a:r>
            <a:r>
              <a:t> puanlar) {</a:t>
            </a:r>
          </a:p>
        </p:txBody>
      </p:sp>
      <p:sp>
        <p:nvSpPr>
          <p:cNvPr id="9" name="">
            <a:extLst xmlns:a="http://schemas.openxmlformats.org/drawingml/2006/main">
              <a:ext uri="{FF2B5EF4-FFF2-40B4-BE49-F238E27FC236}">
                <a16:creationId xmlns:a16="http://schemas.microsoft.com/office/drawing/2014/main" id="{BA20555F-5719-425B-9679-C79563225E0F}"/>
              </a:ext>
            </a:extLst>
          </p:cNvPr>
          <p:cNvSpPr>
            <a:spLocks xmlns:a="http://schemas.openxmlformats.org/drawingml/2006/main" noGrp="1"/>
          </p:cNvSpPr>
          <p:nvPr/>
        </p:nvSpPr>
        <p:spPr>
          <a:xfrm xmlns:a="http://schemas.openxmlformats.org/drawingml/2006/main">
            <a:off x="742950" y="37719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toplam = toplam + puan</a:t>
            </a:r>
          </a:p>
        </p:txBody>
      </p:sp>
      <p:sp>
        <p:nvSpPr>
          <p:cNvPr id="10" name="">
            <a:extLst xmlns:a="http://schemas.openxmlformats.org/drawingml/2006/main">
              <a:ext uri="{FF2B5EF4-FFF2-40B4-BE49-F238E27FC236}">
                <a16:creationId xmlns:a16="http://schemas.microsoft.com/office/drawing/2014/main" id="{2DBB1020-3C21-437F-BBBC-4B082E5AE6FF}"/>
              </a:ext>
            </a:extLst>
          </p:cNvPr>
          <p:cNvSpPr>
            <a:spLocks xmlns:a="http://schemas.openxmlformats.org/drawingml/2006/main" noGrp="1"/>
          </p:cNvSpPr>
          <p:nvPr/>
        </p:nvSpPr>
        <p:spPr>
          <a:xfrm xmlns:a="http://schemas.openxmlformats.org/drawingml/2006/main">
            <a:off x="742950" y="40290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p>
        </p:txBody>
      </p:sp>
      <p:sp>
        <p:nvSpPr>
          <p:cNvPr id="11" name="">
            <a:extLst xmlns:a="http://schemas.openxmlformats.org/drawingml/2006/main">
              <a:ext uri="{FF2B5EF4-FFF2-40B4-BE49-F238E27FC236}">
                <a16:creationId xmlns:a16="http://schemas.microsoft.com/office/drawing/2014/main" id="{A26EE359-6B08-45B4-9B52-7D6E4D9B7227}"/>
              </a:ext>
            </a:extLst>
          </p:cNvPr>
          <p:cNvSpPr>
            <a:spLocks xmlns:a="http://schemas.openxmlformats.org/drawingml/2006/main" noGrp="1"/>
          </p:cNvSpPr>
          <p:nvPr/>
        </p:nvSpPr>
        <p:spPr>
          <a:xfrm xmlns:a="http://schemas.openxmlformats.org/drawingml/2006/main">
            <a:off x="742950" y="42862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return</a:t>
            </a:r>
            <a:r>
              <a:t> toplam / puanlar.size</a:t>
            </a:r>
          </a:p>
        </p:txBody>
      </p:sp>
      <p:sp>
        <p:nvSpPr>
          <p:cNvPr id="12" name="">
            <a:extLst xmlns:a="http://schemas.openxmlformats.org/drawingml/2006/main">
              <a:ext uri="{FF2B5EF4-FFF2-40B4-BE49-F238E27FC236}">
                <a16:creationId xmlns:a16="http://schemas.microsoft.com/office/drawing/2014/main" id="{E0912C23-A3E8-4ABF-AD45-753990B2CCB3}"/>
              </a:ext>
            </a:extLst>
          </p:cNvPr>
          <p:cNvSpPr>
            <a:spLocks xmlns:a="http://schemas.openxmlformats.org/drawingml/2006/main" noGrp="1"/>
          </p:cNvSpPr>
          <p:nvPr/>
        </p:nvSpPr>
        <p:spPr>
          <a:xfrm xmlns:a="http://schemas.openxmlformats.org/drawingml/2006/main">
            <a:off x="742950" y="45434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a:t>
            </a:r>
          </a:p>
        </p:txBody>
      </p:sp>
      <p:sp>
        <p:nvSpPr>
          <p:cNvPr id="13" name="">
            <a:extLst xmlns:a="http://schemas.openxmlformats.org/drawingml/2006/main">
              <a:ext uri="{FF2B5EF4-FFF2-40B4-BE49-F238E27FC236}">
                <a16:creationId xmlns:a16="http://schemas.microsoft.com/office/drawing/2014/main" id="{270412E8-982E-4C47-8783-63F9C0422E06}"/>
              </a:ext>
            </a:extLst>
          </p:cNvPr>
          <p:cNvSpPr>
            <a:spLocks xmlns:a="http://schemas.openxmlformats.org/drawingml/2006/main" noGrp="1"/>
          </p:cNvSpPr>
          <p:nvPr/>
        </p:nvSpPr>
        <p:spPr>
          <a:xfrm xmlns:a="http://schemas.openxmlformats.org/drawingml/2006/main">
            <a:off x="742950" y="48006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rPr>
                <a:solidFill>
                  <a:srgbClr val="6941A5"/>
                </a:solidFill>
              </a:rPr>
              <a:t>fun</a:t>
            </a:r>
            <a:r>
              <a:t> gecenSayisi(</a:t>
            </a:r>
          </a:p>
        </p:txBody>
      </p:sp>
      <p:sp>
        <p:nvSpPr>
          <p:cNvPr id="14" name="">
            <a:extLst xmlns:a="http://schemas.openxmlformats.org/drawingml/2006/main">
              <a:ext uri="{FF2B5EF4-FFF2-40B4-BE49-F238E27FC236}">
                <a16:creationId xmlns:a16="http://schemas.microsoft.com/office/drawing/2014/main" id="{3ACB859A-619B-47F9-97CB-E7FEAB96942B}"/>
              </a:ext>
            </a:extLst>
          </p:cNvPr>
          <p:cNvSpPr>
            <a:spLocks xmlns:a="http://schemas.openxmlformats.org/drawingml/2006/main" noGrp="1"/>
          </p:cNvSpPr>
          <p:nvPr/>
        </p:nvSpPr>
        <p:spPr>
          <a:xfrm xmlns:a="http://schemas.openxmlformats.org/drawingml/2006/main">
            <a:off x="742950" y="50577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puanlar: List&lt;Int&gt;, esik: Int = </a:t>
            </a:r>
            <a:r>
              <a:rPr>
                <a:solidFill>
                  <a:srgbClr val="A45110"/>
                </a:solidFill>
              </a:rPr>
              <a:t>50</a:t>
            </a:r>
          </a:p>
        </p:txBody>
      </p:sp>
      <p:sp>
        <p:nvSpPr>
          <p:cNvPr id="15" name="">
            <a:extLst xmlns:a="http://schemas.openxmlformats.org/drawingml/2006/main">
              <a:ext uri="{FF2B5EF4-FFF2-40B4-BE49-F238E27FC236}">
                <a16:creationId xmlns:a16="http://schemas.microsoft.com/office/drawing/2014/main" id="{9FF286B9-B27F-422A-95B0-27AFAA9B0932}"/>
              </a:ext>
            </a:extLst>
          </p:cNvPr>
          <p:cNvSpPr>
            <a:spLocks xmlns:a="http://schemas.openxmlformats.org/drawingml/2006/main" noGrp="1"/>
          </p:cNvSpPr>
          <p:nvPr/>
        </p:nvSpPr>
        <p:spPr>
          <a:xfrm xmlns:a="http://schemas.openxmlformats.org/drawingml/2006/main">
            <a:off x="742950" y="53149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Int {</a:t>
            </a:r>
          </a:p>
        </p:txBody>
      </p:sp>
      <p:sp>
        <p:nvSpPr>
          <p:cNvPr id="16" name="">
            <a:extLst xmlns:a="http://schemas.openxmlformats.org/drawingml/2006/main">
              <a:ext uri="{FF2B5EF4-FFF2-40B4-BE49-F238E27FC236}">
                <a16:creationId xmlns:a16="http://schemas.microsoft.com/office/drawing/2014/main" id="{230CD6FD-6DEC-4064-AABB-C42B86793FD7}"/>
              </a:ext>
            </a:extLst>
          </p:cNvPr>
          <p:cNvSpPr>
            <a:spLocks xmlns:a="http://schemas.openxmlformats.org/drawingml/2006/main" noGrp="1"/>
          </p:cNvSpPr>
          <p:nvPr/>
        </p:nvSpPr>
        <p:spPr>
          <a:xfrm xmlns:a="http://schemas.openxmlformats.org/drawingml/2006/main">
            <a:off x="742950" y="55721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var</a:t>
            </a:r>
            <a:r>
              <a:t> sayac = </a:t>
            </a:r>
            <a:r>
              <a:rPr>
                <a:solidFill>
                  <a:srgbClr val="A45110"/>
                </a:solidFill>
              </a:rPr>
              <a:t>0</a:t>
            </a:r>
          </a:p>
        </p:txBody>
      </p:sp>
      <p:sp>
        <p:nvSpPr>
          <p:cNvPr id="17" name="">
            <a:extLst xmlns:a="http://schemas.openxmlformats.org/drawingml/2006/main">
              <a:ext uri="{FF2B5EF4-FFF2-40B4-BE49-F238E27FC236}">
                <a16:creationId xmlns:a16="http://schemas.microsoft.com/office/drawing/2014/main" id="{D2A4343D-61BE-466F-8427-602FACE6D842}"/>
              </a:ext>
            </a:extLst>
          </p:cNvPr>
          <p:cNvSpPr>
            <a:spLocks xmlns:a="http://schemas.openxmlformats.org/drawingml/2006/main" noGrp="1"/>
          </p:cNvSpPr>
          <p:nvPr/>
        </p:nvSpPr>
        <p:spPr>
          <a:xfrm xmlns:a="http://schemas.openxmlformats.org/drawingml/2006/main">
            <a:off x="742950" y="58293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for</a:t>
            </a:r>
            <a:r>
              <a:t> (puan </a:t>
            </a:r>
            <a:r>
              <a:rPr>
                <a:solidFill>
                  <a:srgbClr val="6941A5"/>
                </a:solidFill>
              </a:rPr>
              <a:t>in</a:t>
            </a:r>
            <a:r>
              <a:t> puanlar) {</a:t>
            </a:r>
          </a:p>
        </p:txBody>
      </p:sp>
      <p:sp>
        <p:nvSpPr>
          <p:cNvPr id="18" name="">
            <a:extLst xmlns:a="http://schemas.openxmlformats.org/drawingml/2006/main">
              <a:ext uri="{FF2B5EF4-FFF2-40B4-BE49-F238E27FC236}">
                <a16:creationId xmlns:a16="http://schemas.microsoft.com/office/drawing/2014/main" id="{395EED91-37BD-42A0-9FD6-DAF4835BD841}"/>
              </a:ext>
            </a:extLst>
          </p:cNvPr>
          <p:cNvSpPr>
            <a:spLocks xmlns:a="http://schemas.openxmlformats.org/drawingml/2006/main" noGrp="1"/>
          </p:cNvSpPr>
          <p:nvPr/>
        </p:nvSpPr>
        <p:spPr>
          <a:xfrm xmlns:a="http://schemas.openxmlformats.org/drawingml/2006/main">
            <a:off x="742950" y="60864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if</a:t>
            </a:r>
            <a:r>
              <a:t> (puan &gt;= esik) sayac = sayac + </a:t>
            </a:r>
            <a:r>
              <a:rPr>
                <a:solidFill>
                  <a:srgbClr val="A45110"/>
                </a:solidFill>
              </a:rPr>
              <a:t>1</a:t>
            </a:r>
          </a:p>
        </p:txBody>
      </p:sp>
      <p:sp>
        <p:nvSpPr>
          <p:cNvPr id="19" name="">
            <a:extLst xmlns:a="http://schemas.openxmlformats.org/drawingml/2006/main">
              <a:ext uri="{FF2B5EF4-FFF2-40B4-BE49-F238E27FC236}">
                <a16:creationId xmlns:a16="http://schemas.microsoft.com/office/drawing/2014/main" id="{B3FA82C1-2FE7-4137-908B-D8870997A856}"/>
              </a:ext>
            </a:extLst>
          </p:cNvPr>
          <p:cNvSpPr>
            <a:spLocks xmlns:a="http://schemas.openxmlformats.org/drawingml/2006/main" noGrp="1"/>
          </p:cNvSpPr>
          <p:nvPr/>
        </p:nvSpPr>
        <p:spPr>
          <a:xfrm xmlns:a="http://schemas.openxmlformats.org/drawingml/2006/main">
            <a:off x="742950" y="63436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p>
        </p:txBody>
      </p:sp>
      <p:sp>
        <p:nvSpPr>
          <p:cNvPr id="20" name="">
            <a:extLst xmlns:a="http://schemas.openxmlformats.org/drawingml/2006/main">
              <a:ext uri="{FF2B5EF4-FFF2-40B4-BE49-F238E27FC236}">
                <a16:creationId xmlns:a16="http://schemas.microsoft.com/office/drawing/2014/main" id="{A47F74C9-F5FD-4489-8572-AA64B798F7BE}"/>
              </a:ext>
            </a:extLst>
          </p:cNvPr>
          <p:cNvSpPr>
            <a:spLocks xmlns:a="http://schemas.openxmlformats.org/drawingml/2006/main" noGrp="1"/>
          </p:cNvSpPr>
          <p:nvPr/>
        </p:nvSpPr>
        <p:spPr>
          <a:xfrm xmlns:a="http://schemas.openxmlformats.org/drawingml/2006/main">
            <a:off x="742950" y="66008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return</a:t>
            </a:r>
            <a:r>
              <a:t> sayac</a:t>
            </a:r>
          </a:p>
        </p:txBody>
      </p:sp>
      <p:sp>
        <p:nvSpPr>
          <p:cNvPr id="21" name="">
            <a:extLst xmlns:a="http://schemas.openxmlformats.org/drawingml/2006/main">
              <a:ext uri="{FF2B5EF4-FFF2-40B4-BE49-F238E27FC236}">
                <a16:creationId xmlns:a16="http://schemas.microsoft.com/office/drawing/2014/main" id="{D8640B86-5C4B-4799-822B-65A056B3D1FC}"/>
              </a:ext>
            </a:extLst>
          </p:cNvPr>
          <p:cNvSpPr>
            <a:spLocks xmlns:a="http://schemas.openxmlformats.org/drawingml/2006/main" noGrp="1"/>
          </p:cNvSpPr>
          <p:nvPr/>
        </p:nvSpPr>
        <p:spPr>
          <a:xfrm xmlns:a="http://schemas.openxmlformats.org/drawingml/2006/main">
            <a:off x="742950" y="68580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a:t>
            </a:r>
          </a:p>
        </p:txBody>
      </p:sp>
      <p:sp>
        <p:nvSpPr>
          <p:cNvPr id="22" name="">
            <a:extLst xmlns:a="http://schemas.openxmlformats.org/drawingml/2006/main">
              <a:ext uri="{FF2B5EF4-FFF2-40B4-BE49-F238E27FC236}">
                <a16:creationId xmlns:a16="http://schemas.microsoft.com/office/drawing/2014/main" id="{FE2D683B-81FE-4C3E-BD82-BF4A6516F71E}"/>
              </a:ext>
            </a:extLst>
          </p:cNvPr>
          <p:cNvSpPr>
            <a:spLocks xmlns:a="http://schemas.openxmlformats.org/drawingml/2006/main" noGrp="1"/>
          </p:cNvSpPr>
          <p:nvPr/>
        </p:nvSpPr>
        <p:spPr>
          <a:xfrm xmlns:a="http://schemas.openxmlformats.org/drawingml/2006/main">
            <a:off x="7924800" y="30003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rPr>
                <a:solidFill>
                  <a:srgbClr val="6941A5"/>
                </a:solidFill>
              </a:rPr>
              <a:t>fun</a:t>
            </a:r>
            <a:r>
              <a:t> main() {</a:t>
            </a:r>
          </a:p>
        </p:txBody>
      </p:sp>
      <p:sp>
        <p:nvSpPr>
          <p:cNvPr id="23" name="">
            <a:extLst xmlns:a="http://schemas.openxmlformats.org/drawingml/2006/main">
              <a:ext uri="{FF2B5EF4-FFF2-40B4-BE49-F238E27FC236}">
                <a16:creationId xmlns:a16="http://schemas.microsoft.com/office/drawing/2014/main" id="{D2CA9D80-0F38-4823-82E7-3F275ED80B53}"/>
              </a:ext>
            </a:extLst>
          </p:cNvPr>
          <p:cNvSpPr>
            <a:spLocks xmlns:a="http://schemas.openxmlformats.org/drawingml/2006/main" noGrp="1"/>
          </p:cNvSpPr>
          <p:nvPr/>
        </p:nvSpPr>
        <p:spPr>
          <a:xfrm xmlns:a="http://schemas.openxmlformats.org/drawingml/2006/main">
            <a:off x="7924800" y="32575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val</a:t>
            </a:r>
            <a:r>
              <a:t> puanlar = listOf(</a:t>
            </a:r>
            <a:r>
              <a:rPr>
                <a:solidFill>
                  <a:srgbClr val="A45110"/>
                </a:solidFill>
              </a:rPr>
              <a:t>40</a:t>
            </a:r>
            <a:r>
              <a:t>, </a:t>
            </a:r>
            <a:r>
              <a:rPr>
                <a:solidFill>
                  <a:srgbClr val="A45110"/>
                </a:solidFill>
              </a:rPr>
              <a:t>60</a:t>
            </a:r>
            <a:r>
              <a:t>, </a:t>
            </a:r>
            <a:r>
              <a:rPr>
                <a:solidFill>
                  <a:srgbClr val="A45110"/>
                </a:solidFill>
              </a:rPr>
              <a:t>80</a:t>
            </a:r>
            <a:r>
              <a:t>)</a:t>
            </a:r>
          </a:p>
        </p:txBody>
      </p:sp>
      <p:sp>
        <p:nvSpPr>
          <p:cNvPr id="24" name="">
            <a:extLst xmlns:a="http://schemas.openxmlformats.org/drawingml/2006/main">
              <a:ext uri="{FF2B5EF4-FFF2-40B4-BE49-F238E27FC236}">
                <a16:creationId xmlns:a16="http://schemas.microsoft.com/office/drawing/2014/main" id="{59D9548E-A9A1-4374-95A9-21D6CA1B771C}"/>
              </a:ext>
            </a:extLst>
          </p:cNvPr>
          <p:cNvSpPr>
            <a:spLocks xmlns:a="http://schemas.openxmlformats.org/drawingml/2006/main" noGrp="1"/>
          </p:cNvSpPr>
          <p:nvPr/>
        </p:nvSpPr>
        <p:spPr>
          <a:xfrm xmlns:a="http://schemas.openxmlformats.org/drawingml/2006/main">
            <a:off x="7924800" y="35147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if</a:t>
            </a:r>
            <a:r>
              <a:t> (puanlar.isEmpty()) {</a:t>
            </a:r>
          </a:p>
        </p:txBody>
      </p:sp>
      <p:sp>
        <p:nvSpPr>
          <p:cNvPr id="25" name="">
            <a:extLst xmlns:a="http://schemas.openxmlformats.org/drawingml/2006/main">
              <a:ext uri="{FF2B5EF4-FFF2-40B4-BE49-F238E27FC236}">
                <a16:creationId xmlns:a16="http://schemas.microsoft.com/office/drawing/2014/main" id="{6053D61D-DBAD-431F-9B88-A75CEC317503}"/>
              </a:ext>
            </a:extLst>
          </p:cNvPr>
          <p:cNvSpPr>
            <a:spLocks xmlns:a="http://schemas.openxmlformats.org/drawingml/2006/main" noGrp="1"/>
          </p:cNvSpPr>
          <p:nvPr/>
        </p:nvSpPr>
        <p:spPr>
          <a:xfrm xmlns:a="http://schemas.openxmlformats.org/drawingml/2006/main">
            <a:off x="7924800" y="37719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println(</a:t>
            </a:r>
            <a:r>
              <a:rPr>
                <a:solidFill>
                  <a:srgbClr val="397425"/>
                </a:solidFill>
              </a:rPr>
              <a:t>"Henüz puan yok"</a:t>
            </a:r>
            <a:r>
              <a:t>)</a:t>
            </a:r>
          </a:p>
        </p:txBody>
      </p:sp>
      <p:sp>
        <p:nvSpPr>
          <p:cNvPr id="26" name="">
            <a:extLst xmlns:a="http://schemas.openxmlformats.org/drawingml/2006/main">
              <a:ext uri="{FF2B5EF4-FFF2-40B4-BE49-F238E27FC236}">
                <a16:creationId xmlns:a16="http://schemas.microsoft.com/office/drawing/2014/main" id="{383914CF-1A90-4B4E-AF98-FBB8F36F0B7F}"/>
              </a:ext>
            </a:extLst>
          </p:cNvPr>
          <p:cNvSpPr>
            <a:spLocks xmlns:a="http://schemas.openxmlformats.org/drawingml/2006/main" noGrp="1"/>
          </p:cNvSpPr>
          <p:nvPr/>
        </p:nvSpPr>
        <p:spPr>
          <a:xfrm xmlns:a="http://schemas.openxmlformats.org/drawingml/2006/main">
            <a:off x="7924800" y="40290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return</a:t>
            </a:r>
          </a:p>
        </p:txBody>
      </p:sp>
      <p:sp>
        <p:nvSpPr>
          <p:cNvPr id="27" name="">
            <a:extLst xmlns:a="http://schemas.openxmlformats.org/drawingml/2006/main">
              <a:ext uri="{FF2B5EF4-FFF2-40B4-BE49-F238E27FC236}">
                <a16:creationId xmlns:a16="http://schemas.microsoft.com/office/drawing/2014/main" id="{12991ECB-CC2A-4B6D-A737-EBFC4306F841}"/>
              </a:ext>
            </a:extLst>
          </p:cNvPr>
          <p:cNvSpPr>
            <a:spLocks xmlns:a="http://schemas.openxmlformats.org/drawingml/2006/main" noGrp="1"/>
          </p:cNvSpPr>
          <p:nvPr/>
        </p:nvSpPr>
        <p:spPr>
          <a:xfrm xmlns:a="http://schemas.openxmlformats.org/drawingml/2006/main">
            <a:off x="7924800" y="42862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p>
        </p:txBody>
      </p:sp>
      <p:sp>
        <p:nvSpPr>
          <p:cNvPr id="28" name="">
            <a:extLst xmlns:a="http://schemas.openxmlformats.org/drawingml/2006/main">
              <a:ext uri="{FF2B5EF4-FFF2-40B4-BE49-F238E27FC236}">
                <a16:creationId xmlns:a16="http://schemas.microsoft.com/office/drawing/2014/main" id="{B02958DD-7AEF-42F1-A4A0-EB80CCEC30D6}"/>
              </a:ext>
            </a:extLst>
          </p:cNvPr>
          <p:cNvSpPr>
            <a:spLocks xmlns:a="http://schemas.openxmlformats.org/drawingml/2006/main" noGrp="1"/>
          </p:cNvSpPr>
          <p:nvPr/>
        </p:nvSpPr>
        <p:spPr>
          <a:xfrm xmlns:a="http://schemas.openxmlformats.org/drawingml/2006/main">
            <a:off x="7924800" y="45434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val</a:t>
            </a:r>
            <a:r>
              <a:t> ort = ortalama(puanlar)</a:t>
            </a:r>
          </a:p>
        </p:txBody>
      </p:sp>
      <p:sp>
        <p:nvSpPr>
          <p:cNvPr id="29" name="">
            <a:extLst xmlns:a="http://schemas.openxmlformats.org/drawingml/2006/main">
              <a:ext uri="{FF2B5EF4-FFF2-40B4-BE49-F238E27FC236}">
                <a16:creationId xmlns:a16="http://schemas.microsoft.com/office/drawing/2014/main" id="{8D177FAC-E982-49DA-BFE7-2D6F25D36277}"/>
              </a:ext>
            </a:extLst>
          </p:cNvPr>
          <p:cNvSpPr>
            <a:spLocks xmlns:a="http://schemas.openxmlformats.org/drawingml/2006/main" noGrp="1"/>
          </p:cNvSpPr>
          <p:nvPr/>
        </p:nvSpPr>
        <p:spPr>
          <a:xfrm xmlns:a="http://schemas.openxmlformats.org/drawingml/2006/main">
            <a:off x="7924800" y="48006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val</a:t>
            </a:r>
            <a:r>
              <a:t> gecen = gecenSayisi(puanlar)</a:t>
            </a:r>
          </a:p>
        </p:txBody>
      </p:sp>
      <p:sp>
        <p:nvSpPr>
          <p:cNvPr id="30" name="">
            <a:extLst xmlns:a="http://schemas.openxmlformats.org/drawingml/2006/main">
              <a:ext uri="{FF2B5EF4-FFF2-40B4-BE49-F238E27FC236}">
                <a16:creationId xmlns:a16="http://schemas.microsoft.com/office/drawing/2014/main" id="{B1DA3CB7-C64C-434E-8414-B9B621BA228E}"/>
              </a:ext>
            </a:extLst>
          </p:cNvPr>
          <p:cNvSpPr>
            <a:spLocks xmlns:a="http://schemas.openxmlformats.org/drawingml/2006/main" noGrp="1"/>
          </p:cNvSpPr>
          <p:nvPr/>
        </p:nvSpPr>
        <p:spPr>
          <a:xfrm xmlns:a="http://schemas.openxmlformats.org/drawingml/2006/main">
            <a:off x="7924800" y="50577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println(</a:t>
            </a:r>
            <a:r>
              <a:rPr>
                <a:solidFill>
                  <a:srgbClr val="397425"/>
                </a:solidFill>
              </a:rPr>
              <a:t>"Ortalama: "</a:t>
            </a:r>
            <a:r>
              <a:t> + ort)</a:t>
            </a:r>
          </a:p>
        </p:txBody>
      </p:sp>
      <p:sp>
        <p:nvSpPr>
          <p:cNvPr id="31" name="">
            <a:extLst xmlns:a="http://schemas.openxmlformats.org/drawingml/2006/main">
              <a:ext uri="{FF2B5EF4-FFF2-40B4-BE49-F238E27FC236}">
                <a16:creationId xmlns:a16="http://schemas.microsoft.com/office/drawing/2014/main" id="{F0822181-91D4-468E-BF7F-F96CDE73DAA1}"/>
              </a:ext>
            </a:extLst>
          </p:cNvPr>
          <p:cNvSpPr>
            <a:spLocks xmlns:a="http://schemas.openxmlformats.org/drawingml/2006/main" noGrp="1"/>
          </p:cNvSpPr>
          <p:nvPr/>
        </p:nvSpPr>
        <p:spPr>
          <a:xfrm xmlns:a="http://schemas.openxmlformats.org/drawingml/2006/main">
            <a:off x="7924800" y="53149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println(</a:t>
            </a:r>
            <a:r>
              <a:rPr>
                <a:solidFill>
                  <a:srgbClr val="397425"/>
                </a:solidFill>
              </a:rPr>
              <a:t>"Geçen: "</a:t>
            </a:r>
            <a:r>
              <a:t> + gecen)</a:t>
            </a:r>
          </a:p>
        </p:txBody>
      </p:sp>
      <p:sp>
        <p:nvSpPr>
          <p:cNvPr id="32" name="">
            <a:extLst xmlns:a="http://schemas.openxmlformats.org/drawingml/2006/main">
              <a:ext uri="{FF2B5EF4-FFF2-40B4-BE49-F238E27FC236}">
                <a16:creationId xmlns:a16="http://schemas.microsoft.com/office/drawing/2014/main" id="{C049BA1F-DC5E-4668-BDEA-723542CD93BA}"/>
              </a:ext>
            </a:extLst>
          </p:cNvPr>
          <p:cNvSpPr>
            <a:spLocks xmlns:a="http://schemas.openxmlformats.org/drawingml/2006/main" noGrp="1"/>
          </p:cNvSpPr>
          <p:nvPr/>
        </p:nvSpPr>
        <p:spPr>
          <a:xfrm xmlns:a="http://schemas.openxmlformats.org/drawingml/2006/main">
            <a:off x="7924800" y="55721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println(</a:t>
            </a:r>
            <a:r>
              <a:rPr>
                <a:solidFill>
                  <a:srgbClr val="397425"/>
                </a:solidFill>
              </a:rPr>
              <a:t>"Kalan: "</a:t>
            </a:r>
            <a:r>
              <a:t> + (puanlar.size - gecen))</a:t>
            </a:r>
          </a:p>
        </p:txBody>
      </p:sp>
      <p:sp>
        <p:nvSpPr>
          <p:cNvPr id="33" name="">
            <a:extLst xmlns:a="http://schemas.openxmlformats.org/drawingml/2006/main">
              <a:ext uri="{FF2B5EF4-FFF2-40B4-BE49-F238E27FC236}">
                <a16:creationId xmlns:a16="http://schemas.microsoft.com/office/drawing/2014/main" id="{D85BD81F-469B-49AB-965D-B635C558659C}"/>
              </a:ext>
            </a:extLst>
          </p:cNvPr>
          <p:cNvSpPr>
            <a:spLocks xmlns:a="http://schemas.openxmlformats.org/drawingml/2006/main" noGrp="1"/>
          </p:cNvSpPr>
          <p:nvPr/>
        </p:nvSpPr>
        <p:spPr>
          <a:xfrm xmlns:a="http://schemas.openxmlformats.org/drawingml/2006/main">
            <a:off x="7924800" y="58293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a:t>
            </a:r>
          </a:p>
        </p:txBody>
      </p:sp>
      <p:sp>
        <p:nvSpPr>
          <p:cNvPr id="34" name="">
            <a:extLst xmlns:a="http://schemas.openxmlformats.org/drawingml/2006/main">
              <a:ext uri="{FF2B5EF4-FFF2-40B4-BE49-F238E27FC236}">
                <a16:creationId xmlns:a16="http://schemas.microsoft.com/office/drawing/2014/main" id="{B2C98CBA-40D2-4BCF-83E7-C064DF3DFF94}"/>
              </a:ext>
            </a:extLst>
          </p:cNvPr>
          <p:cNvSpPr>
            <a:spLocks xmlns:a="http://schemas.openxmlformats.org/drawingml/2006/main" noGrp="1"/>
          </p:cNvSpPr>
          <p:nvPr/>
        </p:nvSpPr>
        <p:spPr>
          <a:xfrm xmlns:a="http://schemas.openxmlformats.org/drawingml/2006/main">
            <a:off x="742950" y="7362825"/>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Konsol çıktısı</a:t>
            </a:r>
          </a:p>
        </p:txBody>
      </p:sp>
      <p:sp>
        <p:nvSpPr>
          <p:cNvPr id="35" name="">
            <a:extLst xmlns:a="http://schemas.openxmlformats.org/drawingml/2006/main">
              <a:ext uri="{FF2B5EF4-FFF2-40B4-BE49-F238E27FC236}">
                <a16:creationId xmlns:a16="http://schemas.microsoft.com/office/drawing/2014/main" id="{E7BDF8A9-2618-421C-B3A7-6D41E12D29BE}"/>
              </a:ext>
            </a:extLst>
          </p:cNvPr>
          <p:cNvSpPr>
            <a:spLocks xmlns:a="http://schemas.openxmlformats.org/drawingml/2006/main" noGrp="1"/>
          </p:cNvSpPr>
          <p:nvPr/>
        </p:nvSpPr>
        <p:spPr>
          <a:xfrm xmlns:a="http://schemas.openxmlformats.org/drawingml/2006/main">
            <a:off x="2686050" y="732472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Ortalama: 60.0</a:t>
            </a:r>
          </a:p>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Geçen: 2</a:t>
            </a:r>
          </a:p>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Kalan: 1</a:t>
            </a:r>
          </a:p>
        </p:txBody>
      </p:sp>
      <p:sp>
        <p:nvSpPr>
          <p:cNvPr id="36" name="">
            <a:extLst xmlns:a="http://schemas.openxmlformats.org/drawingml/2006/main">
              <a:ext uri="{FF2B5EF4-FFF2-40B4-BE49-F238E27FC236}">
                <a16:creationId xmlns:a16="http://schemas.microsoft.com/office/drawing/2014/main" id="{2BEAF47F-4A15-4CCF-A53C-4D71DC58674A}"/>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33 / 37</a:t>
            </a:r>
          </a:p>
        </p:txBody>
      </p:sp>
    </p:spTree>
    <p:extLst>
      <p:ext uri="{BB962C8B-B14F-4D97-AF65-F5344CB8AC3E}">
        <p14:creationId xmlns:p14="http://schemas.microsoft.com/office/powerpoint/2010/main" val="1305362407"/>
      </p:ext>
    </p:extLst>
  </p:cSld>
</p:sld>
</file>

<file path=ppt/slides/slide3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84136A-0766-4B6F-8213-78E54056BAE3}"/>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9A1E5CA7-B923-4CF8-AFDF-6EF062251666}"/>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Sınav raporunun adım adım çalışması</a:t>
            </a:r>
          </a:p>
        </p:txBody>
      </p:sp>
      <p:sp>
        <p:nvSpPr>
          <p:cNvPr id="3" name="">
            <a:extLst xmlns:a="http://schemas.openxmlformats.org/drawingml/2006/main">
              <a:ext uri="{FF2B5EF4-FFF2-40B4-BE49-F238E27FC236}">
                <a16:creationId xmlns:a16="http://schemas.microsoft.com/office/drawing/2014/main" id="{E3A745D4-1327-417D-B7FC-1372637F51FC}"/>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Sonucu tahmin edip fonksiyonların hangi sırayla çağrıldığını takip edelim.</a:t>
            </a:r>
          </a:p>
        </p:txBody>
      </p:sp>
      <p:sp>
        <p:nvSpPr>
          <p:cNvPr id="4" name="">
            <a:extLst xmlns:a="http://schemas.openxmlformats.org/drawingml/2006/main">
              <a:ext uri="{FF2B5EF4-FFF2-40B4-BE49-F238E27FC236}">
                <a16:creationId xmlns:a16="http://schemas.microsoft.com/office/drawing/2014/main" id="{2FFFFBBE-0B52-4E8E-9503-B5573339878A}"/>
              </a:ext>
            </a:extLst>
          </p:cNvPr>
          <p:cNvSpPr>
            <a:spLocks xmlns:a="http://schemas.openxmlformats.org/drawingml/2006/main" noGrp="1"/>
          </p:cNvSpPr>
          <p:nvPr/>
        </p:nvSpPr>
        <p:spPr>
          <a:xfrm xmlns:a="http://schemas.openxmlformats.org/drawingml/2006/main">
            <a:off x="742950" y="310515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1. Hazırlık</a:t>
            </a:r>
          </a:p>
        </p:txBody>
      </p:sp>
      <p:sp>
        <p:nvSpPr>
          <p:cNvPr id="5" name="">
            <a:extLst xmlns:a="http://schemas.openxmlformats.org/drawingml/2006/main">
              <a:ext uri="{FF2B5EF4-FFF2-40B4-BE49-F238E27FC236}">
                <a16:creationId xmlns:a16="http://schemas.microsoft.com/office/drawing/2014/main" id="{0CAC336C-87D2-4191-A9E6-88761CE5AC43}"/>
              </a:ext>
            </a:extLst>
          </p:cNvPr>
          <p:cNvSpPr>
            <a:spLocks xmlns:a="http://schemas.openxmlformats.org/drawingml/2006/main" noGrp="1"/>
          </p:cNvSpPr>
          <p:nvPr/>
        </p:nvSpPr>
        <p:spPr>
          <a:xfrm xmlns:a="http://schemas.openxmlformats.org/drawingml/2006/main">
            <a:off x="4552950" y="310515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main üç elemanlı listeyi oluşturur. isEmpty false olduğu için hesaplamaya devam eder.</a:t>
            </a:r>
          </a:p>
        </p:txBody>
      </p:sp>
      <p:sp>
        <p:nvSpPr>
          <p:cNvPr id="6" name="">
            <a:extLst xmlns:a="http://schemas.openxmlformats.org/drawingml/2006/main">
              <a:ext uri="{FF2B5EF4-FFF2-40B4-BE49-F238E27FC236}">
                <a16:creationId xmlns:a16="http://schemas.microsoft.com/office/drawing/2014/main" id="{547C9FA2-DAEC-409C-BE7C-05F6285BD197}"/>
              </a:ext>
            </a:extLst>
          </p:cNvPr>
          <p:cNvSpPr>
            <a:spLocks xmlns:a="http://schemas.openxmlformats.org/drawingml/2006/main" noGrp="1"/>
          </p:cNvSpPr>
          <p:nvPr/>
        </p:nvSpPr>
        <p:spPr>
          <a:xfrm xmlns:a="http://schemas.openxmlformats.org/drawingml/2006/main">
            <a:off x="742950" y="4600575"/>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2. Hesaplama</a:t>
            </a:r>
          </a:p>
        </p:txBody>
      </p:sp>
      <p:sp>
        <p:nvSpPr>
          <p:cNvPr id="7" name="">
            <a:extLst xmlns:a="http://schemas.openxmlformats.org/drawingml/2006/main">
              <a:ext uri="{FF2B5EF4-FFF2-40B4-BE49-F238E27FC236}">
                <a16:creationId xmlns:a16="http://schemas.microsoft.com/office/drawing/2014/main" id="{433B82E9-0D65-4B4F-B504-7B69C0B99521}"/>
              </a:ext>
            </a:extLst>
          </p:cNvPr>
          <p:cNvSpPr>
            <a:spLocks xmlns:a="http://schemas.openxmlformats.org/drawingml/2006/main" noGrp="1"/>
          </p:cNvSpPr>
          <p:nvPr/>
        </p:nvSpPr>
        <p:spPr>
          <a:xfrm xmlns:a="http://schemas.openxmlformats.org/drawingml/2006/main">
            <a:off x="4552950" y="4600575"/>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ortalama içinde toplam sırasıyla 40.0, 100.0, 180.0 olur. 3’e bölününce 60.0 döner.</a:t>
            </a:r>
          </a:p>
        </p:txBody>
      </p:sp>
      <p:sp>
        <p:nvSpPr>
          <p:cNvPr id="8" name="">
            <a:extLst xmlns:a="http://schemas.openxmlformats.org/drawingml/2006/main">
              <a:ext uri="{FF2B5EF4-FFF2-40B4-BE49-F238E27FC236}">
                <a16:creationId xmlns:a16="http://schemas.microsoft.com/office/drawing/2014/main" id="{B6925D57-EA81-4779-9C2E-07A75245E466}"/>
              </a:ext>
            </a:extLst>
          </p:cNvPr>
          <p:cNvSpPr>
            <a:spLocks xmlns:a="http://schemas.openxmlformats.org/drawingml/2006/main" noGrp="1"/>
          </p:cNvSpPr>
          <p:nvPr/>
        </p:nvSpPr>
        <p:spPr>
          <a:xfrm xmlns:a="http://schemas.openxmlformats.org/drawingml/2006/main">
            <a:off x="742950" y="609600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3. Sayma</a:t>
            </a:r>
          </a:p>
        </p:txBody>
      </p:sp>
      <p:sp>
        <p:nvSpPr>
          <p:cNvPr id="9" name="">
            <a:extLst xmlns:a="http://schemas.openxmlformats.org/drawingml/2006/main">
              <a:ext uri="{FF2B5EF4-FFF2-40B4-BE49-F238E27FC236}">
                <a16:creationId xmlns:a16="http://schemas.microsoft.com/office/drawing/2014/main" id="{81CD388D-F231-43CC-B636-02A9A8E0BF5A}"/>
              </a:ext>
            </a:extLst>
          </p:cNvPr>
          <p:cNvSpPr>
            <a:spLocks xmlns:a="http://schemas.openxmlformats.org/drawingml/2006/main" noGrp="1"/>
          </p:cNvSpPr>
          <p:nvPr/>
        </p:nvSpPr>
        <p:spPr>
          <a:xfrm xmlns:a="http://schemas.openxmlformats.org/drawingml/2006/main">
            <a:off x="4552950" y="609600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gecenSayisi 40’ı saymaz, 60 ve 80’i sayar. main, 3 − 2 hesabıyla kalan sayısını bulur.</a:t>
            </a:r>
          </a:p>
        </p:txBody>
      </p:sp>
      <p:sp>
        <p:nvSpPr>
          <p:cNvPr id="10" name="">
            <a:extLst xmlns:a="http://schemas.openxmlformats.org/drawingml/2006/main">
              <a:ext uri="{FF2B5EF4-FFF2-40B4-BE49-F238E27FC236}">
                <a16:creationId xmlns:a16="http://schemas.microsoft.com/office/drawing/2014/main" id="{49DE82C9-F210-40BA-8EA7-53BA9C19FAC5}"/>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34 / 37</a:t>
            </a:r>
          </a:p>
        </p:txBody>
      </p:sp>
    </p:spTree>
    <p:extLst>
      <p:ext uri="{BB962C8B-B14F-4D97-AF65-F5344CB8AC3E}">
        <p14:creationId xmlns:p14="http://schemas.microsoft.com/office/powerpoint/2010/main" val="2027094830"/>
      </p:ext>
    </p:extLst>
  </p:cSld>
</p:sld>
</file>

<file path=ppt/slides/slide3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234D1C-E433-4FB2-9C4A-A3803AD5720E}"/>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5DE6FC6D-5EE7-4198-B1D5-123CA6126FDA}"/>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Program 2: kontrollü not defteri</a:t>
            </a:r>
          </a:p>
        </p:txBody>
      </p:sp>
      <p:sp>
        <p:nvSpPr>
          <p:cNvPr id="3" name="">
            <a:extLst xmlns:a="http://schemas.openxmlformats.org/drawingml/2006/main">
              <a:ext uri="{FF2B5EF4-FFF2-40B4-BE49-F238E27FC236}">
                <a16:creationId xmlns:a16="http://schemas.microsoft.com/office/drawing/2014/main" id="{CFA44E05-B667-4F67-B03F-6462E92224A4}"/>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Metni temizleyen, boş ve tekrarlanan notları reddeden küçük bir konsol uygulaması.</a:t>
            </a:r>
          </a:p>
        </p:txBody>
      </p:sp>
      <p:sp>
        <p:nvSpPr>
          <p:cNvPr id="4" name="">
            <a:extLst xmlns:a="http://schemas.openxmlformats.org/drawingml/2006/main">
              <a:ext uri="{FF2B5EF4-FFF2-40B4-BE49-F238E27FC236}">
                <a16:creationId xmlns:a16="http://schemas.microsoft.com/office/drawing/2014/main" id="{DFFD5BF0-403A-4E7B-A05A-3B20645C399C}"/>
              </a:ext>
            </a:extLst>
          </p:cNvPr>
          <p:cNvSpPr>
            <a:spLocks xmlns:a="http://schemas.openxmlformats.org/drawingml/2006/main" noGrp="1"/>
          </p:cNvSpPr>
          <p:nvPr/>
        </p:nvSpPr>
        <p:spPr>
          <a:xfrm xmlns:a="http://schemas.openxmlformats.org/drawingml/2006/main">
            <a:off x="742950" y="310515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Kurallar</a:t>
            </a:r>
          </a:p>
        </p:txBody>
      </p:sp>
      <p:sp>
        <p:nvSpPr>
          <p:cNvPr id="5" name="">
            <a:extLst xmlns:a="http://schemas.openxmlformats.org/drawingml/2006/main">
              <a:ext uri="{FF2B5EF4-FFF2-40B4-BE49-F238E27FC236}">
                <a16:creationId xmlns:a16="http://schemas.microsoft.com/office/drawing/2014/main" id="{C3196333-32C4-4578-A1CF-73487C1791E0}"/>
              </a:ext>
            </a:extLst>
          </p:cNvPr>
          <p:cNvSpPr>
            <a:spLocks xmlns:a="http://schemas.openxmlformats.org/drawingml/2006/main" noGrp="1"/>
          </p:cNvSpPr>
          <p:nvPr/>
        </p:nvSpPr>
        <p:spPr>
          <a:xfrm xmlns:a="http://schemas.openxmlformats.org/drawingml/2006/main">
            <a:off x="4552950" y="310515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Notun başındaki ve sonundaki boşlukları sil. Boş metni ve aynı notu ikinci kez kabul etme.</a:t>
            </a:r>
          </a:p>
        </p:txBody>
      </p:sp>
      <p:sp>
        <p:nvSpPr>
          <p:cNvPr id="6" name="">
            <a:extLst xmlns:a="http://schemas.openxmlformats.org/drawingml/2006/main">
              <a:ext uri="{FF2B5EF4-FFF2-40B4-BE49-F238E27FC236}">
                <a16:creationId xmlns:a16="http://schemas.microsoft.com/office/drawing/2014/main" id="{458ABB67-CB73-4958-8E44-E31E9CEF5C5B}"/>
              </a:ext>
            </a:extLst>
          </p:cNvPr>
          <p:cNvSpPr>
            <a:spLocks xmlns:a="http://schemas.openxmlformats.org/drawingml/2006/main" noGrp="1"/>
          </p:cNvSpPr>
          <p:nvPr/>
        </p:nvSpPr>
        <p:spPr>
          <a:xfrm xmlns:a="http://schemas.openxmlformats.org/drawingml/2006/main">
            <a:off x="742950" y="4600575"/>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İş bölümü</a:t>
            </a:r>
          </a:p>
        </p:txBody>
      </p:sp>
      <p:sp>
        <p:nvSpPr>
          <p:cNvPr id="7" name="">
            <a:extLst xmlns:a="http://schemas.openxmlformats.org/drawingml/2006/main">
              <a:ext uri="{FF2B5EF4-FFF2-40B4-BE49-F238E27FC236}">
                <a16:creationId xmlns:a16="http://schemas.microsoft.com/office/drawing/2014/main" id="{61837EA1-9A4A-48AC-B8CC-F6EB9B8A25BA}"/>
              </a:ext>
            </a:extLst>
          </p:cNvPr>
          <p:cNvSpPr>
            <a:spLocks xmlns:a="http://schemas.openxmlformats.org/drawingml/2006/main" noGrp="1"/>
          </p:cNvSpPr>
          <p:nvPr/>
        </p:nvSpPr>
        <p:spPr>
          <a:xfrm xmlns:a="http://schemas.openxmlformats.org/drawingml/2006/main">
            <a:off x="4552950" y="4600575"/>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notEkle eklemeyi denetler ve Boolean döndürür. yazdir tüm notları gösterir.</a:t>
            </a:r>
          </a:p>
        </p:txBody>
      </p:sp>
      <p:sp>
        <p:nvSpPr>
          <p:cNvPr id="8" name="">
            <a:extLst xmlns:a="http://schemas.openxmlformats.org/drawingml/2006/main">
              <a:ext uri="{FF2B5EF4-FFF2-40B4-BE49-F238E27FC236}">
                <a16:creationId xmlns:a16="http://schemas.microsoft.com/office/drawing/2014/main" id="{DD1BDE26-2B53-4611-921F-695C6B73FBAB}"/>
              </a:ext>
            </a:extLst>
          </p:cNvPr>
          <p:cNvSpPr>
            <a:spLocks xmlns:a="http://schemas.openxmlformats.org/drawingml/2006/main" noGrp="1"/>
          </p:cNvSpPr>
          <p:nvPr/>
        </p:nvSpPr>
        <p:spPr>
          <a:xfrm xmlns:a="http://schemas.openxmlformats.org/drawingml/2006/main">
            <a:off x="742950" y="609600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Veri paylaşımı</a:t>
            </a:r>
          </a:p>
        </p:txBody>
      </p:sp>
      <p:sp>
        <p:nvSpPr>
          <p:cNvPr id="9" name="">
            <a:extLst xmlns:a="http://schemas.openxmlformats.org/drawingml/2006/main">
              <a:ext uri="{FF2B5EF4-FFF2-40B4-BE49-F238E27FC236}">
                <a16:creationId xmlns:a16="http://schemas.microsoft.com/office/drawing/2014/main" id="{3DD9C234-CCDD-414E-9344-F81ED8DCD467}"/>
              </a:ext>
            </a:extLst>
          </p:cNvPr>
          <p:cNvSpPr>
            <a:spLocks xmlns:a="http://schemas.openxmlformats.org/drawingml/2006/main" noGrp="1"/>
          </p:cNvSpPr>
          <p:nvPr/>
        </p:nvSpPr>
        <p:spPr>
          <a:xfrm xmlns:a="http://schemas.openxmlformats.org/drawingml/2006/main">
            <a:off x="4552950" y="609600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main içindeki MutableList fonksiyona gider. Kabul edilen not aynı listeye eklenir.</a:t>
            </a:r>
          </a:p>
        </p:txBody>
      </p:sp>
      <p:sp>
        <p:nvSpPr>
          <p:cNvPr id="10" name="">
            <a:extLst xmlns:a="http://schemas.openxmlformats.org/drawingml/2006/main">
              <a:ext uri="{FF2B5EF4-FFF2-40B4-BE49-F238E27FC236}">
                <a16:creationId xmlns:a16="http://schemas.microsoft.com/office/drawing/2014/main" id="{5FC4F3D3-D8E0-48D1-81CF-B5CFFD40B485}"/>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35 / 37</a:t>
            </a:r>
          </a:p>
        </p:txBody>
      </p:sp>
    </p:spTree>
    <p:extLst>
      <p:ext uri="{BB962C8B-B14F-4D97-AF65-F5344CB8AC3E}">
        <p14:creationId xmlns:p14="http://schemas.microsoft.com/office/powerpoint/2010/main" val="666242853"/>
      </p:ext>
    </p:extLst>
  </p:cSld>
</p:sld>
</file>

<file path=ppt/slides/slide3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3C6578A-5C96-4CAF-8FFB-45790141EAC4}"/>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1E5EC56B-35EC-4AA7-AAAB-70B137A102C1}"/>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Kontrollü not defteri: tam program</a:t>
            </a:r>
          </a:p>
        </p:txBody>
      </p:sp>
      <p:sp>
        <p:nvSpPr>
          <p:cNvPr id="3" name="">
            <a:extLst xmlns:a="http://schemas.openxmlformats.org/drawingml/2006/main">
              <a:ext uri="{FF2B5EF4-FFF2-40B4-BE49-F238E27FC236}">
                <a16:creationId xmlns:a16="http://schemas.microsoft.com/office/drawing/2014/main" id="{84497030-03B4-4A76-ACF2-53AC940337C5}"/>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Sol ve sağ sütun aynı programın parçalarıdır. Her denemede eklemenin sonucunu göreceğiz.</a:t>
            </a:r>
          </a:p>
        </p:txBody>
      </p:sp>
      <p:sp>
        <p:nvSpPr>
          <p:cNvPr id="4" name="">
            <a:extLst xmlns:a="http://schemas.openxmlformats.org/drawingml/2006/main">
              <a:ext uri="{FF2B5EF4-FFF2-40B4-BE49-F238E27FC236}">
                <a16:creationId xmlns:a16="http://schemas.microsoft.com/office/drawing/2014/main" id="{81236FBC-3BBD-4109-830C-75F7002D4588}"/>
              </a:ext>
            </a:extLst>
          </p:cNvPr>
          <p:cNvSpPr>
            <a:spLocks xmlns:a="http://schemas.openxmlformats.org/drawingml/2006/main" noGrp="1"/>
          </p:cNvSpPr>
          <p:nvPr/>
        </p:nvSpPr>
        <p:spPr>
          <a:xfrm xmlns:a="http://schemas.openxmlformats.org/drawingml/2006/main">
            <a:off x="742950" y="26098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Fonksiyonlar</a:t>
            </a:r>
          </a:p>
        </p:txBody>
      </p:sp>
      <p:sp>
        <p:nvSpPr>
          <p:cNvPr id="5" name="">
            <a:extLst xmlns:a="http://schemas.openxmlformats.org/drawingml/2006/main">
              <a:ext uri="{FF2B5EF4-FFF2-40B4-BE49-F238E27FC236}">
                <a16:creationId xmlns:a16="http://schemas.microsoft.com/office/drawing/2014/main" id="{89AC83C9-40A4-4D45-BB91-DC1AAC2C20A4}"/>
              </a:ext>
            </a:extLst>
          </p:cNvPr>
          <p:cNvSpPr>
            <a:spLocks xmlns:a="http://schemas.openxmlformats.org/drawingml/2006/main" noGrp="1"/>
          </p:cNvSpPr>
          <p:nvPr/>
        </p:nvSpPr>
        <p:spPr>
          <a:xfrm xmlns:a="http://schemas.openxmlformats.org/drawingml/2006/main">
            <a:off x="7924800" y="26098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Programın başlangıcı: main</a:t>
            </a:r>
          </a:p>
        </p:txBody>
      </p:sp>
      <p:sp>
        <p:nvSpPr>
          <p:cNvPr id="6" name="">
            <a:extLst xmlns:a="http://schemas.openxmlformats.org/drawingml/2006/main">
              <a:ext uri="{FF2B5EF4-FFF2-40B4-BE49-F238E27FC236}">
                <a16:creationId xmlns:a16="http://schemas.microsoft.com/office/drawing/2014/main" id="{D986FA49-0AF0-4782-AEBE-A2A856A4D59A}"/>
              </a:ext>
            </a:extLst>
          </p:cNvPr>
          <p:cNvSpPr>
            <a:spLocks xmlns:a="http://schemas.openxmlformats.org/drawingml/2006/main" noGrp="1"/>
          </p:cNvSpPr>
          <p:nvPr/>
        </p:nvSpPr>
        <p:spPr>
          <a:xfrm xmlns:a="http://schemas.openxmlformats.org/drawingml/2006/main">
            <a:off x="742950" y="30003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rPr>
                <a:solidFill>
                  <a:srgbClr val="6941A5"/>
                </a:solidFill>
              </a:rPr>
              <a:t>fun</a:t>
            </a:r>
            <a:r>
              <a:t> notEkle(</a:t>
            </a:r>
          </a:p>
        </p:txBody>
      </p:sp>
      <p:sp>
        <p:nvSpPr>
          <p:cNvPr id="7" name="">
            <a:extLst xmlns:a="http://schemas.openxmlformats.org/drawingml/2006/main">
              <a:ext uri="{FF2B5EF4-FFF2-40B4-BE49-F238E27FC236}">
                <a16:creationId xmlns:a16="http://schemas.microsoft.com/office/drawing/2014/main" id="{D53AB848-1554-44F1-93C9-0C59C2B75406}"/>
              </a:ext>
            </a:extLst>
          </p:cNvPr>
          <p:cNvSpPr>
            <a:spLocks xmlns:a="http://schemas.openxmlformats.org/drawingml/2006/main" noGrp="1"/>
          </p:cNvSpPr>
          <p:nvPr/>
        </p:nvSpPr>
        <p:spPr>
          <a:xfrm xmlns:a="http://schemas.openxmlformats.org/drawingml/2006/main">
            <a:off x="742950" y="32575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notlar: MutableList&lt;String&gt;, metin: String</a:t>
            </a:r>
          </a:p>
        </p:txBody>
      </p:sp>
      <p:sp>
        <p:nvSpPr>
          <p:cNvPr id="8" name="">
            <a:extLst xmlns:a="http://schemas.openxmlformats.org/drawingml/2006/main">
              <a:ext uri="{FF2B5EF4-FFF2-40B4-BE49-F238E27FC236}">
                <a16:creationId xmlns:a16="http://schemas.microsoft.com/office/drawing/2014/main" id="{E620DDFB-BCFF-4A4A-9FA4-5A096D8E71DD}"/>
              </a:ext>
            </a:extLst>
          </p:cNvPr>
          <p:cNvSpPr>
            <a:spLocks xmlns:a="http://schemas.openxmlformats.org/drawingml/2006/main" noGrp="1"/>
          </p:cNvSpPr>
          <p:nvPr/>
        </p:nvSpPr>
        <p:spPr>
          <a:xfrm xmlns:a="http://schemas.openxmlformats.org/drawingml/2006/main">
            <a:off x="742950" y="35147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Boolean {</a:t>
            </a:r>
          </a:p>
        </p:txBody>
      </p:sp>
      <p:sp>
        <p:nvSpPr>
          <p:cNvPr id="9" name="">
            <a:extLst xmlns:a="http://schemas.openxmlformats.org/drawingml/2006/main">
              <a:ext uri="{FF2B5EF4-FFF2-40B4-BE49-F238E27FC236}">
                <a16:creationId xmlns:a16="http://schemas.microsoft.com/office/drawing/2014/main" id="{DFBCD4DB-2551-4B5A-A6E9-A2525F2A1AA0}"/>
              </a:ext>
            </a:extLst>
          </p:cNvPr>
          <p:cNvSpPr>
            <a:spLocks xmlns:a="http://schemas.openxmlformats.org/drawingml/2006/main" noGrp="1"/>
          </p:cNvSpPr>
          <p:nvPr/>
        </p:nvSpPr>
        <p:spPr>
          <a:xfrm xmlns:a="http://schemas.openxmlformats.org/drawingml/2006/main">
            <a:off x="742950" y="37719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val</a:t>
            </a:r>
            <a:r>
              <a:t> temiz = metin.trim()</a:t>
            </a:r>
          </a:p>
        </p:txBody>
      </p:sp>
      <p:sp>
        <p:nvSpPr>
          <p:cNvPr id="10" name="">
            <a:extLst xmlns:a="http://schemas.openxmlformats.org/drawingml/2006/main">
              <a:ext uri="{FF2B5EF4-FFF2-40B4-BE49-F238E27FC236}">
                <a16:creationId xmlns:a16="http://schemas.microsoft.com/office/drawing/2014/main" id="{595BC6C8-9732-42B8-AD01-1A45FF7992EC}"/>
              </a:ext>
            </a:extLst>
          </p:cNvPr>
          <p:cNvSpPr>
            <a:spLocks xmlns:a="http://schemas.openxmlformats.org/drawingml/2006/main" noGrp="1"/>
          </p:cNvSpPr>
          <p:nvPr/>
        </p:nvSpPr>
        <p:spPr>
          <a:xfrm xmlns:a="http://schemas.openxmlformats.org/drawingml/2006/main">
            <a:off x="742950" y="40290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if</a:t>
            </a:r>
            <a:r>
              <a:t> (temiz.isEmpty()) </a:t>
            </a:r>
            <a:r>
              <a:rPr>
                <a:solidFill>
                  <a:srgbClr val="6941A5"/>
                </a:solidFill>
              </a:rPr>
              <a:t>return</a:t>
            </a:r>
            <a:r>
              <a:t> </a:t>
            </a:r>
            <a:r>
              <a:rPr>
                <a:solidFill>
                  <a:srgbClr val="6941A5"/>
                </a:solidFill>
              </a:rPr>
              <a:t>false</a:t>
            </a:r>
          </a:p>
        </p:txBody>
      </p:sp>
      <p:sp>
        <p:nvSpPr>
          <p:cNvPr id="11" name="">
            <a:extLst xmlns:a="http://schemas.openxmlformats.org/drawingml/2006/main">
              <a:ext uri="{FF2B5EF4-FFF2-40B4-BE49-F238E27FC236}">
                <a16:creationId xmlns:a16="http://schemas.microsoft.com/office/drawing/2014/main" id="{3E21DEC1-F63D-4D35-AFB1-76245756AE0D}"/>
              </a:ext>
            </a:extLst>
          </p:cNvPr>
          <p:cNvSpPr>
            <a:spLocks xmlns:a="http://schemas.openxmlformats.org/drawingml/2006/main" noGrp="1"/>
          </p:cNvSpPr>
          <p:nvPr/>
        </p:nvSpPr>
        <p:spPr>
          <a:xfrm xmlns:a="http://schemas.openxmlformats.org/drawingml/2006/main">
            <a:off x="742950" y="42862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if</a:t>
            </a:r>
            <a:r>
              <a:t> (notlar.contains(temiz)) </a:t>
            </a:r>
            <a:r>
              <a:rPr>
                <a:solidFill>
                  <a:srgbClr val="6941A5"/>
                </a:solidFill>
              </a:rPr>
              <a:t>return</a:t>
            </a:r>
            <a:r>
              <a:t> </a:t>
            </a:r>
            <a:r>
              <a:rPr>
                <a:solidFill>
                  <a:srgbClr val="6941A5"/>
                </a:solidFill>
              </a:rPr>
              <a:t>false</a:t>
            </a:r>
          </a:p>
        </p:txBody>
      </p:sp>
      <p:sp>
        <p:nvSpPr>
          <p:cNvPr id="12" name="">
            <a:extLst xmlns:a="http://schemas.openxmlformats.org/drawingml/2006/main">
              <a:ext uri="{FF2B5EF4-FFF2-40B4-BE49-F238E27FC236}">
                <a16:creationId xmlns:a16="http://schemas.microsoft.com/office/drawing/2014/main" id="{3920F78A-9694-4A64-B8DE-4E6479376F6B}"/>
              </a:ext>
            </a:extLst>
          </p:cNvPr>
          <p:cNvSpPr>
            <a:spLocks xmlns:a="http://schemas.openxmlformats.org/drawingml/2006/main" noGrp="1"/>
          </p:cNvSpPr>
          <p:nvPr/>
        </p:nvSpPr>
        <p:spPr>
          <a:xfrm xmlns:a="http://schemas.openxmlformats.org/drawingml/2006/main">
            <a:off x="742950" y="45434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notlar.add(temiz)</a:t>
            </a:r>
          </a:p>
        </p:txBody>
      </p:sp>
      <p:sp>
        <p:nvSpPr>
          <p:cNvPr id="13" name="">
            <a:extLst xmlns:a="http://schemas.openxmlformats.org/drawingml/2006/main">
              <a:ext uri="{FF2B5EF4-FFF2-40B4-BE49-F238E27FC236}">
                <a16:creationId xmlns:a16="http://schemas.microsoft.com/office/drawing/2014/main" id="{51339C27-851C-4C6B-A1B1-142E470D89A8}"/>
              </a:ext>
            </a:extLst>
          </p:cNvPr>
          <p:cNvSpPr>
            <a:spLocks xmlns:a="http://schemas.openxmlformats.org/drawingml/2006/main" noGrp="1"/>
          </p:cNvSpPr>
          <p:nvPr/>
        </p:nvSpPr>
        <p:spPr>
          <a:xfrm xmlns:a="http://schemas.openxmlformats.org/drawingml/2006/main">
            <a:off x="742950" y="48006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return</a:t>
            </a:r>
            <a:r>
              <a:t> </a:t>
            </a:r>
            <a:r>
              <a:rPr>
                <a:solidFill>
                  <a:srgbClr val="6941A5"/>
                </a:solidFill>
              </a:rPr>
              <a:t>true</a:t>
            </a:r>
          </a:p>
        </p:txBody>
      </p:sp>
      <p:sp>
        <p:nvSpPr>
          <p:cNvPr id="14" name="">
            <a:extLst xmlns:a="http://schemas.openxmlformats.org/drawingml/2006/main">
              <a:ext uri="{FF2B5EF4-FFF2-40B4-BE49-F238E27FC236}">
                <a16:creationId xmlns:a16="http://schemas.microsoft.com/office/drawing/2014/main" id="{45B182B6-651A-4868-B558-6C228762F4BA}"/>
              </a:ext>
            </a:extLst>
          </p:cNvPr>
          <p:cNvSpPr>
            <a:spLocks xmlns:a="http://schemas.openxmlformats.org/drawingml/2006/main" noGrp="1"/>
          </p:cNvSpPr>
          <p:nvPr/>
        </p:nvSpPr>
        <p:spPr>
          <a:xfrm xmlns:a="http://schemas.openxmlformats.org/drawingml/2006/main">
            <a:off x="742950" y="50577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a:t>
            </a:r>
          </a:p>
        </p:txBody>
      </p:sp>
      <p:sp>
        <p:nvSpPr>
          <p:cNvPr id="15" name="">
            <a:extLst xmlns:a="http://schemas.openxmlformats.org/drawingml/2006/main">
              <a:ext uri="{FF2B5EF4-FFF2-40B4-BE49-F238E27FC236}">
                <a16:creationId xmlns:a16="http://schemas.microsoft.com/office/drawing/2014/main" id="{AB62E56C-AE84-4373-A217-389081F62265}"/>
              </a:ext>
            </a:extLst>
          </p:cNvPr>
          <p:cNvSpPr>
            <a:spLocks xmlns:a="http://schemas.openxmlformats.org/drawingml/2006/main" noGrp="1"/>
          </p:cNvSpPr>
          <p:nvPr/>
        </p:nvSpPr>
        <p:spPr>
          <a:xfrm xmlns:a="http://schemas.openxmlformats.org/drawingml/2006/main">
            <a:off x="742950" y="53149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rPr>
                <a:solidFill>
                  <a:srgbClr val="6941A5"/>
                </a:solidFill>
              </a:rPr>
              <a:t>fun</a:t>
            </a:r>
            <a:r>
              <a:t> yazdir(notlar: List&lt;String&gt;) {</a:t>
            </a:r>
          </a:p>
        </p:txBody>
      </p:sp>
      <p:sp>
        <p:nvSpPr>
          <p:cNvPr id="16" name="">
            <a:extLst xmlns:a="http://schemas.openxmlformats.org/drawingml/2006/main">
              <a:ext uri="{FF2B5EF4-FFF2-40B4-BE49-F238E27FC236}">
                <a16:creationId xmlns:a16="http://schemas.microsoft.com/office/drawing/2014/main" id="{D7ADD0BA-17B7-49CC-8D8A-7D9ED0CB3219}"/>
              </a:ext>
            </a:extLst>
          </p:cNvPr>
          <p:cNvSpPr>
            <a:spLocks xmlns:a="http://schemas.openxmlformats.org/drawingml/2006/main" noGrp="1"/>
          </p:cNvSpPr>
          <p:nvPr/>
        </p:nvSpPr>
        <p:spPr>
          <a:xfrm xmlns:a="http://schemas.openxmlformats.org/drawingml/2006/main">
            <a:off x="742950" y="55721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println(</a:t>
            </a:r>
            <a:r>
              <a:rPr>
                <a:solidFill>
                  <a:srgbClr val="397425"/>
                </a:solidFill>
              </a:rPr>
              <a:t>"Notlar: "</a:t>
            </a:r>
            <a:r>
              <a:t> + notlar.size)</a:t>
            </a:r>
          </a:p>
        </p:txBody>
      </p:sp>
      <p:sp>
        <p:nvSpPr>
          <p:cNvPr id="17" name="">
            <a:extLst xmlns:a="http://schemas.openxmlformats.org/drawingml/2006/main">
              <a:ext uri="{FF2B5EF4-FFF2-40B4-BE49-F238E27FC236}">
                <a16:creationId xmlns:a16="http://schemas.microsoft.com/office/drawing/2014/main" id="{4931953F-3B93-480B-A962-1E7B9B682409}"/>
              </a:ext>
            </a:extLst>
          </p:cNvPr>
          <p:cNvSpPr>
            <a:spLocks xmlns:a="http://schemas.openxmlformats.org/drawingml/2006/main" noGrp="1"/>
          </p:cNvSpPr>
          <p:nvPr/>
        </p:nvSpPr>
        <p:spPr>
          <a:xfrm xmlns:a="http://schemas.openxmlformats.org/drawingml/2006/main">
            <a:off x="742950" y="58293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for</a:t>
            </a:r>
            <a:r>
              <a:t> (not </a:t>
            </a:r>
            <a:r>
              <a:rPr>
                <a:solidFill>
                  <a:srgbClr val="6941A5"/>
                </a:solidFill>
              </a:rPr>
              <a:t>in</a:t>
            </a:r>
            <a:r>
              <a:t> notlar) {</a:t>
            </a:r>
          </a:p>
        </p:txBody>
      </p:sp>
      <p:sp>
        <p:nvSpPr>
          <p:cNvPr id="18" name="">
            <a:extLst xmlns:a="http://schemas.openxmlformats.org/drawingml/2006/main">
              <a:ext uri="{FF2B5EF4-FFF2-40B4-BE49-F238E27FC236}">
                <a16:creationId xmlns:a16="http://schemas.microsoft.com/office/drawing/2014/main" id="{A68B7C5A-1575-439D-88AB-B7EBDE2D847F}"/>
              </a:ext>
            </a:extLst>
          </p:cNvPr>
          <p:cNvSpPr>
            <a:spLocks xmlns:a="http://schemas.openxmlformats.org/drawingml/2006/main" noGrp="1"/>
          </p:cNvSpPr>
          <p:nvPr/>
        </p:nvSpPr>
        <p:spPr>
          <a:xfrm xmlns:a="http://schemas.openxmlformats.org/drawingml/2006/main">
            <a:off x="742950" y="60864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println(</a:t>
            </a:r>
            <a:r>
              <a:rPr>
                <a:solidFill>
                  <a:srgbClr val="397425"/>
                </a:solidFill>
              </a:rPr>
              <a:t>"- "</a:t>
            </a:r>
            <a:r>
              <a:t> + not)</a:t>
            </a:r>
          </a:p>
        </p:txBody>
      </p:sp>
      <p:sp>
        <p:nvSpPr>
          <p:cNvPr id="19" name="">
            <a:extLst xmlns:a="http://schemas.openxmlformats.org/drawingml/2006/main">
              <a:ext uri="{FF2B5EF4-FFF2-40B4-BE49-F238E27FC236}">
                <a16:creationId xmlns:a16="http://schemas.microsoft.com/office/drawing/2014/main" id="{308A8F13-B08E-4656-BA24-FADDEDF8FD66}"/>
              </a:ext>
            </a:extLst>
          </p:cNvPr>
          <p:cNvSpPr>
            <a:spLocks xmlns:a="http://schemas.openxmlformats.org/drawingml/2006/main" noGrp="1"/>
          </p:cNvSpPr>
          <p:nvPr/>
        </p:nvSpPr>
        <p:spPr>
          <a:xfrm xmlns:a="http://schemas.openxmlformats.org/drawingml/2006/main">
            <a:off x="742950" y="63436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p>
        </p:txBody>
      </p:sp>
      <p:sp>
        <p:nvSpPr>
          <p:cNvPr id="20" name="">
            <a:extLst xmlns:a="http://schemas.openxmlformats.org/drawingml/2006/main">
              <a:ext uri="{FF2B5EF4-FFF2-40B4-BE49-F238E27FC236}">
                <a16:creationId xmlns:a16="http://schemas.microsoft.com/office/drawing/2014/main" id="{B69BDD0A-EFD6-4FD8-8767-20544DAE8954}"/>
              </a:ext>
            </a:extLst>
          </p:cNvPr>
          <p:cNvSpPr>
            <a:spLocks xmlns:a="http://schemas.openxmlformats.org/drawingml/2006/main" noGrp="1"/>
          </p:cNvSpPr>
          <p:nvPr/>
        </p:nvSpPr>
        <p:spPr>
          <a:xfrm xmlns:a="http://schemas.openxmlformats.org/drawingml/2006/main">
            <a:off x="742950" y="66008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a:t>
            </a:r>
          </a:p>
        </p:txBody>
      </p:sp>
      <p:sp>
        <p:nvSpPr>
          <p:cNvPr id="21" name="">
            <a:extLst xmlns:a="http://schemas.openxmlformats.org/drawingml/2006/main">
              <a:ext uri="{FF2B5EF4-FFF2-40B4-BE49-F238E27FC236}">
                <a16:creationId xmlns:a16="http://schemas.microsoft.com/office/drawing/2014/main" id="{793DF334-2D66-4102-BF49-3B8C6B30BD8A}"/>
              </a:ext>
            </a:extLst>
          </p:cNvPr>
          <p:cNvSpPr>
            <a:spLocks xmlns:a="http://schemas.openxmlformats.org/drawingml/2006/main" noGrp="1"/>
          </p:cNvSpPr>
          <p:nvPr/>
        </p:nvSpPr>
        <p:spPr>
          <a:xfrm xmlns:a="http://schemas.openxmlformats.org/drawingml/2006/main">
            <a:off x="7924800" y="30003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rPr>
                <a:solidFill>
                  <a:srgbClr val="6941A5"/>
                </a:solidFill>
              </a:rPr>
              <a:t>fun</a:t>
            </a:r>
            <a:r>
              <a:t> main() {</a:t>
            </a:r>
          </a:p>
        </p:txBody>
      </p:sp>
      <p:sp>
        <p:nvSpPr>
          <p:cNvPr id="22" name="">
            <a:extLst xmlns:a="http://schemas.openxmlformats.org/drawingml/2006/main">
              <a:ext uri="{FF2B5EF4-FFF2-40B4-BE49-F238E27FC236}">
                <a16:creationId xmlns:a16="http://schemas.microsoft.com/office/drawing/2014/main" id="{809AC6F1-03F6-4EAE-857A-60D320D33AD0}"/>
              </a:ext>
            </a:extLst>
          </p:cNvPr>
          <p:cNvSpPr>
            <a:spLocks xmlns:a="http://schemas.openxmlformats.org/drawingml/2006/main" noGrp="1"/>
          </p:cNvSpPr>
          <p:nvPr/>
        </p:nvSpPr>
        <p:spPr>
          <a:xfrm xmlns:a="http://schemas.openxmlformats.org/drawingml/2006/main">
            <a:off x="7924800" y="32575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val</a:t>
            </a:r>
            <a:r>
              <a:t> notlar = mutableListOf&lt;String&gt;()</a:t>
            </a:r>
          </a:p>
        </p:txBody>
      </p:sp>
      <p:sp>
        <p:nvSpPr>
          <p:cNvPr id="23" name="">
            <a:extLst xmlns:a="http://schemas.openxmlformats.org/drawingml/2006/main">
              <a:ext uri="{FF2B5EF4-FFF2-40B4-BE49-F238E27FC236}">
                <a16:creationId xmlns:a16="http://schemas.microsoft.com/office/drawing/2014/main" id="{40E593B4-4AEB-42A8-8BB1-A9DC5331F39E}"/>
              </a:ext>
            </a:extLst>
          </p:cNvPr>
          <p:cNvSpPr>
            <a:spLocks xmlns:a="http://schemas.openxmlformats.org/drawingml/2006/main" noGrp="1"/>
          </p:cNvSpPr>
          <p:nvPr/>
        </p:nvSpPr>
        <p:spPr>
          <a:xfrm xmlns:a="http://schemas.openxmlformats.org/drawingml/2006/main">
            <a:off x="7924800" y="35147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val</a:t>
            </a:r>
            <a:r>
              <a:t> girisler = listOf(</a:t>
            </a:r>
          </a:p>
        </p:txBody>
      </p:sp>
      <p:sp>
        <p:nvSpPr>
          <p:cNvPr id="24" name="">
            <a:extLst xmlns:a="http://schemas.openxmlformats.org/drawingml/2006/main">
              <a:ext uri="{FF2B5EF4-FFF2-40B4-BE49-F238E27FC236}">
                <a16:creationId xmlns:a16="http://schemas.microsoft.com/office/drawing/2014/main" id="{02A7055D-D59A-4CAA-B1B1-FA2930423157}"/>
              </a:ext>
            </a:extLst>
          </p:cNvPr>
          <p:cNvSpPr>
            <a:spLocks xmlns:a="http://schemas.openxmlformats.org/drawingml/2006/main" noGrp="1"/>
          </p:cNvSpPr>
          <p:nvPr/>
        </p:nvSpPr>
        <p:spPr>
          <a:xfrm xmlns:a="http://schemas.openxmlformats.org/drawingml/2006/main">
            <a:off x="7924800" y="37719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397425"/>
                </a:solidFill>
              </a:rPr>
              <a:t>"  Oku  "</a:t>
            </a:r>
            <a:r>
              <a:t>, </a:t>
            </a:r>
            <a:r>
              <a:rPr>
                <a:solidFill>
                  <a:srgbClr val="397425"/>
                </a:solidFill>
              </a:rPr>
              <a:t>""</a:t>
            </a:r>
            <a:r>
              <a:t>, </a:t>
            </a:r>
            <a:r>
              <a:rPr>
                <a:solidFill>
                  <a:srgbClr val="397425"/>
                </a:solidFill>
              </a:rPr>
              <a:t>"Oku"</a:t>
            </a:r>
            <a:r>
              <a:t>, </a:t>
            </a:r>
            <a:r>
              <a:rPr>
                <a:solidFill>
                  <a:srgbClr val="397425"/>
                </a:solidFill>
              </a:rPr>
              <a:t>"Ders çalış"</a:t>
            </a:r>
          </a:p>
        </p:txBody>
      </p:sp>
      <p:sp>
        <p:nvSpPr>
          <p:cNvPr id="25" name="">
            <a:extLst xmlns:a="http://schemas.openxmlformats.org/drawingml/2006/main">
              <a:ext uri="{FF2B5EF4-FFF2-40B4-BE49-F238E27FC236}">
                <a16:creationId xmlns:a16="http://schemas.microsoft.com/office/drawing/2014/main" id="{7B65B26E-BB74-4560-9112-0FBFBEA59411}"/>
              </a:ext>
            </a:extLst>
          </p:cNvPr>
          <p:cNvSpPr>
            <a:spLocks xmlns:a="http://schemas.openxmlformats.org/drawingml/2006/main" noGrp="1"/>
          </p:cNvSpPr>
          <p:nvPr/>
        </p:nvSpPr>
        <p:spPr>
          <a:xfrm xmlns:a="http://schemas.openxmlformats.org/drawingml/2006/main">
            <a:off x="7924800" y="40290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p>
        </p:txBody>
      </p:sp>
      <p:sp>
        <p:nvSpPr>
          <p:cNvPr id="26" name="">
            <a:extLst xmlns:a="http://schemas.openxmlformats.org/drawingml/2006/main">
              <a:ext uri="{FF2B5EF4-FFF2-40B4-BE49-F238E27FC236}">
                <a16:creationId xmlns:a16="http://schemas.microsoft.com/office/drawing/2014/main" id="{F3CF45AC-E861-480D-8FFA-3ABE924138BE}"/>
              </a:ext>
            </a:extLst>
          </p:cNvPr>
          <p:cNvSpPr>
            <a:spLocks xmlns:a="http://schemas.openxmlformats.org/drawingml/2006/main" noGrp="1"/>
          </p:cNvSpPr>
          <p:nvPr/>
        </p:nvSpPr>
        <p:spPr>
          <a:xfrm xmlns:a="http://schemas.openxmlformats.org/drawingml/2006/main">
            <a:off x="7924800" y="42862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for</a:t>
            </a:r>
            <a:r>
              <a:t> (giris </a:t>
            </a:r>
            <a:r>
              <a:rPr>
                <a:solidFill>
                  <a:srgbClr val="6941A5"/>
                </a:solidFill>
              </a:rPr>
              <a:t>in</a:t>
            </a:r>
            <a:r>
              <a:t> girisler) {</a:t>
            </a:r>
          </a:p>
        </p:txBody>
      </p:sp>
      <p:sp>
        <p:nvSpPr>
          <p:cNvPr id="27" name="">
            <a:extLst xmlns:a="http://schemas.openxmlformats.org/drawingml/2006/main">
              <a:ext uri="{FF2B5EF4-FFF2-40B4-BE49-F238E27FC236}">
                <a16:creationId xmlns:a16="http://schemas.microsoft.com/office/drawing/2014/main" id="{49E4F06A-A6AC-46BF-B54A-63DE1C68E22B}"/>
              </a:ext>
            </a:extLst>
          </p:cNvPr>
          <p:cNvSpPr>
            <a:spLocks xmlns:a="http://schemas.openxmlformats.org/drawingml/2006/main" noGrp="1"/>
          </p:cNvSpPr>
          <p:nvPr/>
        </p:nvSpPr>
        <p:spPr>
          <a:xfrm xmlns:a="http://schemas.openxmlformats.org/drawingml/2006/main">
            <a:off x="7924800" y="45434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val</a:t>
            </a:r>
            <a:r>
              <a:t> eklendi = notEkle(notlar, giris)</a:t>
            </a:r>
          </a:p>
        </p:txBody>
      </p:sp>
      <p:sp>
        <p:nvSpPr>
          <p:cNvPr id="28" name="">
            <a:extLst xmlns:a="http://schemas.openxmlformats.org/drawingml/2006/main">
              <a:ext uri="{FF2B5EF4-FFF2-40B4-BE49-F238E27FC236}">
                <a16:creationId xmlns:a16="http://schemas.microsoft.com/office/drawing/2014/main" id="{28B12C4B-A2B5-4706-9821-51C6BCBEED04}"/>
              </a:ext>
            </a:extLst>
          </p:cNvPr>
          <p:cNvSpPr>
            <a:spLocks xmlns:a="http://schemas.openxmlformats.org/drawingml/2006/main" noGrp="1"/>
          </p:cNvSpPr>
          <p:nvPr/>
        </p:nvSpPr>
        <p:spPr>
          <a:xfrm xmlns:a="http://schemas.openxmlformats.org/drawingml/2006/main">
            <a:off x="7924800" y="48006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r>
              <a:rPr>
                <a:solidFill>
                  <a:srgbClr val="6941A5"/>
                </a:solidFill>
              </a:rPr>
              <a:t>if</a:t>
            </a:r>
            <a:r>
              <a:t> (eklendi) {</a:t>
            </a:r>
          </a:p>
        </p:txBody>
      </p:sp>
      <p:sp>
        <p:nvSpPr>
          <p:cNvPr id="29" name="">
            <a:extLst xmlns:a="http://schemas.openxmlformats.org/drawingml/2006/main">
              <a:ext uri="{FF2B5EF4-FFF2-40B4-BE49-F238E27FC236}">
                <a16:creationId xmlns:a16="http://schemas.microsoft.com/office/drawing/2014/main" id="{77F71152-7105-409F-B6F2-D5DCDB0864EB}"/>
              </a:ext>
            </a:extLst>
          </p:cNvPr>
          <p:cNvSpPr>
            <a:spLocks xmlns:a="http://schemas.openxmlformats.org/drawingml/2006/main" noGrp="1"/>
          </p:cNvSpPr>
          <p:nvPr/>
        </p:nvSpPr>
        <p:spPr>
          <a:xfrm xmlns:a="http://schemas.openxmlformats.org/drawingml/2006/main">
            <a:off x="7924800" y="50577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println(</a:t>
            </a:r>
            <a:r>
              <a:rPr>
                <a:solidFill>
                  <a:srgbClr val="397425"/>
                </a:solidFill>
              </a:rPr>
              <a:t>"Eklendi"</a:t>
            </a:r>
            <a:r>
              <a:t>)</a:t>
            </a:r>
          </a:p>
        </p:txBody>
      </p:sp>
      <p:sp>
        <p:nvSpPr>
          <p:cNvPr id="30" name="">
            <a:extLst xmlns:a="http://schemas.openxmlformats.org/drawingml/2006/main">
              <a:ext uri="{FF2B5EF4-FFF2-40B4-BE49-F238E27FC236}">
                <a16:creationId xmlns:a16="http://schemas.microsoft.com/office/drawing/2014/main" id="{594ED9D7-864A-48EC-9262-F9A311B7E2DB}"/>
              </a:ext>
            </a:extLst>
          </p:cNvPr>
          <p:cNvSpPr>
            <a:spLocks xmlns:a="http://schemas.openxmlformats.org/drawingml/2006/main" noGrp="1"/>
          </p:cNvSpPr>
          <p:nvPr/>
        </p:nvSpPr>
        <p:spPr>
          <a:xfrm xmlns:a="http://schemas.openxmlformats.org/drawingml/2006/main">
            <a:off x="7924800" y="53149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 </a:t>
            </a:r>
            <a:r>
              <a:rPr>
                <a:solidFill>
                  <a:srgbClr val="6941A5"/>
                </a:solidFill>
              </a:rPr>
              <a:t>else</a:t>
            </a:r>
            <a:r>
              <a:t> {</a:t>
            </a:r>
          </a:p>
        </p:txBody>
      </p:sp>
      <p:sp>
        <p:nvSpPr>
          <p:cNvPr id="31" name="">
            <a:extLst xmlns:a="http://schemas.openxmlformats.org/drawingml/2006/main">
              <a:ext uri="{FF2B5EF4-FFF2-40B4-BE49-F238E27FC236}">
                <a16:creationId xmlns:a16="http://schemas.microsoft.com/office/drawing/2014/main" id="{EC9CFF0D-AD4B-4B6A-B10C-F2AE66ABD686}"/>
              </a:ext>
            </a:extLst>
          </p:cNvPr>
          <p:cNvSpPr>
            <a:spLocks xmlns:a="http://schemas.openxmlformats.org/drawingml/2006/main" noGrp="1"/>
          </p:cNvSpPr>
          <p:nvPr/>
        </p:nvSpPr>
        <p:spPr>
          <a:xfrm xmlns:a="http://schemas.openxmlformats.org/drawingml/2006/main">
            <a:off x="7924800" y="55721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println(</a:t>
            </a:r>
            <a:r>
              <a:rPr>
                <a:solidFill>
                  <a:srgbClr val="397425"/>
                </a:solidFill>
              </a:rPr>
              <a:t>"Reddedildi"</a:t>
            </a:r>
            <a:r>
              <a:t>)</a:t>
            </a:r>
          </a:p>
        </p:txBody>
      </p:sp>
      <p:sp>
        <p:nvSpPr>
          <p:cNvPr id="32" name="">
            <a:extLst xmlns:a="http://schemas.openxmlformats.org/drawingml/2006/main">
              <a:ext uri="{FF2B5EF4-FFF2-40B4-BE49-F238E27FC236}">
                <a16:creationId xmlns:a16="http://schemas.microsoft.com/office/drawing/2014/main" id="{4EEF707B-8C42-49D8-91E2-CF5DED5A3D8E}"/>
              </a:ext>
            </a:extLst>
          </p:cNvPr>
          <p:cNvSpPr>
            <a:spLocks xmlns:a="http://schemas.openxmlformats.org/drawingml/2006/main" noGrp="1"/>
          </p:cNvSpPr>
          <p:nvPr/>
        </p:nvSpPr>
        <p:spPr>
          <a:xfrm xmlns:a="http://schemas.openxmlformats.org/drawingml/2006/main">
            <a:off x="7924800" y="582930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p>
        </p:txBody>
      </p:sp>
      <p:sp>
        <p:nvSpPr>
          <p:cNvPr id="33" name="">
            <a:extLst xmlns:a="http://schemas.openxmlformats.org/drawingml/2006/main">
              <a:ext uri="{FF2B5EF4-FFF2-40B4-BE49-F238E27FC236}">
                <a16:creationId xmlns:a16="http://schemas.microsoft.com/office/drawing/2014/main" id="{F0B080EB-99DA-4912-82C6-6BB312526828}"/>
              </a:ext>
            </a:extLst>
          </p:cNvPr>
          <p:cNvSpPr>
            <a:spLocks xmlns:a="http://schemas.openxmlformats.org/drawingml/2006/main" noGrp="1"/>
          </p:cNvSpPr>
          <p:nvPr/>
        </p:nvSpPr>
        <p:spPr>
          <a:xfrm xmlns:a="http://schemas.openxmlformats.org/drawingml/2006/main">
            <a:off x="7924800" y="60864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a:t>
            </a:r>
          </a:p>
        </p:txBody>
      </p:sp>
      <p:sp>
        <p:nvSpPr>
          <p:cNvPr id="34" name="">
            <a:extLst xmlns:a="http://schemas.openxmlformats.org/drawingml/2006/main">
              <a:ext uri="{FF2B5EF4-FFF2-40B4-BE49-F238E27FC236}">
                <a16:creationId xmlns:a16="http://schemas.microsoft.com/office/drawing/2014/main" id="{D6A1E736-4416-46C6-81E4-B7651B36D6F0}"/>
              </a:ext>
            </a:extLst>
          </p:cNvPr>
          <p:cNvSpPr>
            <a:spLocks xmlns:a="http://schemas.openxmlformats.org/drawingml/2006/main" noGrp="1"/>
          </p:cNvSpPr>
          <p:nvPr/>
        </p:nvSpPr>
        <p:spPr>
          <a:xfrm xmlns:a="http://schemas.openxmlformats.org/drawingml/2006/main">
            <a:off x="7924800" y="6343650"/>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    yazdir(notlar)</a:t>
            </a:r>
          </a:p>
        </p:txBody>
      </p:sp>
      <p:sp>
        <p:nvSpPr>
          <p:cNvPr id="35" name="">
            <a:extLst xmlns:a="http://schemas.openxmlformats.org/drawingml/2006/main">
              <a:ext uri="{FF2B5EF4-FFF2-40B4-BE49-F238E27FC236}">
                <a16:creationId xmlns:a16="http://schemas.microsoft.com/office/drawing/2014/main" id="{AFE4A744-E38A-4A40-A594-261158C8D2E2}"/>
              </a:ext>
            </a:extLst>
          </p:cNvPr>
          <p:cNvSpPr>
            <a:spLocks xmlns:a="http://schemas.openxmlformats.org/drawingml/2006/main" noGrp="1"/>
          </p:cNvSpPr>
          <p:nvPr/>
        </p:nvSpPr>
        <p:spPr>
          <a:xfrm xmlns:a="http://schemas.openxmlformats.org/drawingml/2006/main">
            <a:off x="7924800" y="660082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52F3D"/>
                </a:solidFill>
                <a:latin typeface="Consolas"/>
                <a:ea typeface="Consolas"/>
                <a:cs typeface="Consolas"/>
              </a:defRPr>
            </a:pPr>
            <a:r>
              <a:t>}</a:t>
            </a:r>
          </a:p>
        </p:txBody>
      </p:sp>
      <p:sp>
        <p:nvSpPr>
          <p:cNvPr id="36" name="">
            <a:extLst xmlns:a="http://schemas.openxmlformats.org/drawingml/2006/main">
              <a:ext uri="{FF2B5EF4-FFF2-40B4-BE49-F238E27FC236}">
                <a16:creationId xmlns:a16="http://schemas.microsoft.com/office/drawing/2014/main" id="{84EF6324-5726-4236-AF30-A585F1FC6C37}"/>
              </a:ext>
            </a:extLst>
          </p:cNvPr>
          <p:cNvSpPr>
            <a:spLocks xmlns:a="http://schemas.openxmlformats.org/drawingml/2006/main" noGrp="1"/>
          </p:cNvSpPr>
          <p:nvPr/>
        </p:nvSpPr>
        <p:spPr>
          <a:xfrm xmlns:a="http://schemas.openxmlformats.org/drawingml/2006/main">
            <a:off x="742950" y="7362825"/>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Konsol çıktısı</a:t>
            </a:r>
          </a:p>
        </p:txBody>
      </p:sp>
      <p:sp>
        <p:nvSpPr>
          <p:cNvPr id="37" name="">
            <a:extLst xmlns:a="http://schemas.openxmlformats.org/drawingml/2006/main">
              <a:ext uri="{FF2B5EF4-FFF2-40B4-BE49-F238E27FC236}">
                <a16:creationId xmlns:a16="http://schemas.microsoft.com/office/drawing/2014/main" id="{60FBA07B-A8BD-4F3A-83A1-2E6CEE5D239B}"/>
              </a:ext>
            </a:extLst>
          </p:cNvPr>
          <p:cNvSpPr>
            <a:spLocks xmlns:a="http://schemas.openxmlformats.org/drawingml/2006/main" noGrp="1"/>
          </p:cNvSpPr>
          <p:nvPr/>
        </p:nvSpPr>
        <p:spPr>
          <a:xfrm xmlns:a="http://schemas.openxmlformats.org/drawingml/2006/main">
            <a:off x="2686050" y="732472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Eklendi</a:t>
            </a:r>
          </a:p>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Reddedildi</a:t>
            </a:r>
          </a:p>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Reddedildi</a:t>
            </a:r>
          </a:p>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Eklendi</a:t>
            </a:r>
          </a:p>
        </p:txBody>
      </p:sp>
      <p:sp>
        <p:nvSpPr>
          <p:cNvPr id="38" name="">
            <a:extLst xmlns:a="http://schemas.openxmlformats.org/drawingml/2006/main">
              <a:ext uri="{FF2B5EF4-FFF2-40B4-BE49-F238E27FC236}">
                <a16:creationId xmlns:a16="http://schemas.microsoft.com/office/drawing/2014/main" id="{4DB7116A-5B55-4FD6-82CD-44CDE83B1779}"/>
              </a:ext>
            </a:extLst>
          </p:cNvPr>
          <p:cNvSpPr>
            <a:spLocks xmlns:a="http://schemas.openxmlformats.org/drawingml/2006/main" noGrp="1"/>
          </p:cNvSpPr>
          <p:nvPr/>
        </p:nvSpPr>
        <p:spPr>
          <a:xfrm xmlns:a="http://schemas.openxmlformats.org/drawingml/2006/main">
            <a:off x="8334375" y="7324725"/>
            <a:ext cx="609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Notlar: 2</a:t>
            </a:r>
          </a:p>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 Oku</a:t>
            </a:r>
          </a:p>
          <a:p xmlns:a="http://schemas.openxmlformats.org/drawingml/2006/main">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 Ders çalış</a:t>
            </a:r>
          </a:p>
        </p:txBody>
      </p:sp>
      <p:sp>
        <p:nvSpPr>
          <p:cNvPr id="39" name="">
            <a:extLst xmlns:a="http://schemas.openxmlformats.org/drawingml/2006/main">
              <a:ext uri="{FF2B5EF4-FFF2-40B4-BE49-F238E27FC236}">
                <a16:creationId xmlns:a16="http://schemas.microsoft.com/office/drawing/2014/main" id="{7F06DA22-D709-44AA-BE02-E0BF985F76BC}"/>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36 / 37</a:t>
            </a:r>
          </a:p>
        </p:txBody>
      </p:sp>
    </p:spTree>
    <p:extLst>
      <p:ext uri="{BB962C8B-B14F-4D97-AF65-F5344CB8AC3E}">
        <p14:creationId xmlns:p14="http://schemas.microsoft.com/office/powerpoint/2010/main" val="172787626"/>
      </p:ext>
    </p:extLst>
  </p:cSld>
</p:sld>
</file>

<file path=ppt/slides/slide3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CFBF74-B5E1-43DA-8AAD-4A8BC22A731D}"/>
              </a:ext>
            </a:extLst>
          </p:cNvPr>
          <p:cNvSpPr>
            <a:spLocks xmlns:a="http://schemas.openxmlformats.org/drawingml/2006/main" noGrp="1"/>
          </p:cNvSpPr>
          <p:nvPr/>
        </p:nvSpPr>
        <p:spPr>
          <a:xfrm xmlns:a="http://schemas.openxmlformats.org/drawingml/2006/main">
            <a:off x="742950" y="342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1. sunum</a:t>
            </a:r>
          </a:p>
        </p:txBody>
      </p:sp>
      <p:sp>
        <p:nvSpPr>
          <p:cNvPr id="2" name="">
            <a:extLst xmlns:a="http://schemas.openxmlformats.org/drawingml/2006/main">
              <a:ext uri="{FF2B5EF4-FFF2-40B4-BE49-F238E27FC236}">
                <a16:creationId xmlns:a16="http://schemas.microsoft.com/office/drawing/2014/main" id="{A3EE25E1-3E70-40B3-BB51-E6F1B7B832CF}"/>
              </a:ext>
            </a:extLst>
          </p:cNvPr>
          <p:cNvSpPr>
            <a:spLocks xmlns:a="http://schemas.openxmlformats.org/drawingml/2006/main" noGrp="1"/>
          </p:cNvSpPr>
          <p:nvPr/>
        </p:nvSpPr>
        <p:spPr>
          <a:xfrm xmlns:a="http://schemas.openxmlformats.org/drawingml/2006/main">
            <a:off x="723900" y="876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Not defterinde dört denemenin sonucu</a:t>
            </a:r>
          </a:p>
        </p:txBody>
      </p:sp>
      <p:sp>
        <p:nvSpPr>
          <p:cNvPr id="3" name="">
            <a:extLst xmlns:a="http://schemas.openxmlformats.org/drawingml/2006/main">
              <a:ext uri="{FF2B5EF4-FFF2-40B4-BE49-F238E27FC236}">
                <a16:creationId xmlns:a16="http://schemas.microsoft.com/office/drawing/2014/main" id="{87F62902-5176-4A4A-8974-920D3A9ECDD3}"/>
              </a:ext>
            </a:extLst>
          </p:cNvPr>
          <p:cNvSpPr>
            <a:spLocks xmlns:a="http://schemas.openxmlformats.org/drawingml/2006/main" noGrp="1"/>
          </p:cNvSpPr>
          <p:nvPr/>
        </p:nvSpPr>
        <p:spPr>
          <a:xfrm xmlns:a="http://schemas.openxmlformats.org/drawingml/2006/main">
            <a:off x="742950" y="1752600"/>
            <a:ext cx="13668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Fonksiyon aynı olsa da her girdi farklı bir karar yolundan geçebilir.</a:t>
            </a:r>
          </a:p>
        </p:txBody>
      </p:sp>
      <p:sp>
        <p:nvSpPr>
          <p:cNvPr id="4" name="">
            <a:extLst xmlns:a="http://schemas.openxmlformats.org/drawingml/2006/main">
              <a:ext uri="{FF2B5EF4-FFF2-40B4-BE49-F238E27FC236}">
                <a16:creationId xmlns:a16="http://schemas.microsoft.com/office/drawing/2014/main" id="{91FEA7A3-0BC5-4403-AEBF-BF049266635A}"/>
              </a:ext>
            </a:extLst>
          </p:cNvPr>
          <p:cNvSpPr>
            <a:spLocks xmlns:a="http://schemas.openxmlformats.org/drawingml/2006/main" noGrp="1"/>
          </p:cNvSpPr>
          <p:nvPr/>
        </p:nvSpPr>
        <p:spPr>
          <a:xfrm xmlns:a="http://schemas.openxmlformats.org/drawingml/2006/main">
            <a:off x="742950" y="310515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Boşluklu metin</a:t>
            </a:r>
          </a:p>
        </p:txBody>
      </p:sp>
      <p:sp>
        <p:nvSpPr>
          <p:cNvPr id="5" name="">
            <a:extLst xmlns:a="http://schemas.openxmlformats.org/drawingml/2006/main">
              <a:ext uri="{FF2B5EF4-FFF2-40B4-BE49-F238E27FC236}">
                <a16:creationId xmlns:a16="http://schemas.microsoft.com/office/drawing/2014/main" id="{2EBE8900-FF9F-45D5-8A77-FCC23BAEBB1B}"/>
              </a:ext>
            </a:extLst>
          </p:cNvPr>
          <p:cNvSpPr>
            <a:spLocks xmlns:a="http://schemas.openxmlformats.org/drawingml/2006/main" noGrp="1"/>
          </p:cNvSpPr>
          <p:nvPr/>
        </p:nvSpPr>
        <p:spPr>
          <a:xfrm xmlns:a="http://schemas.openxmlformats.org/drawingml/2006/main">
            <a:off x="4552950" y="310515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  Oku  " önce "Oku" olur. Listede bulunmadığı için eklenir ve true döner.</a:t>
            </a:r>
          </a:p>
        </p:txBody>
      </p:sp>
      <p:sp>
        <p:nvSpPr>
          <p:cNvPr id="6" name="">
            <a:extLst xmlns:a="http://schemas.openxmlformats.org/drawingml/2006/main">
              <a:ext uri="{FF2B5EF4-FFF2-40B4-BE49-F238E27FC236}">
                <a16:creationId xmlns:a16="http://schemas.microsoft.com/office/drawing/2014/main" id="{7D3C28B3-A384-469A-BAB3-E772BD38BD8F}"/>
              </a:ext>
            </a:extLst>
          </p:cNvPr>
          <p:cNvSpPr>
            <a:spLocks xmlns:a="http://schemas.openxmlformats.org/drawingml/2006/main" noGrp="1"/>
          </p:cNvSpPr>
          <p:nvPr/>
        </p:nvSpPr>
        <p:spPr>
          <a:xfrm xmlns:a="http://schemas.openxmlformats.org/drawingml/2006/main">
            <a:off x="742950" y="4600575"/>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İki ret nedeni</a:t>
            </a:r>
          </a:p>
        </p:txBody>
      </p:sp>
      <p:sp>
        <p:nvSpPr>
          <p:cNvPr id="7" name="">
            <a:extLst xmlns:a="http://schemas.openxmlformats.org/drawingml/2006/main">
              <a:ext uri="{FF2B5EF4-FFF2-40B4-BE49-F238E27FC236}">
                <a16:creationId xmlns:a16="http://schemas.microsoft.com/office/drawing/2014/main" id="{9E572F5C-2122-4E01-83E3-1B0DCBBDD23E}"/>
              </a:ext>
            </a:extLst>
          </p:cNvPr>
          <p:cNvSpPr>
            <a:spLocks xmlns:a="http://schemas.openxmlformats.org/drawingml/2006/main" noGrp="1"/>
          </p:cNvSpPr>
          <p:nvPr/>
        </p:nvSpPr>
        <p:spPr>
          <a:xfrm xmlns:a="http://schemas.openxmlformats.org/drawingml/2006/main">
            <a:off x="4552950" y="4600575"/>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Boş metin ilk kontrolde reddedilir. İkinci "Oku", contains kontrolünde reddedilir.</a:t>
            </a:r>
          </a:p>
        </p:txBody>
      </p:sp>
      <p:sp>
        <p:nvSpPr>
          <p:cNvPr id="8" name="">
            <a:extLst xmlns:a="http://schemas.openxmlformats.org/drawingml/2006/main">
              <a:ext uri="{FF2B5EF4-FFF2-40B4-BE49-F238E27FC236}">
                <a16:creationId xmlns:a16="http://schemas.microsoft.com/office/drawing/2014/main" id="{E18FF748-7165-4A98-A132-A3388E17FAD4}"/>
              </a:ext>
            </a:extLst>
          </p:cNvPr>
          <p:cNvSpPr>
            <a:spLocks xmlns:a="http://schemas.openxmlformats.org/drawingml/2006/main" noGrp="1"/>
          </p:cNvSpPr>
          <p:nvPr/>
        </p:nvSpPr>
        <p:spPr>
          <a:xfrm xmlns:a="http://schemas.openxmlformats.org/drawingml/2006/main">
            <a:off x="742950" y="609600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Son durum</a:t>
            </a:r>
          </a:p>
        </p:txBody>
      </p:sp>
      <p:sp>
        <p:nvSpPr>
          <p:cNvPr id="9" name="">
            <a:extLst xmlns:a="http://schemas.openxmlformats.org/drawingml/2006/main">
              <a:ext uri="{FF2B5EF4-FFF2-40B4-BE49-F238E27FC236}">
                <a16:creationId xmlns:a16="http://schemas.microsoft.com/office/drawing/2014/main" id="{073D46D2-8644-4C1E-9102-72FF373B55FE}"/>
              </a:ext>
            </a:extLst>
          </p:cNvPr>
          <p:cNvSpPr>
            <a:spLocks xmlns:a="http://schemas.openxmlformats.org/drawingml/2006/main" noGrp="1"/>
          </p:cNvSpPr>
          <p:nvPr/>
        </p:nvSpPr>
        <p:spPr>
          <a:xfrm xmlns:a="http://schemas.openxmlformats.org/drawingml/2006/main">
            <a:off x="4552950" y="6096000"/>
            <a:ext cx="9886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"Ders çalış" kabul edilir. Liste [Oku, Ders çalış] olur ve yazdir iki notu gösterir.</a:t>
            </a:r>
          </a:p>
        </p:txBody>
      </p:sp>
      <p:sp>
        <p:nvSpPr>
          <p:cNvPr id="10" name="">
            <a:extLst xmlns:a="http://schemas.openxmlformats.org/drawingml/2006/main">
              <a:ext uri="{FF2B5EF4-FFF2-40B4-BE49-F238E27FC236}">
                <a16:creationId xmlns:a16="http://schemas.microsoft.com/office/drawing/2014/main" id="{6DFE65B5-869C-418A-BF5C-EF7143D45098}"/>
              </a:ext>
            </a:extLst>
          </p:cNvPr>
          <p:cNvSpPr>
            <a:spLocks xmlns:a="http://schemas.openxmlformats.org/drawingml/2006/main" noGrp="1"/>
          </p:cNvSpPr>
          <p:nvPr/>
        </p:nvSpPr>
        <p:spPr>
          <a:xfrm xmlns:a="http://schemas.openxmlformats.org/drawingml/2006/main">
            <a:off x="13430250" y="829627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37 / 37</a:t>
            </a:r>
          </a:p>
        </p:txBody>
      </p:sp>
    </p:spTree>
    <p:extLst>
      <p:ext uri="{BB962C8B-B14F-4D97-AF65-F5344CB8AC3E}">
        <p14:creationId xmlns:p14="http://schemas.microsoft.com/office/powerpoint/2010/main" val="11917393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2026-09-27T23:25:56.9740000Z</dcterms:created>
  <dcterms:modified xsi:type="dcterms:W3CDTF">2026-09-27T23:25:56.9740000Z</dcterms:modified>
</coreProperties>
</file>
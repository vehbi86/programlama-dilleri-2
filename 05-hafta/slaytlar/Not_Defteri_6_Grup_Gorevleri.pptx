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ecf280f4ee4606" /><Relationship Type="http://schemas.openxmlformats.org/officeDocument/2006/relationships/extended-properties" Target="/docProps/app.xml" Id="R375a12a6af9c4747" /><Relationship Type="http://schemas.openxmlformats.org/officeDocument/2006/relationships/officeDocument" Target="/ppt/presentation.xml" Id="R411ad51bc6064d35" /></Relationships>
</file>

<file path=ppt/presentation.xml><?xml version="1.0" encoding="utf-8"?>
<p:presentation xmlns:p="http://schemas.openxmlformats.org/presentationml/2006/main">
  <p:sldMasterIdLst>
    <p:sldMasterId xmlns:r="http://schemas.openxmlformats.org/officeDocument/2006/relationships" id="2147483648" r:id="Rfc9a7c1091444b42"/>
  </p:sldMasterIdLst>
  <p:notesMasterIdLst>
    <p:notesMasterId xmlns:r="http://schemas.openxmlformats.org/officeDocument/2006/relationships" r:id="R224b79d25afe4448"/>
  </p:notesMasterIdLst>
  <p:sldIdLst>
    <p:sldId xmlns:r="http://schemas.openxmlformats.org/officeDocument/2006/relationships" id="256" r:id="R65097199680f451e"/>
    <p:sldId xmlns:r="http://schemas.openxmlformats.org/officeDocument/2006/relationships" id="257" r:id="Ree765a1242994158"/>
    <p:sldId xmlns:r="http://schemas.openxmlformats.org/officeDocument/2006/relationships" id="258" r:id="Ra502013bd0834a11"/>
    <p:sldId xmlns:r="http://schemas.openxmlformats.org/officeDocument/2006/relationships" id="259" r:id="Rb30a056a95774f42"/>
    <p:sldId xmlns:r="http://schemas.openxmlformats.org/officeDocument/2006/relationships" id="260" r:id="Rc9b606a8b6ce457c"/>
    <p:sldId xmlns:r="http://schemas.openxmlformats.org/officeDocument/2006/relationships" id="261" r:id="Rf5da4690a51d40d6"/>
    <p:sldId xmlns:r="http://schemas.openxmlformats.org/officeDocument/2006/relationships" id="262" r:id="Rac4a8625b1494cd2"/>
    <p:sldId xmlns:r="http://schemas.openxmlformats.org/officeDocument/2006/relationships" id="263" r:id="R8120725e0a56448c"/>
    <p:sldId xmlns:r="http://schemas.openxmlformats.org/officeDocument/2006/relationships" id="264" r:id="Rc7f7ed3336c9430d"/>
    <p:sldId xmlns:r="http://schemas.openxmlformats.org/officeDocument/2006/relationships" id="265" r:id="Rd7eee5b0b8104404"/>
    <p:sldId xmlns:r="http://schemas.openxmlformats.org/officeDocument/2006/relationships" id="266" r:id="R18d5c71e1a1c4bbc"/>
    <p:sldId xmlns:r="http://schemas.openxmlformats.org/officeDocument/2006/relationships" id="267" r:id="R8f1ef4fc711e4413"/>
    <p:sldId xmlns:r="http://schemas.openxmlformats.org/officeDocument/2006/relationships" id="268" r:id="R876221e85aed4cd0"/>
    <p:sldId xmlns:r="http://schemas.openxmlformats.org/officeDocument/2006/relationships" id="269" r:id="R11e814b9c38940e9"/>
    <p:sldId xmlns:r="http://schemas.openxmlformats.org/officeDocument/2006/relationships" id="270" r:id="R78f0e5d9c00f452f"/>
    <p:sldId xmlns:r="http://schemas.openxmlformats.org/officeDocument/2006/relationships" id="271" r:id="R1187b7cdb90344b6"/>
    <p:sldId xmlns:r="http://schemas.openxmlformats.org/officeDocument/2006/relationships" id="272" r:id="R334c861b3c4f4f32"/>
    <p:sldId xmlns:r="http://schemas.openxmlformats.org/officeDocument/2006/relationships" id="273" r:id="Raab280e20df24293"/>
    <p:sldId xmlns:r="http://schemas.openxmlformats.org/officeDocument/2006/relationships" id="274" r:id="Rff625ed6be6d4f36"/>
    <p:sldId xmlns:r="http://schemas.openxmlformats.org/officeDocument/2006/relationships" id="275" r:id="R115c1906ff0d4e0c"/>
    <p:sldId xmlns:r="http://schemas.openxmlformats.org/officeDocument/2006/relationships" id="276" r:id="Ra6ee8654696c4846"/>
    <p:sldId xmlns:r="http://schemas.openxmlformats.org/officeDocument/2006/relationships" id="277" r:id="Re7c81bf59c7243d7"/>
    <p:sldId xmlns:r="http://schemas.openxmlformats.org/officeDocument/2006/relationships" id="278" r:id="Rce1c327644f64a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adb3093c1449f2" /><Relationship Type="http://schemas.openxmlformats.org/officeDocument/2006/relationships/slideMaster" Target="/ppt/slideMasters/slideMaster1.xml" Id="Rfc9a7c1091444b42" /><Relationship Type="http://schemas.openxmlformats.org/officeDocument/2006/relationships/notesMaster" Target="/ppt/notesMasters/notesMaster1.xml" Id="R224b79d25afe4448" /><Relationship Type="http://schemas.openxmlformats.org/officeDocument/2006/relationships/presProps" Target="/ppt/presProps.xml" Id="R02bb84efd8294efc" /><Relationship Type="http://schemas.openxmlformats.org/officeDocument/2006/relationships/tableStyles" Target="/ppt/tableStyles.xml" Id="R5dc30c3783bf47e9" /><Relationship Type="http://schemas.openxmlformats.org/officeDocument/2006/relationships/slide" Target="/ppt/slides/slide1.xml" Id="R65097199680f451e" /><Relationship Type="http://schemas.openxmlformats.org/officeDocument/2006/relationships/slide" Target="/ppt/slides/slide2.xml" Id="Ree765a1242994158" /><Relationship Type="http://schemas.openxmlformats.org/officeDocument/2006/relationships/slide" Target="/ppt/slides/slide3.xml" Id="Ra502013bd0834a11" /><Relationship Type="http://schemas.openxmlformats.org/officeDocument/2006/relationships/slide" Target="/ppt/slides/slide4.xml" Id="Rb30a056a95774f42" /><Relationship Type="http://schemas.openxmlformats.org/officeDocument/2006/relationships/slide" Target="/ppt/slides/slide5.xml" Id="Rc9b606a8b6ce457c" /><Relationship Type="http://schemas.openxmlformats.org/officeDocument/2006/relationships/slide" Target="/ppt/slides/slide6.xml" Id="Rf5da4690a51d40d6" /><Relationship Type="http://schemas.openxmlformats.org/officeDocument/2006/relationships/slide" Target="/ppt/slides/slide7.xml" Id="Rac4a8625b1494cd2" /><Relationship Type="http://schemas.openxmlformats.org/officeDocument/2006/relationships/slide" Target="/ppt/slides/slide8.xml" Id="R8120725e0a56448c" /><Relationship Type="http://schemas.openxmlformats.org/officeDocument/2006/relationships/slide" Target="/ppt/slides/slide9.xml" Id="Rc7f7ed3336c9430d" /><Relationship Type="http://schemas.openxmlformats.org/officeDocument/2006/relationships/slide" Target="/ppt/slides/slide10.xml" Id="Rd7eee5b0b8104404" /><Relationship Type="http://schemas.openxmlformats.org/officeDocument/2006/relationships/slide" Target="/ppt/slides/slide11.xml" Id="R18d5c71e1a1c4bbc" /><Relationship Type="http://schemas.openxmlformats.org/officeDocument/2006/relationships/slide" Target="/ppt/slides/slide12.xml" Id="R8f1ef4fc711e4413" /><Relationship Type="http://schemas.openxmlformats.org/officeDocument/2006/relationships/slide" Target="/ppt/slides/slide13.xml" Id="R876221e85aed4cd0" /><Relationship Type="http://schemas.openxmlformats.org/officeDocument/2006/relationships/slide" Target="/ppt/slides/slide14.xml" Id="R11e814b9c38940e9" /><Relationship Type="http://schemas.openxmlformats.org/officeDocument/2006/relationships/slide" Target="/ppt/slides/slide15.xml" Id="R78f0e5d9c00f452f" /><Relationship Type="http://schemas.openxmlformats.org/officeDocument/2006/relationships/slide" Target="/ppt/slides/slide16.xml" Id="R1187b7cdb90344b6" /><Relationship Type="http://schemas.openxmlformats.org/officeDocument/2006/relationships/slide" Target="/ppt/slides/slide17.xml" Id="R334c861b3c4f4f32" /><Relationship Type="http://schemas.openxmlformats.org/officeDocument/2006/relationships/slide" Target="/ppt/slides/slide18.xml" Id="Raab280e20df24293" /><Relationship Type="http://schemas.openxmlformats.org/officeDocument/2006/relationships/slide" Target="/ppt/slides/slide19.xml" Id="Rff625ed6be6d4f36" /><Relationship Type="http://schemas.openxmlformats.org/officeDocument/2006/relationships/slide" Target="/ppt/slides/slide20.xml" Id="R115c1906ff0d4e0c" /><Relationship Type="http://schemas.openxmlformats.org/officeDocument/2006/relationships/slide" Target="/ppt/slides/slide21.xml" Id="Ra6ee8654696c4846" /><Relationship Type="http://schemas.openxmlformats.org/officeDocument/2006/relationships/slide" Target="/ppt/slides/slide22.xml" Id="Re7c81bf59c7243d7" /><Relationship Type="http://schemas.openxmlformats.org/officeDocument/2006/relationships/slide" Target="/ppt/slides/slide23.xml" Id="Rce1c327644f64a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1c4cb9ce3f4c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f99e6be1fb4d7a" /><Relationship Type="http://schemas.openxmlformats.org/officeDocument/2006/relationships/notesMaster" Target="/ppt/notesMasters/notesMaster1.xml" Id="R0640b8eaf58d48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b29b2fd4dc48c9" /><Relationship Type="http://schemas.openxmlformats.org/officeDocument/2006/relationships/notesMaster" Target="/ppt/notesMasters/notesMaster1.xml" Id="R2b2dee5034d944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f0b31708e54f9b" /><Relationship Type="http://schemas.openxmlformats.org/officeDocument/2006/relationships/notesMaster" Target="/ppt/notesMasters/notesMaster1.xml" Id="Rbb363d8e65d947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f54c5773324561" /><Relationship Type="http://schemas.openxmlformats.org/officeDocument/2006/relationships/notesMaster" Target="/ppt/notesMasters/notesMaster1.xml" Id="R1eeb3a14c93343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d09fa2d9d14d12" /><Relationship Type="http://schemas.openxmlformats.org/officeDocument/2006/relationships/notesMaster" Target="/ppt/notesMasters/notesMaster1.xml" Id="R5d157188226b48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9ff4fbf00344ef" /><Relationship Type="http://schemas.openxmlformats.org/officeDocument/2006/relationships/notesMaster" Target="/ppt/notesMasters/notesMaster1.xml" Id="R555dd6fe77a041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13363c7ccc423d" /><Relationship Type="http://schemas.openxmlformats.org/officeDocument/2006/relationships/notesMaster" Target="/ppt/notesMasters/notesMaster1.xml" Id="R6b7610f53a2b49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3d6eda41e84702" /><Relationship Type="http://schemas.openxmlformats.org/officeDocument/2006/relationships/notesMaster" Target="/ppt/notesMasters/notesMaster1.xml" Id="R254a7d3dbe5942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1f75f58ffe4b7a" /><Relationship Type="http://schemas.openxmlformats.org/officeDocument/2006/relationships/notesMaster" Target="/ppt/notesMasters/notesMaster1.xml" Id="R11e19291c5ab48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4de966b3f44a41" /><Relationship Type="http://schemas.openxmlformats.org/officeDocument/2006/relationships/notesMaster" Target="/ppt/notesMasters/notesMaster1.xml" Id="R2c94c4c074d747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96b7bea89942ab" /><Relationship Type="http://schemas.openxmlformats.org/officeDocument/2006/relationships/notesMaster" Target="/ppt/notesMasters/notesMaster1.xml" Id="R538960d84e4740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bd4dca2b314444" /><Relationship Type="http://schemas.openxmlformats.org/officeDocument/2006/relationships/notesMaster" Target="/ppt/notesMasters/notesMaster1.xml" Id="Raeede86bd0b84e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0b299ba3e64ba8" /><Relationship Type="http://schemas.openxmlformats.org/officeDocument/2006/relationships/notesMaster" Target="/ppt/notesMasters/notesMaster1.xml" Id="R4b563e81bb1c4b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05567da93f4939" /><Relationship Type="http://schemas.openxmlformats.org/officeDocument/2006/relationships/notesMaster" Target="/ppt/notesMasters/notesMaster1.xml" Id="R8c859b31334b4a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752322c91b4aa6" /><Relationship Type="http://schemas.openxmlformats.org/officeDocument/2006/relationships/notesMaster" Target="/ppt/notesMasters/notesMaster1.xml" Id="Rfac3b070b5d149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6c15e2caa444fc" /><Relationship Type="http://schemas.openxmlformats.org/officeDocument/2006/relationships/notesMaster" Target="/ppt/notesMasters/notesMaster1.xml" Id="Rd64573d7d87949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a00d8c74bf4456" /><Relationship Type="http://schemas.openxmlformats.org/officeDocument/2006/relationships/notesMaster" Target="/ppt/notesMasters/notesMaster1.xml" Id="R43d1b474bb8d40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041c354e16b4514" /><Relationship Type="http://schemas.openxmlformats.org/officeDocument/2006/relationships/notesMaster" Target="/ppt/notesMasters/notesMaster1.xml" Id="Rb9b735863cb240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80dd88c1cc478d" /><Relationship Type="http://schemas.openxmlformats.org/officeDocument/2006/relationships/notesMaster" Target="/ppt/notesMasters/notesMaster1.xml" Id="Rdf0be5bbd12a49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8138cf2e7448b3" /><Relationship Type="http://schemas.openxmlformats.org/officeDocument/2006/relationships/notesMaster" Target="/ppt/notesMasters/notesMaster1.xml" Id="Rdc8413df239141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14d5c4f1d84a03" /><Relationship Type="http://schemas.openxmlformats.org/officeDocument/2006/relationships/notesMaster" Target="/ppt/notesMasters/notesMaster1.xml" Id="Rf3c94f1e5c7b45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32c39d943ce474c" /><Relationship Type="http://schemas.openxmlformats.org/officeDocument/2006/relationships/notesMaster" Target="/ppt/notesMasters/notesMaster1.xml" Id="R519504f47216451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6b7d573df5b4837" /><Relationship Type="http://schemas.openxmlformats.org/officeDocument/2006/relationships/notesMaster" Target="/ppt/notesMasters/notesMaster1.xml" Id="R80faf576e1e34f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temel not ekleme/listeleme uygulamasını önce anlatır. Bu sunum, altı gruba verilecek geliştirme görevlerini açıklar. Gruplar her özelliği tek projede birleştirmek zorunda değildir.</a:t>
            </a:r>
          </a:p>
          <a:p xmlns:a="http://schemas.openxmlformats.org/drawingml/2006/main">
            <a:r>
              <a:t/>
            </a:r>
          </a:p>
          <a:p xmlns:a="http://schemas.openxmlformats.org/drawingml/2006/main">
            <a:r>
              <a:t>Kaynaklar:</a:t>
            </a:r>
          </a:p>
          <a:p xmlns:a="http://schemas.openxmlformats.org/drawingml/2006/main">
            <a:r>
              <a:t>D:/fikir_1/docs/grup-calismasi/README.md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ekran başlangıç için beklenen ortak altyapıyı tarif eder. Not defteri kaynak kodu paylaşılmadığından mevcut alan ve sınıf adlarının bunlarla aynı olduğu varsayılmamalıdır. Notlar uygulama süreci sona erdiğinde korunmaz.</a:t>
            </a:r>
          </a:p>
          <a:p xmlns:a="http://schemas.openxmlformats.org/drawingml/2006/main">
            <a:r>
              <a:t/>
            </a:r>
          </a:p>
          <a:p xmlns:a="http://schemas.openxmlformats.org/drawingml/2006/main">
            <a:r>
              <a:t>Kaynaklar:</a:t>
            </a:r>
          </a:p>
          <a:p xmlns:a="http://schemas.openxmlformats.org/drawingml/2006/main">
            <a:r>
              <a:t>D:/fikir_1/docs/grup-calismasi/README.md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Görev 2 daha fazla durum yönetimi içerir. Öğretmen seçili kimlik ve düzenleme modu için başlangıç iskeleti verebilir. Grup 6 ayrı doğrulama fonksiyonu ve beş sınır testiyle açıklama derinliğini artırır. İsteğe bağlı ekler tam puan için şart değildir.</a:t>
            </a:r>
          </a:p>
          <a:p xmlns:a="http://schemas.openxmlformats.org/drawingml/2006/main">
            <a:r>
              <a:t/>
            </a:r>
          </a:p>
          <a:p xmlns:a="http://schemas.openxmlformats.org/drawingml/2006/main">
            <a:r>
              <a:t>Kaynaklar:</a:t>
            </a:r>
          </a:p>
          <a:p xmlns:a="http://schemas.openxmlformats.org/drawingml/2006/main">
            <a:r>
              <a:t>D:/fikir_1/docs/grup-calismasi/README.md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kimlik üretimini ortak başlangıçta sağlar. id ile kastedilen uygulama veri kimliğidir. RecyclerView setHasStableIds kullanmak bu etkinliğin zorunlu konusu değildir. Görünür sıra numarası, metin veya eski adapter pozisyonu tek başına not kimliği değildir.</a:t>
            </a:r>
          </a:p>
          <a:p xmlns:a="http://schemas.openxmlformats.org/drawingml/2006/main">
            <a:r>
              <a:t/>
            </a:r>
          </a:p>
          <a:p xmlns:a="http://schemas.openxmlformats.org/drawingml/2006/main">
            <a:r>
              <a:t>Kaynaklar:</a:t>
            </a:r>
          </a:p>
          <a:p xmlns:a="http://schemas.openxmlformats.org/drawingml/2006/main">
            <a:r>
              <a:t>D:/fikir_1/docs/grup-calismasi/README.md</a:t>
            </a:r>
          </a:p>
          <a:p xmlns:a="http://schemas.openxmlformats.org/drawingml/2006/main">
            <a:r>
              <a:t>https://developer.android.com/develop/ui/views/layout/recyclerview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iki satır tam bir Adapter sınıfı değildir. Birincisi callback türünü, ikincisi satır bağlama sırasında kullanımını gösterir. not, onBindViewHolder içinde o bağlama işlemine ait veri nesnesidir. btnSil, satırdaki görünümün temsili adıdır. Liste güncelleme yöntemi mevcut adapter yapısına uyarlanır. Bu callback Retrofit callback konusu değildir.</a:t>
            </a:r>
          </a:p>
          <a:p xmlns:a="http://schemas.openxmlformats.org/drawingml/2006/main">
            <a:r>
              <a:t/>
            </a:r>
          </a:p>
          <a:p xmlns:a="http://schemas.openxmlformats.org/drawingml/2006/main">
            <a:r>
              <a:t>Kaynaklar:</a:t>
            </a:r>
          </a:p>
          <a:p xmlns:a="http://schemas.openxmlformats.org/drawingml/2006/main">
            <a:r>
              <a:t>https://kotlinlang.org/docs/lambdas.html</a:t>
            </a:r>
          </a:p>
          <a:p xmlns:a="http://schemas.openxmlformats.org/drawingml/2006/main">
            <a:r>
              <a:t>https://developer.android.com/develop/ui/views/layout/recyclerview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Zorunlu davranışlar bu slayttadır. Sağdaki görsel, görevin temsili ekranıdır; gerçek uygulama ekran görüntüsü değildir. Başlangıç projesinin alan adlarına ve görünümüne uyarlanır.</a:t>
            </a:r>
          </a:p>
          <a:p xmlns:a="http://schemas.openxmlformats.org/drawingml/2006/main">
            <a:r>
              <a:t>Önce kimlik ve callback akışını kontrol edin. notifyDataSetChanged başlangıç adapterında kullanılıyorsa sınırlı eğitim örneği olarak sürdürülebilir. ListAdapter kullanılıyorsa yeni liste kopyası submitList ile verilmelidir. Tek bir güncelleme yolu seçin. Onay diyaloğu isteğe bağlıdır.</a:t>
            </a:r>
          </a:p>
          <a:p xmlns:a="http://schemas.openxmlformats.org/drawingml/2006/main">
            <a:r>
              <a:t/>
            </a:r>
          </a:p>
          <a:p xmlns:a="http://schemas.openxmlformats.org/drawingml/2006/main">
            <a:r>
              <a:t>Kaynaklar:</a:t>
            </a:r>
          </a:p>
          <a:p xmlns:a="http://schemas.openxmlformats.org/drawingml/2006/main">
            <a:r>
              <a:t>D:/fikir_1/docs/grup-calismasi/01_NOT_SILME.md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 parçaları tam çözüm değildir. Değişken ve fonksiyon adları temsili olup öğretmenin başlangıç projesine uyarlanır.</a:t>
            </a:r>
          </a:p>
          <a:p xmlns:a="http://schemas.openxmlformats.org/drawingml/2006/main">
            <a:r>
              <a:t>Önce kimlik ve callback akışını kontrol edin. notifyDataSetChanged başlangıç adapterında kullanılıyorsa sınırlı eğitim örneği olarak sürdürülebilir. ListAdapter kullanılıyorsa yeni liste kopyası submitList ile verilmelidir. Tek bir güncelleme yolu seçin. Onay diyaloğu isteğe bağlıdır.</a:t>
            </a:r>
          </a:p>
          <a:p xmlns:a="http://schemas.openxmlformats.org/drawingml/2006/main">
            <a:r>
              <a:t/>
            </a:r>
          </a:p>
          <a:p xmlns:a="http://schemas.openxmlformats.org/drawingml/2006/main">
            <a:r>
              <a:t>Kaynaklar:</a:t>
            </a:r>
          </a:p>
          <a:p xmlns:a="http://schemas.openxmlformats.org/drawingml/2006/main">
            <a:r>
              <a:t>https://developer.android.com/develop/ui/views/layout/recyclerview</a:t>
            </a:r>
          </a:p>
          <a:p xmlns:a="http://schemas.openxmlformats.org/drawingml/2006/main">
            <a:r>
              <a:t>https://kotlinlang.org/docs/lambdas.html</a:t>
            </a:r>
          </a:p>
          <a:p xmlns:a="http://schemas.openxmlformats.org/drawingml/2006/main">
            <a:r>
              <a:t>https://kotlinlang.org/docs/collection-filtering.html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Zorunlu davranışlar bu slayttadır. Sağdaki görsel, görevin temsili ekranıdır; gerçek uygulama ekran görüntüsü değildir. Başlangıç projesinin alan adlarına ve görünümüne uyarlanır.</a:t>
            </a:r>
          </a:p>
          <a:p xmlns:a="http://schemas.openxmlformats.org/drawingml/2006/main">
            <a:r>
              <a:t>İlk aşama aynı Activity içinde kalır. Öğretmen seçili kimlik ve mod için iskelet sağlayabilir. Kaydetme öncesi boşluk temizleme ve boş giriş kontrolü uygulanır. data class değişmez alanlarla kullanılıyorsa copy ve kimlikle liste elemanını değiştirme örneği verilebilir. İptal veriyi değiştirmemelidir.</a:t>
            </a:r>
          </a:p>
          <a:p xmlns:a="http://schemas.openxmlformats.org/drawingml/2006/main">
            <a:r>
              <a:t/>
            </a:r>
          </a:p>
          <a:p xmlns:a="http://schemas.openxmlformats.org/drawingml/2006/main">
            <a:r>
              <a:t>Kaynaklar:</a:t>
            </a:r>
          </a:p>
          <a:p xmlns:a="http://schemas.openxmlformats.org/drawingml/2006/main">
            <a:r>
              <a:t>D:/fikir_1/docs/grup-calismasi/02_NOT_DUZENLEME.md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 parçaları tam çözüm değildir. Değişken ve fonksiyon adları temsili olup öğretmenin başlangıç projesine uyarlanır.</a:t>
            </a:r>
          </a:p>
          <a:p xmlns:a="http://schemas.openxmlformats.org/drawingml/2006/main">
            <a:r>
              <a:t>İlk aşama aynı Activity içinde kalır. Öğretmen seçili kimlik ve mod için iskelet sağlayabilir. Kaydetme öncesi boşluk temizleme ve boş giriş kontrolü uygulanır. data class değişmez alanlarla kullanılıyorsa copy ve kimlikle liste elemanını değiştirme örneği verilebilir. İptal veriyi değiştirmemelidir.</a:t>
            </a:r>
          </a:p>
          <a:p xmlns:a="http://schemas.openxmlformats.org/drawingml/2006/main">
            <a:r>
              <a:t/>
            </a:r>
          </a:p>
          <a:p xmlns:a="http://schemas.openxmlformats.org/drawingml/2006/main">
            <a:r>
              <a:t>Kaynaklar:</a:t>
            </a:r>
          </a:p>
          <a:p xmlns:a="http://schemas.openxmlformats.org/drawingml/2006/main">
            <a:r>
              <a:t>https://developer.android.com/develop/ui/views/layout/recyclerview</a:t>
            </a:r>
          </a:p>
          <a:p xmlns:a="http://schemas.openxmlformats.org/drawingml/2006/main">
            <a:r>
              <a:t>https://kotlinlang.org/docs/lambdas.html</a:t>
            </a:r>
          </a:p>
          <a:p xmlns:a="http://schemas.openxmlformats.org/drawingml/2006/main">
            <a:r>
              <a:t>https://kotlinlang.org/docs/collection-filtering.html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Zorunlu davranışlar bu slayttadır. Sağdaki görsel, görevin temsili ekranıdır; gerçek uygulama ekran görüntüsü değildir. Başlangıç projesinin alan adlarına ve görünümüne uyarlanır.</a:t>
            </a:r>
          </a:p>
          <a:p xmlns:a="http://schemas.openxmlformats.org/drawingml/2006/main">
            <a:r>
              <a:t>Örnekte contains varsayılan olarak büyük/küçük harfe duyarlıdır. Tüm öğrencilerle arama kuralı aynı belirlenmelidir. ignoreCase seçeneği ve Türkçe I/İ davranışı ek tartışmadır, ilk teslimde beklenmez. Boş aramada tüm listeyi gösterme koşulu ayrıca yazılır. Canlı arama ve TextWatcher gerekmez.</a:t>
            </a:r>
          </a:p>
          <a:p xmlns:a="http://schemas.openxmlformats.org/drawingml/2006/main">
            <a:r>
              <a:t/>
            </a:r>
          </a:p>
          <a:p xmlns:a="http://schemas.openxmlformats.org/drawingml/2006/main">
            <a:r>
              <a:t>Kaynaklar:</a:t>
            </a:r>
          </a:p>
          <a:p xmlns:a="http://schemas.openxmlformats.org/drawingml/2006/main">
            <a:r>
              <a:t>D:/fikir_1/docs/grup-calismasi/03_ARAMA.md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 parçaları tam çözüm değildir. Değişken ve fonksiyon adları temsili olup öğretmenin başlangıç projesine uyarlanır.</a:t>
            </a:r>
          </a:p>
          <a:p xmlns:a="http://schemas.openxmlformats.org/drawingml/2006/main">
            <a:r>
              <a:t>Örnekte contains varsayılan olarak büyük/küçük harfe duyarlıdır. Tüm öğrencilerle arama kuralı aynı belirlenmelidir. ignoreCase seçeneği ve Türkçe I/İ davranışı ek tartışmadır, ilk teslimde beklenmez. Boş aramada tüm listeyi gösterme koşulu ayrıca yazılır. Canlı arama ve TextWatcher gerekmez.</a:t>
            </a:r>
          </a:p>
          <a:p xmlns:a="http://schemas.openxmlformats.org/drawingml/2006/main">
            <a:r>
              <a:t/>
            </a:r>
          </a:p>
          <a:p xmlns:a="http://schemas.openxmlformats.org/drawingml/2006/main">
            <a:r>
              <a:t>Kaynaklar:</a:t>
            </a:r>
          </a:p>
          <a:p xmlns:a="http://schemas.openxmlformats.org/drawingml/2006/main">
            <a:r>
              <a:t>https://developer.android.com/develop/ui/views/layout/recyclerview</a:t>
            </a:r>
          </a:p>
          <a:p xmlns:a="http://schemas.openxmlformats.org/drawingml/2006/main">
            <a:r>
              <a:t>https://kotlinlang.org/docs/lambdas.html</a:t>
            </a:r>
          </a:p>
          <a:p xmlns:a="http://schemas.openxmlformats.org/drawingml/2006/main">
            <a:r>
              <a:t>https://kotlinlang.org/docs/collection-filtering.html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Zorunlu davranışlar bu slayttadır. Sağdaki görsel, görevin temsili ekranıdır; gerçek uygulama ekran görüntüsü değildir. Başlangıç projesinin alan adlarına ve görünümüne uyarlanır.</a:t>
            </a:r>
          </a:p>
          <a:p xmlns:a="http://schemas.openxmlformats.org/drawingml/2006/main">
            <a:r>
              <a:t>copy aynı nesneyi yerinde değiştirmez. Üretilen nesne, eski id korunarak ana listedeki ilgili kaydın yerine konur; gösterim listesi yeniden oluşturulur. RecyclerView satırları yeniden kullanıldığı için favori görünümü her onBindViewHolder çağrısında mevcut veriye göre ayarlanmalıdır.</a:t>
            </a:r>
          </a:p>
          <a:p xmlns:a="http://schemas.openxmlformats.org/drawingml/2006/main">
            <a:r>
              <a:t/>
            </a:r>
          </a:p>
          <a:p xmlns:a="http://schemas.openxmlformats.org/drawingml/2006/main">
            <a:r>
              <a:t>Kaynaklar:</a:t>
            </a:r>
          </a:p>
          <a:p xmlns:a="http://schemas.openxmlformats.org/drawingml/2006/main">
            <a:r>
              <a:t>D:/fikir_1/docs/grup-calismasi/04_FAVORILER.md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 parçaları tam çözüm değildir. Değişken ve fonksiyon adları temsili olup öğretmenin başlangıç projesine uyarlanır.</a:t>
            </a:r>
          </a:p>
          <a:p xmlns:a="http://schemas.openxmlformats.org/drawingml/2006/main">
            <a:r>
              <a:t>copy aynı nesneyi yerinde değiştirmez. Üretilen nesne, eski id korunarak ana listedeki ilgili kaydın yerine konur; gösterim listesi yeniden oluşturulur. RecyclerView satırları yeniden kullanıldığı için favori görünümü her onBindViewHolder çağrısında mevcut veriye göre ayarlanmalıdır.</a:t>
            </a:r>
          </a:p>
          <a:p xmlns:a="http://schemas.openxmlformats.org/drawingml/2006/main">
            <a:r>
              <a:t/>
            </a:r>
          </a:p>
          <a:p xmlns:a="http://schemas.openxmlformats.org/drawingml/2006/main">
            <a:r>
              <a:t>Kaynaklar:</a:t>
            </a:r>
          </a:p>
          <a:p xmlns:a="http://schemas.openxmlformats.org/drawingml/2006/main">
            <a:r>
              <a:t>https://developer.android.com/develop/ui/views/layout/recyclerview</a:t>
            </a:r>
          </a:p>
          <a:p xmlns:a="http://schemas.openxmlformats.org/drawingml/2006/main">
            <a:r>
              <a:t>https://kotlinlang.org/docs/lambdas.html</a:t>
            </a:r>
          </a:p>
          <a:p xmlns:a="http://schemas.openxmlformats.org/drawingml/2006/main">
            <a:r>
              <a:t>https://kotlinlang.org/docs/collection-filtering.html</a:t>
            </a:r>
          </a:p>
          <a:p xmlns:a="http://schemas.openxmlformats.org/drawingml/2006/main">
            <a:r>
              <a:t>https://kotlinlang.org/docs/data-classes.html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Zorunlu davranışlar bu slayttadır. Sağdaki görsel, görevin temsili ekranıdır; gerçek uygulama ekran görüntüsü değildir. Başlangıç projesinin alan adlarına ve görünümüne uyarlanır.</a:t>
            </a:r>
          </a:p>
          <a:p xmlns:a="http://schemas.openxmlformats.org/drawingml/2006/main">
            <a:r>
              <a:t>reversed ile elde edilen gösterim listesi ayrı tutulur. reverse mutable listeyi yerinde değiştirir ve bu örnekte başlangıç sırasını kaybettirebilir. Kimlik sıralaması yerine başlangıç ekleme sırası esas alınır. Tarih ve alfabetik Türkçe sıralama zorunlu değildir.</a:t>
            </a:r>
          </a:p>
          <a:p xmlns:a="http://schemas.openxmlformats.org/drawingml/2006/main">
            <a:r>
              <a:t/>
            </a:r>
          </a:p>
          <a:p xmlns:a="http://schemas.openxmlformats.org/drawingml/2006/main">
            <a:r>
              <a:t>Kaynaklar:</a:t>
            </a:r>
          </a:p>
          <a:p xmlns:a="http://schemas.openxmlformats.org/drawingml/2006/main">
            <a:r>
              <a:t>D:/fikir_1/docs/grup-calismasi/05_SIRALAMA.md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 parçaları tam çözüm değildir. Değişken ve fonksiyon adları temsili olup öğretmenin başlangıç projesine uyarlanır.</a:t>
            </a:r>
          </a:p>
          <a:p xmlns:a="http://schemas.openxmlformats.org/drawingml/2006/main">
            <a:r>
              <a:t>reversed ile elde edilen gösterim listesi ayrı tutulur. reverse mutable listeyi yerinde değiştirir ve bu örnekte başlangıç sırasını kaybettirebilir. Kimlik sıralaması yerine başlangıç ekleme sırası esas alınır. Tarih ve alfabetik Türkçe sıralama zorunlu değildir.</a:t>
            </a:r>
          </a:p>
          <a:p xmlns:a="http://schemas.openxmlformats.org/drawingml/2006/main">
            <a:r>
              <a:t/>
            </a:r>
          </a:p>
          <a:p xmlns:a="http://schemas.openxmlformats.org/drawingml/2006/main">
            <a:r>
              <a:t>Kaynaklar:</a:t>
            </a:r>
          </a:p>
          <a:p xmlns:a="http://schemas.openxmlformats.org/drawingml/2006/main">
            <a:r>
              <a:t>https://developer.android.com/develop/ui/views/layout/recyclerview</a:t>
            </a:r>
          </a:p>
          <a:p xmlns:a="http://schemas.openxmlformats.org/drawingml/2006/main">
            <a:r>
              <a:t>https://kotlinlang.org/docs/lambdas.html</a:t>
            </a:r>
          </a:p>
          <a:p xmlns:a="http://schemas.openxmlformats.org/drawingml/2006/main">
            <a:r>
              <a:t>https://kotlinlang.org/docs/collection-filtering.html</a:t>
            </a:r>
          </a:p>
          <a:p xmlns:a="http://schemas.openxmlformats.org/drawingml/2006/main">
            <a:r>
              <a:t>https://kotlinlang.org/docs/collection-ordering.html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Zorunlu davranışlar bu slayttadır. Sağdaki görsel, görevin temsili ekranıdır; gerçek uygulama ekran görüntüsü değildir. Başlangıç projesinin alan adlarına ve görünümüne uyarlanır.</a:t>
            </a:r>
          </a:p>
          <a:p xmlns:a="http://schemas.openxmlformats.org/drawingml/2006/main">
            <a:r>
              <a:t>Sınır trim sonrasındaki metne uygulanır. İlk örneklerde Türkçe harflerle düz metin kullanın. Kotlin String.length UTF-16 kod birimi sayısıdır, emoji için görünür karakter sayısıyla aynı olmayabilir; bu ileri ayrıntı puan ölçütüne eklenmez. Sayaç ana listedeki not sayısıdır; görünür filtre sonucunun sayısıyla karıştırılmaz. Ayrı doğrulama fonksiyonu ve beş örnek sunulması istenir.</a:t>
            </a:r>
          </a:p>
          <a:p xmlns:a="http://schemas.openxmlformats.org/drawingml/2006/main">
            <a:r>
              <a:t/>
            </a:r>
          </a:p>
          <a:p xmlns:a="http://schemas.openxmlformats.org/drawingml/2006/main">
            <a:r>
              <a:t>Kaynaklar:</a:t>
            </a:r>
          </a:p>
          <a:p xmlns:a="http://schemas.openxmlformats.org/drawingml/2006/main">
            <a:r>
              <a:t>D:/fikir_1/docs/grup-calismasi/06_GIRIS_KONTROLU.md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 parçaları tam çözüm değildir. Değişken ve fonksiyon adları temsili olup öğretmenin başlangıç projesine uyarlanır.</a:t>
            </a:r>
          </a:p>
          <a:p xmlns:a="http://schemas.openxmlformats.org/drawingml/2006/main">
            <a:r>
              <a:t>Sınır trim sonrasındaki metne uygulanır. İlk örneklerde Türkçe harflerle düz metin kullanın. Kotlin String.length UTF-16 kod birimi sayısıdır, emoji için görünür karakter sayısıyla aynı olmayabilir; bu ileri ayrıntı puan ölçütüne eklenmez. Sayaç ana listedeki not sayısıdır; görünür filtre sonucunun sayısıyla karıştırılmaz. Ayrı doğrulama fonksiyonu ve beş örnek sunulması istenir.</a:t>
            </a:r>
          </a:p>
          <a:p xmlns:a="http://schemas.openxmlformats.org/drawingml/2006/main">
            <a:r>
              <a:t/>
            </a:r>
          </a:p>
          <a:p xmlns:a="http://schemas.openxmlformats.org/drawingml/2006/main">
            <a:r>
              <a:t>Kaynaklar:</a:t>
            </a:r>
          </a:p>
          <a:p xmlns:a="http://schemas.openxmlformats.org/drawingml/2006/main">
            <a:r>
              <a:t>https://developer.android.com/develop/ui/views/layout/recyclerview</a:t>
            </a:r>
          </a:p>
          <a:p xmlns:a="http://schemas.openxmlformats.org/drawingml/2006/main">
            <a:r>
              <a:t>https://kotlinlang.org/docs/lambdas.html</a:t>
            </a:r>
          </a:p>
          <a:p xmlns:a="http://schemas.openxmlformats.org/drawingml/2006/main">
            <a:r>
              <a:t>https://kotlinlang.org/docs/collection-filtering.html</a:t>
            </a:r>
          </a:p>
          <a:p xmlns:a="http://schemas.openxmlformats.org/drawingml/2006/main">
            <a:r>
              <a:t>https://kotlinlang.org/api/core/kotlin-stdlib/kotlin.text/trim.html</a:t>
            </a:r>
          </a:p>
          <a:p xmlns:a="http://schemas.openxmlformats.org/drawingml/2006/main">
            <a:r>
              <a:t>https://kotlinlang.org/api/core/kotlin-stdlib/kotlin.text/is-blank.html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 grup kendi özelliği için tek etkinlik diyagramı hazırlar. Bu örnekte bir düğme tıklamasının işlemi bitiş düğümünde sonlanır; uygulama kapanmaz. Başlangıç dolu daire, eylem yuvarlatılmış dikdörtgen, karar elmas biçimindedir. Evet/Hayır çıkışları etiketlenir. Şema düzenlenebilir yerel slayt nesneleridir.</a:t>
            </a:r>
          </a:p>
          <a:p xmlns:a="http://schemas.openxmlformats.org/drawingml/2006/main">
            <a:r>
              <a:t/>
            </a:r>
          </a:p>
          <a:p xmlns:a="http://schemas.openxmlformats.org/drawingml/2006/main">
            <a:r>
              <a:t>Kaynaklar: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bu sınıf diyagramını ortak çalışmada açıklar. Çizim öneridir, paylaşılmamış not defteri kaynak kodunun birebir diyagramı değildir. Kesikli ok kullanım bağımlılığını belirtir. NotAdapter türünün RecyclerView.Adapter üst sınıfı bu küçük şemaya dahil edilmedi. Şemaya kodda olmayan mimari sınıflar eklenmez. Sınıf adı, alanlar ve metotlar yatay bölmelerle ayrılmıştır. Gruplardan ayrıntılı bütün UML türleri istenmez.</a:t>
            </a:r>
          </a:p>
          <a:p xmlns:a="http://schemas.openxmlformats.org/drawingml/2006/main">
            <a:r>
              <a:t/>
            </a:r>
          </a:p>
          <a:p xmlns:a="http://schemas.openxmlformats.org/drawingml/2006/main">
            <a:r>
              <a:t>Kaynaklar: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 dağılımı öğrencileri bir beceriye kilitlemek için değildir. Sunumu veya UML çizimini yapan öğrenci koddan muaf olmaz. Öğretmen her üyeye kısa bireysel soru sorar.</a:t>
            </a:r>
          </a:p>
          <a:p xmlns:a="http://schemas.openxmlformats.org/drawingml/2006/main">
            <a:r>
              <a:t/>
            </a:r>
          </a:p>
          <a:p xmlns:a="http://schemas.openxmlformats.org/drawingml/2006/main">
            <a:r>
              <a:t>Kaynaklar:</a:t>
            </a:r>
          </a:p>
          <a:p xmlns:a="http://schemas.openxmlformats.org/drawingml/2006/main">
            <a:r>
              <a:t>D:/fikir_1/docs/grup-calismasi/README.md</a:t>
            </a:r>
          </a:p>
          <a:p xmlns:a="http://schemas.openxmlformats.org/drawingml/2006/main">
            <a:r>
              <a:t>https://www.cmu.edu/teaching/designteach/design/instructionalstrategies/groupprojects/design.html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senaryoların tamamını her gruba zorunlu kılmayın. Grup kendi özelliğine uygun olanları seçer ve görev kartındaki kabul ölçütlerini karşılar. İlk grup çalışmasında otomatik test kütüphanesi kullanmak gerekmez; elle kontrol ve sonuç kaydı yeterlidir.</a:t>
            </a:r>
          </a:p>
          <a:p xmlns:a="http://schemas.openxmlformats.org/drawingml/2006/main">
            <a:r>
              <a:t/>
            </a:r>
          </a:p>
          <a:p xmlns:a="http://schemas.openxmlformats.org/drawingml/2006/main">
            <a:r>
              <a:t>Kaynaklar:</a:t>
            </a:r>
          </a:p>
          <a:p xmlns:a="http://schemas.openxmlformats.org/drawingml/2006/main">
            <a:r>
              <a:t>D:/fikir_1/docs/grup-calismasi/README.md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Altı grubun 8 dakikalık sunumu toplam 48 dakika eder. Geçişler ve öğretmen açıklaması buna dahil değildir. Sunumları ders süresine göre iki oturuma bölün. Bütün görevlerin tek projede entegrasyonu teslim şartı değildir. GOREV.md içinde grup üyeleri, kapsam, değişiklikler ve eksikler yazılabilir.</a:t>
            </a:r>
          </a:p>
          <a:p xmlns:a="http://schemas.openxmlformats.org/drawingml/2006/main">
            <a:r>
              <a:t/>
            </a:r>
          </a:p>
          <a:p xmlns:a="http://schemas.openxmlformats.org/drawingml/2006/main">
            <a:r>
              <a:t>Kaynaklar:</a:t>
            </a:r>
          </a:p>
          <a:p xmlns:a="http://schemas.openxmlformats.org/drawingml/2006/main">
            <a:r>
              <a:t>D:/fikir_1/docs/grup-calismasi/README.md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puan dağılımı öğretmene öneridir, kurumun resmî değerlendirme politikası değildir. Grup görevlerinin farklı yüklerini iskelet destek ve kapsam sınırıyla dengeleyin. Bireysel katkı için yalnızca arkadaş beyanına dayanmayın; kısa kod sorusu veya küçük değişiklik de kullanın.</a:t>
            </a:r>
          </a:p>
          <a:p xmlns:a="http://schemas.openxmlformats.org/drawingml/2006/main">
            <a:r>
              <a:t/>
            </a:r>
          </a:p>
          <a:p xmlns:a="http://schemas.openxmlformats.org/drawingml/2006/main">
            <a:r>
              <a:t>Kaynaklar:</a:t>
            </a:r>
          </a:p>
          <a:p xmlns:a="http://schemas.openxmlformats.org/drawingml/2006/main">
            <a:r>
              <a:t>D:/fikir_1/docs/grup-calismasi/README.md</a:t>
            </a:r>
          </a:p>
          <a:p xmlns:a="http://schemas.openxmlformats.org/drawingml/2006/main">
            <a:r>
              <a:t>https://www.cmu.edu/teaching/designteach/design/instructionalstrategies/groupprojects/assess.html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4a7e7884ec42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0a34386b9747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b30c80bfad42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69c9f4d72c47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1a01ec034d4b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76a7b05de344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AE02D6-A139-4ABF-BBE4-62220646C3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65C52A-0273-46D7-A989-F926513DB9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744E8B-F331-4B1A-A02D-C1ACC5F124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23125F-0E2B-4CD0-AC0B-2DA3E5889F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80227E-0175-4790-9B8D-D11074123D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EC6EE3-3D8D-4060-B2B7-8469F9F962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62EBDA-4FFF-4767-8A83-47A94672A9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88A47D-F270-425A-BCB7-E2FA3C73AE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0E7BAD-AB2F-4C20-9E8D-7F6989D21E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10C5D3-A321-4B8A-AEA0-0D08704943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743e9d40f64365" /><Relationship Type="http://schemas.openxmlformats.org/officeDocument/2006/relationships/slideLayout" Target="/ppt/slideLayouts/slideLayout1.xml" Id="R91a97c745c64417e" /><Relationship Type="http://schemas.openxmlformats.org/officeDocument/2006/relationships/slideLayout" Target="/ppt/slideLayouts/slideLayout2.xml" Id="Re183a4a59ebf4407" /><Relationship Type="http://schemas.openxmlformats.org/officeDocument/2006/relationships/slideLayout" Target="/ppt/slideLayouts/slideLayout3.xml" Id="R4742a0d5c81c4a3b" /><Relationship Type="http://schemas.openxmlformats.org/officeDocument/2006/relationships/slideLayout" Target="/ppt/slideLayouts/slideLayout4.xml" Id="R2f5c0aaaaddd4293" /><Relationship Type="http://schemas.openxmlformats.org/officeDocument/2006/relationships/slideLayout" Target="/ppt/slideLayouts/slideLayout5.xml" Id="Rdd8c2095c34c4ffb" /><Relationship Type="http://schemas.openxmlformats.org/officeDocument/2006/relationships/slideLayout" Target="/ppt/slideLayouts/slideLayout6.xml" Id="Rc73609eda8174a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a97c745c64417e"/>
    <p:sldLayoutId xmlns:r="http://schemas.openxmlformats.org/officeDocument/2006/relationships" id="2147483650" r:id="Re183a4a59ebf4407"/>
    <p:sldLayoutId xmlns:r="http://schemas.openxmlformats.org/officeDocument/2006/relationships" id="2147483651" r:id="R4742a0d5c81c4a3b"/>
    <p:sldLayoutId xmlns:r="http://schemas.openxmlformats.org/officeDocument/2006/relationships" id="2147483652" r:id="R2f5c0aaaaddd4293"/>
    <p:sldLayoutId xmlns:r="http://schemas.openxmlformats.org/officeDocument/2006/relationships" id="2147483653" r:id="Rdd8c2095c34c4ffb"/>
    <p:sldLayoutId xmlns:r="http://schemas.openxmlformats.org/officeDocument/2006/relationships" id="2147483654" r:id="Rc73609eda8174a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ebf4f1c5e9474a" /><Relationship Type="http://schemas.openxmlformats.org/officeDocument/2006/relationships/notesSlide" Target="/ppt/notesSlides/notesSlide1.xml" Id="R9416ec2c1a5c4c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42abeaa9e64515" /><Relationship Type="http://schemas.openxmlformats.org/officeDocument/2006/relationships/notesSlide" Target="/ppt/notesSlides/notesSlide2.xml" Id="R88b00b803f4345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5b53c22f64484a" /><Relationship Type="http://schemas.openxmlformats.org/officeDocument/2006/relationships/notesSlide" Target="/ppt/notesSlides/notesSlide3.xml" Id="Rb020814ed5d049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bbc8cf1c4b48cc" /><Relationship Type="http://schemas.openxmlformats.org/officeDocument/2006/relationships/notesSlide" Target="/ppt/notesSlides/notesSlide4.xml" Id="Rdd6f6340937d47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257cf1aa9a46fe" /><Relationship Type="http://schemas.openxmlformats.org/officeDocument/2006/relationships/notesSlide" Target="/ppt/notesSlides/notesSlide5.xml" Id="R79b0a1c01b594b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2d6185ae474144" /><Relationship Type="http://schemas.openxmlformats.org/officeDocument/2006/relationships/image" Target="/ppt/media/image.png" Id="Rda1e6da93a5e4db3" /><Relationship Type="http://schemas.openxmlformats.org/officeDocument/2006/relationships/notesSlide" Target="/ppt/notesSlides/notesSlide6.xml" Id="R93120767bca440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2af87997fca49fe" /><Relationship Type="http://schemas.openxmlformats.org/officeDocument/2006/relationships/notesSlide" Target="/ppt/notesSlides/notesSlide7.xml" Id="R502d03244a814f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7fec710fe04790" /><Relationship Type="http://schemas.openxmlformats.org/officeDocument/2006/relationships/image" Target="/ppt/media/image2.png" Id="Re5fd2a453cc042b0" /><Relationship Type="http://schemas.openxmlformats.org/officeDocument/2006/relationships/notesSlide" Target="/ppt/notesSlides/notesSlide8.xml" Id="Rb503ec5748504e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9ac02759a9477d" /><Relationship Type="http://schemas.openxmlformats.org/officeDocument/2006/relationships/notesSlide" Target="/ppt/notesSlides/notesSlide9.xml" Id="R8f4e93e2f85e4b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18a4df5e0f44811" /><Relationship Type="http://schemas.openxmlformats.org/officeDocument/2006/relationships/image" Target="/ppt/media/image3.png" Id="Rd50464dfac6c4cac" /><Relationship Type="http://schemas.openxmlformats.org/officeDocument/2006/relationships/notesSlide" Target="/ppt/notesSlides/notesSlide10.xml" Id="R3f28fc46df864f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ddb8565ff442ba" /><Relationship Type="http://schemas.openxmlformats.org/officeDocument/2006/relationships/notesSlide" Target="/ppt/notesSlides/notesSlide11.xml" Id="R68496778280e4c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2171d6f93cf4f77" /><Relationship Type="http://schemas.openxmlformats.org/officeDocument/2006/relationships/image" Target="/ppt/media/image4.png" Id="Rc1c3018c9c654068" /><Relationship Type="http://schemas.openxmlformats.org/officeDocument/2006/relationships/notesSlide" Target="/ppt/notesSlides/notesSlide12.xml" Id="R5b6c91de378945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965256fc15549ef" /><Relationship Type="http://schemas.openxmlformats.org/officeDocument/2006/relationships/notesSlide" Target="/ppt/notesSlides/notesSlide13.xml" Id="R61b0a1294f5649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7ced817ca774b43" /><Relationship Type="http://schemas.openxmlformats.org/officeDocument/2006/relationships/image" Target="/ppt/media/image5.png" Id="Raed1247c680c4693" /><Relationship Type="http://schemas.openxmlformats.org/officeDocument/2006/relationships/notesSlide" Target="/ppt/notesSlides/notesSlide14.xml" Id="Ra3f471ae454a4b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eda8b61ac314822" /><Relationship Type="http://schemas.openxmlformats.org/officeDocument/2006/relationships/notesSlide" Target="/ppt/notesSlides/notesSlide15.xml" Id="R49af583ed04d47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399efb9e7964b5e" /><Relationship Type="http://schemas.openxmlformats.org/officeDocument/2006/relationships/image" Target="/ppt/media/image6.png" Id="R378b979abe7a47aa" /><Relationship Type="http://schemas.openxmlformats.org/officeDocument/2006/relationships/notesSlide" Target="/ppt/notesSlides/notesSlide16.xml" Id="R8d95aa6e7ad848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b4a8c8c41624c66" /><Relationship Type="http://schemas.openxmlformats.org/officeDocument/2006/relationships/notesSlide" Target="/ppt/notesSlides/notesSlide17.xml" Id="Rcc103f8366a842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76c579294284556" /><Relationship Type="http://schemas.openxmlformats.org/officeDocument/2006/relationships/notesSlide" Target="/ppt/notesSlides/notesSlide18.xml" Id="Ra94a483ff02c44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1a5dc911ba140ce" /><Relationship Type="http://schemas.openxmlformats.org/officeDocument/2006/relationships/notesSlide" Target="/ppt/notesSlides/notesSlide19.xml" Id="R1b5bfff5e3b344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146c02551834828" /><Relationship Type="http://schemas.openxmlformats.org/officeDocument/2006/relationships/notesSlide" Target="/ppt/notesSlides/notesSlide20.xml" Id="R904eb782cf1c47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b44a7d95910468f" /><Relationship Type="http://schemas.openxmlformats.org/officeDocument/2006/relationships/notesSlide" Target="/ppt/notesSlides/notesSlide21.xml" Id="Rdf701c0ed2f241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9e65de2a9a747e7" /><Relationship Type="http://schemas.openxmlformats.org/officeDocument/2006/relationships/notesSlide" Target="/ppt/notesSlides/notesSlide22.xml" Id="R02b04f48c69a4d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29ee9d28eb74625" /><Relationship Type="http://schemas.openxmlformats.org/officeDocument/2006/relationships/notesSlide" Target="/ppt/notesSlides/notesSlide23.xml" Id="Ra5676ce8db604322" /></Relationships>
</file>

<file path=ppt/slides/slide1.xml><?xml version="1.0" encoding="utf-8"?>
<p:sld xmlns:p="http://schemas.openxmlformats.org/presentationml/2006/main">
  <p:cSld>
    <p:bg>
      <p:bgPr>
        <a:solidFill xmlns:a="http://schemas.openxmlformats.org/drawingml/2006/main">
          <a:srgbClr val="15243A"/>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8DC47AEF-BD37-44AC-B308-B194C039D39C}"/>
              </a:ext>
            </a:extLst>
          </p:cNvPr>
          <p:cNvSpPr>
            <a:spLocks xmlns:a="http://schemas.openxmlformats.org/drawingml/2006/main" noGrp="1"/>
          </p:cNvSpPr>
          <p:nvPr/>
        </p:nvSpPr>
        <p:spPr>
          <a:xfrm xmlns:a="http://schemas.openxmlformats.org/drawingml/2006/main">
            <a:off x="685800" y="6286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8C1FF"/>
                </a:solidFill>
                <a:latin typeface="Arial"/>
                <a:ea typeface="Arial"/>
                <a:cs typeface="Arial"/>
              </a:defRPr>
            </a:defPPr>
          </a:lstStyle>
          <a:p xmlns:a="http://schemas.openxmlformats.org/drawingml/2006/main">
            <a:pPr>
              <a:defRPr sz="1575" b="1">
                <a:solidFill>
                  <a:srgbClr val="A8C1FF"/>
                </a:solidFill>
                <a:latin typeface="Arial"/>
                <a:ea typeface="Arial"/>
                <a:cs typeface="Arial"/>
              </a:defRPr>
            </a:pPr>
            <a:r>
              <a:rPr sz="1575" b="1">
                <a:solidFill>
                  <a:srgbClr val="A8C1FF"/>
                </a:solidFill>
                <a:latin typeface="Arial"/>
                <a:ea typeface="Arial"/>
                <a:cs typeface="Arial"/>
              </a:rPr>
              <a:t>KOTLIN VE XML</a:t>
            </a:r>
          </a:p>
        </p:txBody>
      </p:sp>
      <p:sp>
        <p:nvSpPr>
          <p:cNvPr id="2" name="text-2">
            <a:extLst xmlns:a="http://schemas.openxmlformats.org/drawingml/2006/main">
              <a:ext uri="{FF2B5EF4-FFF2-40B4-BE49-F238E27FC236}">
                <a16:creationId xmlns:a16="http://schemas.microsoft.com/office/drawing/2014/main" id="{00AF5A68-66FB-4FE4-A3E0-8DD4FA6AD6CB}"/>
              </a:ext>
            </a:extLst>
          </p:cNvPr>
          <p:cNvSpPr>
            <a:spLocks xmlns:a="http://schemas.openxmlformats.org/drawingml/2006/main" noGrp="1"/>
          </p:cNvSpPr>
          <p:nvPr/>
        </p:nvSpPr>
        <p:spPr>
          <a:xfrm xmlns:a="http://schemas.openxmlformats.org/drawingml/2006/main">
            <a:off x="685800" y="184785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FFFFFF"/>
                </a:solidFill>
                <a:latin typeface="Arial"/>
                <a:ea typeface="Arial"/>
                <a:cs typeface="Arial"/>
              </a:defRPr>
            </a:defPPr>
          </a:lstStyle>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Not defterini</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birlikte geliştirelim</a:t>
            </a:r>
          </a:p>
        </p:txBody>
      </p:sp>
      <p:sp>
        <p:nvSpPr>
          <p:cNvPr id="3" name="text-3">
            <a:extLst xmlns:a="http://schemas.openxmlformats.org/drawingml/2006/main">
              <a:ext uri="{FF2B5EF4-FFF2-40B4-BE49-F238E27FC236}">
                <a16:creationId xmlns:a16="http://schemas.microsoft.com/office/drawing/2014/main" id="{9D4607FD-EE36-4189-9D14-947F8E80DF1F}"/>
              </a:ext>
            </a:extLst>
          </p:cNvPr>
          <p:cNvSpPr>
            <a:spLocks xmlns:a="http://schemas.openxmlformats.org/drawingml/2006/main" noGrp="1"/>
          </p:cNvSpPr>
          <p:nvPr/>
        </p:nvSpPr>
        <p:spPr>
          <a:xfrm xmlns:a="http://schemas.openxmlformats.org/drawingml/2006/main">
            <a:off x="723900" y="4572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DDE7F8"/>
                </a:solidFill>
                <a:latin typeface="Arial"/>
                <a:ea typeface="Arial"/>
                <a:cs typeface="Arial"/>
              </a:defRPr>
            </a:defPPr>
          </a:lstStyle>
          <a:p xmlns:a="http://schemas.openxmlformats.org/drawingml/2006/main">
            <a:pPr>
              <a:defRPr sz="2325" b="0">
                <a:solidFill>
                  <a:srgbClr val="DDE7F8"/>
                </a:solidFill>
                <a:latin typeface="Arial"/>
                <a:ea typeface="Arial"/>
                <a:cs typeface="Arial"/>
              </a:defRPr>
            </a:pPr>
            <a:r>
              <a:rPr sz="2325" b="0">
                <a:solidFill>
                  <a:srgbClr val="DDE7F8"/>
                </a:solidFill>
                <a:latin typeface="Arial"/>
                <a:ea typeface="Arial"/>
                <a:cs typeface="Arial"/>
              </a:rPr>
              <a:t>6 grup için görevler, yeni kavramlar ve sunum rehberi</a:t>
            </a:r>
          </a:p>
        </p:txBody>
      </p:sp>
      <p:sp>
        <p:nvSpPr>
          <p:cNvPr id="4" name="text-4">
            <a:extLst xmlns:a="http://schemas.openxmlformats.org/drawingml/2006/main">
              <a:ext uri="{FF2B5EF4-FFF2-40B4-BE49-F238E27FC236}">
                <a16:creationId xmlns:a16="http://schemas.microsoft.com/office/drawing/2014/main" id="{0BBF11AF-F9E7-4292-9635-B3E446A80B4F}"/>
              </a:ext>
            </a:extLst>
          </p:cNvPr>
          <p:cNvSpPr>
            <a:spLocks xmlns:a="http://schemas.openxmlformats.org/drawingml/2006/main" noGrp="1"/>
          </p:cNvSpPr>
          <p:nvPr/>
        </p:nvSpPr>
        <p:spPr>
          <a:xfrm xmlns:a="http://schemas.openxmlformats.org/drawingml/2006/main">
            <a:off x="723900" y="59626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8C1FF"/>
                </a:solidFill>
                <a:latin typeface="Arial"/>
                <a:ea typeface="Arial"/>
                <a:cs typeface="Arial"/>
              </a:defRPr>
            </a:defPPr>
          </a:lstStyle>
          <a:p xmlns:a="http://schemas.openxmlformats.org/drawingml/2006/main">
            <a:pPr>
              <a:defRPr sz="1725" b="0">
                <a:solidFill>
                  <a:srgbClr val="A8C1FF"/>
                </a:solidFill>
                <a:latin typeface="Arial"/>
                <a:ea typeface="Arial"/>
                <a:cs typeface="Arial"/>
              </a:defRPr>
            </a:pPr>
            <a:r>
              <a:rPr sz="1725" b="0">
                <a:solidFill>
                  <a:srgbClr val="A8C1FF"/>
                </a:solidFill>
                <a:latin typeface="Arial"/>
                <a:ea typeface="Arial"/>
                <a:cs typeface="Arial"/>
              </a:rPr>
              <a:t>24 öğrenci / her grupta 4 kişi</a:t>
            </a:r>
          </a:p>
        </p:txBody>
      </p:sp>
    </p:spTree>
    <p:extLst>
      <p:ext uri="{BB962C8B-B14F-4D97-AF65-F5344CB8AC3E}">
        <p14:creationId xmlns:p14="http://schemas.microsoft.com/office/powerpoint/2010/main" val="1256386951"/>
      </p:ext>
    </p:extLst>
  </p:cSld>
</p:sld>
</file>

<file path=ppt/slides/slide2.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3" name="text-5">
            <a:extLst xmlns:a="http://schemas.openxmlformats.org/drawingml/2006/main">
              <a:ext uri="{FF2B5EF4-FFF2-40B4-BE49-F238E27FC236}">
                <a16:creationId xmlns:a16="http://schemas.microsoft.com/office/drawing/2014/main" id="{58CFDDB3-C004-40C6-8EC5-9EA628DC0F39}"/>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ORTAK ÇALIŞMA</a:t>
            </a:r>
          </a:p>
        </p:txBody>
      </p:sp>
      <p:sp>
        <p:nvSpPr>
          <p:cNvPr id="2" name="text-6">
            <a:extLst xmlns:a="http://schemas.openxmlformats.org/drawingml/2006/main">
              <a:ext uri="{FF2B5EF4-FFF2-40B4-BE49-F238E27FC236}">
                <a16:creationId xmlns:a16="http://schemas.microsoft.com/office/drawing/2014/main" id="{CDD4EA00-8BD3-4901-836E-8663D25E65DA}"/>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Ortak başlangıç ve kapsam</a:t>
            </a:r>
          </a:p>
        </p:txBody>
      </p:sp>
      <p:sp>
        <p:nvSpPr>
          <p:cNvPr id="3" name="text-7">
            <a:extLst xmlns:a="http://schemas.openxmlformats.org/drawingml/2006/main">
              <a:ext uri="{FF2B5EF4-FFF2-40B4-BE49-F238E27FC236}">
                <a16:creationId xmlns:a16="http://schemas.microsoft.com/office/drawing/2014/main" id="{73813946-0637-4279-8695-0085106AEC1B}"/>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02</a:t>
            </a:r>
          </a:p>
        </p:txBody>
      </p:sp>
      <p:sp>
        <p:nvSpPr>
          <p:cNvPr id="4" name="text-8">
            <a:extLst xmlns:a="http://schemas.openxmlformats.org/drawingml/2006/main">
              <a:ext uri="{FF2B5EF4-FFF2-40B4-BE49-F238E27FC236}">
                <a16:creationId xmlns:a16="http://schemas.microsoft.com/office/drawing/2014/main" id="{F4EBB9F1-7291-4E48-8D54-17C20A9409E6}"/>
              </a:ext>
            </a:extLst>
          </p:cNvPr>
          <p:cNvSpPr>
            <a:spLocks xmlns:a="http://schemas.openxmlformats.org/drawingml/2006/main" noGrp="1"/>
          </p:cNvSpPr>
          <p:nvPr/>
        </p:nvSpPr>
        <p:spPr>
          <a:xfrm xmlns:a="http://schemas.openxmlformats.org/drawingml/2006/main">
            <a:off x="609600" y="16954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58C6"/>
                </a:solidFill>
                <a:latin typeface="Arial"/>
                <a:ea typeface="Arial"/>
                <a:cs typeface="Arial"/>
              </a:defRPr>
            </a:defPPr>
          </a:lstStyle>
          <a:p xmlns:a="http://schemas.openxmlformats.org/drawingml/2006/main">
            <a:pPr>
              <a:defRPr sz="2175" b="1">
                <a:solidFill>
                  <a:srgbClr val="2458C6"/>
                </a:solidFill>
                <a:latin typeface="Arial"/>
                <a:ea typeface="Arial"/>
                <a:cs typeface="Arial"/>
              </a:defRPr>
            </a:pPr>
            <a:r>
              <a:rPr sz="2175" b="1">
                <a:solidFill>
                  <a:srgbClr val="2458C6"/>
                </a:solidFill>
                <a:latin typeface="Arial"/>
                <a:ea typeface="Arial"/>
                <a:cs typeface="Arial"/>
              </a:rPr>
              <a:t>Başlangıç projesi</a:t>
            </a:r>
          </a:p>
        </p:txBody>
      </p:sp>
      <p:sp>
        <p:nvSpPr>
          <p:cNvPr id="5" name="text-9">
            <a:extLst xmlns:a="http://schemas.openxmlformats.org/drawingml/2006/main">
              <a:ext uri="{FF2B5EF4-FFF2-40B4-BE49-F238E27FC236}">
                <a16:creationId xmlns:a16="http://schemas.microsoft.com/office/drawing/2014/main" id="{72BE19AA-D991-4EBE-9A09-FB5047474AB6}"/>
              </a:ext>
            </a:extLst>
          </p:cNvPr>
          <p:cNvSpPr>
            <a:spLocks xmlns:a="http://schemas.openxmlformats.org/drawingml/2006/main" noGrp="1"/>
          </p:cNvSpPr>
          <p:nvPr/>
        </p:nvSpPr>
        <p:spPr>
          <a:xfrm xmlns:a="http://schemas.openxmlformats.org/drawingml/2006/main">
            <a:off x="609600" y="22479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XML arayüzü ve binding hazır.</a:t>
            </a:r>
          </a:p>
        </p:txBody>
      </p:sp>
      <p:sp>
        <p:nvSpPr>
          <p:cNvPr id="6" name="text-10">
            <a:extLst xmlns:a="http://schemas.openxmlformats.org/drawingml/2006/main">
              <a:ext uri="{FF2B5EF4-FFF2-40B4-BE49-F238E27FC236}">
                <a16:creationId xmlns:a16="http://schemas.microsoft.com/office/drawing/2014/main" id="{2C257762-379C-43CC-B30A-37151BE4AD26}"/>
              </a:ext>
            </a:extLst>
          </p:cNvPr>
          <p:cNvSpPr>
            <a:spLocks xmlns:a="http://schemas.openxmlformats.org/drawingml/2006/main" noGrp="1"/>
          </p:cNvSpPr>
          <p:nvPr/>
        </p:nvSpPr>
        <p:spPr>
          <a:xfrm xmlns:a="http://schemas.openxmlformats.org/drawingml/2006/main">
            <a:off x="609600" y="29337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Not ekleme ve RecyclerView çalışıyor.</a:t>
            </a:r>
          </a:p>
        </p:txBody>
      </p:sp>
      <p:sp>
        <p:nvSpPr>
          <p:cNvPr id="7" name="text-11">
            <a:extLst xmlns:a="http://schemas.openxmlformats.org/drawingml/2006/main">
              <a:ext uri="{FF2B5EF4-FFF2-40B4-BE49-F238E27FC236}">
                <a16:creationId xmlns:a16="http://schemas.microsoft.com/office/drawing/2014/main" id="{8A4E1AE0-2A18-4A19-B244-288972EE9BF3}"/>
              </a:ext>
            </a:extLst>
          </p:cNvPr>
          <p:cNvSpPr>
            <a:spLocks xmlns:a="http://schemas.openxmlformats.org/drawingml/2006/main" noGrp="1"/>
          </p:cNvSpPr>
          <p:nvPr/>
        </p:nvSpPr>
        <p:spPr>
          <a:xfrm xmlns:a="http://schemas.openxmlformats.org/drawingml/2006/main">
            <a:off x="609600" y="36195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Her notun benzersiz kimliği var.</a:t>
            </a:r>
          </a:p>
        </p:txBody>
      </p:sp>
      <p:sp>
        <p:nvSpPr>
          <p:cNvPr id="8" name="text-12">
            <a:extLst xmlns:a="http://schemas.openxmlformats.org/drawingml/2006/main">
              <a:ext uri="{FF2B5EF4-FFF2-40B4-BE49-F238E27FC236}">
                <a16:creationId xmlns:a16="http://schemas.microsoft.com/office/drawing/2014/main" id="{CA47B2E3-4A51-4C63-BE80-F1BA5A4EFE06}"/>
              </a:ext>
            </a:extLst>
          </p:cNvPr>
          <p:cNvSpPr>
            <a:spLocks xmlns:a="http://schemas.openxmlformats.org/drawingml/2006/main" noGrp="1"/>
          </p:cNvSpPr>
          <p:nvPr/>
        </p:nvSpPr>
        <p:spPr>
          <a:xfrm xmlns:a="http://schemas.openxmlformats.org/drawingml/2006/main">
            <a:off x="6705600" y="16954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58C6"/>
                </a:solidFill>
                <a:latin typeface="Arial"/>
                <a:ea typeface="Arial"/>
                <a:cs typeface="Arial"/>
              </a:defRPr>
            </a:defPPr>
          </a:lstStyle>
          <a:p xmlns:a="http://schemas.openxmlformats.org/drawingml/2006/main">
            <a:pPr>
              <a:defRPr sz="2175" b="1">
                <a:solidFill>
                  <a:srgbClr val="2458C6"/>
                </a:solidFill>
                <a:latin typeface="Arial"/>
                <a:ea typeface="Arial"/>
                <a:cs typeface="Arial"/>
              </a:defRPr>
            </a:pPr>
            <a:r>
              <a:rPr sz="2175" b="1">
                <a:solidFill>
                  <a:srgbClr val="2458C6"/>
                </a:solidFill>
                <a:latin typeface="Arial"/>
                <a:ea typeface="Arial"/>
                <a:cs typeface="Arial"/>
              </a:rPr>
              <a:t>Bu çalışmanın sınırı</a:t>
            </a:r>
          </a:p>
        </p:txBody>
      </p:sp>
      <p:sp>
        <p:nvSpPr>
          <p:cNvPr id="9" name="text-13">
            <a:extLst xmlns:a="http://schemas.openxmlformats.org/drawingml/2006/main">
              <a:ext uri="{FF2B5EF4-FFF2-40B4-BE49-F238E27FC236}">
                <a16:creationId xmlns:a16="http://schemas.microsoft.com/office/drawing/2014/main" id="{89ADBFF1-3228-45C6-B4B7-EE4BA9311080}"/>
              </a:ext>
            </a:extLst>
          </p:cNvPr>
          <p:cNvSpPr>
            <a:spLocks xmlns:a="http://schemas.openxmlformats.org/drawingml/2006/main" noGrp="1"/>
          </p:cNvSpPr>
          <p:nvPr/>
        </p:nvSpPr>
        <p:spPr>
          <a:xfrm xmlns:a="http://schemas.openxmlformats.org/drawingml/2006/main">
            <a:off x="6705600" y="224790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Her grup ayrı bir kopyada çalışır.</a:t>
            </a:r>
          </a:p>
        </p:txBody>
      </p:sp>
      <p:sp>
        <p:nvSpPr>
          <p:cNvPr id="10" name="text-14">
            <a:extLst xmlns:a="http://schemas.openxmlformats.org/drawingml/2006/main">
              <a:ext uri="{FF2B5EF4-FFF2-40B4-BE49-F238E27FC236}">
                <a16:creationId xmlns:a16="http://schemas.microsoft.com/office/drawing/2014/main" id="{9CEB8268-AF89-4C07-B58A-BCB0CCD1A2EA}"/>
              </a:ext>
            </a:extLst>
          </p:cNvPr>
          <p:cNvSpPr>
            <a:spLocks xmlns:a="http://schemas.openxmlformats.org/drawingml/2006/main" noGrp="1"/>
          </p:cNvSpPr>
          <p:nvPr/>
        </p:nvSpPr>
        <p:spPr>
          <a:xfrm xmlns:a="http://schemas.openxmlformats.org/drawingml/2006/main">
            <a:off x="6705600" y="293370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Notlar yalnızca bellekte tutulur.</a:t>
            </a:r>
          </a:p>
        </p:txBody>
      </p:sp>
      <p:sp>
        <p:nvSpPr>
          <p:cNvPr id="11" name="text-15">
            <a:extLst xmlns:a="http://schemas.openxmlformats.org/drawingml/2006/main">
              <a:ext uri="{FF2B5EF4-FFF2-40B4-BE49-F238E27FC236}">
                <a16:creationId xmlns:a16="http://schemas.microsoft.com/office/drawing/2014/main" id="{11EF23FE-4F94-423C-91B9-14D764422E07}"/>
              </a:ext>
            </a:extLst>
          </p:cNvPr>
          <p:cNvSpPr>
            <a:spLocks xmlns:a="http://schemas.openxmlformats.org/drawingml/2006/main" noGrp="1"/>
          </p:cNvSpPr>
          <p:nvPr/>
        </p:nvSpPr>
        <p:spPr>
          <a:xfrm xmlns:a="http://schemas.openxmlformats.org/drawingml/2006/main">
            <a:off x="6705600" y="361950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Fragment, API ve veritabanı</a:t>
            </a:r>
          </a:p>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sonraki çalışmalara kalır.</a:t>
            </a:r>
          </a:p>
        </p:txBody>
      </p:sp>
      <p:sp>
        <p:nvSpPr>
          <p:cNvPr id="12" name="text-16">
            <a:extLst xmlns:a="http://schemas.openxmlformats.org/drawingml/2006/main">
              <a:ext uri="{FF2B5EF4-FFF2-40B4-BE49-F238E27FC236}">
                <a16:creationId xmlns:a16="http://schemas.microsoft.com/office/drawing/2014/main" id="{F2874625-11A7-4817-BCDA-14EDE17FB138}"/>
              </a:ext>
            </a:extLst>
          </p:cNvPr>
          <p:cNvSpPr>
            <a:spLocks xmlns:a="http://schemas.openxmlformats.org/drawingml/2006/main" noGrp="1"/>
          </p:cNvSpPr>
          <p:nvPr/>
        </p:nvSpPr>
        <p:spPr>
          <a:xfrm xmlns:a="http://schemas.openxmlformats.org/drawingml/2006/main">
            <a:off x="609600" y="53911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5243A"/>
                </a:solidFill>
                <a:latin typeface="Arial"/>
                <a:ea typeface="Arial"/>
                <a:cs typeface="Arial"/>
              </a:defRPr>
            </a:defPPr>
          </a:lstStyle>
          <a:p xmlns:a="http://schemas.openxmlformats.org/drawingml/2006/main">
            <a:pPr>
              <a:defRPr sz="2325" b="1">
                <a:solidFill>
                  <a:srgbClr val="15243A"/>
                </a:solidFill>
                <a:latin typeface="Arial"/>
                <a:ea typeface="Arial"/>
                <a:cs typeface="Arial"/>
              </a:defRPr>
            </a:pPr>
            <a:r>
              <a:rPr sz="2325" b="1">
                <a:solidFill>
                  <a:srgbClr val="15243A"/>
                </a:solidFill>
                <a:latin typeface="Arial"/>
                <a:ea typeface="Arial"/>
                <a:cs typeface="Arial"/>
              </a:rPr>
              <a:t>Hedef: Bir özelliği çalıştırmak ve veri akışını açıklayabilmek</a:t>
            </a:r>
          </a:p>
        </p:txBody>
      </p:sp>
    </p:spTree>
    <p:extLst>
      <p:ext uri="{BB962C8B-B14F-4D97-AF65-F5344CB8AC3E}">
        <p14:creationId xmlns:p14="http://schemas.microsoft.com/office/powerpoint/2010/main" val="1360468564"/>
      </p:ext>
    </p:extLst>
  </p:cSld>
</p:sld>
</file>

<file path=ppt/slides/slide3.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5" name="text-17">
            <a:extLst xmlns:a="http://schemas.openxmlformats.org/drawingml/2006/main">
              <a:ext uri="{FF2B5EF4-FFF2-40B4-BE49-F238E27FC236}">
                <a16:creationId xmlns:a16="http://schemas.microsoft.com/office/drawing/2014/main" id="{68F3EAD4-C1AF-431B-953C-7C52EFAA21BB}"/>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ORTAK ÇALIŞMA</a:t>
            </a:r>
          </a:p>
        </p:txBody>
      </p:sp>
      <p:sp>
        <p:nvSpPr>
          <p:cNvPr id="2" name="text-18">
            <a:extLst xmlns:a="http://schemas.openxmlformats.org/drawingml/2006/main">
              <a:ext uri="{FF2B5EF4-FFF2-40B4-BE49-F238E27FC236}">
                <a16:creationId xmlns:a16="http://schemas.microsoft.com/office/drawing/2014/main" id="{C7AAF137-9A08-4992-8872-5C976F7D4D96}"/>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Altı grubun görev dağılımı</a:t>
            </a:r>
          </a:p>
        </p:txBody>
      </p:sp>
      <p:sp>
        <p:nvSpPr>
          <p:cNvPr id="3" name="text-19">
            <a:extLst xmlns:a="http://schemas.openxmlformats.org/drawingml/2006/main">
              <a:ext uri="{FF2B5EF4-FFF2-40B4-BE49-F238E27FC236}">
                <a16:creationId xmlns:a16="http://schemas.microsoft.com/office/drawing/2014/main" id="{FE4E42E8-600A-4DEA-9BF6-03E165D637AC}"/>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47CD28D9-FFF9-4654-AA96-2E23B2BAE323}"/>
              </a:ext>
            </a:extLst>
          </p:cNvPr>
          <p:cNvGraphicFramePr/>
          <p:nvPr/>
        </p:nvGraphicFramePr>
        <p:xfrm>
          <a:off xmlns:a="http://schemas.openxmlformats.org/drawingml/2006/main" x="609600" y="1619250"/>
          <a:ext xmlns:a="http://schemas.openxmlformats.org/drawingml/2006/main" cx="10972800" cy="4191000"/>
        </p:xfrm>
        <a:graphic xmlns:a="http://schemas.openxmlformats.org/drawingml/2006/main">
          <a:graphicData uri="http://schemas.openxmlformats.org/drawingml/2006/table">
            <a:tbl>
              <a:tblPr/>
              <a:tblGrid>
                <a:gridCol w="952500"/>
                <a:gridCol w="2857500"/>
                <a:gridCol w="7162800"/>
              </a:tblGrid>
              <a:tr h="598714">
                <a:tc>
                  <a:txBody>
                    <a:bodyPr lIns="114300" tIns="114300" rIns="114300" bIns="114300"/>
                    <a:lstStyle/>
                    <a:p>
                      <a:r>
                        <a:rPr sz="1875" b="1">
                          <a:solidFill>
                            <a:srgbClr val="FFFFFF"/>
                          </a:solidFill>
                          <a:latin typeface="Arial"/>
                          <a:ea typeface="Arial"/>
                          <a:cs typeface="Arial"/>
                        </a:rPr>
                        <a:t>Grup</a:t>
                      </a:r>
                    </a:p>
                  </a:txBody>
                  <a:tcPr marL="91440" marR="91440" marT="45720" marB="45720" anchor="ctr">
                    <a:lnL w="9525">
                      <a:solidFill>
                        <a:srgbClr val="DCE3EC"/>
                      </a:solidFill>
                      <a:prstDash val="solid"/>
                    </a:lnL>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c>
                  <a:txBody>
                    <a:bodyPr lIns="114300" tIns="114300" rIns="114300" bIns="114300"/>
                    <a:lstStyle/>
                    <a:p>
                      <a:r>
                        <a:rPr sz="1875" b="1">
                          <a:solidFill>
                            <a:srgbClr val="FFFFFF"/>
                          </a:solidFill>
                          <a:latin typeface="Arial"/>
                          <a:ea typeface="Arial"/>
                          <a:cs typeface="Arial"/>
                        </a:rPr>
                        <a:t>Ana görev</a:t>
                      </a:r>
                    </a:p>
                  </a:txBody>
                  <a:tcPr marL="91440" marR="91440" marT="45720" marB="45720" anchor="ctr">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c>
                  <a:txBody>
                    <a:bodyPr lIns="114300" tIns="114300" rIns="114300" bIns="114300"/>
                    <a:lstStyle/>
                    <a:p>
                      <a:r>
                        <a:rPr sz="1875" b="1">
                          <a:solidFill>
                            <a:srgbClr val="FFFFFF"/>
                          </a:solidFill>
                          <a:latin typeface="Arial"/>
                          <a:ea typeface="Arial"/>
                          <a:cs typeface="Arial"/>
                        </a:rPr>
                        <a:t>Gösterilecek sonuç</a:t>
                      </a:r>
                    </a:p>
                  </a:txBody>
                  <a:tcPr marL="91440" marR="91440" marT="45720" marB="45720" anchor="ctr">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r>
              <a:tr h="598714">
                <a:tc>
                  <a:txBody>
                    <a:bodyPr lIns="114300" tIns="114300" rIns="114300" bIns="114300"/>
                    <a:lstStyle/>
                    <a:p>
                      <a:r>
                        <a:rPr sz="1875" b="0">
                          <a:solidFill>
                            <a:srgbClr val="15243A"/>
                          </a:solidFill>
                          <a:latin typeface="Arial"/>
                          <a:ea typeface="Arial"/>
                          <a:cs typeface="Arial"/>
                        </a:rPr>
                        <a:t>1</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Silme</a:t>
                      </a:r>
                    </a:p>
                  </a:txBody>
                  <a:tcPr marL="91440" marR="91440" marT="45720" marB="45720" anchor="ctr">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Seçilen not listeden kalkar</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r h="598714">
                <a:tc>
                  <a:txBody>
                    <a:bodyPr lIns="114300" tIns="114300" rIns="114300" bIns="114300"/>
                    <a:lstStyle/>
                    <a:p>
                      <a:r>
                        <a:rPr sz="1875" b="0">
                          <a:solidFill>
                            <a:srgbClr val="15243A"/>
                          </a:solidFill>
                          <a:latin typeface="Arial"/>
                          <a:ea typeface="Arial"/>
                          <a:cs typeface="Arial"/>
                        </a:rPr>
                        <a:t>2</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875" b="0">
                          <a:solidFill>
                            <a:srgbClr val="15243A"/>
                          </a:solidFill>
                          <a:latin typeface="Arial"/>
                          <a:ea typeface="Arial"/>
                          <a:cs typeface="Arial"/>
                        </a:rPr>
                        <a:t>Düzenleme</a:t>
                      </a:r>
                    </a:p>
                  </a:txBody>
                  <a:tcPr marL="91440" marR="91440" marT="45720" marB="45720" anchor="ctr">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875" b="0">
                          <a:solidFill>
                            <a:srgbClr val="15243A"/>
                          </a:solidFill>
                          <a:latin typeface="Arial"/>
                          <a:ea typeface="Arial"/>
                          <a:cs typeface="Arial"/>
                        </a:rPr>
                        <a:t>Aynı notun metni değişir</a:t>
                      </a:r>
                    </a:p>
                  </a:txBody>
                  <a:tcPr marL="91440" marR="91440" marT="45720" marB="45720" anchor="ctr">
                    <a:lnR w="9525">
                      <a:solidFill>
                        <a:srgbClr val="DCE3EC"/>
                      </a:solidFill>
                      <a:prstDash val="solid"/>
                    </a:lnR>
                    <a:lnB w="9525">
                      <a:solidFill>
                        <a:srgbClr val="DCE3EC"/>
                      </a:solidFill>
                      <a:prstDash val="solid"/>
                    </a:lnB>
                    <a:solidFill>
                      <a:srgbClr val="EBEFF5"/>
                    </a:solidFill>
                  </a:tcPr>
                </a:tc>
              </a:tr>
              <a:tr h="598714">
                <a:tc>
                  <a:txBody>
                    <a:bodyPr lIns="114300" tIns="114300" rIns="114300" bIns="114300"/>
                    <a:lstStyle/>
                    <a:p>
                      <a:r>
                        <a:rPr sz="1875" b="0">
                          <a:solidFill>
                            <a:srgbClr val="15243A"/>
                          </a:solidFill>
                          <a:latin typeface="Arial"/>
                          <a:ea typeface="Arial"/>
                          <a:cs typeface="Arial"/>
                        </a:rPr>
                        <a:t>3</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Arama</a:t>
                      </a:r>
                    </a:p>
                  </a:txBody>
                  <a:tcPr marL="91440" marR="91440" marT="45720" marB="45720" anchor="ctr">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Eşleşen notlar listelenir</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r h="598714">
                <a:tc>
                  <a:txBody>
                    <a:bodyPr lIns="114300" tIns="114300" rIns="114300" bIns="114300"/>
                    <a:lstStyle/>
                    <a:p>
                      <a:r>
                        <a:rPr sz="1875" b="0">
                          <a:solidFill>
                            <a:srgbClr val="15243A"/>
                          </a:solidFill>
                          <a:latin typeface="Arial"/>
                          <a:ea typeface="Arial"/>
                          <a:cs typeface="Arial"/>
                        </a:rPr>
                        <a:t>4</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875" b="0">
                          <a:solidFill>
                            <a:srgbClr val="15243A"/>
                          </a:solidFill>
                          <a:latin typeface="Arial"/>
                          <a:ea typeface="Arial"/>
                          <a:cs typeface="Arial"/>
                        </a:rPr>
                        <a:t>Favoriler</a:t>
                      </a:r>
                    </a:p>
                  </a:txBody>
                  <a:tcPr marL="91440" marR="91440" marT="45720" marB="45720" anchor="ctr">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875" b="0">
                          <a:solidFill>
                            <a:srgbClr val="15243A"/>
                          </a:solidFill>
                          <a:latin typeface="Arial"/>
                          <a:ea typeface="Arial"/>
                          <a:cs typeface="Arial"/>
                        </a:rPr>
                        <a:t>Seçilen notlar ayrıca süzülür</a:t>
                      </a:r>
                    </a:p>
                  </a:txBody>
                  <a:tcPr marL="91440" marR="91440" marT="45720" marB="45720" anchor="ctr">
                    <a:lnR w="9525">
                      <a:solidFill>
                        <a:srgbClr val="DCE3EC"/>
                      </a:solidFill>
                      <a:prstDash val="solid"/>
                    </a:lnR>
                    <a:lnB w="9525">
                      <a:solidFill>
                        <a:srgbClr val="DCE3EC"/>
                      </a:solidFill>
                      <a:prstDash val="solid"/>
                    </a:lnB>
                    <a:solidFill>
                      <a:srgbClr val="EBEFF5"/>
                    </a:solidFill>
                  </a:tcPr>
                </a:tc>
              </a:tr>
              <a:tr h="598714">
                <a:tc>
                  <a:txBody>
                    <a:bodyPr lIns="114300" tIns="114300" rIns="114300" bIns="114300"/>
                    <a:lstStyle/>
                    <a:p>
                      <a:r>
                        <a:rPr sz="1875" b="0">
                          <a:solidFill>
                            <a:srgbClr val="15243A"/>
                          </a:solidFill>
                          <a:latin typeface="Arial"/>
                          <a:ea typeface="Arial"/>
                          <a:cs typeface="Arial"/>
                        </a:rPr>
                        <a:t>5</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Sıralama</a:t>
                      </a:r>
                    </a:p>
                  </a:txBody>
                  <a:tcPr marL="91440" marR="91440" marT="45720" marB="45720" anchor="ctr">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Gösterim sırası değişir</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r h="598714">
                <a:tc>
                  <a:txBody>
                    <a:bodyPr lIns="114300" tIns="114300" rIns="114300" bIns="114300"/>
                    <a:lstStyle/>
                    <a:p>
                      <a:r>
                        <a:rPr sz="1875" b="0">
                          <a:solidFill>
                            <a:srgbClr val="15243A"/>
                          </a:solidFill>
                          <a:latin typeface="Arial"/>
                          <a:ea typeface="Arial"/>
                          <a:cs typeface="Arial"/>
                        </a:rPr>
                        <a:t>6</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875" b="0">
                          <a:solidFill>
                            <a:srgbClr val="15243A"/>
                          </a:solidFill>
                          <a:latin typeface="Arial"/>
                          <a:ea typeface="Arial"/>
                          <a:cs typeface="Arial"/>
                        </a:rPr>
                        <a:t>Giriş kontrolü</a:t>
                      </a:r>
                    </a:p>
                  </a:txBody>
                  <a:tcPr marL="91440" marR="91440" marT="45720" marB="45720" anchor="ctr">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875" b="0">
                          <a:solidFill>
                            <a:srgbClr val="15243A"/>
                          </a:solidFill>
                          <a:latin typeface="Arial"/>
                          <a:ea typeface="Arial"/>
                          <a:cs typeface="Arial"/>
                        </a:rPr>
                        <a:t>Geçersiz giriş reddedilir</a:t>
                      </a:r>
                    </a:p>
                  </a:txBody>
                  <a:tcPr marL="91440" marR="91440" marT="45720" marB="45720" anchor="ctr">
                    <a:lnR w="9525">
                      <a:solidFill>
                        <a:srgbClr val="DCE3EC"/>
                      </a:solidFill>
                      <a:prstDash val="solid"/>
                    </a:lnR>
                    <a:lnB w="9525">
                      <a:solidFill>
                        <a:srgbClr val="DCE3EC"/>
                      </a:solidFill>
                      <a:prstDash val="solid"/>
                    </a:lnB>
                    <a:solidFill>
                      <a:srgbClr val="EBEFF5"/>
                    </a:solidFill>
                  </a:tcPr>
                </a:tc>
              </a:tr>
            </a:tbl>
          </a:graphicData>
        </a:graphic>
      </p:graphicFrame>
    </p:spTree>
    <p:extLst>
      <p:ext uri="{BB962C8B-B14F-4D97-AF65-F5344CB8AC3E}">
        <p14:creationId xmlns:p14="http://schemas.microsoft.com/office/powerpoint/2010/main" val="873108063"/>
      </p:ext>
    </p:extLst>
  </p:cSld>
</p:sld>
</file>

<file path=ppt/slides/slide4.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9" name="text-20">
            <a:extLst xmlns:a="http://schemas.openxmlformats.org/drawingml/2006/main">
              <a:ext uri="{FF2B5EF4-FFF2-40B4-BE49-F238E27FC236}">
                <a16:creationId xmlns:a16="http://schemas.microsoft.com/office/drawing/2014/main" id="{838CE80F-A2E2-4BCA-8A67-C2D8CB41172E}"/>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ORTAK ÇALIŞMA</a:t>
            </a:r>
          </a:p>
        </p:txBody>
      </p:sp>
      <p:sp>
        <p:nvSpPr>
          <p:cNvPr id="2" name="text-21">
            <a:extLst xmlns:a="http://schemas.openxmlformats.org/drawingml/2006/main">
              <a:ext uri="{FF2B5EF4-FFF2-40B4-BE49-F238E27FC236}">
                <a16:creationId xmlns:a16="http://schemas.microsoft.com/office/drawing/2014/main" id="{44A36A6F-6183-4AED-A787-D8E173D06635}"/>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Not kimliği ve satırın yeri</a:t>
            </a:r>
          </a:p>
        </p:txBody>
      </p:sp>
      <p:sp>
        <p:nvSpPr>
          <p:cNvPr id="3" name="text-22">
            <a:extLst xmlns:a="http://schemas.openxmlformats.org/drawingml/2006/main">
              <a:ext uri="{FF2B5EF4-FFF2-40B4-BE49-F238E27FC236}">
                <a16:creationId xmlns:a16="http://schemas.microsoft.com/office/drawing/2014/main" id="{9D081877-963F-45B8-BE65-25C0FA64D2A3}"/>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04</a:t>
            </a:r>
          </a:p>
        </p:txBody>
      </p:sp>
      <p:sp>
        <p:nvSpPr>
          <p:cNvPr id="4" name="text-23">
            <a:extLst xmlns:a="http://schemas.openxmlformats.org/drawingml/2006/main">
              <a:ext uri="{FF2B5EF4-FFF2-40B4-BE49-F238E27FC236}">
                <a16:creationId xmlns:a16="http://schemas.microsoft.com/office/drawing/2014/main" id="{67BF189E-8462-4B44-9005-7FFF83F3E30E}"/>
              </a:ext>
            </a:extLst>
          </p:cNvPr>
          <p:cNvSpPr>
            <a:spLocks xmlns:a="http://schemas.openxmlformats.org/drawingml/2006/main" noGrp="1"/>
          </p:cNvSpPr>
          <p:nvPr/>
        </p:nvSpPr>
        <p:spPr>
          <a:xfrm xmlns:a="http://schemas.openxmlformats.org/drawingml/2006/main">
            <a:off x="609600" y="1619250"/>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58C6"/>
                </a:solidFill>
                <a:latin typeface="Arial"/>
                <a:ea typeface="Arial"/>
                <a:cs typeface="Arial"/>
              </a:defRPr>
            </a:defPPr>
          </a:lstStyle>
          <a:p xmlns:a="http://schemas.openxmlformats.org/drawingml/2006/main">
            <a:pPr>
              <a:defRPr sz="2175" b="1">
                <a:solidFill>
                  <a:srgbClr val="2458C6"/>
                </a:solidFill>
                <a:latin typeface="Arial"/>
                <a:ea typeface="Arial"/>
                <a:cs typeface="Arial"/>
              </a:defRPr>
            </a:pPr>
            <a:r>
              <a:rPr sz="2175" b="1">
                <a:solidFill>
                  <a:srgbClr val="2458C6"/>
                </a:solidFill>
                <a:latin typeface="Arial"/>
                <a:ea typeface="Arial"/>
                <a:cs typeface="Arial"/>
              </a:rPr>
              <a:t>Aynı metin, farklı not</a:t>
            </a:r>
          </a:p>
        </p:txBody>
      </p:sp>
      <p:graphicFrame>
        <p:nvGraphicFramePr>
          <p:cNvPr id="5" name="">
            <a:extLst xmlns:a="http://schemas.openxmlformats.org/drawingml/2006/main">
              <a:ext uri="{FF2B5EF4-FFF2-40B4-BE49-F238E27FC236}">
                <a16:creationId xmlns:a16="http://schemas.microsoft.com/office/drawing/2014/main" id="{F8088F8E-D666-4E52-B632-A2D79A86CD6F}"/>
              </a:ext>
            </a:extLst>
          </p:cNvPr>
          <p:cNvGraphicFramePr/>
          <p:nvPr/>
        </p:nvGraphicFramePr>
        <p:xfrm>
          <a:off xmlns:a="http://schemas.openxmlformats.org/drawingml/2006/main" x="609600" y="2152650"/>
          <a:ext xmlns:a="http://schemas.openxmlformats.org/drawingml/2006/main" cx="6096000" cy="2400300"/>
        </p:xfrm>
        <a:graphic xmlns:a="http://schemas.openxmlformats.org/drawingml/2006/main">
          <a:graphicData uri="http://schemas.openxmlformats.org/drawingml/2006/table">
            <a:tbl>
              <a:tblPr/>
              <a:tblGrid>
                <a:gridCol w="1047750"/>
                <a:gridCol w="5048250"/>
              </a:tblGrid>
              <a:tr h="600075">
                <a:tc>
                  <a:txBody>
                    <a:bodyPr lIns="114300" tIns="114300" rIns="114300" bIns="114300"/>
                    <a:lstStyle/>
                    <a:p>
                      <a:r>
                        <a:rPr sz="1950" b="1">
                          <a:solidFill>
                            <a:srgbClr val="FFFFFF"/>
                          </a:solidFill>
                          <a:latin typeface="Arial"/>
                          <a:ea typeface="Arial"/>
                          <a:cs typeface="Arial"/>
                        </a:rPr>
                        <a:t>id</a:t>
                      </a:r>
                    </a:p>
                  </a:txBody>
                  <a:tcPr marL="91440" marR="91440" marT="45720" marB="45720" anchor="ctr">
                    <a:lnL w="9525">
                      <a:solidFill>
                        <a:srgbClr val="DCE3EC"/>
                      </a:solidFill>
                      <a:prstDash val="solid"/>
                    </a:lnL>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c>
                  <a:txBody>
                    <a:bodyPr lIns="114300" tIns="114300" rIns="114300" bIns="114300"/>
                    <a:lstStyle/>
                    <a:p>
                      <a:r>
                        <a:rPr sz="1950" b="1">
                          <a:solidFill>
                            <a:srgbClr val="FFFFFF"/>
                          </a:solidFill>
                          <a:latin typeface="Arial"/>
                          <a:ea typeface="Arial"/>
                          <a:cs typeface="Arial"/>
                        </a:rPr>
                        <a:t>metin</a:t>
                      </a:r>
                    </a:p>
                  </a:txBody>
                  <a:tcPr marL="91440" marR="91440" marT="45720" marB="45720" anchor="ctr">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r>
              <a:tr h="600075">
                <a:tc>
                  <a:txBody>
                    <a:bodyPr lIns="114300" tIns="114300" rIns="114300" bIns="114300"/>
                    <a:lstStyle/>
                    <a:p>
                      <a:r>
                        <a:rPr sz="1950" b="0">
                          <a:solidFill>
                            <a:srgbClr val="15243A"/>
                          </a:solidFill>
                          <a:latin typeface="Arial"/>
                          <a:ea typeface="Arial"/>
                          <a:cs typeface="Arial"/>
                        </a:rPr>
                        <a:t>101</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950" b="0">
                          <a:solidFill>
                            <a:srgbClr val="15243A"/>
                          </a:solidFill>
                          <a:latin typeface="Arial"/>
                          <a:ea typeface="Arial"/>
                          <a:cs typeface="Arial"/>
                        </a:rPr>
                        <a:t>Matematik çalış</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r h="600075">
                <a:tc>
                  <a:txBody>
                    <a:bodyPr lIns="114300" tIns="114300" rIns="114300" bIns="114300"/>
                    <a:lstStyle/>
                    <a:p>
                      <a:r>
                        <a:rPr sz="1950" b="0">
                          <a:solidFill>
                            <a:srgbClr val="15243A"/>
                          </a:solidFill>
                          <a:latin typeface="Arial"/>
                          <a:ea typeface="Arial"/>
                          <a:cs typeface="Arial"/>
                        </a:rPr>
                        <a:t>102</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950" b="0">
                          <a:solidFill>
                            <a:srgbClr val="15243A"/>
                          </a:solidFill>
                          <a:latin typeface="Arial"/>
                          <a:ea typeface="Arial"/>
                          <a:cs typeface="Arial"/>
                        </a:rPr>
                        <a:t>Kitap oku</a:t>
                      </a:r>
                    </a:p>
                  </a:txBody>
                  <a:tcPr marL="91440" marR="91440" marT="45720" marB="45720" anchor="ctr">
                    <a:lnR w="9525">
                      <a:solidFill>
                        <a:srgbClr val="DCE3EC"/>
                      </a:solidFill>
                      <a:prstDash val="solid"/>
                    </a:lnR>
                    <a:lnB w="9525">
                      <a:solidFill>
                        <a:srgbClr val="DCE3EC"/>
                      </a:solidFill>
                      <a:prstDash val="solid"/>
                    </a:lnB>
                    <a:solidFill>
                      <a:srgbClr val="EBEFF5"/>
                    </a:solidFill>
                  </a:tcPr>
                </a:tc>
              </a:tr>
              <a:tr h="600075">
                <a:tc>
                  <a:txBody>
                    <a:bodyPr lIns="114300" tIns="114300" rIns="114300" bIns="114300"/>
                    <a:lstStyle/>
                    <a:p>
                      <a:r>
                        <a:rPr sz="1950" b="0">
                          <a:solidFill>
                            <a:srgbClr val="15243A"/>
                          </a:solidFill>
                          <a:latin typeface="Arial"/>
                          <a:ea typeface="Arial"/>
                          <a:cs typeface="Arial"/>
                        </a:rPr>
                        <a:t>103</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950" b="0">
                          <a:solidFill>
                            <a:srgbClr val="15243A"/>
                          </a:solidFill>
                          <a:latin typeface="Arial"/>
                          <a:ea typeface="Arial"/>
                          <a:cs typeface="Arial"/>
                        </a:rPr>
                        <a:t>Matematik çalış</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bl>
          </a:graphicData>
        </a:graphic>
      </p:graphicFrame>
      <p:sp>
        <p:nvSpPr>
          <p:cNvPr id="6" name="text-24">
            <a:extLst xmlns:a="http://schemas.openxmlformats.org/drawingml/2006/main">
              <a:ext uri="{FF2B5EF4-FFF2-40B4-BE49-F238E27FC236}">
                <a16:creationId xmlns:a16="http://schemas.microsoft.com/office/drawing/2014/main" id="{C5AA9CFD-E46D-40BA-903A-25590856CB43}"/>
              </a:ext>
            </a:extLst>
          </p:cNvPr>
          <p:cNvSpPr>
            <a:spLocks xmlns:a="http://schemas.openxmlformats.org/drawingml/2006/main" noGrp="1"/>
          </p:cNvSpPr>
          <p:nvPr/>
        </p:nvSpPr>
        <p:spPr>
          <a:xfrm xmlns:a="http://schemas.openxmlformats.org/drawingml/2006/main">
            <a:off x="7381875" y="2152650"/>
            <a:ext cx="4095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Sıralama ve arama satırın yerini değiştirir.</a:t>
            </a:r>
          </a:p>
          <a:p xmlns:a="http://schemas.openxmlformats.org/drawingml/2006/main">
            <a:r>
              <a:t/>
            </a:r>
          </a:p>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Silme ve düzenleme doğru notu</a:t>
            </a:r>
          </a:p>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kimliğiyle bulur.</a:t>
            </a:r>
          </a:p>
        </p:txBody>
      </p:sp>
      <p:sp>
        <p:nvSpPr>
          <p:cNvPr id="7" name="text-25">
            <a:extLst xmlns:a="http://schemas.openxmlformats.org/drawingml/2006/main">
              <a:ext uri="{FF2B5EF4-FFF2-40B4-BE49-F238E27FC236}">
                <a16:creationId xmlns:a16="http://schemas.microsoft.com/office/drawing/2014/main" id="{FD3195A1-A438-4999-872E-F3647DA01F6F}"/>
              </a:ext>
            </a:extLst>
          </p:cNvPr>
          <p:cNvSpPr>
            <a:spLocks xmlns:a="http://schemas.openxmlformats.org/drawingml/2006/main" noGrp="1"/>
          </p:cNvSpPr>
          <p:nvPr/>
        </p:nvSpPr>
        <p:spPr>
          <a:xfrm xmlns:a="http://schemas.openxmlformats.org/drawingml/2006/main">
            <a:off x="609600" y="52578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8C6"/>
                </a:solidFill>
                <a:latin typeface="Arial"/>
                <a:ea typeface="Arial"/>
                <a:cs typeface="Arial"/>
              </a:defRPr>
            </a:defPPr>
          </a:lstStyle>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data class Not(val id: Long, val metin: String, val favori: Boolean = false)</a:t>
            </a:r>
          </a:p>
        </p:txBody>
      </p:sp>
      <p:sp>
        <p:nvSpPr>
          <p:cNvPr id="8" name="text-26">
            <a:extLst xmlns:a="http://schemas.openxmlformats.org/drawingml/2006/main">
              <a:ext uri="{FF2B5EF4-FFF2-40B4-BE49-F238E27FC236}">
                <a16:creationId xmlns:a16="http://schemas.microsoft.com/office/drawing/2014/main" id="{3D06B74A-6570-40BF-B505-289729B9D845}"/>
              </a:ext>
            </a:extLst>
          </p:cNvPr>
          <p:cNvSpPr>
            <a:spLocks xmlns:a="http://schemas.openxmlformats.org/drawingml/2006/main" noGrp="1"/>
          </p:cNvSpPr>
          <p:nvPr/>
        </p:nvSpPr>
        <p:spPr>
          <a:xfrm xmlns:a="http://schemas.openxmlformats.org/drawingml/2006/main">
            <a:off x="609600" y="59436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278"/>
                </a:solidFill>
                <a:latin typeface="Arial"/>
                <a:ea typeface="Arial"/>
                <a:cs typeface="Arial"/>
              </a:defRPr>
            </a:defPPr>
          </a:lstStyle>
          <a:p xmlns:a="http://schemas.openxmlformats.org/drawingml/2006/main">
            <a:pPr>
              <a:defRPr sz="1425" b="0">
                <a:solidFill>
                  <a:srgbClr val="526278"/>
                </a:solidFill>
                <a:latin typeface="Arial"/>
                <a:ea typeface="Arial"/>
                <a:cs typeface="Arial"/>
              </a:defRPr>
            </a:pPr>
            <a:r>
              <a:rPr sz="1425" b="0">
                <a:solidFill>
                  <a:srgbClr val="526278"/>
                </a:solidFill>
                <a:latin typeface="Arial"/>
                <a:ea typeface="Arial"/>
                <a:cs typeface="Arial"/>
              </a:rPr>
              <a:t>Önerilen veri modeli. Alan adlarını başlangıç projenize uyarlayın.</a:t>
            </a:r>
          </a:p>
        </p:txBody>
      </p:sp>
    </p:spTree>
    <p:extLst>
      <p:ext uri="{BB962C8B-B14F-4D97-AF65-F5344CB8AC3E}">
        <p14:creationId xmlns:p14="http://schemas.microsoft.com/office/powerpoint/2010/main" val="867667628"/>
      </p:ext>
    </p:extLst>
  </p:cSld>
</p:sld>
</file>

<file path=ppt/slides/slide5.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0" name="text-27">
            <a:extLst xmlns:a="http://schemas.openxmlformats.org/drawingml/2006/main">
              <a:ext uri="{FF2B5EF4-FFF2-40B4-BE49-F238E27FC236}">
                <a16:creationId xmlns:a16="http://schemas.microsoft.com/office/drawing/2014/main" id="{5548DC84-A9AF-4E8E-925B-553A3F145A96}"/>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ORTAK ÇALIŞMA</a:t>
            </a:r>
          </a:p>
        </p:txBody>
      </p:sp>
      <p:sp>
        <p:nvSpPr>
          <p:cNvPr id="2" name="text-28">
            <a:extLst xmlns:a="http://schemas.openxmlformats.org/drawingml/2006/main">
              <a:ext uri="{FF2B5EF4-FFF2-40B4-BE49-F238E27FC236}">
                <a16:creationId xmlns:a16="http://schemas.microsoft.com/office/drawing/2014/main" id="{72183784-A57A-42C7-9FCD-6AC4C31C2376}"/>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Callback ile tıklamayı bildirme</a:t>
            </a:r>
          </a:p>
        </p:txBody>
      </p:sp>
      <p:sp>
        <p:nvSpPr>
          <p:cNvPr id="3" name="text-29">
            <a:extLst xmlns:a="http://schemas.openxmlformats.org/drawingml/2006/main">
              <a:ext uri="{FF2B5EF4-FFF2-40B4-BE49-F238E27FC236}">
                <a16:creationId xmlns:a16="http://schemas.microsoft.com/office/drawing/2014/main" id="{E737BFE6-60B1-4A11-95EA-92D73848A537}"/>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05</a:t>
            </a:r>
          </a:p>
        </p:txBody>
      </p:sp>
      <p:sp>
        <p:nvSpPr>
          <p:cNvPr id="4" name="text-30">
            <a:extLst xmlns:a="http://schemas.openxmlformats.org/drawingml/2006/main">
              <a:ext uri="{FF2B5EF4-FFF2-40B4-BE49-F238E27FC236}">
                <a16:creationId xmlns:a16="http://schemas.microsoft.com/office/drawing/2014/main" id="{9CC718C4-4505-4255-BD91-7115B3DC2BE3}"/>
              </a:ext>
            </a:extLst>
          </p:cNvPr>
          <p:cNvSpPr>
            <a:spLocks xmlns:a="http://schemas.openxmlformats.org/drawingml/2006/main" noGrp="1"/>
          </p:cNvSpPr>
          <p:nvPr/>
        </p:nvSpPr>
        <p:spPr>
          <a:xfrm xmlns:a="http://schemas.openxmlformats.org/drawingml/2006/main">
            <a:off x="609600" y="16764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C6"/>
                </a:solidFill>
                <a:latin typeface="Arial"/>
                <a:ea typeface="Arial"/>
                <a:cs typeface="Arial"/>
              </a:defRPr>
            </a:defPPr>
          </a:lstStyle>
          <a:p xmlns:a="http://schemas.openxmlformats.org/drawingml/2006/main">
            <a:pPr>
              <a:defRPr sz="2250" b="1">
                <a:solidFill>
                  <a:srgbClr val="2458C6"/>
                </a:solidFill>
                <a:latin typeface="Arial"/>
                <a:ea typeface="Arial"/>
                <a:cs typeface="Arial"/>
              </a:defRPr>
            </a:pPr>
            <a:r>
              <a:rPr sz="2250" b="1">
                <a:solidFill>
                  <a:srgbClr val="2458C6"/>
                </a:solidFill>
                <a:latin typeface="Arial"/>
                <a:ea typeface="Arial"/>
                <a:cs typeface="Arial"/>
              </a:rPr>
              <a:t>Adapter</a:t>
            </a:r>
          </a:p>
        </p:txBody>
      </p:sp>
      <p:sp>
        <p:nvSpPr>
          <p:cNvPr id="5" name="text-31">
            <a:extLst xmlns:a="http://schemas.openxmlformats.org/drawingml/2006/main">
              <a:ext uri="{FF2B5EF4-FFF2-40B4-BE49-F238E27FC236}">
                <a16:creationId xmlns:a16="http://schemas.microsoft.com/office/drawing/2014/main" id="{80E098FB-07B2-4078-AB6C-6E16E53E947F}"/>
              </a:ext>
            </a:extLst>
          </p:cNvPr>
          <p:cNvSpPr>
            <a:spLocks xmlns:a="http://schemas.openxmlformats.org/drawingml/2006/main" noGrp="1"/>
          </p:cNvSpPr>
          <p:nvPr/>
        </p:nvSpPr>
        <p:spPr>
          <a:xfrm xmlns:a="http://schemas.openxmlformats.org/drawingml/2006/main">
            <a:off x="609600" y="2247900"/>
            <a:ext cx="504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Satırdaki tıklamayı yakalar.</a:t>
            </a:r>
          </a:p>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İlgili notun kimliğini bildirir.</a:t>
            </a:r>
          </a:p>
        </p:txBody>
      </p:sp>
      <p:sp>
        <p:nvSpPr>
          <p:cNvPr id="6" name="text-32">
            <a:extLst xmlns:a="http://schemas.openxmlformats.org/drawingml/2006/main">
              <a:ext uri="{FF2B5EF4-FFF2-40B4-BE49-F238E27FC236}">
                <a16:creationId xmlns:a16="http://schemas.microsoft.com/office/drawing/2014/main" id="{3D7B9A7A-F37D-4580-86F5-0927DE190EF2}"/>
              </a:ext>
            </a:extLst>
          </p:cNvPr>
          <p:cNvSpPr>
            <a:spLocks xmlns:a="http://schemas.openxmlformats.org/drawingml/2006/main" noGrp="1"/>
          </p:cNvSpPr>
          <p:nvPr/>
        </p:nvSpPr>
        <p:spPr>
          <a:xfrm xmlns:a="http://schemas.openxmlformats.org/drawingml/2006/main">
            <a:off x="6705600" y="16764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C6"/>
                </a:solidFill>
                <a:latin typeface="Arial"/>
                <a:ea typeface="Arial"/>
                <a:cs typeface="Arial"/>
              </a:defRPr>
            </a:defPPr>
          </a:lstStyle>
          <a:p xmlns:a="http://schemas.openxmlformats.org/drawingml/2006/main">
            <a:pPr>
              <a:defRPr sz="2250" b="1">
                <a:solidFill>
                  <a:srgbClr val="2458C6"/>
                </a:solidFill>
                <a:latin typeface="Arial"/>
                <a:ea typeface="Arial"/>
                <a:cs typeface="Arial"/>
              </a:defRPr>
            </a:pPr>
            <a:r>
              <a:rPr sz="2250" b="1">
                <a:solidFill>
                  <a:srgbClr val="2458C6"/>
                </a:solidFill>
                <a:latin typeface="Arial"/>
                <a:ea typeface="Arial"/>
                <a:cs typeface="Arial"/>
              </a:rPr>
              <a:t>MainActivity</a:t>
            </a:r>
          </a:p>
        </p:txBody>
      </p:sp>
      <p:sp>
        <p:nvSpPr>
          <p:cNvPr id="7" name="text-33">
            <a:extLst xmlns:a="http://schemas.openxmlformats.org/drawingml/2006/main">
              <a:ext uri="{FF2B5EF4-FFF2-40B4-BE49-F238E27FC236}">
                <a16:creationId xmlns:a16="http://schemas.microsoft.com/office/drawing/2014/main" id="{F40F7E76-FD31-42E9-BE88-7AED6C030A64}"/>
              </a:ext>
            </a:extLst>
          </p:cNvPr>
          <p:cNvSpPr>
            <a:spLocks xmlns:a="http://schemas.openxmlformats.org/drawingml/2006/main" noGrp="1"/>
          </p:cNvSpPr>
          <p:nvPr/>
        </p:nvSpPr>
        <p:spPr>
          <a:xfrm xmlns:a="http://schemas.openxmlformats.org/drawingml/2006/main">
            <a:off x="6705600" y="2247900"/>
            <a:ext cx="4810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Listeyi değiştirir.</a:t>
            </a:r>
          </a:p>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Gösterilecek listeyi yeniler.</a:t>
            </a:r>
          </a:p>
        </p:txBody>
      </p:sp>
      <p:sp>
        <p:nvSpPr>
          <p:cNvPr id="8" name="text-34">
            <a:extLst xmlns:a="http://schemas.openxmlformats.org/drawingml/2006/main">
              <a:ext uri="{FF2B5EF4-FFF2-40B4-BE49-F238E27FC236}">
                <a16:creationId xmlns:a16="http://schemas.microsoft.com/office/drawing/2014/main" id="{FEC5DF6A-220D-4C3E-B834-9C42EA3EBCF3}"/>
              </a:ext>
            </a:extLst>
          </p:cNvPr>
          <p:cNvSpPr>
            <a:spLocks xmlns:a="http://schemas.openxmlformats.org/drawingml/2006/main" noGrp="1"/>
          </p:cNvSpPr>
          <p:nvPr/>
        </p:nvSpPr>
        <p:spPr>
          <a:xfrm xmlns:a="http://schemas.openxmlformats.org/drawingml/2006/main">
            <a:off x="609600" y="39052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8C6"/>
                </a:solidFill>
                <a:latin typeface="Arial"/>
                <a:ea typeface="Arial"/>
                <a:cs typeface="Arial"/>
              </a:defRPr>
            </a:defPPr>
          </a:lstStyle>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val onSil: (Long) -&gt; Unit</a:t>
            </a:r>
          </a:p>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btnSil.setOnClickListener { onSil(not.id) }</a:t>
            </a:r>
          </a:p>
        </p:txBody>
      </p:sp>
      <p:sp>
        <p:nvSpPr>
          <p:cNvPr id="9" name="text-35">
            <a:extLst xmlns:a="http://schemas.openxmlformats.org/drawingml/2006/main">
              <a:ext uri="{FF2B5EF4-FFF2-40B4-BE49-F238E27FC236}">
                <a16:creationId xmlns:a16="http://schemas.microsoft.com/office/drawing/2014/main" id="{B8E775A5-1DDF-44ED-89FB-57C917E73FBD}"/>
              </a:ext>
            </a:extLst>
          </p:cNvPr>
          <p:cNvSpPr>
            <a:spLocks xmlns:a="http://schemas.openxmlformats.org/drawingml/2006/main" noGrp="1"/>
          </p:cNvSpPr>
          <p:nvPr/>
        </p:nvSpPr>
        <p:spPr>
          <a:xfrm xmlns:a="http://schemas.openxmlformats.org/drawingml/2006/main">
            <a:off x="609600" y="54578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Callback: İşlem gerektiğinde çağırmak üzere iletilen fonksiyon</a:t>
            </a:r>
          </a:p>
        </p:txBody>
      </p:sp>
    </p:spTree>
    <p:extLst>
      <p:ext uri="{BB962C8B-B14F-4D97-AF65-F5344CB8AC3E}">
        <p14:creationId xmlns:p14="http://schemas.microsoft.com/office/powerpoint/2010/main" val="1075529358"/>
      </p:ext>
    </p:extLst>
  </p:cSld>
</p:sld>
</file>

<file path=ppt/slides/slide6.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1" name="text-36">
            <a:extLst xmlns:a="http://schemas.openxmlformats.org/drawingml/2006/main">
              <a:ext uri="{FF2B5EF4-FFF2-40B4-BE49-F238E27FC236}">
                <a16:creationId xmlns:a16="http://schemas.microsoft.com/office/drawing/2014/main" id="{2CF6C246-A027-485A-BF0E-6BBE2103ACA9}"/>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1</a:t>
            </a:r>
          </a:p>
        </p:txBody>
      </p:sp>
      <p:sp>
        <p:nvSpPr>
          <p:cNvPr id="2" name="text-37">
            <a:extLst xmlns:a="http://schemas.openxmlformats.org/drawingml/2006/main">
              <a:ext uri="{FF2B5EF4-FFF2-40B4-BE49-F238E27FC236}">
                <a16:creationId xmlns:a16="http://schemas.microsoft.com/office/drawing/2014/main" id="{4D723F70-F1DE-4CAA-B733-E2C4E4456263}"/>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Not silme</a:t>
            </a:r>
          </a:p>
        </p:txBody>
      </p:sp>
      <p:sp>
        <p:nvSpPr>
          <p:cNvPr id="3" name="text-38">
            <a:extLst xmlns:a="http://schemas.openxmlformats.org/drawingml/2006/main">
              <a:ext uri="{FF2B5EF4-FFF2-40B4-BE49-F238E27FC236}">
                <a16:creationId xmlns:a16="http://schemas.microsoft.com/office/drawing/2014/main" id="{94EE9ADD-ACFE-45EB-8E01-01E9725ABA59}"/>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4CA4EA0B-80A6-4ACA-9350-E479EF97D69B}"/>
              </a:ext>
            </a:extLst>
          </p:cNvPr>
          <p:cNvPicPr>
            <a:picLocks xmlns:a="http://schemas.openxmlformats.org/drawingml/2006/main" noChangeAspect="1"/>
          </p:cNvPicPr>
          <p:nvPr/>
        </p:nvPicPr>
        <p:blipFill>
          <a:blip xmlns:r="http://schemas.openxmlformats.org/officeDocument/2006/relationships" xmlns:a="http://schemas.openxmlformats.org/drawingml/2006/main" r:embed="Rda1e6da93a5e4db3"/>
          <a:stretch xmlns:a="http://schemas.openxmlformats.org/drawingml/2006/main"/>
        </p:blipFill>
        <p:spPr>
          <a:xfrm xmlns:a="http://schemas.openxmlformats.org/drawingml/2006/main">
            <a:off x="8270875" y="1381125"/>
            <a:ext cx="3175000" cy="4762500"/>
          </a:xfrm>
          <a:prstGeom xmlns:a="http://schemas.openxmlformats.org/drawingml/2006/main" prst="rect">
            <a:avLst/>
          </a:prstGeom>
        </p:spPr>
      </p:pic>
      <p:sp>
        <p:nvSpPr>
          <p:cNvPr id="5" name="text-39">
            <a:extLst xmlns:a="http://schemas.openxmlformats.org/drawingml/2006/main">
              <a:ext uri="{FF2B5EF4-FFF2-40B4-BE49-F238E27FC236}">
                <a16:creationId xmlns:a16="http://schemas.microsoft.com/office/drawing/2014/main" id="{0FC28AB6-FAC6-4040-8607-B1DDC9561E14}"/>
              </a:ext>
            </a:extLst>
          </p:cNvPr>
          <p:cNvSpPr>
            <a:spLocks xmlns:a="http://schemas.openxmlformats.org/drawingml/2006/main" noGrp="1"/>
          </p:cNvSpPr>
          <p:nvPr/>
        </p:nvSpPr>
        <p:spPr>
          <a:xfrm xmlns:a="http://schemas.openxmlformats.org/drawingml/2006/main">
            <a:off x="8191500" y="61341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Temsili görev ekranı</a:t>
            </a:r>
          </a:p>
        </p:txBody>
      </p:sp>
      <p:sp>
        <p:nvSpPr>
          <p:cNvPr id="6" name="text-40">
            <a:extLst xmlns:a="http://schemas.openxmlformats.org/drawingml/2006/main">
              <a:ext uri="{FF2B5EF4-FFF2-40B4-BE49-F238E27FC236}">
                <a16:creationId xmlns:a16="http://schemas.microsoft.com/office/drawing/2014/main" id="{E7587FEA-B602-4044-AD16-61D414D0EAEB}"/>
              </a:ext>
            </a:extLst>
          </p:cNvPr>
          <p:cNvSpPr>
            <a:spLocks xmlns:a="http://schemas.openxmlformats.org/drawingml/2006/main" noGrp="1"/>
          </p:cNvSpPr>
          <p:nvPr/>
        </p:nvSpPr>
        <p:spPr>
          <a:xfrm xmlns:a="http://schemas.openxmlformats.org/drawingml/2006/main">
            <a:off x="609600" y="1704975"/>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E344C"/>
                </a:solidFill>
                <a:latin typeface="Arial"/>
                <a:ea typeface="Arial"/>
                <a:cs typeface="Arial"/>
              </a:defRPr>
            </a:defPPr>
          </a:lstStyle>
          <a:p xmlns:a="http://schemas.openxmlformats.org/drawingml/2006/main">
            <a:pPr>
              <a:defRPr sz="2175" b="1">
                <a:solidFill>
                  <a:srgbClr val="BE344C"/>
                </a:solidFill>
                <a:latin typeface="Arial"/>
                <a:ea typeface="Arial"/>
                <a:cs typeface="Arial"/>
              </a:defRPr>
            </a:pPr>
            <a:r>
              <a:rPr sz="2175" b="1">
                <a:solidFill>
                  <a:srgbClr val="BE344C"/>
                </a:solidFill>
                <a:latin typeface="Arial"/>
                <a:ea typeface="Arial"/>
                <a:cs typeface="Arial"/>
              </a:rPr>
              <a:t>Göreviniz</a:t>
            </a:r>
          </a:p>
        </p:txBody>
      </p:sp>
      <p:sp>
        <p:nvSpPr>
          <p:cNvPr id="7" name="text-41">
            <a:extLst xmlns:a="http://schemas.openxmlformats.org/drawingml/2006/main">
              <a:ext uri="{FF2B5EF4-FFF2-40B4-BE49-F238E27FC236}">
                <a16:creationId xmlns:a16="http://schemas.microsoft.com/office/drawing/2014/main" id="{3462EAEB-6224-41E8-BBD2-89F11806EACD}"/>
              </a:ext>
            </a:extLst>
          </p:cNvPr>
          <p:cNvSpPr>
            <a:spLocks xmlns:a="http://schemas.openxmlformats.org/drawingml/2006/main" noGrp="1"/>
          </p:cNvSpPr>
          <p:nvPr/>
        </p:nvSpPr>
        <p:spPr>
          <a:xfrm xmlns:a="http://schemas.openxmlformats.org/drawingml/2006/main">
            <a:off x="609600" y="232410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Her satıra Sil düğmesi ekleyin.</a:t>
            </a:r>
          </a:p>
        </p:txBody>
      </p:sp>
      <p:sp>
        <p:nvSpPr>
          <p:cNvPr id="8" name="text-42">
            <a:extLst xmlns:a="http://schemas.openxmlformats.org/drawingml/2006/main">
              <a:ext uri="{FF2B5EF4-FFF2-40B4-BE49-F238E27FC236}">
                <a16:creationId xmlns:a16="http://schemas.microsoft.com/office/drawing/2014/main" id="{58008FD8-6542-468D-8A1A-F080E5BF48FF}"/>
              </a:ext>
            </a:extLst>
          </p:cNvPr>
          <p:cNvSpPr>
            <a:spLocks xmlns:a="http://schemas.openxmlformats.org/drawingml/2006/main" noGrp="1"/>
          </p:cNvSpPr>
          <p:nvPr/>
        </p:nvSpPr>
        <p:spPr>
          <a:xfrm xmlns:a="http://schemas.openxmlformats.org/drawingml/2006/main">
            <a:off x="609600" y="3114675"/>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Yalnızca seçilen notu kaldırın.</a:t>
            </a:r>
          </a:p>
        </p:txBody>
      </p:sp>
      <p:sp>
        <p:nvSpPr>
          <p:cNvPr id="9" name="text-43">
            <a:extLst xmlns:a="http://schemas.openxmlformats.org/drawingml/2006/main">
              <a:ext uri="{FF2B5EF4-FFF2-40B4-BE49-F238E27FC236}">
                <a16:creationId xmlns:a16="http://schemas.microsoft.com/office/drawing/2014/main" id="{84741AD6-386A-4873-83A2-A2F7FD17FE82}"/>
              </a:ext>
            </a:extLst>
          </p:cNvPr>
          <p:cNvSpPr>
            <a:spLocks xmlns:a="http://schemas.openxmlformats.org/drawingml/2006/main" noGrp="1"/>
          </p:cNvSpPr>
          <p:nvPr/>
        </p:nvSpPr>
        <p:spPr>
          <a:xfrm xmlns:a="http://schemas.openxmlformats.org/drawingml/2006/main">
            <a:off x="609600" y="390525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Son not silinince boş liste</a:t>
            </a:r>
          </a:p>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mesajı gösterin.</a:t>
            </a:r>
          </a:p>
        </p:txBody>
      </p:sp>
      <p:sp>
        <p:nvSpPr>
          <p:cNvPr id="10" name="text-44">
            <a:extLst xmlns:a="http://schemas.openxmlformats.org/drawingml/2006/main">
              <a:ext uri="{FF2B5EF4-FFF2-40B4-BE49-F238E27FC236}">
                <a16:creationId xmlns:a16="http://schemas.microsoft.com/office/drawing/2014/main" id="{B722F88D-6119-44C1-857C-EF013AED500F}"/>
              </a:ext>
            </a:extLst>
          </p:cNvPr>
          <p:cNvSpPr>
            <a:spLocks xmlns:a="http://schemas.openxmlformats.org/drawingml/2006/main" noGrp="1"/>
          </p:cNvSpPr>
          <p:nvPr/>
        </p:nvSpPr>
        <p:spPr>
          <a:xfrm xmlns:a="http://schemas.openxmlformats.org/drawingml/2006/main">
            <a:off x="609600" y="514350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Bittiğinde: Liste yeni durumuyla görünür ve tekrar not eklenebilir.</a:t>
            </a:r>
          </a:p>
        </p:txBody>
      </p:sp>
    </p:spTree>
    <p:extLst>
      <p:ext uri="{BB962C8B-B14F-4D97-AF65-F5344CB8AC3E}">
        <p14:creationId xmlns:p14="http://schemas.microsoft.com/office/powerpoint/2010/main" val="537562535"/>
      </p:ext>
    </p:extLst>
  </p:cSld>
</p:sld>
</file>

<file path=ppt/slides/slide7.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3" name="text-45">
            <a:extLst xmlns:a="http://schemas.openxmlformats.org/drawingml/2006/main">
              <a:ext uri="{FF2B5EF4-FFF2-40B4-BE49-F238E27FC236}">
                <a16:creationId xmlns:a16="http://schemas.microsoft.com/office/drawing/2014/main" id="{9377382D-D5EE-46FA-AF7A-3C454FCE9FCB}"/>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1</a:t>
            </a:r>
          </a:p>
        </p:txBody>
      </p:sp>
      <p:sp>
        <p:nvSpPr>
          <p:cNvPr id="2" name="text-46">
            <a:extLst xmlns:a="http://schemas.openxmlformats.org/drawingml/2006/main">
              <a:ext uri="{FF2B5EF4-FFF2-40B4-BE49-F238E27FC236}">
                <a16:creationId xmlns:a16="http://schemas.microsoft.com/office/drawing/2014/main" id="{D32F3FF1-A669-4AC9-8466-7639E337D37E}"/>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Not silme için kavramlar</a:t>
            </a:r>
          </a:p>
        </p:txBody>
      </p:sp>
      <p:sp>
        <p:nvSpPr>
          <p:cNvPr id="3" name="text-47">
            <a:extLst xmlns:a="http://schemas.openxmlformats.org/drawingml/2006/main">
              <a:ext uri="{FF2B5EF4-FFF2-40B4-BE49-F238E27FC236}">
                <a16:creationId xmlns:a16="http://schemas.microsoft.com/office/drawing/2014/main" id="{4E36E0D8-3CCB-422A-9777-EF4F6535E854}"/>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07</a:t>
            </a:r>
          </a:p>
        </p:txBody>
      </p:sp>
      <p:sp>
        <p:nvSpPr>
          <p:cNvPr id="4" name="text-48">
            <a:extLst xmlns:a="http://schemas.openxmlformats.org/drawingml/2006/main">
              <a:ext uri="{FF2B5EF4-FFF2-40B4-BE49-F238E27FC236}">
                <a16:creationId xmlns:a16="http://schemas.microsoft.com/office/drawing/2014/main" id="{F50C8B81-3F1C-4A50-AAE5-E792CCF59659}"/>
              </a:ext>
            </a:extLst>
          </p:cNvPr>
          <p:cNvSpPr>
            <a:spLocks xmlns:a="http://schemas.openxmlformats.org/drawingml/2006/main" noGrp="1"/>
          </p:cNvSpPr>
          <p:nvPr/>
        </p:nvSpPr>
        <p:spPr>
          <a:xfrm xmlns:a="http://schemas.openxmlformats.org/drawingml/2006/main">
            <a:off x="609600" y="1647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E344C"/>
                </a:solidFill>
                <a:latin typeface="Arial"/>
                <a:ea typeface="Arial"/>
                <a:cs typeface="Arial"/>
              </a:defRPr>
            </a:defPPr>
          </a:lstStyle>
          <a:p xmlns:a="http://schemas.openxmlformats.org/drawingml/2006/main">
            <a:pPr>
              <a:defRPr sz="2175" b="1">
                <a:solidFill>
                  <a:srgbClr val="BE344C"/>
                </a:solidFill>
                <a:latin typeface="Arial"/>
                <a:ea typeface="Arial"/>
                <a:cs typeface="Arial"/>
              </a:defRPr>
            </a:pPr>
            <a:r>
              <a:rPr sz="2175" b="1">
                <a:solidFill>
                  <a:srgbClr val="BE344C"/>
                </a:solidFill>
                <a:latin typeface="Arial"/>
                <a:ea typeface="Arial"/>
                <a:cs typeface="Arial"/>
              </a:rPr>
              <a:t>Yeni kavramlar</a:t>
            </a:r>
          </a:p>
        </p:txBody>
      </p:sp>
      <p:sp>
        <p:nvSpPr>
          <p:cNvPr id="5" name="text-49">
            <a:extLst xmlns:a="http://schemas.openxmlformats.org/drawingml/2006/main">
              <a:ext uri="{FF2B5EF4-FFF2-40B4-BE49-F238E27FC236}">
                <a16:creationId xmlns:a16="http://schemas.microsoft.com/office/drawing/2014/main" id="{A9581FFE-1647-49E8-B48A-06D84597C484}"/>
              </a:ext>
            </a:extLst>
          </p:cNvPr>
          <p:cNvSpPr>
            <a:spLocks xmlns:a="http://schemas.openxmlformats.org/drawingml/2006/main" noGrp="1"/>
          </p:cNvSpPr>
          <p:nvPr/>
        </p:nvSpPr>
        <p:spPr>
          <a:xfrm xmlns:a="http://schemas.openxmlformats.org/drawingml/2006/main">
            <a:off x="609600" y="22098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Callback, satırın tıklamasını bildirir.</a:t>
            </a:r>
          </a:p>
        </p:txBody>
      </p:sp>
      <p:sp>
        <p:nvSpPr>
          <p:cNvPr id="6" name="text-50">
            <a:extLst xmlns:a="http://schemas.openxmlformats.org/drawingml/2006/main">
              <a:ext uri="{FF2B5EF4-FFF2-40B4-BE49-F238E27FC236}">
                <a16:creationId xmlns:a16="http://schemas.microsoft.com/office/drawing/2014/main" id="{BDD1EA28-D7D5-489C-9416-67FEFEFE30EE}"/>
              </a:ext>
            </a:extLst>
          </p:cNvPr>
          <p:cNvSpPr>
            <a:spLocks xmlns:a="http://schemas.openxmlformats.org/drawingml/2006/main" noGrp="1"/>
          </p:cNvSpPr>
          <p:nvPr/>
        </p:nvSpPr>
        <p:spPr>
          <a:xfrm xmlns:a="http://schemas.openxmlformats.org/drawingml/2006/main">
            <a:off x="609600" y="283845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id, silinecek notu belirler.</a:t>
            </a:r>
          </a:p>
        </p:txBody>
      </p:sp>
      <p:sp>
        <p:nvSpPr>
          <p:cNvPr id="7" name="text-51">
            <a:extLst xmlns:a="http://schemas.openxmlformats.org/drawingml/2006/main">
              <a:ext uri="{FF2B5EF4-FFF2-40B4-BE49-F238E27FC236}">
                <a16:creationId xmlns:a16="http://schemas.microsoft.com/office/drawing/2014/main" id="{DA587568-193B-4B6E-9524-59E262FEADBE}"/>
              </a:ext>
            </a:extLst>
          </p:cNvPr>
          <p:cNvSpPr>
            <a:spLocks xmlns:a="http://schemas.openxmlformats.org/drawingml/2006/main" noGrp="1"/>
          </p:cNvSpPr>
          <p:nvPr/>
        </p:nvSpPr>
        <p:spPr>
          <a:xfrm xmlns:a="http://schemas.openxmlformats.org/drawingml/2006/main">
            <a:off x="609600" y="34671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removeAll koşula uyan kaydı kaldırır.</a:t>
            </a:r>
          </a:p>
        </p:txBody>
      </p:sp>
      <p:sp>
        <p:nvSpPr>
          <p:cNvPr id="8" name="text-52">
            <a:extLst xmlns:a="http://schemas.openxmlformats.org/drawingml/2006/main">
              <a:ext uri="{FF2B5EF4-FFF2-40B4-BE49-F238E27FC236}">
                <a16:creationId xmlns:a16="http://schemas.microsoft.com/office/drawing/2014/main" id="{74373B07-EE97-49DF-A3F1-B0B755CCBB29}"/>
              </a:ext>
            </a:extLst>
          </p:cNvPr>
          <p:cNvSpPr>
            <a:spLocks xmlns:a="http://schemas.openxmlformats.org/drawingml/2006/main" noGrp="1"/>
          </p:cNvSpPr>
          <p:nvPr/>
        </p:nvSpPr>
        <p:spPr>
          <a:xfrm xmlns:a="http://schemas.openxmlformats.org/drawingml/2006/main">
            <a:off x="6705600" y="16478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E344C"/>
                </a:solidFill>
                <a:latin typeface="Arial"/>
                <a:ea typeface="Arial"/>
                <a:cs typeface="Arial"/>
              </a:defRPr>
            </a:defPPr>
          </a:lstStyle>
          <a:p xmlns:a="http://schemas.openxmlformats.org/drawingml/2006/main">
            <a:pPr>
              <a:defRPr sz="2175" b="1">
                <a:solidFill>
                  <a:srgbClr val="BE344C"/>
                </a:solidFill>
                <a:latin typeface="Arial"/>
                <a:ea typeface="Arial"/>
                <a:cs typeface="Arial"/>
              </a:defRPr>
            </a:pPr>
            <a:r>
              <a:rPr sz="2175" b="1">
                <a:solidFill>
                  <a:srgbClr val="BE344C"/>
                </a:solidFill>
                <a:latin typeface="Arial"/>
                <a:ea typeface="Arial"/>
                <a:cs typeface="Arial"/>
              </a:rPr>
              <a:t>Dikkat</a:t>
            </a:r>
          </a:p>
        </p:txBody>
      </p:sp>
      <p:sp>
        <p:nvSpPr>
          <p:cNvPr id="9" name="text-53">
            <a:extLst xmlns:a="http://schemas.openxmlformats.org/drawingml/2006/main">
              <a:ext uri="{FF2B5EF4-FFF2-40B4-BE49-F238E27FC236}">
                <a16:creationId xmlns:a16="http://schemas.microsoft.com/office/drawing/2014/main" id="{FA9BD0A1-36F9-4045-B45B-000983A3B5CB}"/>
              </a:ext>
            </a:extLst>
          </p:cNvPr>
          <p:cNvSpPr>
            <a:spLocks xmlns:a="http://schemas.openxmlformats.org/drawingml/2006/main" noGrp="1"/>
          </p:cNvSpPr>
          <p:nvPr/>
        </p:nvSpPr>
        <p:spPr>
          <a:xfrm xmlns:a="http://schemas.openxmlformats.org/drawingml/2006/main">
            <a:off x="6705600" y="2209800"/>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Yalnızca görünen satırı gizlemek</a:t>
            </a:r>
          </a:p>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veri listesini değiştirmez.</a:t>
            </a:r>
          </a:p>
        </p:txBody>
      </p:sp>
      <p:sp>
        <p:nvSpPr>
          <p:cNvPr id="10" name="text-54">
            <a:extLst xmlns:a="http://schemas.openxmlformats.org/drawingml/2006/main">
              <a:ext uri="{FF2B5EF4-FFF2-40B4-BE49-F238E27FC236}">
                <a16:creationId xmlns:a16="http://schemas.microsoft.com/office/drawing/2014/main" id="{BB3AF601-7B06-4454-80B7-287B122FBB5B}"/>
              </a:ext>
            </a:extLst>
          </p:cNvPr>
          <p:cNvSpPr>
            <a:spLocks xmlns:a="http://schemas.openxmlformats.org/drawingml/2006/main" noGrp="1"/>
          </p:cNvSpPr>
          <p:nvPr/>
        </p:nvSpPr>
        <p:spPr>
          <a:xfrm xmlns:a="http://schemas.openxmlformats.org/drawingml/2006/main">
            <a:off x="6705600" y="3152775"/>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Silme sonrası adapter güncellenmeli.</a:t>
            </a:r>
          </a:p>
        </p:txBody>
      </p:sp>
      <p:sp>
        <p:nvSpPr>
          <p:cNvPr id="11" name="text-55">
            <a:extLst xmlns:a="http://schemas.openxmlformats.org/drawingml/2006/main">
              <a:ext uri="{FF2B5EF4-FFF2-40B4-BE49-F238E27FC236}">
                <a16:creationId xmlns:a16="http://schemas.microsoft.com/office/drawing/2014/main" id="{48416C9B-CCE2-4AA6-8DB6-565F01AF25F1}"/>
              </a:ext>
            </a:extLst>
          </p:cNvPr>
          <p:cNvSpPr>
            <a:spLocks xmlns:a="http://schemas.openxmlformats.org/drawingml/2006/main" noGrp="1"/>
          </p:cNvSpPr>
          <p:nvPr/>
        </p:nvSpPr>
        <p:spPr>
          <a:xfrm xmlns:a="http://schemas.openxmlformats.org/drawingml/2006/main">
            <a:off x="609600" y="43148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Kontrol: Aynı metinli iki nottan birini ve ardından son notu silin.</a:t>
            </a:r>
          </a:p>
        </p:txBody>
      </p:sp>
      <p:sp>
        <p:nvSpPr>
          <p:cNvPr id="12" name="text-56">
            <a:extLst xmlns:a="http://schemas.openxmlformats.org/drawingml/2006/main">
              <a:ext uri="{FF2B5EF4-FFF2-40B4-BE49-F238E27FC236}">
                <a16:creationId xmlns:a16="http://schemas.microsoft.com/office/drawing/2014/main" id="{405933F7-21DC-4F1A-9038-B73814321C12}"/>
              </a:ext>
            </a:extLst>
          </p:cNvPr>
          <p:cNvSpPr>
            <a:spLocks xmlns:a="http://schemas.openxmlformats.org/drawingml/2006/main" noGrp="1"/>
          </p:cNvSpPr>
          <p:nvPr/>
        </p:nvSpPr>
        <p:spPr>
          <a:xfrm xmlns:a="http://schemas.openxmlformats.org/drawingml/2006/main">
            <a:off x="609600" y="5238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8C6"/>
                </a:solidFill>
                <a:latin typeface="Arial"/>
                <a:ea typeface="Arial"/>
                <a:cs typeface="Arial"/>
              </a:defRPr>
            </a:defPPr>
          </a:lstStyle>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tumNotlar.removeAll { it.id == secilenId }</a:t>
            </a:r>
          </a:p>
        </p:txBody>
      </p:sp>
    </p:spTree>
    <p:extLst>
      <p:ext uri="{BB962C8B-B14F-4D97-AF65-F5344CB8AC3E}">
        <p14:creationId xmlns:p14="http://schemas.microsoft.com/office/powerpoint/2010/main" val="1201808718"/>
      </p:ext>
    </p:extLst>
  </p:cSld>
</p:sld>
</file>

<file path=ppt/slides/slide8.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1" name="text-57">
            <a:extLst xmlns:a="http://schemas.openxmlformats.org/drawingml/2006/main">
              <a:ext uri="{FF2B5EF4-FFF2-40B4-BE49-F238E27FC236}">
                <a16:creationId xmlns:a16="http://schemas.microsoft.com/office/drawing/2014/main" id="{766FBAC1-A160-484A-8DF4-9256448A5C74}"/>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2</a:t>
            </a:r>
          </a:p>
        </p:txBody>
      </p:sp>
      <p:sp>
        <p:nvSpPr>
          <p:cNvPr id="2" name="text-58">
            <a:extLst xmlns:a="http://schemas.openxmlformats.org/drawingml/2006/main">
              <a:ext uri="{FF2B5EF4-FFF2-40B4-BE49-F238E27FC236}">
                <a16:creationId xmlns:a16="http://schemas.microsoft.com/office/drawing/2014/main" id="{DB84F141-AC45-49A2-A33E-1EFF184E238C}"/>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Aynı ekranda düzenleme</a:t>
            </a:r>
          </a:p>
        </p:txBody>
      </p:sp>
      <p:sp>
        <p:nvSpPr>
          <p:cNvPr id="3" name="text-59">
            <a:extLst xmlns:a="http://schemas.openxmlformats.org/drawingml/2006/main">
              <a:ext uri="{FF2B5EF4-FFF2-40B4-BE49-F238E27FC236}">
                <a16:creationId xmlns:a16="http://schemas.microsoft.com/office/drawing/2014/main" id="{519057E6-E5B3-47F9-A644-56B002F6B271}"/>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FB1960DA-A88C-42BE-A609-628B03671ADD}"/>
              </a:ext>
            </a:extLst>
          </p:cNvPr>
          <p:cNvPicPr>
            <a:picLocks xmlns:a="http://schemas.openxmlformats.org/drawingml/2006/main" noChangeAspect="1"/>
          </p:cNvPicPr>
          <p:nvPr/>
        </p:nvPicPr>
        <p:blipFill>
          <a:blip xmlns:r="http://schemas.openxmlformats.org/officeDocument/2006/relationships" xmlns:a="http://schemas.openxmlformats.org/drawingml/2006/main" r:embed="Re5fd2a453cc042b0"/>
          <a:stretch xmlns:a="http://schemas.openxmlformats.org/drawingml/2006/main"/>
        </p:blipFill>
        <p:spPr>
          <a:xfrm xmlns:a="http://schemas.openxmlformats.org/drawingml/2006/main">
            <a:off x="8270875" y="1381125"/>
            <a:ext cx="3175000" cy="4762500"/>
          </a:xfrm>
          <a:prstGeom xmlns:a="http://schemas.openxmlformats.org/drawingml/2006/main" prst="rect">
            <a:avLst/>
          </a:prstGeom>
        </p:spPr>
      </p:pic>
      <p:sp>
        <p:nvSpPr>
          <p:cNvPr id="5" name="text-60">
            <a:extLst xmlns:a="http://schemas.openxmlformats.org/drawingml/2006/main">
              <a:ext uri="{FF2B5EF4-FFF2-40B4-BE49-F238E27FC236}">
                <a16:creationId xmlns:a16="http://schemas.microsoft.com/office/drawing/2014/main" id="{BF6DA01B-3082-4A70-9CA2-521E0F317851}"/>
              </a:ext>
            </a:extLst>
          </p:cNvPr>
          <p:cNvSpPr>
            <a:spLocks xmlns:a="http://schemas.openxmlformats.org/drawingml/2006/main" noGrp="1"/>
          </p:cNvSpPr>
          <p:nvPr/>
        </p:nvSpPr>
        <p:spPr>
          <a:xfrm xmlns:a="http://schemas.openxmlformats.org/drawingml/2006/main">
            <a:off x="8191500" y="61341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Temsili görev ekranı</a:t>
            </a:r>
          </a:p>
        </p:txBody>
      </p:sp>
      <p:sp>
        <p:nvSpPr>
          <p:cNvPr id="6" name="text-61">
            <a:extLst xmlns:a="http://schemas.openxmlformats.org/drawingml/2006/main">
              <a:ext uri="{FF2B5EF4-FFF2-40B4-BE49-F238E27FC236}">
                <a16:creationId xmlns:a16="http://schemas.microsoft.com/office/drawing/2014/main" id="{3DAB6B45-339C-4180-82E7-3CCA48590C4D}"/>
              </a:ext>
            </a:extLst>
          </p:cNvPr>
          <p:cNvSpPr>
            <a:spLocks xmlns:a="http://schemas.openxmlformats.org/drawingml/2006/main" noGrp="1"/>
          </p:cNvSpPr>
          <p:nvPr/>
        </p:nvSpPr>
        <p:spPr>
          <a:xfrm xmlns:a="http://schemas.openxmlformats.org/drawingml/2006/main">
            <a:off x="609600" y="1704975"/>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F42C1"/>
                </a:solidFill>
                <a:latin typeface="Arial"/>
                <a:ea typeface="Arial"/>
                <a:cs typeface="Arial"/>
              </a:defRPr>
            </a:defPPr>
          </a:lstStyle>
          <a:p xmlns:a="http://schemas.openxmlformats.org/drawingml/2006/main">
            <a:pPr>
              <a:defRPr sz="2175" b="1">
                <a:solidFill>
                  <a:srgbClr val="6F42C1"/>
                </a:solidFill>
                <a:latin typeface="Arial"/>
                <a:ea typeface="Arial"/>
                <a:cs typeface="Arial"/>
              </a:defRPr>
            </a:pPr>
            <a:r>
              <a:rPr sz="2175" b="1">
                <a:solidFill>
                  <a:srgbClr val="6F42C1"/>
                </a:solidFill>
                <a:latin typeface="Arial"/>
                <a:ea typeface="Arial"/>
                <a:cs typeface="Arial"/>
              </a:rPr>
              <a:t>Göreviniz</a:t>
            </a:r>
          </a:p>
        </p:txBody>
      </p:sp>
      <p:sp>
        <p:nvSpPr>
          <p:cNvPr id="7" name="text-62">
            <a:extLst xmlns:a="http://schemas.openxmlformats.org/drawingml/2006/main">
              <a:ext uri="{FF2B5EF4-FFF2-40B4-BE49-F238E27FC236}">
                <a16:creationId xmlns:a16="http://schemas.microsoft.com/office/drawing/2014/main" id="{30138408-FB11-4370-BA11-1C5145C55C87}"/>
              </a:ext>
            </a:extLst>
          </p:cNvPr>
          <p:cNvSpPr>
            <a:spLocks xmlns:a="http://schemas.openxmlformats.org/drawingml/2006/main" noGrp="1"/>
          </p:cNvSpPr>
          <p:nvPr/>
        </p:nvSpPr>
        <p:spPr>
          <a:xfrm xmlns:a="http://schemas.openxmlformats.org/drawingml/2006/main">
            <a:off x="609600" y="232410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Düzenle ile notu giriş alanına alın.</a:t>
            </a:r>
          </a:p>
        </p:txBody>
      </p:sp>
      <p:sp>
        <p:nvSpPr>
          <p:cNvPr id="8" name="text-63">
            <a:extLst xmlns:a="http://schemas.openxmlformats.org/drawingml/2006/main">
              <a:ext uri="{FF2B5EF4-FFF2-40B4-BE49-F238E27FC236}">
                <a16:creationId xmlns:a16="http://schemas.microsoft.com/office/drawing/2014/main" id="{8C42189A-5EE3-489A-8F3A-2CCE0738FC48}"/>
              </a:ext>
            </a:extLst>
          </p:cNvPr>
          <p:cNvSpPr>
            <a:spLocks xmlns:a="http://schemas.openxmlformats.org/drawingml/2006/main" noGrp="1"/>
          </p:cNvSpPr>
          <p:nvPr/>
        </p:nvSpPr>
        <p:spPr>
          <a:xfrm xmlns:a="http://schemas.openxmlformats.org/drawingml/2006/main">
            <a:off x="609600" y="3114675"/>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Güncelle ile aynı notu değiştirin.</a:t>
            </a:r>
          </a:p>
        </p:txBody>
      </p:sp>
      <p:sp>
        <p:nvSpPr>
          <p:cNvPr id="9" name="text-64">
            <a:extLst xmlns:a="http://schemas.openxmlformats.org/drawingml/2006/main">
              <a:ext uri="{FF2B5EF4-FFF2-40B4-BE49-F238E27FC236}">
                <a16:creationId xmlns:a16="http://schemas.microsoft.com/office/drawing/2014/main" id="{C536E271-08C9-4A02-B501-8AD2F4AD9873}"/>
              </a:ext>
            </a:extLst>
          </p:cNvPr>
          <p:cNvSpPr>
            <a:spLocks xmlns:a="http://schemas.openxmlformats.org/drawingml/2006/main" noGrp="1"/>
          </p:cNvSpPr>
          <p:nvPr/>
        </p:nvSpPr>
        <p:spPr>
          <a:xfrm xmlns:a="http://schemas.openxmlformats.org/drawingml/2006/main">
            <a:off x="609600" y="390525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İptal ile ekleme moduna dönün.</a:t>
            </a:r>
          </a:p>
        </p:txBody>
      </p:sp>
      <p:sp>
        <p:nvSpPr>
          <p:cNvPr id="10" name="text-65">
            <a:extLst xmlns:a="http://schemas.openxmlformats.org/drawingml/2006/main">
              <a:ext uri="{FF2B5EF4-FFF2-40B4-BE49-F238E27FC236}">
                <a16:creationId xmlns:a16="http://schemas.microsoft.com/office/drawing/2014/main" id="{72DF7F55-1F48-4573-AFFA-6814AB467712}"/>
              </a:ext>
            </a:extLst>
          </p:cNvPr>
          <p:cNvSpPr>
            <a:spLocks xmlns:a="http://schemas.openxmlformats.org/drawingml/2006/main" noGrp="1"/>
          </p:cNvSpPr>
          <p:nvPr/>
        </p:nvSpPr>
        <p:spPr>
          <a:xfrm xmlns:a="http://schemas.openxmlformats.org/drawingml/2006/main">
            <a:off x="609600" y="514350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Bittiğinde: Not sayısı değişmez. Boş metin kaydedilmez.</a:t>
            </a:r>
          </a:p>
        </p:txBody>
      </p:sp>
    </p:spTree>
    <p:extLst>
      <p:ext uri="{BB962C8B-B14F-4D97-AF65-F5344CB8AC3E}">
        <p14:creationId xmlns:p14="http://schemas.microsoft.com/office/powerpoint/2010/main" val="101439171"/>
      </p:ext>
    </p:extLst>
  </p:cSld>
</p:sld>
</file>

<file path=ppt/slides/slide9.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3" name="text-66">
            <a:extLst xmlns:a="http://schemas.openxmlformats.org/drawingml/2006/main">
              <a:ext uri="{FF2B5EF4-FFF2-40B4-BE49-F238E27FC236}">
                <a16:creationId xmlns:a16="http://schemas.microsoft.com/office/drawing/2014/main" id="{D20345C2-1B3B-459E-A5D3-1BFA91C83770}"/>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2</a:t>
            </a:r>
          </a:p>
        </p:txBody>
      </p:sp>
      <p:sp>
        <p:nvSpPr>
          <p:cNvPr id="2" name="text-67">
            <a:extLst xmlns:a="http://schemas.openxmlformats.org/drawingml/2006/main">
              <a:ext uri="{FF2B5EF4-FFF2-40B4-BE49-F238E27FC236}">
                <a16:creationId xmlns:a16="http://schemas.microsoft.com/office/drawing/2014/main" id="{7E5DF357-6B86-4C64-8745-FAC958D6E687}"/>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Aynı ekranda düzenleme için kavramlar</a:t>
            </a:r>
          </a:p>
        </p:txBody>
      </p:sp>
      <p:sp>
        <p:nvSpPr>
          <p:cNvPr id="3" name="text-68">
            <a:extLst xmlns:a="http://schemas.openxmlformats.org/drawingml/2006/main">
              <a:ext uri="{FF2B5EF4-FFF2-40B4-BE49-F238E27FC236}">
                <a16:creationId xmlns:a16="http://schemas.microsoft.com/office/drawing/2014/main" id="{D973509B-57C6-4D99-9253-1AEDEF30D526}"/>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09</a:t>
            </a:r>
          </a:p>
        </p:txBody>
      </p:sp>
      <p:sp>
        <p:nvSpPr>
          <p:cNvPr id="4" name="text-69">
            <a:extLst xmlns:a="http://schemas.openxmlformats.org/drawingml/2006/main">
              <a:ext uri="{FF2B5EF4-FFF2-40B4-BE49-F238E27FC236}">
                <a16:creationId xmlns:a16="http://schemas.microsoft.com/office/drawing/2014/main" id="{E7F74301-D3CC-434C-9B07-3933CDC437B2}"/>
              </a:ext>
            </a:extLst>
          </p:cNvPr>
          <p:cNvSpPr>
            <a:spLocks xmlns:a="http://schemas.openxmlformats.org/drawingml/2006/main" noGrp="1"/>
          </p:cNvSpPr>
          <p:nvPr/>
        </p:nvSpPr>
        <p:spPr>
          <a:xfrm xmlns:a="http://schemas.openxmlformats.org/drawingml/2006/main">
            <a:off x="609600" y="1647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F42C1"/>
                </a:solidFill>
                <a:latin typeface="Arial"/>
                <a:ea typeface="Arial"/>
                <a:cs typeface="Arial"/>
              </a:defRPr>
            </a:defPPr>
          </a:lstStyle>
          <a:p xmlns:a="http://schemas.openxmlformats.org/drawingml/2006/main">
            <a:pPr>
              <a:defRPr sz="2175" b="1">
                <a:solidFill>
                  <a:srgbClr val="6F42C1"/>
                </a:solidFill>
                <a:latin typeface="Arial"/>
                <a:ea typeface="Arial"/>
                <a:cs typeface="Arial"/>
              </a:defRPr>
            </a:pPr>
            <a:r>
              <a:rPr sz="2175" b="1">
                <a:solidFill>
                  <a:srgbClr val="6F42C1"/>
                </a:solidFill>
                <a:latin typeface="Arial"/>
                <a:ea typeface="Arial"/>
                <a:cs typeface="Arial"/>
              </a:rPr>
              <a:t>Yeni kavramlar</a:t>
            </a:r>
          </a:p>
        </p:txBody>
      </p:sp>
      <p:sp>
        <p:nvSpPr>
          <p:cNvPr id="5" name="text-70">
            <a:extLst xmlns:a="http://schemas.openxmlformats.org/drawingml/2006/main">
              <a:ext uri="{FF2B5EF4-FFF2-40B4-BE49-F238E27FC236}">
                <a16:creationId xmlns:a16="http://schemas.microsoft.com/office/drawing/2014/main" id="{F97B8F02-043B-4E17-B17C-F92A89FDF3AF}"/>
              </a:ext>
            </a:extLst>
          </p:cNvPr>
          <p:cNvSpPr>
            <a:spLocks xmlns:a="http://schemas.openxmlformats.org/drawingml/2006/main" noGrp="1"/>
          </p:cNvSpPr>
          <p:nvPr/>
        </p:nvSpPr>
        <p:spPr>
          <a:xfrm xmlns:a="http://schemas.openxmlformats.org/drawingml/2006/main">
            <a:off x="609600" y="22098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seciliId, düzenlenen notu tutar.</a:t>
            </a:r>
          </a:p>
        </p:txBody>
      </p:sp>
      <p:sp>
        <p:nvSpPr>
          <p:cNvPr id="6" name="text-71">
            <a:extLst xmlns:a="http://schemas.openxmlformats.org/drawingml/2006/main">
              <a:ext uri="{FF2B5EF4-FFF2-40B4-BE49-F238E27FC236}">
                <a16:creationId xmlns:a16="http://schemas.microsoft.com/office/drawing/2014/main" id="{B2C927F4-4E8C-4F09-9029-CD2379D5B596}"/>
              </a:ext>
            </a:extLst>
          </p:cNvPr>
          <p:cNvSpPr>
            <a:spLocks xmlns:a="http://schemas.openxmlformats.org/drawingml/2006/main" noGrp="1"/>
          </p:cNvSpPr>
          <p:nvPr/>
        </p:nvSpPr>
        <p:spPr>
          <a:xfrm xmlns:a="http://schemas.openxmlformats.org/drawingml/2006/main">
            <a:off x="609600" y="283845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Long? boş seçim durumunu temsil eder.</a:t>
            </a:r>
          </a:p>
        </p:txBody>
      </p:sp>
      <p:sp>
        <p:nvSpPr>
          <p:cNvPr id="7" name="text-72">
            <a:extLst xmlns:a="http://schemas.openxmlformats.org/drawingml/2006/main">
              <a:ext uri="{FF2B5EF4-FFF2-40B4-BE49-F238E27FC236}">
                <a16:creationId xmlns:a16="http://schemas.microsoft.com/office/drawing/2014/main" id="{93558EF0-E0DA-433A-AA83-9CB5F9793CA2}"/>
              </a:ext>
            </a:extLst>
          </p:cNvPr>
          <p:cNvSpPr>
            <a:spLocks xmlns:a="http://schemas.openxmlformats.org/drawingml/2006/main" noGrp="1"/>
          </p:cNvSpPr>
          <p:nvPr/>
        </p:nvSpPr>
        <p:spPr>
          <a:xfrm xmlns:a="http://schemas.openxmlformats.org/drawingml/2006/main">
            <a:off x="609600" y="34671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Ekleme ve güncelleme ayrı dallardır.</a:t>
            </a:r>
          </a:p>
        </p:txBody>
      </p:sp>
      <p:sp>
        <p:nvSpPr>
          <p:cNvPr id="8" name="text-73">
            <a:extLst xmlns:a="http://schemas.openxmlformats.org/drawingml/2006/main">
              <a:ext uri="{FF2B5EF4-FFF2-40B4-BE49-F238E27FC236}">
                <a16:creationId xmlns:a16="http://schemas.microsoft.com/office/drawing/2014/main" id="{D84A26FE-B202-48C1-8184-7BDD7EBCEE7D}"/>
              </a:ext>
            </a:extLst>
          </p:cNvPr>
          <p:cNvSpPr>
            <a:spLocks xmlns:a="http://schemas.openxmlformats.org/drawingml/2006/main" noGrp="1"/>
          </p:cNvSpPr>
          <p:nvPr/>
        </p:nvSpPr>
        <p:spPr>
          <a:xfrm xmlns:a="http://schemas.openxmlformats.org/drawingml/2006/main">
            <a:off x="6705600" y="16478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F42C1"/>
                </a:solidFill>
                <a:latin typeface="Arial"/>
                <a:ea typeface="Arial"/>
                <a:cs typeface="Arial"/>
              </a:defRPr>
            </a:defPPr>
          </a:lstStyle>
          <a:p xmlns:a="http://schemas.openxmlformats.org/drawingml/2006/main">
            <a:pPr>
              <a:defRPr sz="2175" b="1">
                <a:solidFill>
                  <a:srgbClr val="6F42C1"/>
                </a:solidFill>
                <a:latin typeface="Arial"/>
                <a:ea typeface="Arial"/>
                <a:cs typeface="Arial"/>
              </a:defRPr>
            </a:pPr>
            <a:r>
              <a:rPr sz="2175" b="1">
                <a:solidFill>
                  <a:srgbClr val="6F42C1"/>
                </a:solidFill>
                <a:latin typeface="Arial"/>
                <a:ea typeface="Arial"/>
                <a:cs typeface="Arial"/>
              </a:rPr>
              <a:t>Dikkat</a:t>
            </a:r>
          </a:p>
        </p:txBody>
      </p:sp>
      <p:sp>
        <p:nvSpPr>
          <p:cNvPr id="9" name="text-74">
            <a:extLst xmlns:a="http://schemas.openxmlformats.org/drawingml/2006/main">
              <a:ext uri="{FF2B5EF4-FFF2-40B4-BE49-F238E27FC236}">
                <a16:creationId xmlns:a16="http://schemas.microsoft.com/office/drawing/2014/main" id="{35B10855-2627-4628-A616-7DB0CB8F6ABF}"/>
              </a:ext>
            </a:extLst>
          </p:cNvPr>
          <p:cNvSpPr>
            <a:spLocks xmlns:a="http://schemas.openxmlformats.org/drawingml/2006/main" noGrp="1"/>
          </p:cNvSpPr>
          <p:nvPr/>
        </p:nvSpPr>
        <p:spPr>
          <a:xfrm xmlns:a="http://schemas.openxmlformats.org/drawingml/2006/main">
            <a:off x="6705600" y="2209800"/>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Güncelleme yeni not eklememeli.</a:t>
            </a:r>
          </a:p>
        </p:txBody>
      </p:sp>
      <p:sp>
        <p:nvSpPr>
          <p:cNvPr id="10" name="text-75">
            <a:extLst xmlns:a="http://schemas.openxmlformats.org/drawingml/2006/main">
              <a:ext uri="{FF2B5EF4-FFF2-40B4-BE49-F238E27FC236}">
                <a16:creationId xmlns:a16="http://schemas.microsoft.com/office/drawing/2014/main" id="{E3CDA3EA-9659-48DD-87C0-66D04E11926F}"/>
              </a:ext>
            </a:extLst>
          </p:cNvPr>
          <p:cNvSpPr>
            <a:spLocks xmlns:a="http://schemas.openxmlformats.org/drawingml/2006/main" noGrp="1"/>
          </p:cNvSpPr>
          <p:nvPr/>
        </p:nvSpPr>
        <p:spPr>
          <a:xfrm xmlns:a="http://schemas.openxmlformats.org/drawingml/2006/main">
            <a:off x="6705600" y="3152775"/>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İptal sonrası seçili kimlik</a:t>
            </a:r>
          </a:p>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ve giriş alanı temizlenmeli.</a:t>
            </a:r>
          </a:p>
        </p:txBody>
      </p:sp>
      <p:sp>
        <p:nvSpPr>
          <p:cNvPr id="11" name="text-76">
            <a:extLst xmlns:a="http://schemas.openxmlformats.org/drawingml/2006/main">
              <a:ext uri="{FF2B5EF4-FFF2-40B4-BE49-F238E27FC236}">
                <a16:creationId xmlns:a16="http://schemas.microsoft.com/office/drawing/2014/main" id="{E50BC10C-8047-499F-B10E-7ACD400B5A6A}"/>
              </a:ext>
            </a:extLst>
          </p:cNvPr>
          <p:cNvSpPr>
            <a:spLocks xmlns:a="http://schemas.openxmlformats.org/drawingml/2006/main" noGrp="1"/>
          </p:cNvSpPr>
          <p:nvPr/>
        </p:nvSpPr>
        <p:spPr>
          <a:xfrm xmlns:a="http://schemas.openxmlformats.org/drawingml/2006/main">
            <a:off x="609600" y="43148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Kontrol: Düzenleyip kaydedin. Sonra tekrar açıp iptal edin.</a:t>
            </a:r>
          </a:p>
        </p:txBody>
      </p:sp>
      <p:sp>
        <p:nvSpPr>
          <p:cNvPr id="12" name="text-77">
            <a:extLst xmlns:a="http://schemas.openxmlformats.org/drawingml/2006/main">
              <a:ext uri="{FF2B5EF4-FFF2-40B4-BE49-F238E27FC236}">
                <a16:creationId xmlns:a16="http://schemas.microsoft.com/office/drawing/2014/main" id="{73452083-5AE2-4AF7-8084-727D86A1BF4B}"/>
              </a:ext>
            </a:extLst>
          </p:cNvPr>
          <p:cNvSpPr>
            <a:spLocks xmlns:a="http://schemas.openxmlformats.org/drawingml/2006/main" noGrp="1"/>
          </p:cNvSpPr>
          <p:nvPr/>
        </p:nvSpPr>
        <p:spPr>
          <a:xfrm xmlns:a="http://schemas.openxmlformats.org/drawingml/2006/main">
            <a:off x="609600" y="5238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8C6"/>
                </a:solidFill>
                <a:latin typeface="Arial"/>
                <a:ea typeface="Arial"/>
                <a:cs typeface="Arial"/>
              </a:defRPr>
            </a:defPPr>
          </a:lstStyle>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var seciliId: Long? = null</a:t>
            </a:r>
          </a:p>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 Seçim yoksa ekle, seçim varsa o notu güncelle.</a:t>
            </a:r>
          </a:p>
        </p:txBody>
      </p:sp>
    </p:spTree>
    <p:extLst>
      <p:ext uri="{BB962C8B-B14F-4D97-AF65-F5344CB8AC3E}">
        <p14:creationId xmlns:p14="http://schemas.microsoft.com/office/powerpoint/2010/main" val="1826573402"/>
      </p:ext>
    </p:extLst>
  </p:cSld>
</p:sld>
</file>

<file path=ppt/slides/slide10.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1" name="text-78">
            <a:extLst xmlns:a="http://schemas.openxmlformats.org/drawingml/2006/main">
              <a:ext uri="{FF2B5EF4-FFF2-40B4-BE49-F238E27FC236}">
                <a16:creationId xmlns:a16="http://schemas.microsoft.com/office/drawing/2014/main" id="{C6794D2C-66B4-460D-B5B6-BF46C2606527}"/>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3</a:t>
            </a:r>
          </a:p>
        </p:txBody>
      </p:sp>
      <p:sp>
        <p:nvSpPr>
          <p:cNvPr id="2" name="text-79">
            <a:extLst xmlns:a="http://schemas.openxmlformats.org/drawingml/2006/main">
              <a:ext uri="{FF2B5EF4-FFF2-40B4-BE49-F238E27FC236}">
                <a16:creationId xmlns:a16="http://schemas.microsoft.com/office/drawing/2014/main" id="{AC8E0B58-72CD-4A31-9B32-4D49CB7F8587}"/>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Notlarda arama</a:t>
            </a:r>
          </a:p>
        </p:txBody>
      </p:sp>
      <p:sp>
        <p:nvSpPr>
          <p:cNvPr id="3" name="text-80">
            <a:extLst xmlns:a="http://schemas.openxmlformats.org/drawingml/2006/main">
              <a:ext uri="{FF2B5EF4-FFF2-40B4-BE49-F238E27FC236}">
                <a16:creationId xmlns:a16="http://schemas.microsoft.com/office/drawing/2014/main" id="{6F0B348B-28C6-4708-A9D8-CD155D06BAC1}"/>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60A13507-9ABB-45F2-85D3-C277A078E48A}"/>
              </a:ext>
            </a:extLst>
          </p:cNvPr>
          <p:cNvPicPr>
            <a:picLocks xmlns:a="http://schemas.openxmlformats.org/drawingml/2006/main" noChangeAspect="1"/>
          </p:cNvPicPr>
          <p:nvPr/>
        </p:nvPicPr>
        <p:blipFill>
          <a:blip xmlns:r="http://schemas.openxmlformats.org/officeDocument/2006/relationships" xmlns:a="http://schemas.openxmlformats.org/drawingml/2006/main" r:embed="Rd50464dfac6c4cac"/>
          <a:stretch xmlns:a="http://schemas.openxmlformats.org/drawingml/2006/main"/>
        </p:blipFill>
        <p:spPr>
          <a:xfrm xmlns:a="http://schemas.openxmlformats.org/drawingml/2006/main">
            <a:off x="8270875" y="1381125"/>
            <a:ext cx="3175000" cy="4762500"/>
          </a:xfrm>
          <a:prstGeom xmlns:a="http://schemas.openxmlformats.org/drawingml/2006/main" prst="rect">
            <a:avLst/>
          </a:prstGeom>
        </p:spPr>
      </p:pic>
      <p:sp>
        <p:nvSpPr>
          <p:cNvPr id="5" name="text-81">
            <a:extLst xmlns:a="http://schemas.openxmlformats.org/drawingml/2006/main">
              <a:ext uri="{FF2B5EF4-FFF2-40B4-BE49-F238E27FC236}">
                <a16:creationId xmlns:a16="http://schemas.microsoft.com/office/drawing/2014/main" id="{9CD00ABF-14D8-4835-B127-6C2DACBADEF6}"/>
              </a:ext>
            </a:extLst>
          </p:cNvPr>
          <p:cNvSpPr>
            <a:spLocks xmlns:a="http://schemas.openxmlformats.org/drawingml/2006/main" noGrp="1"/>
          </p:cNvSpPr>
          <p:nvPr/>
        </p:nvSpPr>
        <p:spPr>
          <a:xfrm xmlns:a="http://schemas.openxmlformats.org/drawingml/2006/main">
            <a:off x="8191500" y="61341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Temsili görev ekranı</a:t>
            </a:r>
          </a:p>
        </p:txBody>
      </p:sp>
      <p:sp>
        <p:nvSpPr>
          <p:cNvPr id="6" name="text-82">
            <a:extLst xmlns:a="http://schemas.openxmlformats.org/drawingml/2006/main">
              <a:ext uri="{FF2B5EF4-FFF2-40B4-BE49-F238E27FC236}">
                <a16:creationId xmlns:a16="http://schemas.microsoft.com/office/drawing/2014/main" id="{D006E731-89E8-47CB-A671-BB0CBECEC9CF}"/>
              </a:ext>
            </a:extLst>
          </p:cNvPr>
          <p:cNvSpPr>
            <a:spLocks xmlns:a="http://schemas.openxmlformats.org/drawingml/2006/main" noGrp="1"/>
          </p:cNvSpPr>
          <p:nvPr/>
        </p:nvSpPr>
        <p:spPr>
          <a:xfrm xmlns:a="http://schemas.openxmlformats.org/drawingml/2006/main">
            <a:off x="609600" y="1704975"/>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D90"/>
                </a:solidFill>
                <a:latin typeface="Arial"/>
                <a:ea typeface="Arial"/>
                <a:cs typeface="Arial"/>
              </a:defRPr>
            </a:defPPr>
          </a:lstStyle>
          <a:p xmlns:a="http://schemas.openxmlformats.org/drawingml/2006/main">
            <a:pPr>
              <a:defRPr sz="2175" b="1">
                <a:solidFill>
                  <a:srgbClr val="087D90"/>
                </a:solidFill>
                <a:latin typeface="Arial"/>
                <a:ea typeface="Arial"/>
                <a:cs typeface="Arial"/>
              </a:defRPr>
            </a:pPr>
            <a:r>
              <a:rPr sz="2175" b="1">
                <a:solidFill>
                  <a:srgbClr val="087D90"/>
                </a:solidFill>
                <a:latin typeface="Arial"/>
                <a:ea typeface="Arial"/>
                <a:cs typeface="Arial"/>
              </a:rPr>
              <a:t>Göreviniz</a:t>
            </a:r>
          </a:p>
        </p:txBody>
      </p:sp>
      <p:sp>
        <p:nvSpPr>
          <p:cNvPr id="7" name="text-83">
            <a:extLst xmlns:a="http://schemas.openxmlformats.org/drawingml/2006/main">
              <a:ext uri="{FF2B5EF4-FFF2-40B4-BE49-F238E27FC236}">
                <a16:creationId xmlns:a16="http://schemas.microsoft.com/office/drawing/2014/main" id="{A71B2936-53C4-4C63-93E5-6922642072E4}"/>
              </a:ext>
            </a:extLst>
          </p:cNvPr>
          <p:cNvSpPr>
            <a:spLocks xmlns:a="http://schemas.openxmlformats.org/drawingml/2006/main" noGrp="1"/>
          </p:cNvSpPr>
          <p:nvPr/>
        </p:nvSpPr>
        <p:spPr>
          <a:xfrm xmlns:a="http://schemas.openxmlformats.org/drawingml/2006/main">
            <a:off x="609600" y="232410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Arama alanı ve Ara düğmesi ekleyin.</a:t>
            </a:r>
          </a:p>
        </p:txBody>
      </p:sp>
      <p:sp>
        <p:nvSpPr>
          <p:cNvPr id="8" name="text-84">
            <a:extLst xmlns:a="http://schemas.openxmlformats.org/drawingml/2006/main">
              <a:ext uri="{FF2B5EF4-FFF2-40B4-BE49-F238E27FC236}">
                <a16:creationId xmlns:a16="http://schemas.microsoft.com/office/drawing/2014/main" id="{647F7CEF-3343-4C33-BDF3-DE2703EC2A0D}"/>
              </a:ext>
            </a:extLst>
          </p:cNvPr>
          <p:cNvSpPr>
            <a:spLocks xmlns:a="http://schemas.openxmlformats.org/drawingml/2006/main" noGrp="1"/>
          </p:cNvSpPr>
          <p:nvPr/>
        </p:nvSpPr>
        <p:spPr>
          <a:xfrm xmlns:a="http://schemas.openxmlformats.org/drawingml/2006/main">
            <a:off x="609600" y="3114675"/>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Metni içeren notları gösterin.</a:t>
            </a:r>
          </a:p>
        </p:txBody>
      </p:sp>
      <p:sp>
        <p:nvSpPr>
          <p:cNvPr id="9" name="text-85">
            <a:extLst xmlns:a="http://schemas.openxmlformats.org/drawingml/2006/main">
              <a:ext uri="{FF2B5EF4-FFF2-40B4-BE49-F238E27FC236}">
                <a16:creationId xmlns:a16="http://schemas.microsoft.com/office/drawing/2014/main" id="{0DBDBCDA-29A5-421D-A826-0BFB80763CBC}"/>
              </a:ext>
            </a:extLst>
          </p:cNvPr>
          <p:cNvSpPr>
            <a:spLocks xmlns:a="http://schemas.openxmlformats.org/drawingml/2006/main" noGrp="1"/>
          </p:cNvSpPr>
          <p:nvPr/>
        </p:nvSpPr>
        <p:spPr>
          <a:xfrm xmlns:a="http://schemas.openxmlformats.org/drawingml/2006/main">
            <a:off x="609600" y="390525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Boş aramada tüm notları getirin.</a:t>
            </a:r>
          </a:p>
        </p:txBody>
      </p:sp>
      <p:sp>
        <p:nvSpPr>
          <p:cNvPr id="10" name="text-86">
            <a:extLst xmlns:a="http://schemas.openxmlformats.org/drawingml/2006/main">
              <a:ext uri="{FF2B5EF4-FFF2-40B4-BE49-F238E27FC236}">
                <a16:creationId xmlns:a16="http://schemas.microsoft.com/office/drawing/2014/main" id="{8CB039EA-957F-4F92-9064-ADF92DCB3925}"/>
              </a:ext>
            </a:extLst>
          </p:cNvPr>
          <p:cNvSpPr>
            <a:spLocks xmlns:a="http://schemas.openxmlformats.org/drawingml/2006/main" noGrp="1"/>
          </p:cNvSpPr>
          <p:nvPr/>
        </p:nvSpPr>
        <p:spPr>
          <a:xfrm xmlns:a="http://schemas.openxmlformats.org/drawingml/2006/main">
            <a:off x="609600" y="514350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Bittiğinde: Sonuç bulunamazsa mesaj görünür. Ana liste korunur.</a:t>
            </a:r>
          </a:p>
        </p:txBody>
      </p:sp>
    </p:spTree>
    <p:extLst>
      <p:ext uri="{BB962C8B-B14F-4D97-AF65-F5344CB8AC3E}">
        <p14:creationId xmlns:p14="http://schemas.microsoft.com/office/powerpoint/2010/main" val="886582971"/>
      </p:ext>
    </p:extLst>
  </p:cSld>
</p:sld>
</file>

<file path=ppt/slides/slide11.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3" name="text-87">
            <a:extLst xmlns:a="http://schemas.openxmlformats.org/drawingml/2006/main">
              <a:ext uri="{FF2B5EF4-FFF2-40B4-BE49-F238E27FC236}">
                <a16:creationId xmlns:a16="http://schemas.microsoft.com/office/drawing/2014/main" id="{A5FC248E-6EBB-4432-910B-1DA037729BB6}"/>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3</a:t>
            </a:r>
          </a:p>
        </p:txBody>
      </p:sp>
      <p:sp>
        <p:nvSpPr>
          <p:cNvPr id="2" name="text-88">
            <a:extLst xmlns:a="http://schemas.openxmlformats.org/drawingml/2006/main">
              <a:ext uri="{FF2B5EF4-FFF2-40B4-BE49-F238E27FC236}">
                <a16:creationId xmlns:a16="http://schemas.microsoft.com/office/drawing/2014/main" id="{186A451B-2E46-4FB0-83C4-B55E6F015171}"/>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Notlarda arama için kavramlar</a:t>
            </a:r>
          </a:p>
        </p:txBody>
      </p:sp>
      <p:sp>
        <p:nvSpPr>
          <p:cNvPr id="3" name="text-89">
            <a:extLst xmlns:a="http://schemas.openxmlformats.org/drawingml/2006/main">
              <a:ext uri="{FF2B5EF4-FFF2-40B4-BE49-F238E27FC236}">
                <a16:creationId xmlns:a16="http://schemas.microsoft.com/office/drawing/2014/main" id="{2CD82EE5-2E2E-46B1-8DC8-8FE7494AFFC6}"/>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11</a:t>
            </a:r>
          </a:p>
        </p:txBody>
      </p:sp>
      <p:sp>
        <p:nvSpPr>
          <p:cNvPr id="4" name="text-90">
            <a:extLst xmlns:a="http://schemas.openxmlformats.org/drawingml/2006/main">
              <a:ext uri="{FF2B5EF4-FFF2-40B4-BE49-F238E27FC236}">
                <a16:creationId xmlns:a16="http://schemas.microsoft.com/office/drawing/2014/main" id="{4F34DE1B-05FA-45D9-A568-FD7FCFE52757}"/>
              </a:ext>
            </a:extLst>
          </p:cNvPr>
          <p:cNvSpPr>
            <a:spLocks xmlns:a="http://schemas.openxmlformats.org/drawingml/2006/main" noGrp="1"/>
          </p:cNvSpPr>
          <p:nvPr/>
        </p:nvSpPr>
        <p:spPr>
          <a:xfrm xmlns:a="http://schemas.openxmlformats.org/drawingml/2006/main">
            <a:off x="609600" y="1647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D90"/>
                </a:solidFill>
                <a:latin typeface="Arial"/>
                <a:ea typeface="Arial"/>
                <a:cs typeface="Arial"/>
              </a:defRPr>
            </a:defPPr>
          </a:lstStyle>
          <a:p xmlns:a="http://schemas.openxmlformats.org/drawingml/2006/main">
            <a:pPr>
              <a:defRPr sz="2175" b="1">
                <a:solidFill>
                  <a:srgbClr val="087D90"/>
                </a:solidFill>
                <a:latin typeface="Arial"/>
                <a:ea typeface="Arial"/>
                <a:cs typeface="Arial"/>
              </a:defRPr>
            </a:pPr>
            <a:r>
              <a:rPr sz="2175" b="1">
                <a:solidFill>
                  <a:srgbClr val="087D90"/>
                </a:solidFill>
                <a:latin typeface="Arial"/>
                <a:ea typeface="Arial"/>
                <a:cs typeface="Arial"/>
              </a:rPr>
              <a:t>Yeni kavramlar</a:t>
            </a:r>
          </a:p>
        </p:txBody>
      </p:sp>
      <p:sp>
        <p:nvSpPr>
          <p:cNvPr id="5" name="text-91">
            <a:extLst xmlns:a="http://schemas.openxmlformats.org/drawingml/2006/main">
              <a:ext uri="{FF2B5EF4-FFF2-40B4-BE49-F238E27FC236}">
                <a16:creationId xmlns:a16="http://schemas.microsoft.com/office/drawing/2014/main" id="{45D3D1AB-FF42-460F-B17D-1D82AE2C89E6}"/>
              </a:ext>
            </a:extLst>
          </p:cNvPr>
          <p:cNvSpPr>
            <a:spLocks xmlns:a="http://schemas.openxmlformats.org/drawingml/2006/main" noGrp="1"/>
          </p:cNvSpPr>
          <p:nvPr/>
        </p:nvSpPr>
        <p:spPr>
          <a:xfrm xmlns:a="http://schemas.openxmlformats.org/drawingml/2006/main">
            <a:off x="609600" y="22098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filter, eşleşenlerden yeni liste üretir.</a:t>
            </a:r>
          </a:p>
        </p:txBody>
      </p:sp>
      <p:sp>
        <p:nvSpPr>
          <p:cNvPr id="6" name="text-92">
            <a:extLst xmlns:a="http://schemas.openxmlformats.org/drawingml/2006/main">
              <a:ext uri="{FF2B5EF4-FFF2-40B4-BE49-F238E27FC236}">
                <a16:creationId xmlns:a16="http://schemas.microsoft.com/office/drawing/2014/main" id="{18717516-4C15-48C5-8D93-5DA02D208DFF}"/>
              </a:ext>
            </a:extLst>
          </p:cNvPr>
          <p:cNvSpPr>
            <a:spLocks xmlns:a="http://schemas.openxmlformats.org/drawingml/2006/main" noGrp="1"/>
          </p:cNvSpPr>
          <p:nvPr/>
        </p:nvSpPr>
        <p:spPr>
          <a:xfrm xmlns:a="http://schemas.openxmlformats.org/drawingml/2006/main">
            <a:off x="609600" y="283845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contains, metin içinde arama yapar.</a:t>
            </a:r>
          </a:p>
        </p:txBody>
      </p:sp>
      <p:sp>
        <p:nvSpPr>
          <p:cNvPr id="7" name="text-93">
            <a:extLst xmlns:a="http://schemas.openxmlformats.org/drawingml/2006/main">
              <a:ext uri="{FF2B5EF4-FFF2-40B4-BE49-F238E27FC236}">
                <a16:creationId xmlns:a16="http://schemas.microsoft.com/office/drawing/2014/main" id="{CE1886FF-1DC1-4995-8E82-8833B7235B4F}"/>
              </a:ext>
            </a:extLst>
          </p:cNvPr>
          <p:cNvSpPr>
            <a:spLocks xmlns:a="http://schemas.openxmlformats.org/drawingml/2006/main" noGrp="1"/>
          </p:cNvSpPr>
          <p:nvPr/>
        </p:nvSpPr>
        <p:spPr>
          <a:xfrm xmlns:a="http://schemas.openxmlformats.org/drawingml/2006/main">
            <a:off x="609600" y="34671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Ana liste ve görünür liste ayrıdır.</a:t>
            </a:r>
          </a:p>
        </p:txBody>
      </p:sp>
      <p:sp>
        <p:nvSpPr>
          <p:cNvPr id="8" name="text-94">
            <a:extLst xmlns:a="http://schemas.openxmlformats.org/drawingml/2006/main">
              <a:ext uri="{FF2B5EF4-FFF2-40B4-BE49-F238E27FC236}">
                <a16:creationId xmlns:a16="http://schemas.microsoft.com/office/drawing/2014/main" id="{12E8550F-A672-4809-BCC7-12388072ABA7}"/>
              </a:ext>
            </a:extLst>
          </p:cNvPr>
          <p:cNvSpPr>
            <a:spLocks xmlns:a="http://schemas.openxmlformats.org/drawingml/2006/main" noGrp="1"/>
          </p:cNvSpPr>
          <p:nvPr/>
        </p:nvSpPr>
        <p:spPr>
          <a:xfrm xmlns:a="http://schemas.openxmlformats.org/drawingml/2006/main">
            <a:off x="6705600" y="16478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D90"/>
                </a:solidFill>
                <a:latin typeface="Arial"/>
                <a:ea typeface="Arial"/>
                <a:cs typeface="Arial"/>
              </a:defRPr>
            </a:defPPr>
          </a:lstStyle>
          <a:p xmlns:a="http://schemas.openxmlformats.org/drawingml/2006/main">
            <a:pPr>
              <a:defRPr sz="2175" b="1">
                <a:solidFill>
                  <a:srgbClr val="087D90"/>
                </a:solidFill>
                <a:latin typeface="Arial"/>
                <a:ea typeface="Arial"/>
                <a:cs typeface="Arial"/>
              </a:defRPr>
            </a:pPr>
            <a:r>
              <a:rPr sz="2175" b="1">
                <a:solidFill>
                  <a:srgbClr val="087D90"/>
                </a:solidFill>
                <a:latin typeface="Arial"/>
                <a:ea typeface="Arial"/>
                <a:cs typeface="Arial"/>
              </a:rPr>
              <a:t>Dikkat</a:t>
            </a:r>
          </a:p>
        </p:txBody>
      </p:sp>
      <p:sp>
        <p:nvSpPr>
          <p:cNvPr id="9" name="text-95">
            <a:extLst xmlns:a="http://schemas.openxmlformats.org/drawingml/2006/main">
              <a:ext uri="{FF2B5EF4-FFF2-40B4-BE49-F238E27FC236}">
                <a16:creationId xmlns:a16="http://schemas.microsoft.com/office/drawing/2014/main" id="{66984B4A-E7F8-4581-A11A-298F3DCB7DE7}"/>
              </a:ext>
            </a:extLst>
          </p:cNvPr>
          <p:cNvSpPr>
            <a:spLocks xmlns:a="http://schemas.openxmlformats.org/drawingml/2006/main" noGrp="1"/>
          </p:cNvSpPr>
          <p:nvPr/>
        </p:nvSpPr>
        <p:spPr>
          <a:xfrm xmlns:a="http://schemas.openxmlformats.org/drawingml/2006/main">
            <a:off x="6705600" y="2209800"/>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Arama için ana listeyi silmeyin.</a:t>
            </a:r>
          </a:p>
        </p:txBody>
      </p:sp>
      <p:sp>
        <p:nvSpPr>
          <p:cNvPr id="10" name="text-96">
            <a:extLst xmlns:a="http://schemas.openxmlformats.org/drawingml/2006/main">
              <a:ext uri="{FF2B5EF4-FFF2-40B4-BE49-F238E27FC236}">
                <a16:creationId xmlns:a16="http://schemas.microsoft.com/office/drawing/2014/main" id="{47F928AB-D161-453F-B2F2-E65F4EB3EC1C}"/>
              </a:ext>
            </a:extLst>
          </p:cNvPr>
          <p:cNvSpPr>
            <a:spLocks xmlns:a="http://schemas.openxmlformats.org/drawingml/2006/main" noGrp="1"/>
          </p:cNvSpPr>
          <p:nvPr/>
        </p:nvSpPr>
        <p:spPr>
          <a:xfrm xmlns:a="http://schemas.openxmlformats.org/drawingml/2006/main">
            <a:off x="6705600" y="3152775"/>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Canlı arama yerine Ara düğmesi</a:t>
            </a:r>
          </a:p>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bu görev için yeterlidir.</a:t>
            </a:r>
          </a:p>
        </p:txBody>
      </p:sp>
      <p:sp>
        <p:nvSpPr>
          <p:cNvPr id="11" name="text-97">
            <a:extLst xmlns:a="http://schemas.openxmlformats.org/drawingml/2006/main">
              <a:ext uri="{FF2B5EF4-FFF2-40B4-BE49-F238E27FC236}">
                <a16:creationId xmlns:a16="http://schemas.microsoft.com/office/drawing/2014/main" id="{920CE189-D69B-4BC3-BED2-A002D3257B32}"/>
              </a:ext>
            </a:extLst>
          </p:cNvPr>
          <p:cNvSpPr>
            <a:spLocks xmlns:a="http://schemas.openxmlformats.org/drawingml/2006/main" noGrp="1"/>
          </p:cNvSpPr>
          <p:nvPr/>
        </p:nvSpPr>
        <p:spPr>
          <a:xfrm xmlns:a="http://schemas.openxmlformats.org/drawingml/2006/main">
            <a:off x="609600" y="43148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Kontrol: Birden fazla sonuç, sıfır sonuç ve boş aramayı deneyin.</a:t>
            </a:r>
          </a:p>
        </p:txBody>
      </p:sp>
      <p:sp>
        <p:nvSpPr>
          <p:cNvPr id="12" name="text-98">
            <a:extLst xmlns:a="http://schemas.openxmlformats.org/drawingml/2006/main">
              <a:ext uri="{FF2B5EF4-FFF2-40B4-BE49-F238E27FC236}">
                <a16:creationId xmlns:a16="http://schemas.microsoft.com/office/drawing/2014/main" id="{3A0D63A1-AEE2-4DA9-BD3E-D6E566C89D27}"/>
              </a:ext>
            </a:extLst>
          </p:cNvPr>
          <p:cNvSpPr>
            <a:spLocks xmlns:a="http://schemas.openxmlformats.org/drawingml/2006/main" noGrp="1"/>
          </p:cNvSpPr>
          <p:nvPr/>
        </p:nvSpPr>
        <p:spPr>
          <a:xfrm xmlns:a="http://schemas.openxmlformats.org/drawingml/2006/main">
            <a:off x="609600" y="5238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8C6"/>
                </a:solidFill>
                <a:latin typeface="Arial"/>
                <a:ea typeface="Arial"/>
                <a:cs typeface="Arial"/>
              </a:defRPr>
            </a:defPPr>
          </a:lstStyle>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val gorunen = tumNotlar.filter { it.metin.contains(aranan) }</a:t>
            </a:r>
          </a:p>
        </p:txBody>
      </p:sp>
    </p:spTree>
    <p:extLst>
      <p:ext uri="{BB962C8B-B14F-4D97-AF65-F5344CB8AC3E}">
        <p14:creationId xmlns:p14="http://schemas.microsoft.com/office/powerpoint/2010/main" val="1625747313"/>
      </p:ext>
    </p:extLst>
  </p:cSld>
</p:sld>
</file>

<file path=ppt/slides/slide12.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1" name="text-99">
            <a:extLst xmlns:a="http://schemas.openxmlformats.org/drawingml/2006/main">
              <a:ext uri="{FF2B5EF4-FFF2-40B4-BE49-F238E27FC236}">
                <a16:creationId xmlns:a16="http://schemas.microsoft.com/office/drawing/2014/main" id="{86BBC030-D70B-4AA6-A82D-A2425EFA6357}"/>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4</a:t>
            </a:r>
          </a:p>
        </p:txBody>
      </p:sp>
      <p:sp>
        <p:nvSpPr>
          <p:cNvPr id="2" name="text-100">
            <a:extLst xmlns:a="http://schemas.openxmlformats.org/drawingml/2006/main">
              <a:ext uri="{FF2B5EF4-FFF2-40B4-BE49-F238E27FC236}">
                <a16:creationId xmlns:a16="http://schemas.microsoft.com/office/drawing/2014/main" id="{E018795C-CBC2-4561-9E5F-AF98165F5377}"/>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Favori notlar</a:t>
            </a:r>
          </a:p>
        </p:txBody>
      </p:sp>
      <p:sp>
        <p:nvSpPr>
          <p:cNvPr id="3" name="text-101">
            <a:extLst xmlns:a="http://schemas.openxmlformats.org/drawingml/2006/main">
              <a:ext uri="{FF2B5EF4-FFF2-40B4-BE49-F238E27FC236}">
                <a16:creationId xmlns:a16="http://schemas.microsoft.com/office/drawing/2014/main" id="{A3D9034E-6604-45A1-8C28-F1F384C6E330}"/>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8E71B2FA-FB42-4F27-8B0A-6A15C079B526}"/>
              </a:ext>
            </a:extLst>
          </p:cNvPr>
          <p:cNvPicPr>
            <a:picLocks xmlns:a="http://schemas.openxmlformats.org/drawingml/2006/main" noChangeAspect="1"/>
          </p:cNvPicPr>
          <p:nvPr/>
        </p:nvPicPr>
        <p:blipFill>
          <a:blip xmlns:r="http://schemas.openxmlformats.org/officeDocument/2006/relationships" xmlns:a="http://schemas.openxmlformats.org/drawingml/2006/main" r:embed="Rc1c3018c9c654068"/>
          <a:stretch xmlns:a="http://schemas.openxmlformats.org/drawingml/2006/main"/>
        </p:blipFill>
        <p:spPr>
          <a:xfrm xmlns:a="http://schemas.openxmlformats.org/drawingml/2006/main">
            <a:off x="8270875" y="1381125"/>
            <a:ext cx="3175000" cy="4762500"/>
          </a:xfrm>
          <a:prstGeom xmlns:a="http://schemas.openxmlformats.org/drawingml/2006/main" prst="rect">
            <a:avLst/>
          </a:prstGeom>
        </p:spPr>
      </p:pic>
      <p:sp>
        <p:nvSpPr>
          <p:cNvPr id="5" name="text-102">
            <a:extLst xmlns:a="http://schemas.openxmlformats.org/drawingml/2006/main">
              <a:ext uri="{FF2B5EF4-FFF2-40B4-BE49-F238E27FC236}">
                <a16:creationId xmlns:a16="http://schemas.microsoft.com/office/drawing/2014/main" id="{AC46D5FD-969E-4A04-9931-3267FBA30E5F}"/>
              </a:ext>
            </a:extLst>
          </p:cNvPr>
          <p:cNvSpPr>
            <a:spLocks xmlns:a="http://schemas.openxmlformats.org/drawingml/2006/main" noGrp="1"/>
          </p:cNvSpPr>
          <p:nvPr/>
        </p:nvSpPr>
        <p:spPr>
          <a:xfrm xmlns:a="http://schemas.openxmlformats.org/drawingml/2006/main">
            <a:off x="8191500" y="61341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Temsili görev ekranı</a:t>
            </a:r>
          </a:p>
        </p:txBody>
      </p:sp>
      <p:sp>
        <p:nvSpPr>
          <p:cNvPr id="6" name="text-103">
            <a:extLst xmlns:a="http://schemas.openxmlformats.org/drawingml/2006/main">
              <a:ext uri="{FF2B5EF4-FFF2-40B4-BE49-F238E27FC236}">
                <a16:creationId xmlns:a16="http://schemas.microsoft.com/office/drawing/2014/main" id="{9AF17E38-4039-4457-8822-1E63C92E3C84}"/>
              </a:ext>
            </a:extLst>
          </p:cNvPr>
          <p:cNvSpPr>
            <a:spLocks xmlns:a="http://schemas.openxmlformats.org/drawingml/2006/main" noGrp="1"/>
          </p:cNvSpPr>
          <p:nvPr/>
        </p:nvSpPr>
        <p:spPr>
          <a:xfrm xmlns:a="http://schemas.openxmlformats.org/drawingml/2006/main">
            <a:off x="609600" y="1704975"/>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9B6900"/>
                </a:solidFill>
                <a:latin typeface="Arial"/>
                <a:ea typeface="Arial"/>
                <a:cs typeface="Arial"/>
              </a:defRPr>
            </a:defPPr>
          </a:lstStyle>
          <a:p xmlns:a="http://schemas.openxmlformats.org/drawingml/2006/main">
            <a:pPr>
              <a:defRPr sz="2175" b="1">
                <a:solidFill>
                  <a:srgbClr val="9B6900"/>
                </a:solidFill>
                <a:latin typeface="Arial"/>
                <a:ea typeface="Arial"/>
                <a:cs typeface="Arial"/>
              </a:defRPr>
            </a:pPr>
            <a:r>
              <a:rPr sz="2175" b="1">
                <a:solidFill>
                  <a:srgbClr val="9B6900"/>
                </a:solidFill>
                <a:latin typeface="Arial"/>
                <a:ea typeface="Arial"/>
                <a:cs typeface="Arial"/>
              </a:rPr>
              <a:t>Göreviniz</a:t>
            </a:r>
          </a:p>
        </p:txBody>
      </p:sp>
      <p:sp>
        <p:nvSpPr>
          <p:cNvPr id="7" name="text-104">
            <a:extLst xmlns:a="http://schemas.openxmlformats.org/drawingml/2006/main">
              <a:ext uri="{FF2B5EF4-FFF2-40B4-BE49-F238E27FC236}">
                <a16:creationId xmlns:a16="http://schemas.microsoft.com/office/drawing/2014/main" id="{035AE302-76B1-48F6-81E0-0E1517F067AC}"/>
              </a:ext>
            </a:extLst>
          </p:cNvPr>
          <p:cNvSpPr>
            <a:spLocks xmlns:a="http://schemas.openxmlformats.org/drawingml/2006/main" noGrp="1"/>
          </p:cNvSpPr>
          <p:nvPr/>
        </p:nvSpPr>
        <p:spPr>
          <a:xfrm xmlns:a="http://schemas.openxmlformats.org/drawingml/2006/main">
            <a:off x="609600" y="232410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Nota favori bilgisi ekleyin.</a:t>
            </a:r>
          </a:p>
        </p:txBody>
      </p:sp>
      <p:sp>
        <p:nvSpPr>
          <p:cNvPr id="8" name="text-105">
            <a:extLst xmlns:a="http://schemas.openxmlformats.org/drawingml/2006/main">
              <a:ext uri="{FF2B5EF4-FFF2-40B4-BE49-F238E27FC236}">
                <a16:creationId xmlns:a16="http://schemas.microsoft.com/office/drawing/2014/main" id="{8D3DA125-EF50-4588-8ABA-052530182887}"/>
              </a:ext>
            </a:extLst>
          </p:cNvPr>
          <p:cNvSpPr>
            <a:spLocks xmlns:a="http://schemas.openxmlformats.org/drawingml/2006/main" noGrp="1"/>
          </p:cNvSpPr>
          <p:nvPr/>
        </p:nvSpPr>
        <p:spPr>
          <a:xfrm xmlns:a="http://schemas.openxmlformats.org/drawingml/2006/main">
            <a:off x="609600" y="3114675"/>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Satır düğmesiyle favoriyi değiştirin.</a:t>
            </a:r>
          </a:p>
        </p:txBody>
      </p:sp>
      <p:sp>
        <p:nvSpPr>
          <p:cNvPr id="9" name="text-106">
            <a:extLst xmlns:a="http://schemas.openxmlformats.org/drawingml/2006/main">
              <a:ext uri="{FF2B5EF4-FFF2-40B4-BE49-F238E27FC236}">
                <a16:creationId xmlns:a16="http://schemas.microsoft.com/office/drawing/2014/main" id="{D88EC25A-23E2-47E6-9694-D4D73C748991}"/>
              </a:ext>
            </a:extLst>
          </p:cNvPr>
          <p:cNvSpPr>
            <a:spLocks xmlns:a="http://schemas.openxmlformats.org/drawingml/2006/main" noGrp="1"/>
          </p:cNvSpPr>
          <p:nvPr/>
        </p:nvSpPr>
        <p:spPr>
          <a:xfrm xmlns:a="http://schemas.openxmlformats.org/drawingml/2006/main">
            <a:off x="609600" y="390525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Favoriler ve Tümü görünümü ekleyin.</a:t>
            </a:r>
          </a:p>
        </p:txBody>
      </p:sp>
      <p:sp>
        <p:nvSpPr>
          <p:cNvPr id="10" name="text-107">
            <a:extLst xmlns:a="http://schemas.openxmlformats.org/drawingml/2006/main">
              <a:ext uri="{FF2B5EF4-FFF2-40B4-BE49-F238E27FC236}">
                <a16:creationId xmlns:a16="http://schemas.microsoft.com/office/drawing/2014/main" id="{B4841DFC-3EC5-486E-A916-DBF8336CC2B2}"/>
              </a:ext>
            </a:extLst>
          </p:cNvPr>
          <p:cNvSpPr>
            <a:spLocks xmlns:a="http://schemas.openxmlformats.org/drawingml/2006/main" noGrp="1"/>
          </p:cNvSpPr>
          <p:nvPr/>
        </p:nvSpPr>
        <p:spPr>
          <a:xfrm xmlns:a="http://schemas.openxmlformats.org/drawingml/2006/main">
            <a:off x="609600" y="514350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Bittiğinde: Favori filtresi kapanınca bütün notlar geri gelir.</a:t>
            </a:r>
          </a:p>
        </p:txBody>
      </p:sp>
    </p:spTree>
    <p:extLst>
      <p:ext uri="{BB962C8B-B14F-4D97-AF65-F5344CB8AC3E}">
        <p14:creationId xmlns:p14="http://schemas.microsoft.com/office/powerpoint/2010/main" val="1913676875"/>
      </p:ext>
    </p:extLst>
  </p:cSld>
</p:sld>
</file>

<file path=ppt/slides/slide13.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3" name="text-108">
            <a:extLst xmlns:a="http://schemas.openxmlformats.org/drawingml/2006/main">
              <a:ext uri="{FF2B5EF4-FFF2-40B4-BE49-F238E27FC236}">
                <a16:creationId xmlns:a16="http://schemas.microsoft.com/office/drawing/2014/main" id="{785AAA28-BD3A-416A-A642-5FFF7D753685}"/>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4</a:t>
            </a:r>
          </a:p>
        </p:txBody>
      </p:sp>
      <p:sp>
        <p:nvSpPr>
          <p:cNvPr id="2" name="text-109">
            <a:extLst xmlns:a="http://schemas.openxmlformats.org/drawingml/2006/main">
              <a:ext uri="{FF2B5EF4-FFF2-40B4-BE49-F238E27FC236}">
                <a16:creationId xmlns:a16="http://schemas.microsoft.com/office/drawing/2014/main" id="{73D81B60-F035-4D2F-B7ED-983A61154D28}"/>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Favori notlar için kavramlar</a:t>
            </a:r>
          </a:p>
        </p:txBody>
      </p:sp>
      <p:sp>
        <p:nvSpPr>
          <p:cNvPr id="3" name="text-110">
            <a:extLst xmlns:a="http://schemas.openxmlformats.org/drawingml/2006/main">
              <a:ext uri="{FF2B5EF4-FFF2-40B4-BE49-F238E27FC236}">
                <a16:creationId xmlns:a16="http://schemas.microsoft.com/office/drawing/2014/main" id="{3DB37893-6E87-449B-9D18-73D39811A16A}"/>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13</a:t>
            </a:r>
          </a:p>
        </p:txBody>
      </p:sp>
      <p:sp>
        <p:nvSpPr>
          <p:cNvPr id="4" name="text-111">
            <a:extLst xmlns:a="http://schemas.openxmlformats.org/drawingml/2006/main">
              <a:ext uri="{FF2B5EF4-FFF2-40B4-BE49-F238E27FC236}">
                <a16:creationId xmlns:a16="http://schemas.microsoft.com/office/drawing/2014/main" id="{6B9C52C6-228F-45D3-838F-727F38CA2E8F}"/>
              </a:ext>
            </a:extLst>
          </p:cNvPr>
          <p:cNvSpPr>
            <a:spLocks xmlns:a="http://schemas.openxmlformats.org/drawingml/2006/main" noGrp="1"/>
          </p:cNvSpPr>
          <p:nvPr/>
        </p:nvSpPr>
        <p:spPr>
          <a:xfrm xmlns:a="http://schemas.openxmlformats.org/drawingml/2006/main">
            <a:off x="609600" y="1647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9B6900"/>
                </a:solidFill>
                <a:latin typeface="Arial"/>
                <a:ea typeface="Arial"/>
                <a:cs typeface="Arial"/>
              </a:defRPr>
            </a:defPPr>
          </a:lstStyle>
          <a:p xmlns:a="http://schemas.openxmlformats.org/drawingml/2006/main">
            <a:pPr>
              <a:defRPr sz="2175" b="1">
                <a:solidFill>
                  <a:srgbClr val="9B6900"/>
                </a:solidFill>
                <a:latin typeface="Arial"/>
                <a:ea typeface="Arial"/>
                <a:cs typeface="Arial"/>
              </a:defRPr>
            </a:pPr>
            <a:r>
              <a:rPr sz="2175" b="1">
                <a:solidFill>
                  <a:srgbClr val="9B6900"/>
                </a:solidFill>
                <a:latin typeface="Arial"/>
                <a:ea typeface="Arial"/>
                <a:cs typeface="Arial"/>
              </a:rPr>
              <a:t>Yeni kavramlar</a:t>
            </a:r>
          </a:p>
        </p:txBody>
      </p:sp>
      <p:sp>
        <p:nvSpPr>
          <p:cNvPr id="5" name="text-112">
            <a:extLst xmlns:a="http://schemas.openxmlformats.org/drawingml/2006/main">
              <a:ext uri="{FF2B5EF4-FFF2-40B4-BE49-F238E27FC236}">
                <a16:creationId xmlns:a16="http://schemas.microsoft.com/office/drawing/2014/main" id="{F2BB3464-FD52-4110-9108-97668F497120}"/>
              </a:ext>
            </a:extLst>
          </p:cNvPr>
          <p:cNvSpPr>
            <a:spLocks xmlns:a="http://schemas.openxmlformats.org/drawingml/2006/main" noGrp="1"/>
          </p:cNvSpPr>
          <p:nvPr/>
        </p:nvSpPr>
        <p:spPr>
          <a:xfrm xmlns:a="http://schemas.openxmlformats.org/drawingml/2006/main">
            <a:off x="609600" y="22098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Boolean iki durumu temsil eder.</a:t>
            </a:r>
          </a:p>
        </p:txBody>
      </p:sp>
      <p:sp>
        <p:nvSpPr>
          <p:cNvPr id="6" name="text-113">
            <a:extLst xmlns:a="http://schemas.openxmlformats.org/drawingml/2006/main">
              <a:ext uri="{FF2B5EF4-FFF2-40B4-BE49-F238E27FC236}">
                <a16:creationId xmlns:a16="http://schemas.microsoft.com/office/drawing/2014/main" id="{80A9FDFE-AFEC-4CE9-9391-16F0840A9041}"/>
              </a:ext>
            </a:extLst>
          </p:cNvPr>
          <p:cNvSpPr>
            <a:spLocks xmlns:a="http://schemas.openxmlformats.org/drawingml/2006/main" noGrp="1"/>
          </p:cNvSpPr>
          <p:nvPr/>
        </p:nvSpPr>
        <p:spPr>
          <a:xfrm xmlns:a="http://schemas.openxmlformats.org/drawingml/2006/main">
            <a:off x="609600" y="283845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copy, değiştirilmiş nesne üretir.</a:t>
            </a:r>
          </a:p>
        </p:txBody>
      </p:sp>
      <p:sp>
        <p:nvSpPr>
          <p:cNvPr id="7" name="text-114">
            <a:extLst xmlns:a="http://schemas.openxmlformats.org/drawingml/2006/main">
              <a:ext uri="{FF2B5EF4-FFF2-40B4-BE49-F238E27FC236}">
                <a16:creationId xmlns:a16="http://schemas.microsoft.com/office/drawing/2014/main" id="{FFC613BB-153D-4DAC-86E4-80998D094A0C}"/>
              </a:ext>
            </a:extLst>
          </p:cNvPr>
          <p:cNvSpPr>
            <a:spLocks xmlns:a="http://schemas.openxmlformats.org/drawingml/2006/main" noGrp="1"/>
          </p:cNvSpPr>
          <p:nvPr/>
        </p:nvSpPr>
        <p:spPr>
          <a:xfrm xmlns:a="http://schemas.openxmlformats.org/drawingml/2006/main">
            <a:off x="609600" y="34671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onBindViewHolder satırı doldurur.</a:t>
            </a:r>
          </a:p>
        </p:txBody>
      </p:sp>
      <p:sp>
        <p:nvSpPr>
          <p:cNvPr id="8" name="text-115">
            <a:extLst xmlns:a="http://schemas.openxmlformats.org/drawingml/2006/main">
              <a:ext uri="{FF2B5EF4-FFF2-40B4-BE49-F238E27FC236}">
                <a16:creationId xmlns:a16="http://schemas.microsoft.com/office/drawing/2014/main" id="{F3157D41-DA29-48FB-806E-CEE4A3978D4C}"/>
              </a:ext>
            </a:extLst>
          </p:cNvPr>
          <p:cNvSpPr>
            <a:spLocks xmlns:a="http://schemas.openxmlformats.org/drawingml/2006/main" noGrp="1"/>
          </p:cNvSpPr>
          <p:nvPr/>
        </p:nvSpPr>
        <p:spPr>
          <a:xfrm xmlns:a="http://schemas.openxmlformats.org/drawingml/2006/main">
            <a:off x="6705600" y="16478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9B6900"/>
                </a:solidFill>
                <a:latin typeface="Arial"/>
                <a:ea typeface="Arial"/>
                <a:cs typeface="Arial"/>
              </a:defRPr>
            </a:defPPr>
          </a:lstStyle>
          <a:p xmlns:a="http://schemas.openxmlformats.org/drawingml/2006/main">
            <a:pPr>
              <a:defRPr sz="2175" b="1">
                <a:solidFill>
                  <a:srgbClr val="9B6900"/>
                </a:solidFill>
                <a:latin typeface="Arial"/>
                <a:ea typeface="Arial"/>
                <a:cs typeface="Arial"/>
              </a:defRPr>
            </a:pPr>
            <a:r>
              <a:rPr sz="2175" b="1">
                <a:solidFill>
                  <a:srgbClr val="9B6900"/>
                </a:solidFill>
                <a:latin typeface="Arial"/>
                <a:ea typeface="Arial"/>
                <a:cs typeface="Arial"/>
              </a:rPr>
              <a:t>Dikkat</a:t>
            </a:r>
          </a:p>
        </p:txBody>
      </p:sp>
      <p:sp>
        <p:nvSpPr>
          <p:cNvPr id="9" name="text-116">
            <a:extLst xmlns:a="http://schemas.openxmlformats.org/drawingml/2006/main">
              <a:ext uri="{FF2B5EF4-FFF2-40B4-BE49-F238E27FC236}">
                <a16:creationId xmlns:a16="http://schemas.microsoft.com/office/drawing/2014/main" id="{109BE732-611F-4378-8F06-FE4D48A80A4C}"/>
              </a:ext>
            </a:extLst>
          </p:cNvPr>
          <p:cNvSpPr>
            <a:spLocks xmlns:a="http://schemas.openxmlformats.org/drawingml/2006/main" noGrp="1"/>
          </p:cNvSpPr>
          <p:nvPr/>
        </p:nvSpPr>
        <p:spPr>
          <a:xfrm xmlns:a="http://schemas.openxmlformats.org/drawingml/2006/main">
            <a:off x="6705600" y="2209800"/>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Yıldız işaretini her bağlamada</a:t>
            </a:r>
          </a:p>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veriden tekrar ayarlayın.</a:t>
            </a:r>
          </a:p>
        </p:txBody>
      </p:sp>
      <p:sp>
        <p:nvSpPr>
          <p:cNvPr id="10" name="text-117">
            <a:extLst xmlns:a="http://schemas.openxmlformats.org/drawingml/2006/main">
              <a:ext uri="{FF2B5EF4-FFF2-40B4-BE49-F238E27FC236}">
                <a16:creationId xmlns:a16="http://schemas.microsoft.com/office/drawing/2014/main" id="{B823D54A-74B6-497C-99AA-DE209833D987}"/>
              </a:ext>
            </a:extLst>
          </p:cNvPr>
          <p:cNvSpPr>
            <a:spLocks xmlns:a="http://schemas.openxmlformats.org/drawingml/2006/main" noGrp="1"/>
          </p:cNvSpPr>
          <p:nvPr/>
        </p:nvSpPr>
        <p:spPr>
          <a:xfrm xmlns:a="http://schemas.openxmlformats.org/drawingml/2006/main">
            <a:off x="6705600" y="3152775"/>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Sadece simgeyi değiştirmek yetmez.</a:t>
            </a:r>
          </a:p>
        </p:txBody>
      </p:sp>
      <p:sp>
        <p:nvSpPr>
          <p:cNvPr id="11" name="text-118">
            <a:extLst xmlns:a="http://schemas.openxmlformats.org/drawingml/2006/main">
              <a:ext uri="{FF2B5EF4-FFF2-40B4-BE49-F238E27FC236}">
                <a16:creationId xmlns:a16="http://schemas.microsoft.com/office/drawing/2014/main" id="{B021F97A-3523-4F47-838D-C78F1B23C59E}"/>
              </a:ext>
            </a:extLst>
          </p:cNvPr>
          <p:cNvSpPr>
            <a:spLocks xmlns:a="http://schemas.openxmlformats.org/drawingml/2006/main" noGrp="1"/>
          </p:cNvSpPr>
          <p:nvPr/>
        </p:nvSpPr>
        <p:spPr>
          <a:xfrm xmlns:a="http://schemas.openxmlformats.org/drawingml/2006/main">
            <a:off x="609600" y="43148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Kontrol: Favori seçin, kaydırın ve filtreyi açıp kapatın.</a:t>
            </a:r>
          </a:p>
        </p:txBody>
      </p:sp>
      <p:sp>
        <p:nvSpPr>
          <p:cNvPr id="12" name="text-119">
            <a:extLst xmlns:a="http://schemas.openxmlformats.org/drawingml/2006/main">
              <a:ext uri="{FF2B5EF4-FFF2-40B4-BE49-F238E27FC236}">
                <a16:creationId xmlns:a16="http://schemas.microsoft.com/office/drawing/2014/main" id="{54BDD692-487B-46C5-B078-0A9E7FE088DD}"/>
              </a:ext>
            </a:extLst>
          </p:cNvPr>
          <p:cNvSpPr>
            <a:spLocks xmlns:a="http://schemas.openxmlformats.org/drawingml/2006/main" noGrp="1"/>
          </p:cNvSpPr>
          <p:nvPr/>
        </p:nvSpPr>
        <p:spPr>
          <a:xfrm xmlns:a="http://schemas.openxmlformats.org/drawingml/2006/main">
            <a:off x="609600" y="5238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8C6"/>
                </a:solidFill>
                <a:latin typeface="Arial"/>
                <a:ea typeface="Arial"/>
                <a:cs typeface="Arial"/>
              </a:defRPr>
            </a:defPPr>
          </a:lstStyle>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val yeniNot = eskiNot.copy(favori = !eskiNot.favori)</a:t>
            </a:r>
          </a:p>
        </p:txBody>
      </p:sp>
    </p:spTree>
    <p:extLst>
      <p:ext uri="{BB962C8B-B14F-4D97-AF65-F5344CB8AC3E}">
        <p14:creationId xmlns:p14="http://schemas.microsoft.com/office/powerpoint/2010/main" val="1069905497"/>
      </p:ext>
    </p:extLst>
  </p:cSld>
</p:sld>
</file>

<file path=ppt/slides/slide14.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1" name="text-120">
            <a:extLst xmlns:a="http://schemas.openxmlformats.org/drawingml/2006/main">
              <a:ext uri="{FF2B5EF4-FFF2-40B4-BE49-F238E27FC236}">
                <a16:creationId xmlns:a16="http://schemas.microsoft.com/office/drawing/2014/main" id="{2021F6F9-8403-4E54-90EC-B38E58F1DE33}"/>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5</a:t>
            </a:r>
          </a:p>
        </p:txBody>
      </p:sp>
      <p:sp>
        <p:nvSpPr>
          <p:cNvPr id="2" name="text-121">
            <a:extLst xmlns:a="http://schemas.openxmlformats.org/drawingml/2006/main">
              <a:ext uri="{FF2B5EF4-FFF2-40B4-BE49-F238E27FC236}">
                <a16:creationId xmlns:a16="http://schemas.microsoft.com/office/drawing/2014/main" id="{F4BBBD30-E8E4-40ED-A50F-F4F37F2D1B68}"/>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Listeyi sıralama</a:t>
            </a:r>
          </a:p>
        </p:txBody>
      </p:sp>
      <p:sp>
        <p:nvSpPr>
          <p:cNvPr id="3" name="text-122">
            <a:extLst xmlns:a="http://schemas.openxmlformats.org/drawingml/2006/main">
              <a:ext uri="{FF2B5EF4-FFF2-40B4-BE49-F238E27FC236}">
                <a16:creationId xmlns:a16="http://schemas.microsoft.com/office/drawing/2014/main" id="{498CB1B0-B958-44B4-BD6A-187371585FD7}"/>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14</a:t>
            </a:r>
          </a:p>
        </p:txBody>
      </p:sp>
      <p:pic>
        <p:nvPicPr>
          <p:cNvPr id="4" name="">
            <a:extLst xmlns:a="http://schemas.openxmlformats.org/drawingml/2006/main">
              <a:ext uri="{FF2B5EF4-FFF2-40B4-BE49-F238E27FC236}">
                <a16:creationId xmlns:a16="http://schemas.microsoft.com/office/drawing/2014/main" id="{A0FA1A9B-4418-49FA-8DA2-8FC699D9094D}"/>
              </a:ext>
            </a:extLst>
          </p:cNvPr>
          <p:cNvPicPr>
            <a:picLocks xmlns:a="http://schemas.openxmlformats.org/drawingml/2006/main" noChangeAspect="1"/>
          </p:cNvPicPr>
          <p:nvPr/>
        </p:nvPicPr>
        <p:blipFill>
          <a:blip xmlns:r="http://schemas.openxmlformats.org/officeDocument/2006/relationships" xmlns:a="http://schemas.openxmlformats.org/drawingml/2006/main" r:embed="Raed1247c680c4693"/>
          <a:stretch xmlns:a="http://schemas.openxmlformats.org/drawingml/2006/main"/>
        </p:blipFill>
        <p:spPr>
          <a:xfrm xmlns:a="http://schemas.openxmlformats.org/drawingml/2006/main">
            <a:off x="8270875" y="1381125"/>
            <a:ext cx="3175000" cy="4762500"/>
          </a:xfrm>
          <a:prstGeom xmlns:a="http://schemas.openxmlformats.org/drawingml/2006/main" prst="rect">
            <a:avLst/>
          </a:prstGeom>
        </p:spPr>
      </p:pic>
      <p:sp>
        <p:nvSpPr>
          <p:cNvPr id="5" name="text-123">
            <a:extLst xmlns:a="http://schemas.openxmlformats.org/drawingml/2006/main">
              <a:ext uri="{FF2B5EF4-FFF2-40B4-BE49-F238E27FC236}">
                <a16:creationId xmlns:a16="http://schemas.microsoft.com/office/drawing/2014/main" id="{87695C80-5968-4FEC-AF1D-379386A88073}"/>
              </a:ext>
            </a:extLst>
          </p:cNvPr>
          <p:cNvSpPr>
            <a:spLocks xmlns:a="http://schemas.openxmlformats.org/drawingml/2006/main" noGrp="1"/>
          </p:cNvSpPr>
          <p:nvPr/>
        </p:nvSpPr>
        <p:spPr>
          <a:xfrm xmlns:a="http://schemas.openxmlformats.org/drawingml/2006/main">
            <a:off x="8191500" y="61341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Temsili görev ekranı</a:t>
            </a:r>
          </a:p>
        </p:txBody>
      </p:sp>
      <p:sp>
        <p:nvSpPr>
          <p:cNvPr id="6" name="text-124">
            <a:extLst xmlns:a="http://schemas.openxmlformats.org/drawingml/2006/main">
              <a:ext uri="{FF2B5EF4-FFF2-40B4-BE49-F238E27FC236}">
                <a16:creationId xmlns:a16="http://schemas.microsoft.com/office/drawing/2014/main" id="{F8FA83B5-EDA9-4CEB-A1EF-955C072C08D8}"/>
              </a:ext>
            </a:extLst>
          </p:cNvPr>
          <p:cNvSpPr>
            <a:spLocks xmlns:a="http://schemas.openxmlformats.org/drawingml/2006/main" noGrp="1"/>
          </p:cNvSpPr>
          <p:nvPr/>
        </p:nvSpPr>
        <p:spPr>
          <a:xfrm xmlns:a="http://schemas.openxmlformats.org/drawingml/2006/main">
            <a:off x="609600" y="1704975"/>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25DAD"/>
                </a:solidFill>
                <a:latin typeface="Arial"/>
                <a:ea typeface="Arial"/>
                <a:cs typeface="Arial"/>
              </a:defRPr>
            </a:defPPr>
          </a:lstStyle>
          <a:p xmlns:a="http://schemas.openxmlformats.org/drawingml/2006/main">
            <a:pPr>
              <a:defRPr sz="2175" b="1">
                <a:solidFill>
                  <a:srgbClr val="325DAD"/>
                </a:solidFill>
                <a:latin typeface="Arial"/>
                <a:ea typeface="Arial"/>
                <a:cs typeface="Arial"/>
              </a:defRPr>
            </a:pPr>
            <a:r>
              <a:rPr sz="2175" b="1">
                <a:solidFill>
                  <a:srgbClr val="325DAD"/>
                </a:solidFill>
                <a:latin typeface="Arial"/>
                <a:ea typeface="Arial"/>
                <a:cs typeface="Arial"/>
              </a:rPr>
              <a:t>Göreviniz</a:t>
            </a:r>
          </a:p>
        </p:txBody>
      </p:sp>
      <p:sp>
        <p:nvSpPr>
          <p:cNvPr id="7" name="text-125">
            <a:extLst xmlns:a="http://schemas.openxmlformats.org/drawingml/2006/main">
              <a:ext uri="{FF2B5EF4-FFF2-40B4-BE49-F238E27FC236}">
                <a16:creationId xmlns:a16="http://schemas.microsoft.com/office/drawing/2014/main" id="{72686BBE-1DE4-4CA2-9407-140DF6C3E784}"/>
              </a:ext>
            </a:extLst>
          </p:cNvPr>
          <p:cNvSpPr>
            <a:spLocks xmlns:a="http://schemas.openxmlformats.org/drawingml/2006/main" noGrp="1"/>
          </p:cNvSpPr>
          <p:nvPr/>
        </p:nvSpPr>
        <p:spPr>
          <a:xfrm xmlns:a="http://schemas.openxmlformats.org/drawingml/2006/main">
            <a:off x="609600" y="232410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Ekleme sırası görünümü ekleyin.</a:t>
            </a:r>
          </a:p>
        </p:txBody>
      </p:sp>
      <p:sp>
        <p:nvSpPr>
          <p:cNvPr id="8" name="text-126">
            <a:extLst xmlns:a="http://schemas.openxmlformats.org/drawingml/2006/main">
              <a:ext uri="{FF2B5EF4-FFF2-40B4-BE49-F238E27FC236}">
                <a16:creationId xmlns:a16="http://schemas.microsoft.com/office/drawing/2014/main" id="{565FAD38-6984-4799-9F5E-9A365CC8084B}"/>
              </a:ext>
            </a:extLst>
          </p:cNvPr>
          <p:cNvSpPr>
            <a:spLocks xmlns:a="http://schemas.openxmlformats.org/drawingml/2006/main" noGrp="1"/>
          </p:cNvSpPr>
          <p:nvPr/>
        </p:nvSpPr>
        <p:spPr>
          <a:xfrm xmlns:a="http://schemas.openxmlformats.org/drawingml/2006/main">
            <a:off x="609600" y="3114675"/>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Ters sıra görünümü ekleyin.</a:t>
            </a:r>
          </a:p>
        </p:txBody>
      </p:sp>
      <p:sp>
        <p:nvSpPr>
          <p:cNvPr id="9" name="text-127">
            <a:extLst xmlns:a="http://schemas.openxmlformats.org/drawingml/2006/main">
              <a:ext uri="{FF2B5EF4-FFF2-40B4-BE49-F238E27FC236}">
                <a16:creationId xmlns:a16="http://schemas.microsoft.com/office/drawing/2014/main" id="{FEDA8C01-D6E8-4FEE-A4B0-FEA6C02B8781}"/>
              </a:ext>
            </a:extLst>
          </p:cNvPr>
          <p:cNvSpPr>
            <a:spLocks xmlns:a="http://schemas.openxmlformats.org/drawingml/2006/main" noGrp="1"/>
          </p:cNvSpPr>
          <p:nvPr/>
        </p:nvSpPr>
        <p:spPr>
          <a:xfrm xmlns:a="http://schemas.openxmlformats.org/drawingml/2006/main">
            <a:off x="609600" y="390525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Yeni notta seçili sırayı koruyun.</a:t>
            </a:r>
          </a:p>
        </p:txBody>
      </p:sp>
      <p:sp>
        <p:nvSpPr>
          <p:cNvPr id="10" name="text-128">
            <a:extLst xmlns:a="http://schemas.openxmlformats.org/drawingml/2006/main">
              <a:ext uri="{FF2B5EF4-FFF2-40B4-BE49-F238E27FC236}">
                <a16:creationId xmlns:a16="http://schemas.microsoft.com/office/drawing/2014/main" id="{C36666BB-E7E7-4684-BD11-CFEB6932D1E0}"/>
              </a:ext>
            </a:extLst>
          </p:cNvPr>
          <p:cNvSpPr>
            <a:spLocks xmlns:a="http://schemas.openxmlformats.org/drawingml/2006/main" noGrp="1"/>
          </p:cNvSpPr>
          <p:nvPr/>
        </p:nvSpPr>
        <p:spPr>
          <a:xfrm xmlns:a="http://schemas.openxmlformats.org/drawingml/2006/main">
            <a:off x="609600" y="514350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Bittiğinde: Sıra değişir. Notlar silinmez veya çoğalmaz.</a:t>
            </a:r>
          </a:p>
        </p:txBody>
      </p:sp>
    </p:spTree>
    <p:extLst>
      <p:ext uri="{BB962C8B-B14F-4D97-AF65-F5344CB8AC3E}">
        <p14:creationId xmlns:p14="http://schemas.microsoft.com/office/powerpoint/2010/main" val="2023365993"/>
      </p:ext>
    </p:extLst>
  </p:cSld>
</p:sld>
</file>

<file path=ppt/slides/slide15.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3" name="text-129">
            <a:extLst xmlns:a="http://schemas.openxmlformats.org/drawingml/2006/main">
              <a:ext uri="{FF2B5EF4-FFF2-40B4-BE49-F238E27FC236}">
                <a16:creationId xmlns:a16="http://schemas.microsoft.com/office/drawing/2014/main" id="{AC3513F0-E6A5-4C88-A32D-FBC3892863F0}"/>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5</a:t>
            </a:r>
          </a:p>
        </p:txBody>
      </p:sp>
      <p:sp>
        <p:nvSpPr>
          <p:cNvPr id="2" name="text-130">
            <a:extLst xmlns:a="http://schemas.openxmlformats.org/drawingml/2006/main">
              <a:ext uri="{FF2B5EF4-FFF2-40B4-BE49-F238E27FC236}">
                <a16:creationId xmlns:a16="http://schemas.microsoft.com/office/drawing/2014/main" id="{D9E5DFF1-C1B4-4E09-B288-B3A13473C855}"/>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Listeyi sıralama için kavramlar</a:t>
            </a:r>
          </a:p>
        </p:txBody>
      </p:sp>
      <p:sp>
        <p:nvSpPr>
          <p:cNvPr id="3" name="text-131">
            <a:extLst xmlns:a="http://schemas.openxmlformats.org/drawingml/2006/main">
              <a:ext uri="{FF2B5EF4-FFF2-40B4-BE49-F238E27FC236}">
                <a16:creationId xmlns:a16="http://schemas.microsoft.com/office/drawing/2014/main" id="{958CD892-F5CB-4624-B160-668E4CBA0A23}"/>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15</a:t>
            </a:r>
          </a:p>
        </p:txBody>
      </p:sp>
      <p:sp>
        <p:nvSpPr>
          <p:cNvPr id="4" name="text-132">
            <a:extLst xmlns:a="http://schemas.openxmlformats.org/drawingml/2006/main">
              <a:ext uri="{FF2B5EF4-FFF2-40B4-BE49-F238E27FC236}">
                <a16:creationId xmlns:a16="http://schemas.microsoft.com/office/drawing/2014/main" id="{D936E0B0-A9CC-45CA-A447-98473D30070C}"/>
              </a:ext>
            </a:extLst>
          </p:cNvPr>
          <p:cNvSpPr>
            <a:spLocks xmlns:a="http://schemas.openxmlformats.org/drawingml/2006/main" noGrp="1"/>
          </p:cNvSpPr>
          <p:nvPr/>
        </p:nvSpPr>
        <p:spPr>
          <a:xfrm xmlns:a="http://schemas.openxmlformats.org/drawingml/2006/main">
            <a:off x="609600" y="1647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25DAD"/>
                </a:solidFill>
                <a:latin typeface="Arial"/>
                <a:ea typeface="Arial"/>
                <a:cs typeface="Arial"/>
              </a:defRPr>
            </a:defPPr>
          </a:lstStyle>
          <a:p xmlns:a="http://schemas.openxmlformats.org/drawingml/2006/main">
            <a:pPr>
              <a:defRPr sz="2175" b="1">
                <a:solidFill>
                  <a:srgbClr val="325DAD"/>
                </a:solidFill>
                <a:latin typeface="Arial"/>
                <a:ea typeface="Arial"/>
                <a:cs typeface="Arial"/>
              </a:defRPr>
            </a:pPr>
            <a:r>
              <a:rPr sz="2175" b="1">
                <a:solidFill>
                  <a:srgbClr val="325DAD"/>
                </a:solidFill>
                <a:latin typeface="Arial"/>
                <a:ea typeface="Arial"/>
                <a:cs typeface="Arial"/>
              </a:rPr>
              <a:t>Yeni kavramlar</a:t>
            </a:r>
          </a:p>
        </p:txBody>
      </p:sp>
      <p:sp>
        <p:nvSpPr>
          <p:cNvPr id="5" name="text-133">
            <a:extLst xmlns:a="http://schemas.openxmlformats.org/drawingml/2006/main">
              <a:ext uri="{FF2B5EF4-FFF2-40B4-BE49-F238E27FC236}">
                <a16:creationId xmlns:a16="http://schemas.microsoft.com/office/drawing/2014/main" id="{9C6067B2-E8F4-475B-BBA7-8307944336A2}"/>
              </a:ext>
            </a:extLst>
          </p:cNvPr>
          <p:cNvSpPr>
            <a:spLocks xmlns:a="http://schemas.openxmlformats.org/drawingml/2006/main" noGrp="1"/>
          </p:cNvSpPr>
          <p:nvPr/>
        </p:nvSpPr>
        <p:spPr>
          <a:xfrm xmlns:a="http://schemas.openxmlformats.org/drawingml/2006/main">
            <a:off x="609600" y="22098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reversed, ters sıralı liste üretir.</a:t>
            </a:r>
          </a:p>
        </p:txBody>
      </p:sp>
      <p:sp>
        <p:nvSpPr>
          <p:cNvPr id="6" name="text-134">
            <a:extLst xmlns:a="http://schemas.openxmlformats.org/drawingml/2006/main">
              <a:ext uri="{FF2B5EF4-FFF2-40B4-BE49-F238E27FC236}">
                <a16:creationId xmlns:a16="http://schemas.microsoft.com/office/drawing/2014/main" id="{DB77AB5F-5A24-4BEB-A709-7FA66C34BE04}"/>
              </a:ext>
            </a:extLst>
          </p:cNvPr>
          <p:cNvSpPr>
            <a:spLocks xmlns:a="http://schemas.openxmlformats.org/drawingml/2006/main" noGrp="1"/>
          </p:cNvSpPr>
          <p:nvPr/>
        </p:nvSpPr>
        <p:spPr>
          <a:xfrm xmlns:a="http://schemas.openxmlformats.org/drawingml/2006/main">
            <a:off x="609600" y="283845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Gösterim tercihi ayrı bir durumdur.</a:t>
            </a:r>
          </a:p>
        </p:txBody>
      </p:sp>
      <p:sp>
        <p:nvSpPr>
          <p:cNvPr id="7" name="text-135">
            <a:extLst xmlns:a="http://schemas.openxmlformats.org/drawingml/2006/main">
              <a:ext uri="{FF2B5EF4-FFF2-40B4-BE49-F238E27FC236}">
                <a16:creationId xmlns:a16="http://schemas.microsoft.com/office/drawing/2014/main" id="{F83E9820-9038-4FD1-BA2B-77246CF2BB35}"/>
              </a:ext>
            </a:extLst>
          </p:cNvPr>
          <p:cNvSpPr>
            <a:spLocks xmlns:a="http://schemas.openxmlformats.org/drawingml/2006/main" noGrp="1"/>
          </p:cNvSpPr>
          <p:nvPr/>
        </p:nvSpPr>
        <p:spPr>
          <a:xfrm xmlns:a="http://schemas.openxmlformats.org/drawingml/2006/main">
            <a:off x="609600" y="34671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Ana liste ekleme sırasını korur.</a:t>
            </a:r>
          </a:p>
        </p:txBody>
      </p:sp>
      <p:sp>
        <p:nvSpPr>
          <p:cNvPr id="8" name="text-136">
            <a:extLst xmlns:a="http://schemas.openxmlformats.org/drawingml/2006/main">
              <a:ext uri="{FF2B5EF4-FFF2-40B4-BE49-F238E27FC236}">
                <a16:creationId xmlns:a16="http://schemas.microsoft.com/office/drawing/2014/main" id="{755F7400-F28A-4B49-BFA8-6CCC18113D18}"/>
              </a:ext>
            </a:extLst>
          </p:cNvPr>
          <p:cNvSpPr>
            <a:spLocks xmlns:a="http://schemas.openxmlformats.org/drawingml/2006/main" noGrp="1"/>
          </p:cNvSpPr>
          <p:nvPr/>
        </p:nvSpPr>
        <p:spPr>
          <a:xfrm xmlns:a="http://schemas.openxmlformats.org/drawingml/2006/main">
            <a:off x="6705600" y="16478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25DAD"/>
                </a:solidFill>
                <a:latin typeface="Arial"/>
                <a:ea typeface="Arial"/>
                <a:cs typeface="Arial"/>
              </a:defRPr>
            </a:defPPr>
          </a:lstStyle>
          <a:p xmlns:a="http://schemas.openxmlformats.org/drawingml/2006/main">
            <a:pPr>
              <a:defRPr sz="2175" b="1">
                <a:solidFill>
                  <a:srgbClr val="325DAD"/>
                </a:solidFill>
                <a:latin typeface="Arial"/>
                <a:ea typeface="Arial"/>
                <a:cs typeface="Arial"/>
              </a:defRPr>
            </a:pPr>
            <a:r>
              <a:rPr sz="2175" b="1">
                <a:solidFill>
                  <a:srgbClr val="325DAD"/>
                </a:solidFill>
                <a:latin typeface="Arial"/>
                <a:ea typeface="Arial"/>
                <a:cs typeface="Arial"/>
              </a:rPr>
              <a:t>Dikkat</a:t>
            </a:r>
          </a:p>
        </p:txBody>
      </p:sp>
      <p:sp>
        <p:nvSpPr>
          <p:cNvPr id="9" name="text-137">
            <a:extLst xmlns:a="http://schemas.openxmlformats.org/drawingml/2006/main">
              <a:ext uri="{FF2B5EF4-FFF2-40B4-BE49-F238E27FC236}">
                <a16:creationId xmlns:a16="http://schemas.microsoft.com/office/drawing/2014/main" id="{34B73E34-F723-4DB4-A214-42103C8D67BF}"/>
              </a:ext>
            </a:extLst>
          </p:cNvPr>
          <p:cNvSpPr>
            <a:spLocks xmlns:a="http://schemas.openxmlformats.org/drawingml/2006/main" noGrp="1"/>
          </p:cNvSpPr>
          <p:nvPr/>
        </p:nvSpPr>
        <p:spPr>
          <a:xfrm xmlns:a="http://schemas.openxmlformats.org/drawingml/2006/main">
            <a:off x="6705600" y="2209800"/>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Her tıklamada ana listeyi ters</a:t>
            </a:r>
          </a:p>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çevirmek seçimi karıştırabilir.</a:t>
            </a:r>
          </a:p>
        </p:txBody>
      </p:sp>
      <p:sp>
        <p:nvSpPr>
          <p:cNvPr id="10" name="text-138">
            <a:extLst xmlns:a="http://schemas.openxmlformats.org/drawingml/2006/main">
              <a:ext uri="{FF2B5EF4-FFF2-40B4-BE49-F238E27FC236}">
                <a16:creationId xmlns:a16="http://schemas.microsoft.com/office/drawing/2014/main" id="{7465157C-67AE-4F2D-99D4-860448C29BD8}"/>
              </a:ext>
            </a:extLst>
          </p:cNvPr>
          <p:cNvSpPr>
            <a:spLocks xmlns:a="http://schemas.openxmlformats.org/drawingml/2006/main" noGrp="1"/>
          </p:cNvSpPr>
          <p:nvPr/>
        </p:nvSpPr>
        <p:spPr>
          <a:xfrm xmlns:a="http://schemas.openxmlformats.org/drawingml/2006/main">
            <a:off x="6705600" y="3152775"/>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Görünür listeyi tercihten üretin.</a:t>
            </a:r>
          </a:p>
        </p:txBody>
      </p:sp>
      <p:sp>
        <p:nvSpPr>
          <p:cNvPr id="11" name="text-139">
            <a:extLst xmlns:a="http://schemas.openxmlformats.org/drawingml/2006/main">
              <a:ext uri="{FF2B5EF4-FFF2-40B4-BE49-F238E27FC236}">
                <a16:creationId xmlns:a16="http://schemas.microsoft.com/office/drawing/2014/main" id="{B5A7EF45-C52C-418B-BA58-0562F37F634F}"/>
              </a:ext>
            </a:extLst>
          </p:cNvPr>
          <p:cNvSpPr>
            <a:spLocks xmlns:a="http://schemas.openxmlformats.org/drawingml/2006/main" noGrp="1"/>
          </p:cNvSpPr>
          <p:nvPr/>
        </p:nvSpPr>
        <p:spPr>
          <a:xfrm xmlns:a="http://schemas.openxmlformats.org/drawingml/2006/main">
            <a:off x="609600" y="43148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Kontrol: Sırayı birkaç kez değiştirin. Ardından yeni not ekleyin.</a:t>
            </a:r>
          </a:p>
        </p:txBody>
      </p:sp>
      <p:sp>
        <p:nvSpPr>
          <p:cNvPr id="12" name="text-140">
            <a:extLst xmlns:a="http://schemas.openxmlformats.org/drawingml/2006/main">
              <a:ext uri="{FF2B5EF4-FFF2-40B4-BE49-F238E27FC236}">
                <a16:creationId xmlns:a16="http://schemas.microsoft.com/office/drawing/2014/main" id="{6B0B7B29-81AC-4AB7-87B2-583119AB0135}"/>
              </a:ext>
            </a:extLst>
          </p:cNvPr>
          <p:cNvSpPr>
            <a:spLocks xmlns:a="http://schemas.openxmlformats.org/drawingml/2006/main" noGrp="1"/>
          </p:cNvSpPr>
          <p:nvPr/>
        </p:nvSpPr>
        <p:spPr>
          <a:xfrm xmlns:a="http://schemas.openxmlformats.org/drawingml/2006/main">
            <a:off x="609600" y="5238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8C6"/>
                </a:solidFill>
                <a:latin typeface="Arial"/>
                <a:ea typeface="Arial"/>
                <a:cs typeface="Arial"/>
              </a:defRPr>
            </a:defPPr>
          </a:lstStyle>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val gorunen = if (tersSira) tumNotlar.reversed() else tumNotlar.toList()</a:t>
            </a:r>
          </a:p>
        </p:txBody>
      </p:sp>
    </p:spTree>
    <p:extLst>
      <p:ext uri="{BB962C8B-B14F-4D97-AF65-F5344CB8AC3E}">
        <p14:creationId xmlns:p14="http://schemas.microsoft.com/office/powerpoint/2010/main" val="853350122"/>
      </p:ext>
    </p:extLst>
  </p:cSld>
</p:sld>
</file>

<file path=ppt/slides/slide16.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1" name="text-141">
            <a:extLst xmlns:a="http://schemas.openxmlformats.org/drawingml/2006/main">
              <a:ext uri="{FF2B5EF4-FFF2-40B4-BE49-F238E27FC236}">
                <a16:creationId xmlns:a16="http://schemas.microsoft.com/office/drawing/2014/main" id="{FDB0BAA7-63CE-4869-B02D-43AA7A1A82AB}"/>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6</a:t>
            </a:r>
          </a:p>
        </p:txBody>
      </p:sp>
      <p:sp>
        <p:nvSpPr>
          <p:cNvPr id="2" name="text-142">
            <a:extLst xmlns:a="http://schemas.openxmlformats.org/drawingml/2006/main">
              <a:ext uri="{FF2B5EF4-FFF2-40B4-BE49-F238E27FC236}">
                <a16:creationId xmlns:a16="http://schemas.microsoft.com/office/drawing/2014/main" id="{B00DE640-C348-41B1-B3D1-E37743D7B0A7}"/>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Giriş kontrolü ve sayaç</a:t>
            </a:r>
          </a:p>
        </p:txBody>
      </p:sp>
      <p:sp>
        <p:nvSpPr>
          <p:cNvPr id="3" name="text-143">
            <a:extLst xmlns:a="http://schemas.openxmlformats.org/drawingml/2006/main">
              <a:ext uri="{FF2B5EF4-FFF2-40B4-BE49-F238E27FC236}">
                <a16:creationId xmlns:a16="http://schemas.microsoft.com/office/drawing/2014/main" id="{C07E4B1D-515D-4597-BD9A-661AC3929A62}"/>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16</a:t>
            </a:r>
          </a:p>
        </p:txBody>
      </p:sp>
      <p:pic>
        <p:nvPicPr>
          <p:cNvPr id="4" name="">
            <a:extLst xmlns:a="http://schemas.openxmlformats.org/drawingml/2006/main">
              <a:ext uri="{FF2B5EF4-FFF2-40B4-BE49-F238E27FC236}">
                <a16:creationId xmlns:a16="http://schemas.microsoft.com/office/drawing/2014/main" id="{592B404D-7705-411B-B542-DADEDB03CE61}"/>
              </a:ext>
            </a:extLst>
          </p:cNvPr>
          <p:cNvPicPr>
            <a:picLocks xmlns:a="http://schemas.openxmlformats.org/drawingml/2006/main" noChangeAspect="1"/>
          </p:cNvPicPr>
          <p:nvPr/>
        </p:nvPicPr>
        <p:blipFill>
          <a:blip xmlns:r="http://schemas.openxmlformats.org/officeDocument/2006/relationships" xmlns:a="http://schemas.openxmlformats.org/drawingml/2006/main" r:embed="R378b979abe7a47aa"/>
          <a:stretch xmlns:a="http://schemas.openxmlformats.org/drawingml/2006/main"/>
        </p:blipFill>
        <p:spPr>
          <a:xfrm xmlns:a="http://schemas.openxmlformats.org/drawingml/2006/main">
            <a:off x="8270875" y="1381125"/>
            <a:ext cx="3175000" cy="4762500"/>
          </a:xfrm>
          <a:prstGeom xmlns:a="http://schemas.openxmlformats.org/drawingml/2006/main" prst="rect">
            <a:avLst/>
          </a:prstGeom>
        </p:spPr>
      </p:pic>
      <p:sp>
        <p:nvSpPr>
          <p:cNvPr id="5" name="text-144">
            <a:extLst xmlns:a="http://schemas.openxmlformats.org/drawingml/2006/main">
              <a:ext uri="{FF2B5EF4-FFF2-40B4-BE49-F238E27FC236}">
                <a16:creationId xmlns:a16="http://schemas.microsoft.com/office/drawing/2014/main" id="{4D595E41-A68F-48EF-A186-ED44BA3A92F8}"/>
              </a:ext>
            </a:extLst>
          </p:cNvPr>
          <p:cNvSpPr>
            <a:spLocks xmlns:a="http://schemas.openxmlformats.org/drawingml/2006/main" noGrp="1"/>
          </p:cNvSpPr>
          <p:nvPr/>
        </p:nvSpPr>
        <p:spPr>
          <a:xfrm xmlns:a="http://schemas.openxmlformats.org/drawingml/2006/main">
            <a:off x="8191500" y="61341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Temsili görev ekranı</a:t>
            </a:r>
          </a:p>
        </p:txBody>
      </p:sp>
      <p:sp>
        <p:nvSpPr>
          <p:cNvPr id="6" name="text-145">
            <a:extLst xmlns:a="http://schemas.openxmlformats.org/drawingml/2006/main">
              <a:ext uri="{FF2B5EF4-FFF2-40B4-BE49-F238E27FC236}">
                <a16:creationId xmlns:a16="http://schemas.microsoft.com/office/drawing/2014/main" id="{233E9292-8EC1-4390-A71C-411039129391}"/>
              </a:ext>
            </a:extLst>
          </p:cNvPr>
          <p:cNvSpPr>
            <a:spLocks xmlns:a="http://schemas.openxmlformats.org/drawingml/2006/main" noGrp="1"/>
          </p:cNvSpPr>
          <p:nvPr/>
        </p:nvSpPr>
        <p:spPr>
          <a:xfrm xmlns:a="http://schemas.openxmlformats.org/drawingml/2006/main">
            <a:off x="609600" y="1704975"/>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F7D63"/>
                </a:solidFill>
                <a:latin typeface="Arial"/>
                <a:ea typeface="Arial"/>
                <a:cs typeface="Arial"/>
              </a:defRPr>
            </a:defPPr>
          </a:lstStyle>
          <a:p xmlns:a="http://schemas.openxmlformats.org/drawingml/2006/main">
            <a:pPr>
              <a:defRPr sz="2175" b="1">
                <a:solidFill>
                  <a:srgbClr val="0F7D63"/>
                </a:solidFill>
                <a:latin typeface="Arial"/>
                <a:ea typeface="Arial"/>
                <a:cs typeface="Arial"/>
              </a:defRPr>
            </a:pPr>
            <a:r>
              <a:rPr sz="2175" b="1">
                <a:solidFill>
                  <a:srgbClr val="0F7D63"/>
                </a:solidFill>
                <a:latin typeface="Arial"/>
                <a:ea typeface="Arial"/>
                <a:cs typeface="Arial"/>
              </a:rPr>
              <a:t>Göreviniz</a:t>
            </a:r>
          </a:p>
        </p:txBody>
      </p:sp>
      <p:sp>
        <p:nvSpPr>
          <p:cNvPr id="7" name="text-146">
            <a:extLst xmlns:a="http://schemas.openxmlformats.org/drawingml/2006/main">
              <a:ext uri="{FF2B5EF4-FFF2-40B4-BE49-F238E27FC236}">
                <a16:creationId xmlns:a16="http://schemas.microsoft.com/office/drawing/2014/main" id="{E52F9664-5F11-42F9-B991-2AEAEA80DF20}"/>
              </a:ext>
            </a:extLst>
          </p:cNvPr>
          <p:cNvSpPr>
            <a:spLocks xmlns:a="http://schemas.openxmlformats.org/drawingml/2006/main" noGrp="1"/>
          </p:cNvSpPr>
          <p:nvPr/>
        </p:nvSpPr>
        <p:spPr>
          <a:xfrm xmlns:a="http://schemas.openxmlformats.org/drawingml/2006/main">
            <a:off x="609600" y="232410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Baştaki ve sondaki boşlukları silin.</a:t>
            </a:r>
          </a:p>
        </p:txBody>
      </p:sp>
      <p:sp>
        <p:nvSpPr>
          <p:cNvPr id="8" name="text-147">
            <a:extLst xmlns:a="http://schemas.openxmlformats.org/drawingml/2006/main">
              <a:ext uri="{FF2B5EF4-FFF2-40B4-BE49-F238E27FC236}">
                <a16:creationId xmlns:a16="http://schemas.microsoft.com/office/drawing/2014/main" id="{742C883F-4FA8-4A18-ABB7-FA377036037E}"/>
              </a:ext>
            </a:extLst>
          </p:cNvPr>
          <p:cNvSpPr>
            <a:spLocks xmlns:a="http://schemas.openxmlformats.org/drawingml/2006/main" noGrp="1"/>
          </p:cNvSpPr>
          <p:nvPr/>
        </p:nvSpPr>
        <p:spPr>
          <a:xfrm xmlns:a="http://schemas.openxmlformats.org/drawingml/2006/main">
            <a:off x="609600" y="3114675"/>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Boş veya 100 karakterden</a:t>
            </a:r>
          </a:p>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uzun girişi reddedin.</a:t>
            </a:r>
          </a:p>
        </p:txBody>
      </p:sp>
      <p:sp>
        <p:nvSpPr>
          <p:cNvPr id="9" name="text-148">
            <a:extLst xmlns:a="http://schemas.openxmlformats.org/drawingml/2006/main">
              <a:ext uri="{FF2B5EF4-FFF2-40B4-BE49-F238E27FC236}">
                <a16:creationId xmlns:a16="http://schemas.microsoft.com/office/drawing/2014/main" id="{8BA2C11F-3801-4294-9025-8C7857A5384C}"/>
              </a:ext>
            </a:extLst>
          </p:cNvPr>
          <p:cNvSpPr>
            <a:spLocks xmlns:a="http://schemas.openxmlformats.org/drawingml/2006/main" noGrp="1"/>
          </p:cNvSpPr>
          <p:nvPr/>
        </p:nvSpPr>
        <p:spPr>
          <a:xfrm xmlns:a="http://schemas.openxmlformats.org/drawingml/2006/main">
            <a:off x="609600" y="390525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43A"/>
                </a:solidFill>
                <a:latin typeface="Arial"/>
                <a:ea typeface="Arial"/>
                <a:cs typeface="Arial"/>
              </a:defRPr>
            </a:defPPr>
          </a:lstStyle>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Kayıt sonrası alanı temizleyin</a:t>
            </a:r>
          </a:p>
          <a:p xmlns:a="http://schemas.openxmlformats.org/drawingml/2006/main">
            <a:pPr>
              <a:defRPr sz="2175" b="0">
                <a:solidFill>
                  <a:srgbClr val="15243A"/>
                </a:solidFill>
                <a:latin typeface="Arial"/>
                <a:ea typeface="Arial"/>
                <a:cs typeface="Arial"/>
              </a:defRPr>
            </a:pPr>
            <a:r>
              <a:rPr sz="2175" b="0">
                <a:solidFill>
                  <a:srgbClr val="15243A"/>
                </a:solidFill>
                <a:latin typeface="Arial"/>
                <a:ea typeface="Arial"/>
                <a:cs typeface="Arial"/>
              </a:rPr>
              <a:t>ve toplam not sayısını gösterin.</a:t>
            </a:r>
          </a:p>
        </p:txBody>
      </p:sp>
      <p:sp>
        <p:nvSpPr>
          <p:cNvPr id="10" name="text-149">
            <a:extLst xmlns:a="http://schemas.openxmlformats.org/drawingml/2006/main">
              <a:ext uri="{FF2B5EF4-FFF2-40B4-BE49-F238E27FC236}">
                <a16:creationId xmlns:a16="http://schemas.microsoft.com/office/drawing/2014/main" id="{CC9C6BC8-E768-4FC6-9311-0936D89D22A8}"/>
              </a:ext>
            </a:extLst>
          </p:cNvPr>
          <p:cNvSpPr>
            <a:spLocks xmlns:a="http://schemas.openxmlformats.org/drawingml/2006/main" noGrp="1"/>
          </p:cNvSpPr>
          <p:nvPr/>
        </p:nvSpPr>
        <p:spPr>
          <a:xfrm xmlns:a="http://schemas.openxmlformats.org/drawingml/2006/main">
            <a:off x="609600" y="514350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Bittiğinde: Reddedilen giriş toplam not sayısını artırmaz.</a:t>
            </a:r>
          </a:p>
        </p:txBody>
      </p:sp>
    </p:spTree>
    <p:extLst>
      <p:ext uri="{BB962C8B-B14F-4D97-AF65-F5344CB8AC3E}">
        <p14:creationId xmlns:p14="http://schemas.microsoft.com/office/powerpoint/2010/main" val="50538428"/>
      </p:ext>
    </p:extLst>
  </p:cSld>
</p:sld>
</file>

<file path=ppt/slides/slide17.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3" name="text-150">
            <a:extLst xmlns:a="http://schemas.openxmlformats.org/drawingml/2006/main">
              <a:ext uri="{FF2B5EF4-FFF2-40B4-BE49-F238E27FC236}">
                <a16:creationId xmlns:a16="http://schemas.microsoft.com/office/drawing/2014/main" id="{2C1A42EA-D66C-4656-8260-252A6FE5E42D}"/>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GRUP 6</a:t>
            </a:r>
          </a:p>
        </p:txBody>
      </p:sp>
      <p:sp>
        <p:nvSpPr>
          <p:cNvPr id="2" name="text-151">
            <a:extLst xmlns:a="http://schemas.openxmlformats.org/drawingml/2006/main">
              <a:ext uri="{FF2B5EF4-FFF2-40B4-BE49-F238E27FC236}">
                <a16:creationId xmlns:a16="http://schemas.microsoft.com/office/drawing/2014/main" id="{82650CA5-74E9-4540-9CC3-B41EA1AFF7EC}"/>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Giriş kontrolü ve sayaç için kavramlar</a:t>
            </a:r>
          </a:p>
        </p:txBody>
      </p:sp>
      <p:sp>
        <p:nvSpPr>
          <p:cNvPr id="3" name="text-152">
            <a:extLst xmlns:a="http://schemas.openxmlformats.org/drawingml/2006/main">
              <a:ext uri="{FF2B5EF4-FFF2-40B4-BE49-F238E27FC236}">
                <a16:creationId xmlns:a16="http://schemas.microsoft.com/office/drawing/2014/main" id="{4D477C02-4B54-42EF-93C4-8320617D1930}"/>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17</a:t>
            </a:r>
          </a:p>
        </p:txBody>
      </p:sp>
      <p:sp>
        <p:nvSpPr>
          <p:cNvPr id="4" name="text-153">
            <a:extLst xmlns:a="http://schemas.openxmlformats.org/drawingml/2006/main">
              <a:ext uri="{FF2B5EF4-FFF2-40B4-BE49-F238E27FC236}">
                <a16:creationId xmlns:a16="http://schemas.microsoft.com/office/drawing/2014/main" id="{F186C89A-2C6D-461A-BCD1-6E4A87517DEF}"/>
              </a:ext>
            </a:extLst>
          </p:cNvPr>
          <p:cNvSpPr>
            <a:spLocks xmlns:a="http://schemas.openxmlformats.org/drawingml/2006/main" noGrp="1"/>
          </p:cNvSpPr>
          <p:nvPr/>
        </p:nvSpPr>
        <p:spPr>
          <a:xfrm xmlns:a="http://schemas.openxmlformats.org/drawingml/2006/main">
            <a:off x="609600" y="1647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F7D63"/>
                </a:solidFill>
                <a:latin typeface="Arial"/>
                <a:ea typeface="Arial"/>
                <a:cs typeface="Arial"/>
              </a:defRPr>
            </a:defPPr>
          </a:lstStyle>
          <a:p xmlns:a="http://schemas.openxmlformats.org/drawingml/2006/main">
            <a:pPr>
              <a:defRPr sz="2175" b="1">
                <a:solidFill>
                  <a:srgbClr val="0F7D63"/>
                </a:solidFill>
                <a:latin typeface="Arial"/>
                <a:ea typeface="Arial"/>
                <a:cs typeface="Arial"/>
              </a:defRPr>
            </a:pPr>
            <a:r>
              <a:rPr sz="2175" b="1">
                <a:solidFill>
                  <a:srgbClr val="0F7D63"/>
                </a:solidFill>
                <a:latin typeface="Arial"/>
                <a:ea typeface="Arial"/>
                <a:cs typeface="Arial"/>
              </a:rPr>
              <a:t>Yeni kavramlar</a:t>
            </a:r>
          </a:p>
        </p:txBody>
      </p:sp>
      <p:sp>
        <p:nvSpPr>
          <p:cNvPr id="5" name="text-154">
            <a:extLst xmlns:a="http://schemas.openxmlformats.org/drawingml/2006/main">
              <a:ext uri="{FF2B5EF4-FFF2-40B4-BE49-F238E27FC236}">
                <a16:creationId xmlns:a16="http://schemas.microsoft.com/office/drawing/2014/main" id="{C6DBD7A1-5E21-48FE-B62A-50CC9A4F20C2}"/>
              </a:ext>
            </a:extLst>
          </p:cNvPr>
          <p:cNvSpPr>
            <a:spLocks xmlns:a="http://schemas.openxmlformats.org/drawingml/2006/main" noGrp="1"/>
          </p:cNvSpPr>
          <p:nvPr/>
        </p:nvSpPr>
        <p:spPr>
          <a:xfrm xmlns:a="http://schemas.openxmlformats.org/drawingml/2006/main">
            <a:off x="609600" y="22098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trim, uçlardaki boşlukları temizler.</a:t>
            </a:r>
          </a:p>
        </p:txBody>
      </p:sp>
      <p:sp>
        <p:nvSpPr>
          <p:cNvPr id="6" name="text-155">
            <a:extLst xmlns:a="http://schemas.openxmlformats.org/drawingml/2006/main">
              <a:ext uri="{FF2B5EF4-FFF2-40B4-BE49-F238E27FC236}">
                <a16:creationId xmlns:a16="http://schemas.microsoft.com/office/drawing/2014/main" id="{A2E3922B-979A-4C9D-80B5-27EADAE961B5}"/>
              </a:ext>
            </a:extLst>
          </p:cNvPr>
          <p:cNvSpPr>
            <a:spLocks xmlns:a="http://schemas.openxmlformats.org/drawingml/2006/main" noGrp="1"/>
          </p:cNvSpPr>
          <p:nvPr/>
        </p:nvSpPr>
        <p:spPr>
          <a:xfrm xmlns:a="http://schemas.openxmlformats.org/drawingml/2006/main">
            <a:off x="609600" y="283845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isBlank boşluk girişini de yakalar.</a:t>
            </a:r>
          </a:p>
        </p:txBody>
      </p:sp>
      <p:sp>
        <p:nvSpPr>
          <p:cNvPr id="7" name="text-156">
            <a:extLst xmlns:a="http://schemas.openxmlformats.org/drawingml/2006/main">
              <a:ext uri="{FF2B5EF4-FFF2-40B4-BE49-F238E27FC236}">
                <a16:creationId xmlns:a16="http://schemas.microsoft.com/office/drawing/2014/main" id="{6B6CABE2-1189-45C3-8FEC-FFAAD42B014B}"/>
              </a:ext>
            </a:extLst>
          </p:cNvPr>
          <p:cNvSpPr>
            <a:spLocks xmlns:a="http://schemas.openxmlformats.org/drawingml/2006/main" noGrp="1"/>
          </p:cNvSpPr>
          <p:nvPr/>
        </p:nvSpPr>
        <p:spPr>
          <a:xfrm xmlns:a="http://schemas.openxmlformats.org/drawingml/2006/main">
            <a:off x="609600" y="3467100"/>
            <a:ext cx="5219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length ve size farklı bilgileri verir.</a:t>
            </a:r>
          </a:p>
        </p:txBody>
      </p:sp>
      <p:sp>
        <p:nvSpPr>
          <p:cNvPr id="8" name="text-157">
            <a:extLst xmlns:a="http://schemas.openxmlformats.org/drawingml/2006/main">
              <a:ext uri="{FF2B5EF4-FFF2-40B4-BE49-F238E27FC236}">
                <a16:creationId xmlns:a16="http://schemas.microsoft.com/office/drawing/2014/main" id="{C29E9BC0-BE8A-433E-8338-9B355D7A6432}"/>
              </a:ext>
            </a:extLst>
          </p:cNvPr>
          <p:cNvSpPr>
            <a:spLocks xmlns:a="http://schemas.openxmlformats.org/drawingml/2006/main" noGrp="1"/>
          </p:cNvSpPr>
          <p:nvPr/>
        </p:nvSpPr>
        <p:spPr>
          <a:xfrm xmlns:a="http://schemas.openxmlformats.org/drawingml/2006/main">
            <a:off x="6705600" y="16478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F7D63"/>
                </a:solidFill>
                <a:latin typeface="Arial"/>
                <a:ea typeface="Arial"/>
                <a:cs typeface="Arial"/>
              </a:defRPr>
            </a:defPPr>
          </a:lstStyle>
          <a:p xmlns:a="http://schemas.openxmlformats.org/drawingml/2006/main">
            <a:pPr>
              <a:defRPr sz="2175" b="1">
                <a:solidFill>
                  <a:srgbClr val="0F7D63"/>
                </a:solidFill>
                <a:latin typeface="Arial"/>
                <a:ea typeface="Arial"/>
                <a:cs typeface="Arial"/>
              </a:defRPr>
            </a:pPr>
            <a:r>
              <a:rPr sz="2175" b="1">
                <a:solidFill>
                  <a:srgbClr val="0F7D63"/>
                </a:solidFill>
                <a:latin typeface="Arial"/>
                <a:ea typeface="Arial"/>
                <a:cs typeface="Arial"/>
              </a:rPr>
              <a:t>Dikkat</a:t>
            </a:r>
          </a:p>
        </p:txBody>
      </p:sp>
      <p:sp>
        <p:nvSpPr>
          <p:cNvPr id="9" name="text-158">
            <a:extLst xmlns:a="http://schemas.openxmlformats.org/drawingml/2006/main">
              <a:ext uri="{FF2B5EF4-FFF2-40B4-BE49-F238E27FC236}">
                <a16:creationId xmlns:a16="http://schemas.microsoft.com/office/drawing/2014/main" id="{CC812EBF-7FBF-467B-8992-8276D33E67FF}"/>
              </a:ext>
            </a:extLst>
          </p:cNvPr>
          <p:cNvSpPr>
            <a:spLocks xmlns:a="http://schemas.openxmlformats.org/drawingml/2006/main" noGrp="1"/>
          </p:cNvSpPr>
          <p:nvPr/>
        </p:nvSpPr>
        <p:spPr>
          <a:xfrm xmlns:a="http://schemas.openxmlformats.org/drawingml/2006/main">
            <a:off x="6705600" y="2209800"/>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100 karakteri kabul edin.</a:t>
            </a:r>
          </a:p>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101 karakteri reddedin.</a:t>
            </a:r>
          </a:p>
        </p:txBody>
      </p:sp>
      <p:sp>
        <p:nvSpPr>
          <p:cNvPr id="10" name="text-159">
            <a:extLst xmlns:a="http://schemas.openxmlformats.org/drawingml/2006/main">
              <a:ext uri="{FF2B5EF4-FFF2-40B4-BE49-F238E27FC236}">
                <a16:creationId xmlns:a16="http://schemas.microsoft.com/office/drawing/2014/main" id="{7CDCBC68-63CC-48DB-8D63-0ADEA3A3FDBD}"/>
              </a:ext>
            </a:extLst>
          </p:cNvPr>
          <p:cNvSpPr>
            <a:spLocks xmlns:a="http://schemas.openxmlformats.org/drawingml/2006/main" noGrp="1"/>
          </p:cNvSpPr>
          <p:nvPr/>
        </p:nvSpPr>
        <p:spPr>
          <a:xfrm xmlns:a="http://schemas.openxmlformats.org/drawingml/2006/main">
            <a:off x="6705600" y="3152775"/>
            <a:ext cx="476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43A"/>
                </a:solidFill>
                <a:latin typeface="Arial"/>
                <a:ea typeface="Arial"/>
                <a:cs typeface="Arial"/>
              </a:defRPr>
            </a:defPPr>
          </a:lstStyle>
          <a:p xmlns:a="http://schemas.openxmlformats.org/drawingml/2006/main">
            <a:pPr>
              <a:defRPr sz="1950" b="0">
                <a:solidFill>
                  <a:srgbClr val="15243A"/>
                </a:solidFill>
                <a:latin typeface="Arial"/>
                <a:ea typeface="Arial"/>
                <a:cs typeface="Arial"/>
              </a:defRPr>
            </a:pPr>
            <a:r>
              <a:rPr sz="1950" b="0">
                <a:solidFill>
                  <a:srgbClr val="15243A"/>
                </a:solidFill>
                <a:latin typeface="Arial"/>
                <a:ea typeface="Arial"/>
                <a:cs typeface="Arial"/>
              </a:rPr>
              <a:t>Doğrulamadan önce not eklemeyin.</a:t>
            </a:r>
          </a:p>
        </p:txBody>
      </p:sp>
      <p:sp>
        <p:nvSpPr>
          <p:cNvPr id="11" name="text-160">
            <a:extLst xmlns:a="http://schemas.openxmlformats.org/drawingml/2006/main">
              <a:ext uri="{FF2B5EF4-FFF2-40B4-BE49-F238E27FC236}">
                <a16:creationId xmlns:a16="http://schemas.microsoft.com/office/drawing/2014/main" id="{F65D50B5-D418-498D-BFF3-1B0FD3B8616A}"/>
              </a:ext>
            </a:extLst>
          </p:cNvPr>
          <p:cNvSpPr>
            <a:spLocks xmlns:a="http://schemas.openxmlformats.org/drawingml/2006/main" noGrp="1"/>
          </p:cNvSpPr>
          <p:nvPr/>
        </p:nvSpPr>
        <p:spPr>
          <a:xfrm xmlns:a="http://schemas.openxmlformats.org/drawingml/2006/main">
            <a:off x="609600" y="43148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Kontrol: Boş, yalnızca boşluk, 100, 101 ve geçerli metni deneyin.</a:t>
            </a:r>
          </a:p>
        </p:txBody>
      </p:sp>
      <p:sp>
        <p:nvSpPr>
          <p:cNvPr id="12" name="text-161">
            <a:extLst xmlns:a="http://schemas.openxmlformats.org/drawingml/2006/main">
              <a:ext uri="{FF2B5EF4-FFF2-40B4-BE49-F238E27FC236}">
                <a16:creationId xmlns:a16="http://schemas.microsoft.com/office/drawing/2014/main" id="{256A484A-41EE-401B-A1FD-B43EDD65DE6A}"/>
              </a:ext>
            </a:extLst>
          </p:cNvPr>
          <p:cNvSpPr>
            <a:spLocks xmlns:a="http://schemas.openxmlformats.org/drawingml/2006/main" noGrp="1"/>
          </p:cNvSpPr>
          <p:nvPr/>
        </p:nvSpPr>
        <p:spPr>
          <a:xfrm xmlns:a="http://schemas.openxmlformats.org/drawingml/2006/main">
            <a:off x="609600" y="5238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58C6"/>
                </a:solidFill>
                <a:latin typeface="Arial"/>
                <a:ea typeface="Arial"/>
                <a:cs typeface="Arial"/>
              </a:defRPr>
            </a:defPPr>
          </a:lstStyle>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val metin = giris.trim()</a:t>
            </a:r>
          </a:p>
          <a:p xmlns:a="http://schemas.openxmlformats.org/drawingml/2006/main">
            <a:pPr>
              <a:defRPr sz="1875" b="0">
                <a:solidFill>
                  <a:srgbClr val="2458C6"/>
                </a:solidFill>
                <a:latin typeface="Arial"/>
                <a:ea typeface="Arial"/>
                <a:cs typeface="Arial"/>
              </a:defRPr>
            </a:pPr>
            <a:r>
              <a:rPr sz="1875" b="0">
                <a:solidFill>
                  <a:srgbClr val="2458C6"/>
                </a:solidFill>
                <a:latin typeface="Arial"/>
                <a:ea typeface="Arial"/>
                <a:cs typeface="Arial"/>
              </a:rPr>
              <a:t>val gecerli = metin.isNotBlank() &amp;&amp; metin.length &lt;= 100</a:t>
            </a:r>
          </a:p>
        </p:txBody>
      </p:sp>
    </p:spTree>
    <p:extLst>
      <p:ext uri="{BB962C8B-B14F-4D97-AF65-F5344CB8AC3E}">
        <p14:creationId xmlns:p14="http://schemas.microsoft.com/office/powerpoint/2010/main" val="1460140085"/>
      </p:ext>
    </p:extLst>
  </p:cSld>
</p:sld>
</file>

<file path=ppt/slides/slide18.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AE50394B-CEBE-49DE-94B3-DE9E4B65D292}"/>
              </a:ext>
            </a:extLst>
          </p:cNvPr>
          <p:cNvCxnSpPr>
            <a:stCxn xmlns:a="http://schemas.openxmlformats.org/drawingml/2006/main" id="8" idx="2"/>
            <a:endCxn xmlns:a="http://schemas.openxmlformats.org/drawingml/2006/main" id="18" idx="0"/>
          </p:cNvCxnSpPr>
          <p:nvPr/>
        </p:nvCxnSpPr>
        <p:spPr>
          <a:xfrm xmlns:a="http://schemas.openxmlformats.org/drawingml/2006/main">
            <a:off x="7286625" y="4210050"/>
            <a:ext cx="0" cy="600075"/>
          </a:xfrm>
          <a:prstGeom xmlns:a="http://schemas.openxmlformats.org/drawingml/2006/main" prst="straightConnector1">
            <a:avLst/>
          </a:prstGeom>
          <a:ln xmlns:a="http://schemas.openxmlformats.org/drawingml/2006/main" w="19050">
            <a:solidFill>
              <a:srgbClr val="526278"/>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1F9CBAAF-0468-4B77-A3B5-4934519B15AD}"/>
              </a:ext>
            </a:extLst>
          </p:cNvPr>
          <p:cNvCxnSpPr>
            <a:stCxn xmlns:a="http://schemas.openxmlformats.org/drawingml/2006/main" id="9" idx="2"/>
            <a:endCxn xmlns:a="http://schemas.openxmlformats.org/drawingml/2006/main" id="10" idx="0"/>
          </p:cNvCxnSpPr>
          <p:nvPr/>
        </p:nvCxnSpPr>
        <p:spPr>
          <a:xfrm xmlns:a="http://schemas.openxmlformats.org/drawingml/2006/main">
            <a:off x="2867025" y="5457825"/>
            <a:ext cx="0" cy="333375"/>
          </a:xfrm>
          <a:prstGeom xmlns:a="http://schemas.openxmlformats.org/drawingml/2006/main" prst="straightConnector1">
            <a:avLst/>
          </a:prstGeom>
          <a:ln xmlns:a="http://schemas.openxmlformats.org/drawingml/2006/main" w="19050">
            <a:solidFill>
              <a:srgbClr val="526278"/>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C962D419-F24B-4C0B-9435-7AAC639C2BCE}"/>
              </a:ext>
            </a:extLst>
          </p:cNvPr>
          <p:cNvCxnSpPr>
            <a:stCxn xmlns:a="http://schemas.openxmlformats.org/drawingml/2006/main" id="7" idx="3"/>
            <a:endCxn xmlns:a="http://schemas.openxmlformats.org/drawingml/2006/main" id="8" idx="1"/>
          </p:cNvCxnSpPr>
          <p:nvPr/>
        </p:nvCxnSpPr>
        <p:spPr>
          <a:xfrm xmlns:a="http://schemas.openxmlformats.org/drawingml/2006/main">
            <a:off x="3771900" y="3933825"/>
            <a:ext cx="1943100" cy="0"/>
          </a:xfrm>
          <a:prstGeom xmlns:a="http://schemas.openxmlformats.org/drawingml/2006/main" prst="straightConnector1">
            <a:avLst/>
          </a:prstGeom>
          <a:ln xmlns:a="http://schemas.openxmlformats.org/drawingml/2006/main" w="19050">
            <a:solidFill>
              <a:srgbClr val="526278"/>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24AED083-7F66-4802-B739-6E09B4AA8F75}"/>
              </a:ext>
            </a:extLst>
          </p:cNvPr>
          <p:cNvCxnSpPr>
            <a:stCxn xmlns:a="http://schemas.openxmlformats.org/drawingml/2006/main" id="7" idx="2"/>
            <a:endCxn xmlns:a="http://schemas.openxmlformats.org/drawingml/2006/main" id="9" idx="0"/>
          </p:cNvCxnSpPr>
          <p:nvPr/>
        </p:nvCxnSpPr>
        <p:spPr>
          <a:xfrm xmlns:a="http://schemas.openxmlformats.org/drawingml/2006/main">
            <a:off x="2867025" y="4410075"/>
            <a:ext cx="0" cy="400050"/>
          </a:xfrm>
          <a:prstGeom xmlns:a="http://schemas.openxmlformats.org/drawingml/2006/main" prst="straightConnector1">
            <a:avLst/>
          </a:prstGeom>
          <a:ln xmlns:a="http://schemas.openxmlformats.org/drawingml/2006/main" w="19050">
            <a:solidFill>
              <a:srgbClr val="526278"/>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846DD308-94E1-4DBE-B396-FCF0CE2B0062}"/>
              </a:ext>
            </a:extLst>
          </p:cNvPr>
          <p:cNvCxnSpPr>
            <a:stCxn xmlns:a="http://schemas.openxmlformats.org/drawingml/2006/main" id="6" idx="2"/>
            <a:endCxn xmlns:a="http://schemas.openxmlformats.org/drawingml/2006/main" id="7" idx="0"/>
          </p:cNvCxnSpPr>
          <p:nvPr/>
        </p:nvCxnSpPr>
        <p:spPr>
          <a:xfrm xmlns:a="http://schemas.openxmlformats.org/drawingml/2006/main">
            <a:off x="2867025" y="3076575"/>
            <a:ext cx="0" cy="381000"/>
          </a:xfrm>
          <a:prstGeom xmlns:a="http://schemas.openxmlformats.org/drawingml/2006/main" prst="straightConnector1">
            <a:avLst/>
          </a:prstGeom>
          <a:ln xmlns:a="http://schemas.openxmlformats.org/drawingml/2006/main" w="19050">
            <a:solidFill>
              <a:srgbClr val="526278"/>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5C700295-995C-451D-9690-A0012D676983}"/>
              </a:ext>
            </a:extLst>
          </p:cNvPr>
          <p:cNvCxnSpPr>
            <a:stCxn xmlns:a="http://schemas.openxmlformats.org/drawingml/2006/main" id="5" idx="4"/>
            <a:endCxn xmlns:a="http://schemas.openxmlformats.org/drawingml/2006/main" id="6" idx="0"/>
          </p:cNvCxnSpPr>
          <p:nvPr/>
        </p:nvCxnSpPr>
        <p:spPr>
          <a:xfrm xmlns:a="http://schemas.openxmlformats.org/drawingml/2006/main">
            <a:off x="2867025" y="2228850"/>
            <a:ext cx="0" cy="295275"/>
          </a:xfrm>
          <a:prstGeom xmlns:a="http://schemas.openxmlformats.org/drawingml/2006/main" prst="straightConnector1">
            <a:avLst/>
          </a:prstGeom>
          <a:ln xmlns:a="http://schemas.openxmlformats.org/drawingml/2006/main" w="19050">
            <a:solidFill>
              <a:srgbClr val="526278"/>
            </a:solidFill>
            <a:prstDash val="solid"/>
            <a:tailEnd type="arrow" w="med" len="med"/>
          </a:ln>
        </p:spPr>
      </p:cxnSp>
      <p:sp>
        <p:nvSpPr>
          <p:cNvPr id="25" name="text-162">
            <a:extLst xmlns:a="http://schemas.openxmlformats.org/drawingml/2006/main">
              <a:ext uri="{FF2B5EF4-FFF2-40B4-BE49-F238E27FC236}">
                <a16:creationId xmlns:a16="http://schemas.microsoft.com/office/drawing/2014/main" id="{5C8B2BCA-7132-4DEE-BC1F-8090C90B5638}"/>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UML</a:t>
            </a:r>
          </a:p>
        </p:txBody>
      </p:sp>
      <p:sp>
        <p:nvSpPr>
          <p:cNvPr id="2" name="text-163">
            <a:extLst xmlns:a="http://schemas.openxmlformats.org/drawingml/2006/main">
              <a:ext uri="{FF2B5EF4-FFF2-40B4-BE49-F238E27FC236}">
                <a16:creationId xmlns:a16="http://schemas.microsoft.com/office/drawing/2014/main" id="{7DCB7D51-2DE4-4A46-BA74-E4313222C69E}"/>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UML etkinlik diyagramı</a:t>
            </a:r>
          </a:p>
        </p:txBody>
      </p:sp>
      <p:sp>
        <p:nvSpPr>
          <p:cNvPr id="3" name="text-164">
            <a:extLst xmlns:a="http://schemas.openxmlformats.org/drawingml/2006/main">
              <a:ext uri="{FF2B5EF4-FFF2-40B4-BE49-F238E27FC236}">
                <a16:creationId xmlns:a16="http://schemas.microsoft.com/office/drawing/2014/main" id="{D621FB89-A6C5-4A43-AE21-570BF0580AA8}"/>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18</a:t>
            </a:r>
          </a:p>
        </p:txBody>
      </p:sp>
      <p:sp>
        <p:nvSpPr>
          <p:cNvPr id="4" name="text-165">
            <a:extLst xmlns:a="http://schemas.openxmlformats.org/drawingml/2006/main">
              <a:ext uri="{FF2B5EF4-FFF2-40B4-BE49-F238E27FC236}">
                <a16:creationId xmlns:a16="http://schemas.microsoft.com/office/drawing/2014/main" id="{AF1CC1A0-B5DD-40C3-9E82-53F457CDA2D5}"/>
              </a:ext>
            </a:extLst>
          </p:cNvPr>
          <p:cNvSpPr>
            <a:spLocks xmlns:a="http://schemas.openxmlformats.org/drawingml/2006/main" noGrp="1"/>
          </p:cNvSpPr>
          <p:nvPr/>
        </p:nvSpPr>
        <p:spPr>
          <a:xfrm xmlns:a="http://schemas.openxmlformats.org/drawingml/2006/main">
            <a:off x="609600" y="1495425"/>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58C6"/>
                </a:solidFill>
                <a:latin typeface="Arial"/>
                <a:ea typeface="Arial"/>
                <a:cs typeface="Arial"/>
              </a:defRPr>
            </a:defPPr>
          </a:lstStyle>
          <a:p xmlns:a="http://schemas.openxmlformats.org/drawingml/2006/main">
            <a:pPr>
              <a:defRPr sz="2175" b="1">
                <a:solidFill>
                  <a:srgbClr val="2458C6"/>
                </a:solidFill>
                <a:latin typeface="Arial"/>
                <a:ea typeface="Arial"/>
                <a:cs typeface="Arial"/>
              </a:defRPr>
            </a:pPr>
            <a:r>
              <a:rPr sz="2175" b="1">
                <a:solidFill>
                  <a:srgbClr val="2458C6"/>
                </a:solidFill>
                <a:latin typeface="Arial"/>
                <a:ea typeface="Arial"/>
                <a:cs typeface="Arial"/>
              </a:rPr>
              <a:t>Grup 6 için örnek akış</a:t>
            </a:r>
          </a:p>
        </p:txBody>
      </p:sp>
      <p:sp>
        <p:nvSpPr>
          <p:cNvPr id="5" name="">
            <a:extLst xmlns:a="http://schemas.openxmlformats.org/drawingml/2006/main">
              <a:ext uri="{FF2B5EF4-FFF2-40B4-BE49-F238E27FC236}">
                <a16:creationId xmlns:a16="http://schemas.microsoft.com/office/drawing/2014/main" id="{40DD4D17-40EC-4BB2-BC30-A7DC57B967A1}"/>
              </a:ext>
            </a:extLst>
          </p:cNvPr>
          <p:cNvSpPr>
            <a:spLocks xmlns:a="http://schemas.openxmlformats.org/drawingml/2006/main" noGrp="1"/>
          </p:cNvSpPr>
          <p:nvPr/>
        </p:nvSpPr>
        <p:spPr>
          <a:xfrm xmlns:a="http://schemas.openxmlformats.org/drawingml/2006/main">
            <a:off x="2762250" y="2019300"/>
            <a:ext cx="209550" cy="209550"/>
          </a:xfrm>
          <a:prstGeom xmlns:a="http://schemas.openxmlformats.org/drawingml/2006/main" prst="ellipse">
            <a:avLst/>
          </a:prstGeom>
          <a:solidFill xmlns:a="http://schemas.openxmlformats.org/drawingml/2006/main">
            <a:srgbClr val="15243A"/>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r>
              <a:t/>
            </a:r>
          </a:p>
        </p:txBody>
      </p:sp>
      <p:sp>
        <p:nvSpPr>
          <p:cNvPr id="6" name="Metni oku ve trim uygula">
            <a:extLst xmlns:a="http://schemas.openxmlformats.org/drawingml/2006/main">
              <a:ext uri="{FF2B5EF4-FFF2-40B4-BE49-F238E27FC236}">
                <a16:creationId xmlns:a16="http://schemas.microsoft.com/office/drawing/2014/main" id="{DD54F641-F1DD-4401-8E74-583DB14F50F8}"/>
              </a:ext>
            </a:extLst>
          </p:cNvPr>
          <p:cNvSpPr>
            <a:spLocks xmlns:a="http://schemas.openxmlformats.org/drawingml/2006/main" noGrp="1"/>
          </p:cNvSpPr>
          <p:nvPr/>
        </p:nvSpPr>
        <p:spPr>
          <a:xfrm xmlns:a="http://schemas.openxmlformats.org/drawingml/2006/main">
            <a:off x="1295400" y="2524125"/>
            <a:ext cx="3143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pPr algn="ctr">
              <a:defRPr sz="1800">
                <a:solidFill>
                  <a:srgbClr val="15243A"/>
                </a:solidFill>
                <a:latin typeface="Arial"/>
                <a:ea typeface="Arial"/>
                <a:cs typeface="Arial"/>
              </a:defRPr>
            </a:pPr>
            <a:r>
              <a:rPr sz="1800">
                <a:solidFill>
                  <a:srgbClr val="15243A"/>
                </a:solidFill>
                <a:latin typeface="Arial"/>
                <a:ea typeface="Arial"/>
                <a:cs typeface="Arial"/>
              </a:rPr>
              <a:t>Metni oku ve trim uygula</a:t>
            </a:r>
          </a:p>
        </p:txBody>
      </p:sp>
      <p:sp>
        <p:nvSpPr>
          <p:cNvPr id="7" name="Geçerli mi?">
            <a:extLst xmlns:a="http://schemas.openxmlformats.org/drawingml/2006/main">
              <a:ext uri="{FF2B5EF4-FFF2-40B4-BE49-F238E27FC236}">
                <a16:creationId xmlns:a16="http://schemas.microsoft.com/office/drawing/2014/main" id="{950A0BC0-03ED-4223-BD54-4ABFED5BF9A8}"/>
              </a:ext>
            </a:extLst>
          </p:cNvPr>
          <p:cNvSpPr>
            <a:spLocks xmlns:a="http://schemas.openxmlformats.org/drawingml/2006/main" noGrp="1"/>
          </p:cNvSpPr>
          <p:nvPr/>
        </p:nvSpPr>
        <p:spPr>
          <a:xfrm xmlns:a="http://schemas.openxmlformats.org/drawingml/2006/main">
            <a:off x="1962150" y="3457575"/>
            <a:ext cx="1809750" cy="952500"/>
          </a:xfrm>
          <a:prstGeom xmlns:a="http://schemas.openxmlformats.org/drawingml/2006/main" prst="diamond">
            <a:avLst/>
          </a:prstGeom>
          <a:solidFill xmlns:a="http://schemas.openxmlformats.org/drawingml/2006/main">
            <a:srgbClr val="E5ED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650">
                <a:solidFill>
                  <a:srgbClr val="15243A"/>
                </a:solidFill>
                <a:latin typeface="Arial"/>
                <a:ea typeface="Arial"/>
                <a:cs typeface="Arial"/>
              </a:defRPr>
            </a:defPPr>
          </a:lstStyle>
          <a:p xmlns:a="http://schemas.openxmlformats.org/drawingml/2006/main">
            <a:pPr algn="ctr">
              <a:defRPr sz="1650">
                <a:solidFill>
                  <a:srgbClr val="15243A"/>
                </a:solidFill>
                <a:latin typeface="Arial"/>
                <a:ea typeface="Arial"/>
                <a:cs typeface="Arial"/>
              </a:defRPr>
            </a:pPr>
            <a:r>
              <a:rPr sz="1650">
                <a:solidFill>
                  <a:srgbClr val="15243A"/>
                </a:solidFill>
                <a:latin typeface="Arial"/>
                <a:ea typeface="Arial"/>
                <a:cs typeface="Arial"/>
              </a:rPr>
              <a:t>Geçerli mi?</a:t>
            </a:r>
          </a:p>
        </p:txBody>
      </p:sp>
      <p:sp>
        <p:nvSpPr>
          <p:cNvPr id="8" name="Hata mesajı göster">
            <a:extLst xmlns:a="http://schemas.openxmlformats.org/drawingml/2006/main">
              <a:ext uri="{FF2B5EF4-FFF2-40B4-BE49-F238E27FC236}">
                <a16:creationId xmlns:a16="http://schemas.microsoft.com/office/drawing/2014/main" id="{909CCC4A-C7D1-424F-96EC-F57916BDA38C}"/>
              </a:ext>
            </a:extLst>
          </p:cNvPr>
          <p:cNvSpPr>
            <a:spLocks xmlns:a="http://schemas.openxmlformats.org/drawingml/2006/main" noGrp="1"/>
          </p:cNvSpPr>
          <p:nvPr/>
        </p:nvSpPr>
        <p:spPr>
          <a:xfrm xmlns:a="http://schemas.openxmlformats.org/drawingml/2006/main">
            <a:off x="5715000" y="3657600"/>
            <a:ext cx="3143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pPr algn="ctr">
              <a:defRPr sz="1800">
                <a:solidFill>
                  <a:srgbClr val="15243A"/>
                </a:solidFill>
                <a:latin typeface="Arial"/>
                <a:ea typeface="Arial"/>
                <a:cs typeface="Arial"/>
              </a:defRPr>
            </a:pPr>
            <a:r>
              <a:rPr sz="1800">
                <a:solidFill>
                  <a:srgbClr val="15243A"/>
                </a:solidFill>
                <a:latin typeface="Arial"/>
                <a:ea typeface="Arial"/>
                <a:cs typeface="Arial"/>
              </a:rPr>
              <a:t>Hata mesajı göster</a:t>
            </a:r>
          </a:p>
        </p:txBody>
      </p:sp>
      <p:sp>
        <p:nvSpPr>
          <p:cNvPr id="9" name="Notu ekle ve sayacı güncelle">
            <a:extLst xmlns:a="http://schemas.openxmlformats.org/drawingml/2006/main">
              <a:ext uri="{FF2B5EF4-FFF2-40B4-BE49-F238E27FC236}">
                <a16:creationId xmlns:a16="http://schemas.microsoft.com/office/drawing/2014/main" id="{37B71D54-A677-4173-916F-71CEE0564F12}"/>
              </a:ext>
            </a:extLst>
          </p:cNvPr>
          <p:cNvSpPr>
            <a:spLocks xmlns:a="http://schemas.openxmlformats.org/drawingml/2006/main" noGrp="1"/>
          </p:cNvSpPr>
          <p:nvPr/>
        </p:nvSpPr>
        <p:spPr>
          <a:xfrm xmlns:a="http://schemas.openxmlformats.org/drawingml/2006/main">
            <a:off x="1295400" y="4810125"/>
            <a:ext cx="314325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pPr algn="ctr">
              <a:defRPr sz="1800">
                <a:solidFill>
                  <a:srgbClr val="15243A"/>
                </a:solidFill>
                <a:latin typeface="Arial"/>
                <a:ea typeface="Arial"/>
                <a:cs typeface="Arial"/>
              </a:defRPr>
            </a:pPr>
            <a:r>
              <a:rPr sz="1800">
                <a:solidFill>
                  <a:srgbClr val="15243A"/>
                </a:solidFill>
                <a:latin typeface="Arial"/>
                <a:ea typeface="Arial"/>
                <a:cs typeface="Arial"/>
              </a:rPr>
              <a:t>Notu ekle ve sayacı güncelle</a:t>
            </a:r>
          </a:p>
        </p:txBody>
      </p:sp>
      <p:sp>
        <p:nvSpPr>
          <p:cNvPr id="10" name="">
            <a:extLst xmlns:a="http://schemas.openxmlformats.org/drawingml/2006/main">
              <a:ext uri="{FF2B5EF4-FFF2-40B4-BE49-F238E27FC236}">
                <a16:creationId xmlns:a16="http://schemas.microsoft.com/office/drawing/2014/main" id="{0425D69D-EAF1-4AEC-89D1-923A109B596A}"/>
              </a:ext>
            </a:extLst>
          </p:cNvPr>
          <p:cNvSpPr>
            <a:spLocks xmlns:a="http://schemas.openxmlformats.org/drawingml/2006/main" noGrp="1"/>
          </p:cNvSpPr>
          <p:nvPr/>
        </p:nvSpPr>
        <p:spPr>
          <a:xfrm xmlns:a="http://schemas.openxmlformats.org/drawingml/2006/main">
            <a:off x="2714625" y="5791200"/>
            <a:ext cx="304800" cy="304800"/>
          </a:xfrm>
          <a:prstGeom xmlns:a="http://schemas.openxmlformats.org/drawingml/2006/main" prst="ellipse">
            <a:avLst/>
          </a:prstGeom>
          <a:solidFill xmlns:a="http://schemas.openxmlformats.org/drawingml/2006/main">
            <a:srgbClr val="FFFF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6EF1FD29-2621-42A1-8322-5EFA898328DB}"/>
              </a:ext>
            </a:extLst>
          </p:cNvPr>
          <p:cNvSpPr>
            <a:spLocks xmlns:a="http://schemas.openxmlformats.org/drawingml/2006/main" noGrp="1"/>
          </p:cNvSpPr>
          <p:nvPr/>
        </p:nvSpPr>
        <p:spPr>
          <a:xfrm xmlns:a="http://schemas.openxmlformats.org/drawingml/2006/main">
            <a:off x="2781300" y="5857875"/>
            <a:ext cx="171450" cy="171450"/>
          </a:xfrm>
          <a:prstGeom xmlns:a="http://schemas.openxmlformats.org/drawingml/2006/main" prst="ellipse">
            <a:avLst/>
          </a:prstGeom>
          <a:solidFill xmlns:a="http://schemas.openxmlformats.org/drawingml/2006/main">
            <a:srgbClr val="15243A"/>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r>
              <a:t/>
            </a:r>
          </a:p>
        </p:txBody>
      </p:sp>
      <p:sp>
        <p:nvSpPr>
          <p:cNvPr id="12" name="text-166">
            <a:extLst xmlns:a="http://schemas.openxmlformats.org/drawingml/2006/main">
              <a:ext uri="{FF2B5EF4-FFF2-40B4-BE49-F238E27FC236}">
                <a16:creationId xmlns:a16="http://schemas.microsoft.com/office/drawing/2014/main" id="{982601D1-7588-4A64-B51D-7C27A03F0F9F}"/>
              </a:ext>
            </a:extLst>
          </p:cNvPr>
          <p:cNvSpPr>
            <a:spLocks xmlns:a="http://schemas.openxmlformats.org/drawingml/2006/main" noGrp="1"/>
          </p:cNvSpPr>
          <p:nvPr/>
        </p:nvSpPr>
        <p:spPr>
          <a:xfrm xmlns:a="http://schemas.openxmlformats.org/drawingml/2006/main">
            <a:off x="3143250" y="58007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5243A"/>
                </a:solidFill>
                <a:latin typeface="Arial"/>
                <a:ea typeface="Arial"/>
                <a:cs typeface="Arial"/>
              </a:defRPr>
            </a:defPPr>
          </a:lstStyle>
          <a:p xmlns:a="http://schemas.openxmlformats.org/drawingml/2006/main">
            <a:pPr>
              <a:defRPr sz="1500" b="0">
                <a:solidFill>
                  <a:srgbClr val="15243A"/>
                </a:solidFill>
                <a:latin typeface="Arial"/>
                <a:ea typeface="Arial"/>
                <a:cs typeface="Arial"/>
              </a:defRPr>
            </a:pPr>
            <a:r>
              <a:rPr sz="1500" b="0">
                <a:solidFill>
                  <a:srgbClr val="15243A"/>
                </a:solidFill>
                <a:latin typeface="Arial"/>
                <a:ea typeface="Arial"/>
                <a:cs typeface="Arial"/>
              </a:rPr>
              <a:t>Bitiş</a:t>
            </a:r>
          </a:p>
        </p:txBody>
      </p:sp>
      <p:sp>
        <p:nvSpPr>
          <p:cNvPr id="18" name="">
            <a:extLst xmlns:a="http://schemas.openxmlformats.org/drawingml/2006/main">
              <a:ext uri="{FF2B5EF4-FFF2-40B4-BE49-F238E27FC236}">
                <a16:creationId xmlns:a16="http://schemas.microsoft.com/office/drawing/2014/main" id="{3B6E9230-8DD9-4B9C-80B5-73D285112116}"/>
              </a:ext>
            </a:extLst>
          </p:cNvPr>
          <p:cNvSpPr>
            <a:spLocks xmlns:a="http://schemas.openxmlformats.org/drawingml/2006/main" noGrp="1"/>
          </p:cNvSpPr>
          <p:nvPr/>
        </p:nvSpPr>
        <p:spPr>
          <a:xfrm xmlns:a="http://schemas.openxmlformats.org/drawingml/2006/main">
            <a:off x="7134225" y="4810125"/>
            <a:ext cx="304800" cy="304800"/>
          </a:xfrm>
          <a:prstGeom xmlns:a="http://schemas.openxmlformats.org/drawingml/2006/main" prst="ellipse">
            <a:avLst/>
          </a:prstGeom>
          <a:solidFill xmlns:a="http://schemas.openxmlformats.org/drawingml/2006/main">
            <a:srgbClr val="FFFF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r>
              <a:t/>
            </a:r>
          </a:p>
        </p:txBody>
      </p:sp>
      <p:sp>
        <p:nvSpPr>
          <p:cNvPr id="19" name="">
            <a:extLst xmlns:a="http://schemas.openxmlformats.org/drawingml/2006/main">
              <a:ext uri="{FF2B5EF4-FFF2-40B4-BE49-F238E27FC236}">
                <a16:creationId xmlns:a16="http://schemas.microsoft.com/office/drawing/2014/main" id="{40FA1D8E-DA7C-4A7E-8D83-B71A71DE9B62}"/>
              </a:ext>
            </a:extLst>
          </p:cNvPr>
          <p:cNvSpPr>
            <a:spLocks xmlns:a="http://schemas.openxmlformats.org/drawingml/2006/main" noGrp="1"/>
          </p:cNvSpPr>
          <p:nvPr/>
        </p:nvSpPr>
        <p:spPr>
          <a:xfrm xmlns:a="http://schemas.openxmlformats.org/drawingml/2006/main">
            <a:off x="7200900" y="4876800"/>
            <a:ext cx="171450" cy="171450"/>
          </a:xfrm>
          <a:prstGeom xmlns:a="http://schemas.openxmlformats.org/drawingml/2006/main" prst="ellipse">
            <a:avLst/>
          </a:prstGeom>
          <a:solidFill xmlns:a="http://schemas.openxmlformats.org/drawingml/2006/main">
            <a:srgbClr val="15243A"/>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r>
              <a:t/>
            </a:r>
          </a:p>
        </p:txBody>
      </p:sp>
      <p:sp>
        <p:nvSpPr>
          <p:cNvPr id="20" name="text-167">
            <a:extLst xmlns:a="http://schemas.openxmlformats.org/drawingml/2006/main">
              <a:ext uri="{FF2B5EF4-FFF2-40B4-BE49-F238E27FC236}">
                <a16:creationId xmlns:a16="http://schemas.microsoft.com/office/drawing/2014/main" id="{C7A98EC3-541B-4C34-A02A-84B24FF95797}"/>
              </a:ext>
            </a:extLst>
          </p:cNvPr>
          <p:cNvSpPr>
            <a:spLocks xmlns:a="http://schemas.openxmlformats.org/drawingml/2006/main" noGrp="1"/>
          </p:cNvSpPr>
          <p:nvPr/>
        </p:nvSpPr>
        <p:spPr>
          <a:xfrm xmlns:a="http://schemas.openxmlformats.org/drawingml/2006/main">
            <a:off x="7581900" y="48196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5243A"/>
                </a:solidFill>
                <a:latin typeface="Arial"/>
                <a:ea typeface="Arial"/>
                <a:cs typeface="Arial"/>
              </a:defRPr>
            </a:defPPr>
          </a:lstStyle>
          <a:p xmlns:a="http://schemas.openxmlformats.org/drawingml/2006/main">
            <a:pPr>
              <a:defRPr sz="1500" b="0">
                <a:solidFill>
                  <a:srgbClr val="15243A"/>
                </a:solidFill>
                <a:latin typeface="Arial"/>
                <a:ea typeface="Arial"/>
                <a:cs typeface="Arial"/>
              </a:defRPr>
            </a:pPr>
            <a:r>
              <a:rPr sz="1500" b="0">
                <a:solidFill>
                  <a:srgbClr val="15243A"/>
                </a:solidFill>
                <a:latin typeface="Arial"/>
                <a:ea typeface="Arial"/>
                <a:cs typeface="Arial"/>
              </a:rPr>
              <a:t>Bitiş</a:t>
            </a:r>
          </a:p>
        </p:txBody>
      </p:sp>
      <p:sp>
        <p:nvSpPr>
          <p:cNvPr id="22" name="text-168">
            <a:extLst xmlns:a="http://schemas.openxmlformats.org/drawingml/2006/main">
              <a:ext uri="{FF2B5EF4-FFF2-40B4-BE49-F238E27FC236}">
                <a16:creationId xmlns:a16="http://schemas.microsoft.com/office/drawing/2014/main" id="{94E9ACB2-3225-4B2B-B66A-A6AEBBE382AF}"/>
              </a:ext>
            </a:extLst>
          </p:cNvPr>
          <p:cNvSpPr>
            <a:spLocks xmlns:a="http://schemas.openxmlformats.org/drawingml/2006/main" noGrp="1"/>
          </p:cNvSpPr>
          <p:nvPr/>
        </p:nvSpPr>
        <p:spPr>
          <a:xfrm xmlns:a="http://schemas.openxmlformats.org/drawingml/2006/main">
            <a:off x="3200400" y="44767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2458C6"/>
                </a:solidFill>
                <a:latin typeface="Arial"/>
                <a:ea typeface="Arial"/>
                <a:cs typeface="Arial"/>
              </a:defRPr>
            </a:defPPr>
          </a:lstStyle>
          <a:p xmlns:a="http://schemas.openxmlformats.org/drawingml/2006/main">
            <a:pPr>
              <a:defRPr sz="1500" b="1">
                <a:solidFill>
                  <a:srgbClr val="2458C6"/>
                </a:solidFill>
                <a:latin typeface="Arial"/>
                <a:ea typeface="Arial"/>
                <a:cs typeface="Arial"/>
              </a:defRPr>
            </a:pPr>
            <a:r>
              <a:rPr sz="1500" b="1">
                <a:solidFill>
                  <a:srgbClr val="2458C6"/>
                </a:solidFill>
                <a:latin typeface="Arial"/>
                <a:ea typeface="Arial"/>
                <a:cs typeface="Arial"/>
              </a:rPr>
              <a:t>Evet</a:t>
            </a:r>
          </a:p>
        </p:txBody>
      </p:sp>
      <p:sp>
        <p:nvSpPr>
          <p:cNvPr id="23" name="text-169">
            <a:extLst xmlns:a="http://schemas.openxmlformats.org/drawingml/2006/main">
              <a:ext uri="{FF2B5EF4-FFF2-40B4-BE49-F238E27FC236}">
                <a16:creationId xmlns:a16="http://schemas.microsoft.com/office/drawing/2014/main" id="{3DACF38D-DFCC-4CF8-8E30-F928F697C3E4}"/>
              </a:ext>
            </a:extLst>
          </p:cNvPr>
          <p:cNvSpPr>
            <a:spLocks xmlns:a="http://schemas.openxmlformats.org/drawingml/2006/main" noGrp="1"/>
          </p:cNvSpPr>
          <p:nvPr/>
        </p:nvSpPr>
        <p:spPr>
          <a:xfrm xmlns:a="http://schemas.openxmlformats.org/drawingml/2006/main">
            <a:off x="4257675" y="34956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BE344C"/>
                </a:solidFill>
                <a:latin typeface="Arial"/>
                <a:ea typeface="Arial"/>
                <a:cs typeface="Arial"/>
              </a:defRPr>
            </a:defPPr>
          </a:lstStyle>
          <a:p xmlns:a="http://schemas.openxmlformats.org/drawingml/2006/main">
            <a:pPr>
              <a:defRPr sz="1500" b="1">
                <a:solidFill>
                  <a:srgbClr val="BE344C"/>
                </a:solidFill>
                <a:latin typeface="Arial"/>
                <a:ea typeface="Arial"/>
                <a:cs typeface="Arial"/>
              </a:defRPr>
            </a:pPr>
            <a:r>
              <a:rPr sz="1500" b="1">
                <a:solidFill>
                  <a:srgbClr val="BE344C"/>
                </a:solidFill>
                <a:latin typeface="Arial"/>
                <a:ea typeface="Arial"/>
                <a:cs typeface="Arial"/>
              </a:rPr>
              <a:t>Hayır</a:t>
            </a:r>
          </a:p>
        </p:txBody>
      </p:sp>
      <p:sp>
        <p:nvSpPr>
          <p:cNvPr id="24" name="text-170">
            <a:extLst xmlns:a="http://schemas.openxmlformats.org/drawingml/2006/main">
              <a:ext uri="{FF2B5EF4-FFF2-40B4-BE49-F238E27FC236}">
                <a16:creationId xmlns:a16="http://schemas.microsoft.com/office/drawing/2014/main" id="{95D57CC4-1138-4D0B-875B-DB175124D3D2}"/>
              </a:ext>
            </a:extLst>
          </p:cNvPr>
          <p:cNvSpPr>
            <a:spLocks xmlns:a="http://schemas.openxmlformats.org/drawingml/2006/main" noGrp="1"/>
          </p:cNvSpPr>
          <p:nvPr/>
        </p:nvSpPr>
        <p:spPr>
          <a:xfrm xmlns:a="http://schemas.openxmlformats.org/drawingml/2006/main">
            <a:off x="9267825" y="3657600"/>
            <a:ext cx="2333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43A"/>
                </a:solidFill>
                <a:latin typeface="Arial"/>
                <a:ea typeface="Arial"/>
                <a:cs typeface="Arial"/>
              </a:defRPr>
            </a:defPPr>
          </a:lstStyle>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Geçerli giriş:</a:t>
            </a:r>
          </a:p>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Boş değil ve en fazla</a:t>
            </a:r>
          </a:p>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100 karakter</a:t>
            </a:r>
          </a:p>
        </p:txBody>
      </p:sp>
    </p:spTree>
    <p:extLst>
      <p:ext uri="{BB962C8B-B14F-4D97-AF65-F5344CB8AC3E}">
        <p14:creationId xmlns:p14="http://schemas.microsoft.com/office/powerpoint/2010/main" val="937126343"/>
      </p:ext>
    </p:extLst>
  </p:cSld>
</p:sld>
</file>

<file path=ppt/slides/slide19.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E654C6E-BBE3-42B8-8968-DF409DE0D734}"/>
              </a:ext>
            </a:extLst>
          </p:cNvPr>
          <p:cNvCxnSpPr>
            <a:stCxn xmlns:a="http://schemas.openxmlformats.org/drawingml/2006/main" id="11" idx="3"/>
            <a:endCxn xmlns:a="http://schemas.openxmlformats.org/drawingml/2006/main" id="17" idx="1"/>
          </p:cNvCxnSpPr>
          <p:nvPr/>
        </p:nvCxnSpPr>
        <p:spPr>
          <a:xfrm xmlns:a="http://schemas.openxmlformats.org/drawingml/2006/main">
            <a:off x="8172450" y="3662363"/>
            <a:ext cx="704850" cy="0"/>
          </a:xfrm>
          <a:prstGeom xmlns:a="http://schemas.openxmlformats.org/drawingml/2006/main" prst="straightConnector1">
            <a:avLst/>
          </a:prstGeom>
          <a:ln xmlns:a="http://schemas.openxmlformats.org/drawingml/2006/main" w="19050">
            <a:solidFill>
              <a:srgbClr val="526278"/>
            </a:solidFill>
            <a:prstDash val="dash"/>
            <a:tailEnd type="arrow" w="med" len="med"/>
          </a:ln>
        </p:spPr>
      </p:cxnSp>
      <p:cxnSp>
        <p:nvCxnSpPr>
          <p:cNvPr id="22" name="">
            <a:extLst xmlns:a="http://schemas.openxmlformats.org/drawingml/2006/main">
              <a:ext uri="{FF2B5EF4-FFF2-40B4-BE49-F238E27FC236}">
                <a16:creationId xmlns:a16="http://schemas.microsoft.com/office/drawing/2014/main" id="{71B7D26D-D8E3-40BA-B3AC-C5E8B0553F88}"/>
              </a:ext>
            </a:extLst>
          </p:cNvPr>
          <p:cNvCxnSpPr>
            <a:stCxn xmlns:a="http://schemas.openxmlformats.org/drawingml/2006/main" id="5" idx="3"/>
            <a:endCxn xmlns:a="http://schemas.openxmlformats.org/drawingml/2006/main" id="11" idx="1"/>
          </p:cNvCxnSpPr>
          <p:nvPr/>
        </p:nvCxnSpPr>
        <p:spPr>
          <a:xfrm xmlns:a="http://schemas.openxmlformats.org/drawingml/2006/main">
            <a:off x="4038600" y="3662363"/>
            <a:ext cx="704850" cy="0"/>
          </a:xfrm>
          <a:prstGeom xmlns:a="http://schemas.openxmlformats.org/drawingml/2006/main" prst="straightConnector1">
            <a:avLst/>
          </a:prstGeom>
          <a:ln xmlns:a="http://schemas.openxmlformats.org/drawingml/2006/main" w="19050">
            <a:solidFill>
              <a:srgbClr val="526278"/>
            </a:solidFill>
            <a:prstDash val="dash"/>
            <a:tailEnd type="arrow" w="med" len="med"/>
          </a:ln>
        </p:spPr>
      </p:cxnSp>
      <p:sp>
        <p:nvSpPr>
          <p:cNvPr id="27" name="text-171">
            <a:extLst xmlns:a="http://schemas.openxmlformats.org/drawingml/2006/main">
              <a:ext uri="{FF2B5EF4-FFF2-40B4-BE49-F238E27FC236}">
                <a16:creationId xmlns:a16="http://schemas.microsoft.com/office/drawing/2014/main" id="{41D3448E-874A-46B1-BE3E-9528B5C386BD}"/>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UML</a:t>
            </a:r>
          </a:p>
        </p:txBody>
      </p:sp>
      <p:sp>
        <p:nvSpPr>
          <p:cNvPr id="2" name="text-172">
            <a:extLst xmlns:a="http://schemas.openxmlformats.org/drawingml/2006/main">
              <a:ext uri="{FF2B5EF4-FFF2-40B4-BE49-F238E27FC236}">
                <a16:creationId xmlns:a16="http://schemas.microsoft.com/office/drawing/2014/main" id="{A8BF860A-5549-4D22-8A67-9425CA30FFE4}"/>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Küçük bir sınıf diyagramı</a:t>
            </a:r>
          </a:p>
        </p:txBody>
      </p:sp>
      <p:sp>
        <p:nvSpPr>
          <p:cNvPr id="3" name="text-173">
            <a:extLst xmlns:a="http://schemas.openxmlformats.org/drawingml/2006/main">
              <a:ext uri="{FF2B5EF4-FFF2-40B4-BE49-F238E27FC236}">
                <a16:creationId xmlns:a16="http://schemas.microsoft.com/office/drawing/2014/main" id="{8C13090A-9708-4539-ABA0-8C0060A21DB6}"/>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19</a:t>
            </a:r>
          </a:p>
        </p:txBody>
      </p:sp>
      <p:sp>
        <p:nvSpPr>
          <p:cNvPr id="4" name="text-174">
            <a:extLst xmlns:a="http://schemas.openxmlformats.org/drawingml/2006/main">
              <a:ext uri="{FF2B5EF4-FFF2-40B4-BE49-F238E27FC236}">
                <a16:creationId xmlns:a16="http://schemas.microsoft.com/office/drawing/2014/main" id="{00290DC0-9D02-4F62-8B0B-6E2EF58F111B}"/>
              </a:ext>
            </a:extLst>
          </p:cNvPr>
          <p:cNvSpPr>
            <a:spLocks xmlns:a="http://schemas.openxmlformats.org/drawingml/2006/main" noGrp="1"/>
          </p:cNvSpPr>
          <p:nvPr/>
        </p:nvSpPr>
        <p:spPr>
          <a:xfrm xmlns:a="http://schemas.openxmlformats.org/drawingml/2006/main">
            <a:off x="609600" y="15049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278"/>
                </a:solidFill>
                <a:latin typeface="Arial"/>
                <a:ea typeface="Arial"/>
                <a:cs typeface="Arial"/>
              </a:defRPr>
            </a:defPPr>
          </a:lstStyle>
          <a:p xmlns:a="http://schemas.openxmlformats.org/drawingml/2006/main">
            <a:pPr>
              <a:defRPr sz="2025" b="0">
                <a:solidFill>
                  <a:srgbClr val="526278"/>
                </a:solidFill>
                <a:latin typeface="Arial"/>
                <a:ea typeface="Arial"/>
                <a:cs typeface="Arial"/>
              </a:defRPr>
            </a:pPr>
            <a:r>
              <a:rPr sz="2025" b="0">
                <a:solidFill>
                  <a:srgbClr val="526278"/>
                </a:solidFill>
                <a:latin typeface="Arial"/>
                <a:ea typeface="Arial"/>
                <a:cs typeface="Arial"/>
              </a:rPr>
              <a:t>Önerilen yapı. İsimleri kendi kodunuza uyarlayın.</a:t>
            </a:r>
          </a:p>
        </p:txBody>
      </p:sp>
      <p:sp>
        <p:nvSpPr>
          <p:cNvPr id="5" name="">
            <a:extLst xmlns:a="http://schemas.openxmlformats.org/drawingml/2006/main">
              <a:ext uri="{FF2B5EF4-FFF2-40B4-BE49-F238E27FC236}">
                <a16:creationId xmlns:a16="http://schemas.microsoft.com/office/drawing/2014/main" id="{0255DF19-CB57-4FC0-A6C0-9192D28A83A0}"/>
              </a:ext>
            </a:extLst>
          </p:cNvPr>
          <p:cNvSpPr>
            <a:spLocks xmlns:a="http://schemas.openxmlformats.org/drawingml/2006/main" noGrp="1"/>
          </p:cNvSpPr>
          <p:nvPr/>
        </p:nvSpPr>
        <p:spPr>
          <a:xfrm xmlns:a="http://schemas.openxmlformats.org/drawingml/2006/main">
            <a:off x="609600" y="2390775"/>
            <a:ext cx="3429000" cy="2543175"/>
          </a:xfrm>
          <a:prstGeom xmlns:a="http://schemas.openxmlformats.org/drawingml/2006/main" prst="rect">
            <a:avLst/>
          </a:prstGeom>
          <a:solidFill xmlns:a="http://schemas.openxmlformats.org/drawingml/2006/main">
            <a:srgbClr val="FFFF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r>
              <a:t/>
            </a:r>
          </a:p>
        </p:txBody>
      </p:sp>
      <p:sp>
        <p:nvSpPr>
          <p:cNvPr id="6" name="text-175">
            <a:extLst xmlns:a="http://schemas.openxmlformats.org/drawingml/2006/main">
              <a:ext uri="{FF2B5EF4-FFF2-40B4-BE49-F238E27FC236}">
                <a16:creationId xmlns:a16="http://schemas.microsoft.com/office/drawing/2014/main" id="{4A715E1E-F571-4C56-891C-189E6108AB9F}"/>
              </a:ext>
            </a:extLst>
          </p:cNvPr>
          <p:cNvSpPr>
            <a:spLocks xmlns:a="http://schemas.openxmlformats.org/drawingml/2006/main" noGrp="1"/>
          </p:cNvSpPr>
          <p:nvPr/>
        </p:nvSpPr>
        <p:spPr>
          <a:xfrm xmlns:a="http://schemas.openxmlformats.org/drawingml/2006/main">
            <a:off x="752475" y="25527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MainActivity</a:t>
            </a:r>
          </a:p>
        </p:txBody>
      </p:sp>
      <p:sp>
        <p:nvSpPr>
          <p:cNvPr id="7" name="">
            <a:extLst xmlns:a="http://schemas.openxmlformats.org/drawingml/2006/main">
              <a:ext uri="{FF2B5EF4-FFF2-40B4-BE49-F238E27FC236}">
                <a16:creationId xmlns:a16="http://schemas.microsoft.com/office/drawing/2014/main" id="{7C40A1AD-FDA2-4917-97F7-6014FB3A6CE6}"/>
              </a:ext>
            </a:extLst>
          </p:cNvPr>
          <p:cNvSpPr>
            <a:spLocks xmlns:a="http://schemas.openxmlformats.org/drawingml/2006/main" noGrp="1"/>
          </p:cNvSpPr>
          <p:nvPr/>
        </p:nvSpPr>
        <p:spPr>
          <a:xfrm xmlns:a="http://schemas.openxmlformats.org/drawingml/2006/main">
            <a:off x="609600" y="3076575"/>
            <a:ext cx="3429000" cy="0"/>
          </a:xfrm>
          <a:prstGeom xmlns:a="http://schemas.openxmlformats.org/drawingml/2006/main" prst="line">
            <a:avLst/>
          </a:prstGeom>
          <a:ln xmlns:a="http://schemas.openxmlformats.org/drawingml/2006/main" w="9525">
            <a:solidFill>
              <a:srgbClr val="15243A"/>
            </a:solidFill>
          </a:ln>
        </p:spPr>
      </p:sp>
      <p:sp>
        <p:nvSpPr>
          <p:cNvPr id="8" name="text-176">
            <a:extLst xmlns:a="http://schemas.openxmlformats.org/drawingml/2006/main">
              <a:ext uri="{FF2B5EF4-FFF2-40B4-BE49-F238E27FC236}">
                <a16:creationId xmlns:a16="http://schemas.microsoft.com/office/drawing/2014/main" id="{A3423325-B643-4DFB-9D34-22C19F90A9AF}"/>
              </a:ext>
            </a:extLst>
          </p:cNvPr>
          <p:cNvSpPr>
            <a:spLocks xmlns:a="http://schemas.openxmlformats.org/drawingml/2006/main" noGrp="1"/>
          </p:cNvSpPr>
          <p:nvPr/>
        </p:nvSpPr>
        <p:spPr>
          <a:xfrm xmlns:a="http://schemas.openxmlformats.org/drawingml/2006/main">
            <a:off x="752475" y="32861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43A"/>
                </a:solidFill>
                <a:latin typeface="Arial"/>
                <a:ea typeface="Arial"/>
                <a:cs typeface="Arial"/>
              </a:defRPr>
            </a:defPPr>
          </a:lstStyle>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tumNotlar:</a:t>
            </a:r>
          </a:p>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MutableList&lt;Not&gt;</a:t>
            </a:r>
          </a:p>
        </p:txBody>
      </p:sp>
      <p:sp>
        <p:nvSpPr>
          <p:cNvPr id="9" name="">
            <a:extLst xmlns:a="http://schemas.openxmlformats.org/drawingml/2006/main">
              <a:ext uri="{FF2B5EF4-FFF2-40B4-BE49-F238E27FC236}">
                <a16:creationId xmlns:a16="http://schemas.microsoft.com/office/drawing/2014/main" id="{AD9B2062-A66E-4A87-9F1F-E1037BEE2686}"/>
              </a:ext>
            </a:extLst>
          </p:cNvPr>
          <p:cNvSpPr>
            <a:spLocks xmlns:a="http://schemas.openxmlformats.org/drawingml/2006/main" noGrp="1"/>
          </p:cNvSpPr>
          <p:nvPr/>
        </p:nvSpPr>
        <p:spPr>
          <a:xfrm xmlns:a="http://schemas.openxmlformats.org/drawingml/2006/main">
            <a:off x="609600" y="4143375"/>
            <a:ext cx="3429000" cy="0"/>
          </a:xfrm>
          <a:prstGeom xmlns:a="http://schemas.openxmlformats.org/drawingml/2006/main" prst="line">
            <a:avLst/>
          </a:prstGeom>
          <a:ln xmlns:a="http://schemas.openxmlformats.org/drawingml/2006/main" w="9525">
            <a:solidFill>
              <a:srgbClr val="15243A"/>
            </a:solidFill>
          </a:ln>
        </p:spPr>
      </p:sp>
      <p:sp>
        <p:nvSpPr>
          <p:cNvPr id="10" name="text-177">
            <a:extLst xmlns:a="http://schemas.openxmlformats.org/drawingml/2006/main">
              <a:ext uri="{FF2B5EF4-FFF2-40B4-BE49-F238E27FC236}">
                <a16:creationId xmlns:a16="http://schemas.microsoft.com/office/drawing/2014/main" id="{DE7D8E1E-1B09-4785-A14D-F058633A2B21}"/>
              </a:ext>
            </a:extLst>
          </p:cNvPr>
          <p:cNvSpPr>
            <a:spLocks xmlns:a="http://schemas.openxmlformats.org/drawingml/2006/main" noGrp="1"/>
          </p:cNvSpPr>
          <p:nvPr/>
        </p:nvSpPr>
        <p:spPr>
          <a:xfrm xmlns:a="http://schemas.openxmlformats.org/drawingml/2006/main">
            <a:off x="752475" y="43053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43A"/>
                </a:solidFill>
                <a:latin typeface="Arial"/>
                <a:ea typeface="Arial"/>
                <a:cs typeface="Arial"/>
              </a:defRPr>
            </a:defPPr>
          </a:lstStyle>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notEkle()</a:t>
            </a:r>
          </a:p>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notSil(id: Long)</a:t>
            </a:r>
          </a:p>
        </p:txBody>
      </p:sp>
      <p:sp>
        <p:nvSpPr>
          <p:cNvPr id="11" name="">
            <a:extLst xmlns:a="http://schemas.openxmlformats.org/drawingml/2006/main">
              <a:ext uri="{FF2B5EF4-FFF2-40B4-BE49-F238E27FC236}">
                <a16:creationId xmlns:a16="http://schemas.microsoft.com/office/drawing/2014/main" id="{9C2948D6-CB36-4BDA-93DB-EB1DE3BD23BE}"/>
              </a:ext>
            </a:extLst>
          </p:cNvPr>
          <p:cNvSpPr>
            <a:spLocks xmlns:a="http://schemas.openxmlformats.org/drawingml/2006/main" noGrp="1"/>
          </p:cNvSpPr>
          <p:nvPr/>
        </p:nvSpPr>
        <p:spPr>
          <a:xfrm xmlns:a="http://schemas.openxmlformats.org/drawingml/2006/main">
            <a:off x="4743450" y="2390775"/>
            <a:ext cx="3429000" cy="2543175"/>
          </a:xfrm>
          <a:prstGeom xmlns:a="http://schemas.openxmlformats.org/drawingml/2006/main" prst="rect">
            <a:avLst/>
          </a:prstGeom>
          <a:solidFill xmlns:a="http://schemas.openxmlformats.org/drawingml/2006/main">
            <a:srgbClr val="FFFF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r>
              <a:t/>
            </a:r>
          </a:p>
        </p:txBody>
      </p:sp>
      <p:sp>
        <p:nvSpPr>
          <p:cNvPr id="12" name="text-178">
            <a:extLst xmlns:a="http://schemas.openxmlformats.org/drawingml/2006/main">
              <a:ext uri="{FF2B5EF4-FFF2-40B4-BE49-F238E27FC236}">
                <a16:creationId xmlns:a16="http://schemas.microsoft.com/office/drawing/2014/main" id="{A8C62399-26E8-4E1B-9E2C-CED9DA9A51E7}"/>
              </a:ext>
            </a:extLst>
          </p:cNvPr>
          <p:cNvSpPr>
            <a:spLocks xmlns:a="http://schemas.openxmlformats.org/drawingml/2006/main" noGrp="1"/>
          </p:cNvSpPr>
          <p:nvPr/>
        </p:nvSpPr>
        <p:spPr>
          <a:xfrm xmlns:a="http://schemas.openxmlformats.org/drawingml/2006/main">
            <a:off x="4886325" y="25527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NotAdapter</a:t>
            </a:r>
          </a:p>
        </p:txBody>
      </p:sp>
      <p:sp>
        <p:nvSpPr>
          <p:cNvPr id="13" name="">
            <a:extLst xmlns:a="http://schemas.openxmlformats.org/drawingml/2006/main">
              <a:ext uri="{FF2B5EF4-FFF2-40B4-BE49-F238E27FC236}">
                <a16:creationId xmlns:a16="http://schemas.microsoft.com/office/drawing/2014/main" id="{59FD008F-29FF-4E5E-BD24-94FBB7FCD344}"/>
              </a:ext>
            </a:extLst>
          </p:cNvPr>
          <p:cNvSpPr>
            <a:spLocks xmlns:a="http://schemas.openxmlformats.org/drawingml/2006/main" noGrp="1"/>
          </p:cNvSpPr>
          <p:nvPr/>
        </p:nvSpPr>
        <p:spPr>
          <a:xfrm xmlns:a="http://schemas.openxmlformats.org/drawingml/2006/main">
            <a:off x="4743450" y="3076575"/>
            <a:ext cx="3429000" cy="0"/>
          </a:xfrm>
          <a:prstGeom xmlns:a="http://schemas.openxmlformats.org/drawingml/2006/main" prst="line">
            <a:avLst/>
          </a:prstGeom>
          <a:ln xmlns:a="http://schemas.openxmlformats.org/drawingml/2006/main" w="9525">
            <a:solidFill>
              <a:srgbClr val="15243A"/>
            </a:solidFill>
          </a:ln>
        </p:spPr>
      </p:sp>
      <p:sp>
        <p:nvSpPr>
          <p:cNvPr id="14" name="text-179">
            <a:extLst xmlns:a="http://schemas.openxmlformats.org/drawingml/2006/main">
              <a:ext uri="{FF2B5EF4-FFF2-40B4-BE49-F238E27FC236}">
                <a16:creationId xmlns:a16="http://schemas.microsoft.com/office/drawing/2014/main" id="{F7F507A9-F255-47F2-97C4-1DF343076A12}"/>
              </a:ext>
            </a:extLst>
          </p:cNvPr>
          <p:cNvSpPr>
            <a:spLocks xmlns:a="http://schemas.openxmlformats.org/drawingml/2006/main" noGrp="1"/>
          </p:cNvSpPr>
          <p:nvPr/>
        </p:nvSpPr>
        <p:spPr>
          <a:xfrm xmlns:a="http://schemas.openxmlformats.org/drawingml/2006/main">
            <a:off x="4886325" y="32861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43A"/>
                </a:solidFill>
                <a:latin typeface="Arial"/>
                <a:ea typeface="Arial"/>
                <a:cs typeface="Arial"/>
              </a:defRPr>
            </a:defPPr>
          </a:lstStyle>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gosterilenNotlar:</a:t>
            </a:r>
          </a:p>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List&lt;Not&gt;</a:t>
            </a:r>
          </a:p>
        </p:txBody>
      </p:sp>
      <p:sp>
        <p:nvSpPr>
          <p:cNvPr id="15" name="">
            <a:extLst xmlns:a="http://schemas.openxmlformats.org/drawingml/2006/main">
              <a:ext uri="{FF2B5EF4-FFF2-40B4-BE49-F238E27FC236}">
                <a16:creationId xmlns:a16="http://schemas.microsoft.com/office/drawing/2014/main" id="{569500BC-B9C1-4EA1-BA4C-8A498586FD41}"/>
              </a:ext>
            </a:extLst>
          </p:cNvPr>
          <p:cNvSpPr>
            <a:spLocks xmlns:a="http://schemas.openxmlformats.org/drawingml/2006/main" noGrp="1"/>
          </p:cNvSpPr>
          <p:nvPr/>
        </p:nvSpPr>
        <p:spPr>
          <a:xfrm xmlns:a="http://schemas.openxmlformats.org/drawingml/2006/main">
            <a:off x="4743450" y="4143375"/>
            <a:ext cx="3429000" cy="0"/>
          </a:xfrm>
          <a:prstGeom xmlns:a="http://schemas.openxmlformats.org/drawingml/2006/main" prst="line">
            <a:avLst/>
          </a:prstGeom>
          <a:ln xmlns:a="http://schemas.openxmlformats.org/drawingml/2006/main" w="9525">
            <a:solidFill>
              <a:srgbClr val="15243A"/>
            </a:solidFill>
          </a:ln>
        </p:spPr>
      </p:sp>
      <p:sp>
        <p:nvSpPr>
          <p:cNvPr id="16" name="text-180">
            <a:extLst xmlns:a="http://schemas.openxmlformats.org/drawingml/2006/main">
              <a:ext uri="{FF2B5EF4-FFF2-40B4-BE49-F238E27FC236}">
                <a16:creationId xmlns:a16="http://schemas.microsoft.com/office/drawing/2014/main" id="{8F1BD731-ABE1-44E8-8C97-6C18875CE318}"/>
              </a:ext>
            </a:extLst>
          </p:cNvPr>
          <p:cNvSpPr>
            <a:spLocks xmlns:a="http://schemas.openxmlformats.org/drawingml/2006/main" noGrp="1"/>
          </p:cNvSpPr>
          <p:nvPr/>
        </p:nvSpPr>
        <p:spPr>
          <a:xfrm xmlns:a="http://schemas.openxmlformats.org/drawingml/2006/main">
            <a:off x="4886325" y="43053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43A"/>
                </a:solidFill>
                <a:latin typeface="Arial"/>
                <a:ea typeface="Arial"/>
                <a:cs typeface="Arial"/>
              </a:defRPr>
            </a:defPPr>
          </a:lstStyle>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onBindViewHolder(...)</a:t>
            </a:r>
          </a:p>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listeyiGuncelle(...)</a:t>
            </a:r>
          </a:p>
        </p:txBody>
      </p:sp>
      <p:sp>
        <p:nvSpPr>
          <p:cNvPr id="17" name="">
            <a:extLst xmlns:a="http://schemas.openxmlformats.org/drawingml/2006/main">
              <a:ext uri="{FF2B5EF4-FFF2-40B4-BE49-F238E27FC236}">
                <a16:creationId xmlns:a16="http://schemas.microsoft.com/office/drawing/2014/main" id="{9623B2C0-FF04-41CA-B32F-1967E2C7A66F}"/>
              </a:ext>
            </a:extLst>
          </p:cNvPr>
          <p:cNvSpPr>
            <a:spLocks xmlns:a="http://schemas.openxmlformats.org/drawingml/2006/main" noGrp="1"/>
          </p:cNvSpPr>
          <p:nvPr/>
        </p:nvSpPr>
        <p:spPr>
          <a:xfrm xmlns:a="http://schemas.openxmlformats.org/drawingml/2006/main">
            <a:off x="8877300" y="2390775"/>
            <a:ext cx="2667000" cy="2543175"/>
          </a:xfrm>
          <a:prstGeom xmlns:a="http://schemas.openxmlformats.org/drawingml/2006/main" prst="rect">
            <a:avLst/>
          </a:prstGeom>
          <a:solidFill xmlns:a="http://schemas.openxmlformats.org/drawingml/2006/main">
            <a:srgbClr val="FFFFFF"/>
          </a:solidFill>
          <a:ln xmlns:a="http://schemas.openxmlformats.org/drawingml/2006/main" w="14288">
            <a:solidFill>
              <a:srgbClr val="15243A"/>
            </a:solidFill>
          </a:ln>
        </p:spPr>
        <p:txBody>
          <a:bodyPr xmlns:a="http://schemas.openxmlformats.org/drawingml/2006/main" lIns="95250" tIns="95250" rIns="95250" bIns="95250" anchor="ctr">
            <a:noAutofit/>
          </a:bodyPr>
          <a:lstStyle xmlns:a="http://schemas.openxmlformats.org/drawingml/2006/main">
            <a:defPPr algn="ctr">
              <a:defRPr sz="1800">
                <a:solidFill>
                  <a:srgbClr val="15243A"/>
                </a:solidFill>
                <a:latin typeface="Arial"/>
                <a:ea typeface="Arial"/>
                <a:cs typeface="Arial"/>
              </a:defRPr>
            </a:defPPr>
          </a:lstStyle>
          <a:p xmlns:a="http://schemas.openxmlformats.org/drawingml/2006/main">
            <a:r>
              <a:t/>
            </a:r>
          </a:p>
        </p:txBody>
      </p:sp>
      <p:sp>
        <p:nvSpPr>
          <p:cNvPr id="18" name="text-181">
            <a:extLst xmlns:a="http://schemas.openxmlformats.org/drawingml/2006/main">
              <a:ext uri="{FF2B5EF4-FFF2-40B4-BE49-F238E27FC236}">
                <a16:creationId xmlns:a16="http://schemas.microsoft.com/office/drawing/2014/main" id="{3C046C88-CEBB-4205-9EEE-932D7A29A17B}"/>
              </a:ext>
            </a:extLst>
          </p:cNvPr>
          <p:cNvSpPr>
            <a:spLocks xmlns:a="http://schemas.openxmlformats.org/drawingml/2006/main" noGrp="1"/>
          </p:cNvSpPr>
          <p:nvPr/>
        </p:nvSpPr>
        <p:spPr>
          <a:xfrm xmlns:a="http://schemas.openxmlformats.org/drawingml/2006/main">
            <a:off x="9020175" y="25527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Not</a:t>
            </a:r>
          </a:p>
        </p:txBody>
      </p:sp>
      <p:sp>
        <p:nvSpPr>
          <p:cNvPr id="19" name="">
            <a:extLst xmlns:a="http://schemas.openxmlformats.org/drawingml/2006/main">
              <a:ext uri="{FF2B5EF4-FFF2-40B4-BE49-F238E27FC236}">
                <a16:creationId xmlns:a16="http://schemas.microsoft.com/office/drawing/2014/main" id="{FBF5891D-824B-44E4-8462-50826F0E29BB}"/>
              </a:ext>
            </a:extLst>
          </p:cNvPr>
          <p:cNvSpPr>
            <a:spLocks xmlns:a="http://schemas.openxmlformats.org/drawingml/2006/main" noGrp="1"/>
          </p:cNvSpPr>
          <p:nvPr/>
        </p:nvSpPr>
        <p:spPr>
          <a:xfrm xmlns:a="http://schemas.openxmlformats.org/drawingml/2006/main">
            <a:off x="8877300" y="3076575"/>
            <a:ext cx="2667000" cy="0"/>
          </a:xfrm>
          <a:prstGeom xmlns:a="http://schemas.openxmlformats.org/drawingml/2006/main" prst="line">
            <a:avLst/>
          </a:prstGeom>
          <a:ln xmlns:a="http://schemas.openxmlformats.org/drawingml/2006/main" w="9525">
            <a:solidFill>
              <a:srgbClr val="15243A"/>
            </a:solidFill>
          </a:ln>
        </p:spPr>
      </p:sp>
      <p:sp>
        <p:nvSpPr>
          <p:cNvPr id="20" name="text-182">
            <a:extLst xmlns:a="http://schemas.openxmlformats.org/drawingml/2006/main">
              <a:ext uri="{FF2B5EF4-FFF2-40B4-BE49-F238E27FC236}">
                <a16:creationId xmlns:a16="http://schemas.microsoft.com/office/drawing/2014/main" id="{C030951A-5D1B-40BE-8CD0-17406F226DBB}"/>
              </a:ext>
            </a:extLst>
          </p:cNvPr>
          <p:cNvSpPr>
            <a:spLocks xmlns:a="http://schemas.openxmlformats.org/drawingml/2006/main" noGrp="1"/>
          </p:cNvSpPr>
          <p:nvPr/>
        </p:nvSpPr>
        <p:spPr>
          <a:xfrm xmlns:a="http://schemas.openxmlformats.org/drawingml/2006/main">
            <a:off x="9020175" y="3286125"/>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43A"/>
                </a:solidFill>
                <a:latin typeface="Arial"/>
                <a:ea typeface="Arial"/>
                <a:cs typeface="Arial"/>
              </a:defRPr>
            </a:defPPr>
          </a:lstStyle>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id: Long</a:t>
            </a:r>
          </a:p>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metin: String</a:t>
            </a:r>
          </a:p>
          <a:p xmlns:a="http://schemas.openxmlformats.org/drawingml/2006/main">
            <a:pPr>
              <a:defRPr sz="1800" b="0">
                <a:solidFill>
                  <a:srgbClr val="15243A"/>
                </a:solidFill>
                <a:latin typeface="Arial"/>
                <a:ea typeface="Arial"/>
                <a:cs typeface="Arial"/>
              </a:defRPr>
            </a:pPr>
            <a:r>
              <a:rPr sz="1800" b="0">
                <a:solidFill>
                  <a:srgbClr val="15243A"/>
                </a:solidFill>
                <a:latin typeface="Arial"/>
                <a:ea typeface="Arial"/>
                <a:cs typeface="Arial"/>
              </a:rPr>
              <a:t>favori: Boolean</a:t>
            </a:r>
          </a:p>
        </p:txBody>
      </p:sp>
      <p:sp>
        <p:nvSpPr>
          <p:cNvPr id="21" name="">
            <a:extLst xmlns:a="http://schemas.openxmlformats.org/drawingml/2006/main">
              <a:ext uri="{FF2B5EF4-FFF2-40B4-BE49-F238E27FC236}">
                <a16:creationId xmlns:a16="http://schemas.microsoft.com/office/drawing/2014/main" id="{C8ECC733-35A5-4480-AA00-BA910A8C9A58}"/>
              </a:ext>
            </a:extLst>
          </p:cNvPr>
          <p:cNvSpPr>
            <a:spLocks xmlns:a="http://schemas.openxmlformats.org/drawingml/2006/main" noGrp="1"/>
          </p:cNvSpPr>
          <p:nvPr/>
        </p:nvSpPr>
        <p:spPr>
          <a:xfrm xmlns:a="http://schemas.openxmlformats.org/drawingml/2006/main">
            <a:off x="8877300" y="4143375"/>
            <a:ext cx="2667000" cy="0"/>
          </a:xfrm>
          <a:prstGeom xmlns:a="http://schemas.openxmlformats.org/drawingml/2006/main" prst="line">
            <a:avLst/>
          </a:prstGeom>
          <a:ln xmlns:a="http://schemas.openxmlformats.org/drawingml/2006/main" w="9525">
            <a:solidFill>
              <a:srgbClr val="15243A"/>
            </a:solidFill>
          </a:ln>
        </p:spPr>
      </p:sp>
      <p:sp>
        <p:nvSpPr>
          <p:cNvPr id="24" name="text-183">
            <a:extLst xmlns:a="http://schemas.openxmlformats.org/drawingml/2006/main">
              <a:ext uri="{FF2B5EF4-FFF2-40B4-BE49-F238E27FC236}">
                <a16:creationId xmlns:a16="http://schemas.microsoft.com/office/drawing/2014/main" id="{1D424AF0-0026-4D9A-85D8-F9E0D4D976ED}"/>
              </a:ext>
            </a:extLst>
          </p:cNvPr>
          <p:cNvSpPr>
            <a:spLocks xmlns:a="http://schemas.openxmlformats.org/drawingml/2006/main" noGrp="1"/>
          </p:cNvSpPr>
          <p:nvPr/>
        </p:nvSpPr>
        <p:spPr>
          <a:xfrm xmlns:a="http://schemas.openxmlformats.org/drawingml/2006/main">
            <a:off x="4095750" y="2057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278"/>
                </a:solidFill>
                <a:latin typeface="Arial"/>
                <a:ea typeface="Arial"/>
                <a:cs typeface="Arial"/>
              </a:defRPr>
            </a:defPPr>
          </a:lstStyle>
          <a:p xmlns:a="http://schemas.openxmlformats.org/drawingml/2006/main">
            <a:pPr>
              <a:defRPr sz="1500" b="0">
                <a:solidFill>
                  <a:srgbClr val="526278"/>
                </a:solidFill>
                <a:latin typeface="Arial"/>
                <a:ea typeface="Arial"/>
                <a:cs typeface="Arial"/>
              </a:defRPr>
            </a:pPr>
            <a:r>
              <a:rPr sz="1500" b="0">
                <a:solidFill>
                  <a:srgbClr val="526278"/>
                </a:solidFill>
                <a:latin typeface="Arial"/>
                <a:ea typeface="Arial"/>
                <a:cs typeface="Arial"/>
              </a:rPr>
              <a:t>kullanır</a:t>
            </a:r>
          </a:p>
        </p:txBody>
      </p:sp>
      <p:sp>
        <p:nvSpPr>
          <p:cNvPr id="25" name="text-184">
            <a:extLst xmlns:a="http://schemas.openxmlformats.org/drawingml/2006/main">
              <a:ext uri="{FF2B5EF4-FFF2-40B4-BE49-F238E27FC236}">
                <a16:creationId xmlns:a16="http://schemas.microsoft.com/office/drawing/2014/main" id="{AE88F534-3CA1-4044-9C99-68B2663031F5}"/>
              </a:ext>
            </a:extLst>
          </p:cNvPr>
          <p:cNvSpPr>
            <a:spLocks xmlns:a="http://schemas.openxmlformats.org/drawingml/2006/main" noGrp="1"/>
          </p:cNvSpPr>
          <p:nvPr/>
        </p:nvSpPr>
        <p:spPr>
          <a:xfrm xmlns:a="http://schemas.openxmlformats.org/drawingml/2006/main">
            <a:off x="8229600" y="2057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278"/>
                </a:solidFill>
                <a:latin typeface="Arial"/>
                <a:ea typeface="Arial"/>
                <a:cs typeface="Arial"/>
              </a:defRPr>
            </a:defPPr>
          </a:lstStyle>
          <a:p xmlns:a="http://schemas.openxmlformats.org/drawingml/2006/main">
            <a:pPr>
              <a:defRPr sz="1500" b="0">
                <a:solidFill>
                  <a:srgbClr val="526278"/>
                </a:solidFill>
                <a:latin typeface="Arial"/>
                <a:ea typeface="Arial"/>
                <a:cs typeface="Arial"/>
              </a:defRPr>
            </a:pPr>
            <a:r>
              <a:rPr sz="1500" b="0">
                <a:solidFill>
                  <a:srgbClr val="526278"/>
                </a:solidFill>
                <a:latin typeface="Arial"/>
                <a:ea typeface="Arial"/>
                <a:cs typeface="Arial"/>
              </a:rPr>
              <a:t>kullanır</a:t>
            </a:r>
          </a:p>
        </p:txBody>
      </p:sp>
      <p:sp>
        <p:nvSpPr>
          <p:cNvPr id="26" name="text-185">
            <a:extLst xmlns:a="http://schemas.openxmlformats.org/drawingml/2006/main">
              <a:ext uri="{FF2B5EF4-FFF2-40B4-BE49-F238E27FC236}">
                <a16:creationId xmlns:a16="http://schemas.microsoft.com/office/drawing/2014/main" id="{4BD113C4-4751-4671-9547-ACA58248527B}"/>
              </a:ext>
            </a:extLst>
          </p:cNvPr>
          <p:cNvSpPr>
            <a:spLocks xmlns:a="http://schemas.openxmlformats.org/drawingml/2006/main" noGrp="1"/>
          </p:cNvSpPr>
          <p:nvPr/>
        </p:nvSpPr>
        <p:spPr>
          <a:xfrm xmlns:a="http://schemas.openxmlformats.org/drawingml/2006/main">
            <a:off x="609600" y="55149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5243A"/>
                </a:solidFill>
                <a:latin typeface="Arial"/>
                <a:ea typeface="Arial"/>
                <a:cs typeface="Arial"/>
              </a:defRPr>
            </a:defPPr>
          </a:lstStyle>
          <a:p xmlns:a="http://schemas.openxmlformats.org/drawingml/2006/main">
            <a:pPr>
              <a:defRPr sz="2100" b="1">
                <a:solidFill>
                  <a:srgbClr val="15243A"/>
                </a:solidFill>
                <a:latin typeface="Arial"/>
                <a:ea typeface="Arial"/>
                <a:cs typeface="Arial"/>
              </a:defRPr>
            </a:pPr>
            <a:r>
              <a:rPr sz="2100" b="1">
                <a:solidFill>
                  <a:srgbClr val="15243A"/>
                </a:solidFill>
                <a:latin typeface="Arial"/>
                <a:ea typeface="Arial"/>
                <a:cs typeface="Arial"/>
              </a:rPr>
              <a:t>İlişkiler burada kullanım bağımlılığıdır. Gruplar kendi alan ve metotlarını ekler.</a:t>
            </a:r>
          </a:p>
        </p:txBody>
      </p:sp>
    </p:spTree>
    <p:extLst>
      <p:ext uri="{BB962C8B-B14F-4D97-AF65-F5344CB8AC3E}">
        <p14:creationId xmlns:p14="http://schemas.microsoft.com/office/powerpoint/2010/main" val="844200868"/>
      </p:ext>
    </p:extLst>
  </p:cSld>
</p:sld>
</file>

<file path=ppt/slides/slide20.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6" name="text-186">
            <a:extLst xmlns:a="http://schemas.openxmlformats.org/drawingml/2006/main">
              <a:ext uri="{FF2B5EF4-FFF2-40B4-BE49-F238E27FC236}">
                <a16:creationId xmlns:a16="http://schemas.microsoft.com/office/drawing/2014/main" id="{C3D6E0B3-2E6A-45B6-BA1C-84580E77E412}"/>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EKİP ÇALIŞMASI</a:t>
            </a:r>
          </a:p>
        </p:txBody>
      </p:sp>
      <p:sp>
        <p:nvSpPr>
          <p:cNvPr id="2" name="text-187">
            <a:extLst xmlns:a="http://schemas.openxmlformats.org/drawingml/2006/main">
              <a:ext uri="{FF2B5EF4-FFF2-40B4-BE49-F238E27FC236}">
                <a16:creationId xmlns:a16="http://schemas.microsoft.com/office/drawing/2014/main" id="{C2222355-CAFC-447C-BDCE-3517DAA965BA}"/>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Dört kişilik ekipte katkı</a:t>
            </a:r>
          </a:p>
        </p:txBody>
      </p:sp>
      <p:sp>
        <p:nvSpPr>
          <p:cNvPr id="3" name="text-188">
            <a:extLst xmlns:a="http://schemas.openxmlformats.org/drawingml/2006/main">
              <a:ext uri="{FF2B5EF4-FFF2-40B4-BE49-F238E27FC236}">
                <a16:creationId xmlns:a16="http://schemas.microsoft.com/office/drawing/2014/main" id="{A485B247-B121-4B23-AA5B-FEF047D49434}"/>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9A0C29E4-EE03-4E1B-B930-D62A685B6024}"/>
              </a:ext>
            </a:extLst>
          </p:cNvPr>
          <p:cNvGraphicFramePr/>
          <p:nvPr/>
        </p:nvGraphicFramePr>
        <p:xfrm>
          <a:off xmlns:a="http://schemas.openxmlformats.org/drawingml/2006/main" x="609600" y="1676400"/>
          <a:ext xmlns:a="http://schemas.openxmlformats.org/drawingml/2006/main" cx="10972800" cy="3143250"/>
        </p:xfrm>
        <a:graphic xmlns:a="http://schemas.openxmlformats.org/drawingml/2006/main">
          <a:graphicData uri="http://schemas.openxmlformats.org/drawingml/2006/table">
            <a:tbl>
              <a:tblPr/>
              <a:tblGrid>
                <a:gridCol w="3143250"/>
                <a:gridCol w="7829550"/>
              </a:tblGrid>
              <a:tr h="628650">
                <a:tc>
                  <a:txBody>
                    <a:bodyPr lIns="114300" tIns="114300" rIns="114300" bIns="114300"/>
                    <a:lstStyle/>
                    <a:p>
                      <a:r>
                        <a:rPr sz="2025" b="1">
                          <a:solidFill>
                            <a:srgbClr val="FFFFFF"/>
                          </a:solidFill>
                          <a:latin typeface="Arial"/>
                          <a:ea typeface="Arial"/>
                          <a:cs typeface="Arial"/>
                        </a:rPr>
                        <a:t>Rol</a:t>
                      </a:r>
                    </a:p>
                  </a:txBody>
                  <a:tcPr marL="91440" marR="91440" marT="45720" marB="45720" anchor="ctr">
                    <a:lnL w="9525">
                      <a:solidFill>
                        <a:srgbClr val="DCE3EC"/>
                      </a:solidFill>
                      <a:prstDash val="solid"/>
                    </a:lnL>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c>
                  <a:txBody>
                    <a:bodyPr lIns="114300" tIns="114300" rIns="114300" bIns="114300"/>
                    <a:lstStyle/>
                    <a:p>
                      <a:r>
                        <a:rPr sz="2025" b="1">
                          <a:solidFill>
                            <a:srgbClr val="FFFFFF"/>
                          </a:solidFill>
                          <a:latin typeface="Arial"/>
                          <a:ea typeface="Arial"/>
                          <a:cs typeface="Arial"/>
                        </a:rPr>
                        <a:t>O aşamadaki sorumluluk</a:t>
                      </a:r>
                    </a:p>
                  </a:txBody>
                  <a:tcPr marL="91440" marR="91440" marT="45720" marB="45720" anchor="ctr">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r>
              <a:tr h="628650">
                <a:tc>
                  <a:txBody>
                    <a:bodyPr lIns="114300" tIns="114300" rIns="114300" bIns="114300"/>
                    <a:lstStyle/>
                    <a:p>
                      <a:r>
                        <a:rPr sz="2025" b="0">
                          <a:solidFill>
                            <a:srgbClr val="15243A"/>
                          </a:solidFill>
                          <a:latin typeface="Arial"/>
                          <a:ea typeface="Arial"/>
                          <a:cs typeface="Arial"/>
                        </a:rPr>
                        <a:t>Kod yazan</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2025" b="0">
                          <a:solidFill>
                            <a:srgbClr val="15243A"/>
                          </a:solidFill>
                          <a:latin typeface="Arial"/>
                          <a:ea typeface="Arial"/>
                          <a:cs typeface="Arial"/>
                        </a:rPr>
                        <a:t>Küçük bir değişikliği uygular</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r h="628650">
                <a:tc>
                  <a:txBody>
                    <a:bodyPr lIns="114300" tIns="114300" rIns="114300" bIns="114300"/>
                    <a:lstStyle/>
                    <a:p>
                      <a:r>
                        <a:rPr sz="2025" b="0">
                          <a:solidFill>
                            <a:srgbClr val="15243A"/>
                          </a:solidFill>
                          <a:latin typeface="Arial"/>
                          <a:ea typeface="Arial"/>
                          <a:cs typeface="Arial"/>
                        </a:rPr>
                        <a:t>Kodu inceleyen</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2025" b="0">
                          <a:solidFill>
                            <a:srgbClr val="15243A"/>
                          </a:solidFill>
                          <a:latin typeface="Arial"/>
                          <a:ea typeface="Arial"/>
                          <a:cs typeface="Arial"/>
                        </a:rPr>
                        <a:t>Veri akışını sorularla kontrol eder</a:t>
                      </a:r>
                    </a:p>
                  </a:txBody>
                  <a:tcPr marL="91440" marR="91440" marT="45720" marB="45720" anchor="ctr">
                    <a:lnR w="9525">
                      <a:solidFill>
                        <a:srgbClr val="DCE3EC"/>
                      </a:solidFill>
                      <a:prstDash val="solid"/>
                    </a:lnR>
                    <a:lnB w="9525">
                      <a:solidFill>
                        <a:srgbClr val="DCE3EC"/>
                      </a:solidFill>
                      <a:prstDash val="solid"/>
                    </a:lnB>
                    <a:solidFill>
                      <a:srgbClr val="EBEFF5"/>
                    </a:solidFill>
                  </a:tcPr>
                </a:tc>
              </a:tr>
              <a:tr h="628650">
                <a:tc>
                  <a:txBody>
                    <a:bodyPr lIns="114300" tIns="114300" rIns="114300" bIns="114300"/>
                    <a:lstStyle/>
                    <a:p>
                      <a:r>
                        <a:rPr sz="2025" b="0">
                          <a:solidFill>
                            <a:srgbClr val="15243A"/>
                          </a:solidFill>
                          <a:latin typeface="Arial"/>
                          <a:ea typeface="Arial"/>
                          <a:cs typeface="Arial"/>
                        </a:rPr>
                        <a:t>Deneyen</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2025" b="0">
                          <a:solidFill>
                            <a:srgbClr val="15243A"/>
                          </a:solidFill>
                          <a:latin typeface="Arial"/>
                          <a:ea typeface="Arial"/>
                          <a:cs typeface="Arial"/>
                        </a:rPr>
                        <a:t>Normal ve hatalı kullanımları dener</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r h="628650">
                <a:tc>
                  <a:txBody>
                    <a:bodyPr lIns="114300" tIns="114300" rIns="114300" bIns="114300"/>
                    <a:lstStyle/>
                    <a:p>
                      <a:r>
                        <a:rPr sz="2025" b="0">
                          <a:solidFill>
                            <a:srgbClr val="15243A"/>
                          </a:solidFill>
                          <a:latin typeface="Arial"/>
                          <a:ea typeface="Arial"/>
                          <a:cs typeface="Arial"/>
                        </a:rPr>
                        <a:t>Kaydeden</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2025" b="0">
                          <a:solidFill>
                            <a:srgbClr val="15243A"/>
                          </a:solidFill>
                          <a:latin typeface="Arial"/>
                          <a:ea typeface="Arial"/>
                          <a:cs typeface="Arial"/>
                        </a:rPr>
                        <a:t>Diyagramı ve kararları günceller</a:t>
                      </a:r>
                    </a:p>
                  </a:txBody>
                  <a:tcPr marL="91440" marR="91440" marT="45720" marB="45720" anchor="ctr">
                    <a:lnR w="9525">
                      <a:solidFill>
                        <a:srgbClr val="DCE3EC"/>
                      </a:solidFill>
                      <a:prstDash val="solid"/>
                    </a:lnR>
                    <a:lnB w="9525">
                      <a:solidFill>
                        <a:srgbClr val="DCE3EC"/>
                      </a:solidFill>
                      <a:prstDash val="solid"/>
                    </a:lnB>
                    <a:solidFill>
                      <a:srgbClr val="EBEFF5"/>
                    </a:solidFill>
                  </a:tcPr>
                </a:tc>
              </a:tr>
            </a:tbl>
          </a:graphicData>
        </a:graphic>
      </p:graphicFrame>
      <p:sp>
        <p:nvSpPr>
          <p:cNvPr id="5" name="text-189">
            <a:extLst xmlns:a="http://schemas.openxmlformats.org/drawingml/2006/main">
              <a:ext uri="{FF2B5EF4-FFF2-40B4-BE49-F238E27FC236}">
                <a16:creationId xmlns:a16="http://schemas.microsoft.com/office/drawing/2014/main" id="{59DE6D24-6B8F-4721-ACB5-1114BD5888C7}"/>
              </a:ext>
            </a:extLst>
          </p:cNvPr>
          <p:cNvSpPr>
            <a:spLocks xmlns:a="http://schemas.openxmlformats.org/drawingml/2006/main" noGrp="1"/>
          </p:cNvSpPr>
          <p:nvPr/>
        </p:nvSpPr>
        <p:spPr>
          <a:xfrm xmlns:a="http://schemas.openxmlformats.org/drawingml/2006/main">
            <a:off x="609600" y="52578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5243A"/>
                </a:solidFill>
                <a:latin typeface="Arial"/>
                <a:ea typeface="Arial"/>
                <a:cs typeface="Arial"/>
              </a:defRPr>
            </a:defPPr>
          </a:lstStyle>
          <a:p xmlns:a="http://schemas.openxmlformats.org/drawingml/2006/main">
            <a:pPr>
              <a:defRPr sz="2325" b="1">
                <a:solidFill>
                  <a:srgbClr val="15243A"/>
                </a:solidFill>
                <a:latin typeface="Arial"/>
                <a:ea typeface="Arial"/>
                <a:cs typeface="Arial"/>
              </a:defRPr>
            </a:pPr>
            <a:r>
              <a:rPr sz="2325" b="1">
                <a:solidFill>
                  <a:srgbClr val="15243A"/>
                </a:solidFill>
                <a:latin typeface="Arial"/>
                <a:ea typeface="Arial"/>
                <a:cs typeface="Arial"/>
              </a:rPr>
              <a:t>Her aşamada roller değişir. Her öğrenci kodu açıklayabilir.</a:t>
            </a:r>
          </a:p>
        </p:txBody>
      </p:sp>
    </p:spTree>
    <p:extLst>
      <p:ext uri="{BB962C8B-B14F-4D97-AF65-F5344CB8AC3E}">
        <p14:creationId xmlns:p14="http://schemas.microsoft.com/office/powerpoint/2010/main" val="998560635"/>
      </p:ext>
    </p:extLst>
  </p:cSld>
</p:sld>
</file>

<file path=ppt/slides/slide21.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6" name="text-190">
            <a:extLst xmlns:a="http://schemas.openxmlformats.org/drawingml/2006/main">
              <a:ext uri="{FF2B5EF4-FFF2-40B4-BE49-F238E27FC236}">
                <a16:creationId xmlns:a16="http://schemas.microsoft.com/office/drawing/2014/main" id="{D65C2FBA-368B-43D6-98FC-3E851201143C}"/>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DENEME</a:t>
            </a:r>
          </a:p>
        </p:txBody>
      </p:sp>
      <p:sp>
        <p:nvSpPr>
          <p:cNvPr id="2" name="text-191">
            <a:extLst xmlns:a="http://schemas.openxmlformats.org/drawingml/2006/main">
              <a:ext uri="{FF2B5EF4-FFF2-40B4-BE49-F238E27FC236}">
                <a16:creationId xmlns:a16="http://schemas.microsoft.com/office/drawing/2014/main" id="{44A6728E-B908-4ABF-AE3D-F1BE248E22E6}"/>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Ortak kontrol senaryoları</a:t>
            </a:r>
          </a:p>
        </p:txBody>
      </p:sp>
      <p:sp>
        <p:nvSpPr>
          <p:cNvPr id="3" name="text-192">
            <a:extLst xmlns:a="http://schemas.openxmlformats.org/drawingml/2006/main">
              <a:ext uri="{FF2B5EF4-FFF2-40B4-BE49-F238E27FC236}">
                <a16:creationId xmlns:a16="http://schemas.microsoft.com/office/drawing/2014/main" id="{18020A59-5D5D-4060-83D4-48E8BBA72079}"/>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21</a:t>
            </a:r>
          </a:p>
        </p:txBody>
      </p:sp>
      <p:graphicFrame>
        <p:nvGraphicFramePr>
          <p:cNvPr id="4" name="">
            <a:extLst xmlns:a="http://schemas.openxmlformats.org/drawingml/2006/main">
              <a:ext uri="{FF2B5EF4-FFF2-40B4-BE49-F238E27FC236}">
                <a16:creationId xmlns:a16="http://schemas.microsoft.com/office/drawing/2014/main" id="{56D85E74-C52D-4106-8EA2-B99B17882AA2}"/>
              </a:ext>
            </a:extLst>
          </p:cNvPr>
          <p:cNvGraphicFramePr/>
          <p:nvPr/>
        </p:nvGraphicFramePr>
        <p:xfrm>
          <a:off xmlns:a="http://schemas.openxmlformats.org/drawingml/2006/main" x="609600" y="1638300"/>
          <a:ext xmlns:a="http://schemas.openxmlformats.org/drawingml/2006/main" cx="10972800" cy="3619500"/>
        </p:xfrm>
        <a:graphic xmlns:a="http://schemas.openxmlformats.org/drawingml/2006/main">
          <a:graphicData uri="http://schemas.openxmlformats.org/drawingml/2006/table">
            <a:tbl>
              <a:tblPr/>
              <a:tblGrid>
                <a:gridCol w="3810000"/>
                <a:gridCol w="7162800"/>
              </a:tblGrid>
              <a:tr h="603250">
                <a:tc>
                  <a:txBody>
                    <a:bodyPr lIns="114300" tIns="114300" rIns="114300" bIns="114300"/>
                    <a:lstStyle/>
                    <a:p>
                      <a:r>
                        <a:rPr sz="1875" b="1">
                          <a:solidFill>
                            <a:srgbClr val="FFFFFF"/>
                          </a:solidFill>
                          <a:latin typeface="Arial"/>
                          <a:ea typeface="Arial"/>
                          <a:cs typeface="Arial"/>
                        </a:rPr>
                        <a:t>Durum</a:t>
                      </a:r>
                    </a:p>
                  </a:txBody>
                  <a:tcPr marL="91440" marR="91440" marT="45720" marB="45720" anchor="ctr">
                    <a:lnL w="9525">
                      <a:solidFill>
                        <a:srgbClr val="DCE3EC"/>
                      </a:solidFill>
                      <a:prstDash val="solid"/>
                    </a:lnL>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c>
                  <a:txBody>
                    <a:bodyPr lIns="114300" tIns="114300" rIns="114300" bIns="114300"/>
                    <a:lstStyle/>
                    <a:p>
                      <a:r>
                        <a:rPr sz="1875" b="1">
                          <a:solidFill>
                            <a:srgbClr val="FFFFFF"/>
                          </a:solidFill>
                          <a:latin typeface="Arial"/>
                          <a:ea typeface="Arial"/>
                          <a:cs typeface="Arial"/>
                        </a:rPr>
                        <a:t>Beklenen davranış</a:t>
                      </a:r>
                    </a:p>
                  </a:txBody>
                  <a:tcPr marL="91440" marR="91440" marT="45720" marB="45720" anchor="ctr">
                    <a:lnR w="9525">
                      <a:solidFill>
                        <a:srgbClr val="DCE3EC"/>
                      </a:solidFill>
                      <a:prstDash val="solid"/>
                    </a:lnR>
                    <a:lnT w="9525">
                      <a:solidFill>
                        <a:srgbClr val="DCE3EC"/>
                      </a:solidFill>
                      <a:prstDash val="solid"/>
                    </a:lnT>
                    <a:lnB w="9525">
                      <a:solidFill>
                        <a:srgbClr val="DCE3EC"/>
                      </a:solidFill>
                      <a:prstDash val="solid"/>
                    </a:lnB>
                    <a:solidFill>
                      <a:srgbClr val="15243A"/>
                    </a:solidFill>
                  </a:tcPr>
                </a:tc>
              </a:tr>
              <a:tr h="603250">
                <a:tc>
                  <a:txBody>
                    <a:bodyPr lIns="114300" tIns="114300" rIns="114300" bIns="114300"/>
                    <a:lstStyle/>
                    <a:p>
                      <a:r>
                        <a:rPr sz="1875" b="0">
                          <a:solidFill>
                            <a:srgbClr val="15243A"/>
                          </a:solidFill>
                          <a:latin typeface="Arial"/>
                          <a:ea typeface="Arial"/>
                          <a:cs typeface="Arial"/>
                        </a:rPr>
                        <a:t>Aynı metinli iki not</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İşlem yalnızca seçilen kimliği etkiler</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r h="603250">
                <a:tc>
                  <a:txBody>
                    <a:bodyPr lIns="114300" tIns="114300" rIns="114300" bIns="114300"/>
                    <a:lstStyle/>
                    <a:p>
                      <a:r>
                        <a:rPr sz="1875" b="0">
                          <a:solidFill>
                            <a:srgbClr val="15243A"/>
                          </a:solidFill>
                          <a:latin typeface="Arial"/>
                          <a:ea typeface="Arial"/>
                          <a:cs typeface="Arial"/>
                        </a:rPr>
                        <a:t>Listede hiç not yok</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875" b="0">
                          <a:solidFill>
                            <a:srgbClr val="15243A"/>
                          </a:solidFill>
                          <a:latin typeface="Arial"/>
                          <a:ea typeface="Arial"/>
                          <a:cs typeface="Arial"/>
                        </a:rPr>
                        <a:t>Boş durum mesajı görünür</a:t>
                      </a:r>
                    </a:p>
                  </a:txBody>
                  <a:tcPr marL="91440" marR="91440" marT="45720" marB="45720" anchor="ctr">
                    <a:lnR w="9525">
                      <a:solidFill>
                        <a:srgbClr val="DCE3EC"/>
                      </a:solidFill>
                      <a:prstDash val="solid"/>
                    </a:lnR>
                    <a:lnB w="9525">
                      <a:solidFill>
                        <a:srgbClr val="DCE3EC"/>
                      </a:solidFill>
                      <a:prstDash val="solid"/>
                    </a:lnB>
                    <a:solidFill>
                      <a:srgbClr val="EBEFF5"/>
                    </a:solidFill>
                  </a:tcPr>
                </a:tc>
              </a:tr>
              <a:tr h="603250">
                <a:tc>
                  <a:txBody>
                    <a:bodyPr lIns="114300" tIns="114300" rIns="114300" bIns="114300"/>
                    <a:lstStyle/>
                    <a:p>
                      <a:r>
                        <a:rPr sz="1875" b="0">
                          <a:solidFill>
                            <a:srgbClr val="15243A"/>
                          </a:solidFill>
                          <a:latin typeface="Arial"/>
                          <a:ea typeface="Arial"/>
                          <a:cs typeface="Arial"/>
                        </a:rPr>
                        <a:t>Arama veya favori filtresi</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Ana listedeki notlar korunur</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r h="603250">
                <a:tc>
                  <a:txBody>
                    <a:bodyPr lIns="114300" tIns="114300" rIns="114300" bIns="114300"/>
                    <a:lstStyle/>
                    <a:p>
                      <a:r>
                        <a:rPr sz="1875" b="0">
                          <a:solidFill>
                            <a:srgbClr val="15243A"/>
                          </a:solidFill>
                          <a:latin typeface="Arial"/>
                          <a:ea typeface="Arial"/>
                          <a:cs typeface="Arial"/>
                        </a:rPr>
                        <a:t>Sıra değişti, yeni not eklendi</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EBEFF5"/>
                    </a:solidFill>
                  </a:tcPr>
                </a:tc>
                <a:tc>
                  <a:txBody>
                    <a:bodyPr lIns="114300" tIns="114300" rIns="114300" bIns="114300"/>
                    <a:lstStyle/>
                    <a:p>
                      <a:r>
                        <a:rPr sz="1875" b="0">
                          <a:solidFill>
                            <a:srgbClr val="15243A"/>
                          </a:solidFill>
                          <a:latin typeface="Arial"/>
                          <a:ea typeface="Arial"/>
                          <a:cs typeface="Arial"/>
                        </a:rPr>
                        <a:t>Seçili gösterim kuralı sürer</a:t>
                      </a:r>
                    </a:p>
                  </a:txBody>
                  <a:tcPr marL="91440" marR="91440" marT="45720" marB="45720" anchor="ctr">
                    <a:lnR w="9525">
                      <a:solidFill>
                        <a:srgbClr val="DCE3EC"/>
                      </a:solidFill>
                      <a:prstDash val="solid"/>
                    </a:lnR>
                    <a:lnB w="9525">
                      <a:solidFill>
                        <a:srgbClr val="DCE3EC"/>
                      </a:solidFill>
                      <a:prstDash val="solid"/>
                    </a:lnB>
                    <a:solidFill>
                      <a:srgbClr val="EBEFF5"/>
                    </a:solidFill>
                  </a:tcPr>
                </a:tc>
              </a:tr>
              <a:tr h="603250">
                <a:tc>
                  <a:txBody>
                    <a:bodyPr lIns="114300" tIns="114300" rIns="114300" bIns="114300"/>
                    <a:lstStyle/>
                    <a:p>
                      <a:r>
                        <a:rPr sz="1875" b="0">
                          <a:solidFill>
                            <a:srgbClr val="15243A"/>
                          </a:solidFill>
                          <a:latin typeface="Arial"/>
                          <a:ea typeface="Arial"/>
                          <a:cs typeface="Arial"/>
                        </a:rPr>
                        <a:t>Boş veya geçersiz giriş</a:t>
                      </a:r>
                    </a:p>
                  </a:txBody>
                  <a:tcPr marL="91440" marR="91440" marT="45720" marB="45720" anchor="ctr">
                    <a:lnL w="9525">
                      <a:solidFill>
                        <a:srgbClr val="DCE3EC"/>
                      </a:solidFill>
                      <a:prstDash val="solid"/>
                    </a:lnL>
                    <a:lnR w="9525">
                      <a:solidFill>
                        <a:srgbClr val="DCE3EC"/>
                      </a:solidFill>
                      <a:prstDash val="solid"/>
                    </a:lnR>
                    <a:lnB w="9525">
                      <a:solidFill>
                        <a:srgbClr val="DCE3EC"/>
                      </a:solidFill>
                      <a:prstDash val="solid"/>
                    </a:lnB>
                    <a:solidFill>
                      <a:srgbClr val="F6F7FA"/>
                    </a:solidFill>
                  </a:tcPr>
                </a:tc>
                <a:tc>
                  <a:txBody>
                    <a:bodyPr lIns="114300" tIns="114300" rIns="114300" bIns="114300"/>
                    <a:lstStyle/>
                    <a:p>
                      <a:r>
                        <a:rPr sz="1875" b="0">
                          <a:solidFill>
                            <a:srgbClr val="15243A"/>
                          </a:solidFill>
                          <a:latin typeface="Arial"/>
                          <a:ea typeface="Arial"/>
                          <a:cs typeface="Arial"/>
                        </a:rPr>
                        <a:t>Liste ve toplam sayı değişmez</a:t>
                      </a:r>
                    </a:p>
                  </a:txBody>
                  <a:tcPr marL="91440" marR="91440" marT="45720" marB="45720" anchor="ctr">
                    <a:lnR w="9525">
                      <a:solidFill>
                        <a:srgbClr val="DCE3EC"/>
                      </a:solidFill>
                      <a:prstDash val="solid"/>
                    </a:lnR>
                    <a:lnB w="9525">
                      <a:solidFill>
                        <a:srgbClr val="DCE3EC"/>
                      </a:solidFill>
                      <a:prstDash val="solid"/>
                    </a:lnB>
                    <a:solidFill>
                      <a:srgbClr val="F6F7FA"/>
                    </a:solidFill>
                  </a:tcPr>
                </a:tc>
              </a:tr>
            </a:tbl>
          </a:graphicData>
        </a:graphic>
      </p:graphicFrame>
      <p:sp>
        <p:nvSpPr>
          <p:cNvPr id="5" name="text-193">
            <a:extLst xmlns:a="http://schemas.openxmlformats.org/drawingml/2006/main">
              <a:ext uri="{FF2B5EF4-FFF2-40B4-BE49-F238E27FC236}">
                <a16:creationId xmlns:a16="http://schemas.microsoft.com/office/drawing/2014/main" id="{E81191D8-FD50-4B3F-9741-66C0BA282991}"/>
              </a:ext>
            </a:extLst>
          </p:cNvPr>
          <p:cNvSpPr>
            <a:spLocks xmlns:a="http://schemas.openxmlformats.org/drawingml/2006/main" noGrp="1"/>
          </p:cNvSpPr>
          <p:nvPr/>
        </p:nvSpPr>
        <p:spPr>
          <a:xfrm xmlns:a="http://schemas.openxmlformats.org/drawingml/2006/main">
            <a:off x="609600" y="55245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43A"/>
                </a:solidFill>
                <a:latin typeface="Arial"/>
                <a:ea typeface="Arial"/>
                <a:cs typeface="Arial"/>
              </a:defRPr>
            </a:defPPr>
          </a:lstStyle>
          <a:p xmlns:a="http://schemas.openxmlformats.org/drawingml/2006/main">
            <a:pPr>
              <a:defRPr sz="2025" b="1">
                <a:solidFill>
                  <a:srgbClr val="15243A"/>
                </a:solidFill>
                <a:latin typeface="Arial"/>
                <a:ea typeface="Arial"/>
                <a:cs typeface="Arial"/>
              </a:defRPr>
            </a:pPr>
            <a:r>
              <a:rPr sz="2025" b="1">
                <a:solidFill>
                  <a:srgbClr val="15243A"/>
                </a:solidFill>
                <a:latin typeface="Arial"/>
                <a:ea typeface="Arial"/>
                <a:cs typeface="Arial"/>
              </a:rPr>
              <a:t>Her grup kendi göreviyle ilgili en az 3 kontrol gösterir. Grup 6 için 5 kontrol.</a:t>
            </a:r>
          </a:p>
        </p:txBody>
      </p:sp>
    </p:spTree>
    <p:extLst>
      <p:ext uri="{BB962C8B-B14F-4D97-AF65-F5344CB8AC3E}">
        <p14:creationId xmlns:p14="http://schemas.microsoft.com/office/powerpoint/2010/main" val="1996128509"/>
      </p:ext>
    </p:extLst>
  </p:cSld>
</p:sld>
</file>

<file path=ppt/slides/slide22.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5" name="text-194">
            <a:extLst xmlns:a="http://schemas.openxmlformats.org/drawingml/2006/main">
              <a:ext uri="{FF2B5EF4-FFF2-40B4-BE49-F238E27FC236}">
                <a16:creationId xmlns:a16="http://schemas.microsoft.com/office/drawing/2014/main" id="{49275810-B8BE-47F5-94ED-2F89E47A1DC8}"/>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TESLİM</a:t>
            </a:r>
          </a:p>
        </p:txBody>
      </p:sp>
      <p:sp>
        <p:nvSpPr>
          <p:cNvPr id="2" name="text-195">
            <a:extLst xmlns:a="http://schemas.openxmlformats.org/drawingml/2006/main">
              <a:ext uri="{FF2B5EF4-FFF2-40B4-BE49-F238E27FC236}">
                <a16:creationId xmlns:a16="http://schemas.microsoft.com/office/drawing/2014/main" id="{BA7CC106-A52A-4319-A554-92EAC2D027DB}"/>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Teslim ve sınıf sunumu</a:t>
            </a:r>
          </a:p>
        </p:txBody>
      </p:sp>
      <p:sp>
        <p:nvSpPr>
          <p:cNvPr id="3" name="text-196">
            <a:extLst xmlns:a="http://schemas.openxmlformats.org/drawingml/2006/main">
              <a:ext uri="{FF2B5EF4-FFF2-40B4-BE49-F238E27FC236}">
                <a16:creationId xmlns:a16="http://schemas.microsoft.com/office/drawing/2014/main" id="{29FEF7DC-475D-4F2F-AC92-24A6ABFB31C9}"/>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22</a:t>
            </a:r>
          </a:p>
        </p:txBody>
      </p:sp>
      <p:sp>
        <p:nvSpPr>
          <p:cNvPr id="4" name="text-197">
            <a:extLst xmlns:a="http://schemas.openxmlformats.org/drawingml/2006/main">
              <a:ext uri="{FF2B5EF4-FFF2-40B4-BE49-F238E27FC236}">
                <a16:creationId xmlns:a16="http://schemas.microsoft.com/office/drawing/2014/main" id="{CD5647DF-AEAD-4A1B-B640-76345AE4BC5B}"/>
              </a:ext>
            </a:extLst>
          </p:cNvPr>
          <p:cNvSpPr>
            <a:spLocks xmlns:a="http://schemas.openxmlformats.org/drawingml/2006/main" noGrp="1"/>
          </p:cNvSpPr>
          <p:nvPr/>
        </p:nvSpPr>
        <p:spPr>
          <a:xfrm xmlns:a="http://schemas.openxmlformats.org/drawingml/2006/main">
            <a:off x="609600" y="16859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C6"/>
                </a:solidFill>
                <a:latin typeface="Arial"/>
                <a:ea typeface="Arial"/>
                <a:cs typeface="Arial"/>
              </a:defRPr>
            </a:defPPr>
          </a:lstStyle>
          <a:p xmlns:a="http://schemas.openxmlformats.org/drawingml/2006/main">
            <a:pPr>
              <a:defRPr sz="2250" b="1">
                <a:solidFill>
                  <a:srgbClr val="2458C6"/>
                </a:solidFill>
                <a:latin typeface="Arial"/>
                <a:ea typeface="Arial"/>
                <a:cs typeface="Arial"/>
              </a:defRPr>
            </a:pPr>
            <a:r>
              <a:rPr sz="2250" b="1">
                <a:solidFill>
                  <a:srgbClr val="2458C6"/>
                </a:solidFill>
                <a:latin typeface="Arial"/>
                <a:ea typeface="Arial"/>
                <a:cs typeface="Arial"/>
              </a:rPr>
              <a:t>Teslim paketi</a:t>
            </a:r>
          </a:p>
        </p:txBody>
      </p:sp>
      <p:sp>
        <p:nvSpPr>
          <p:cNvPr id="5" name="text-198">
            <a:extLst xmlns:a="http://schemas.openxmlformats.org/drawingml/2006/main">
              <a:ext uri="{FF2B5EF4-FFF2-40B4-BE49-F238E27FC236}">
                <a16:creationId xmlns:a16="http://schemas.microsoft.com/office/drawing/2014/main" id="{24977F75-0F6B-48A5-B075-144347665EB3}"/>
              </a:ext>
            </a:extLst>
          </p:cNvPr>
          <p:cNvSpPr>
            <a:spLocks xmlns:a="http://schemas.openxmlformats.org/drawingml/2006/main" noGrp="1"/>
          </p:cNvSpPr>
          <p:nvPr/>
        </p:nvSpPr>
        <p:spPr>
          <a:xfrm xmlns:a="http://schemas.openxmlformats.org/drawingml/2006/main">
            <a:off x="609600" y="22860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Çalışan proje kopyası</a:t>
            </a:r>
          </a:p>
        </p:txBody>
      </p:sp>
      <p:sp>
        <p:nvSpPr>
          <p:cNvPr id="6" name="text-199">
            <a:extLst xmlns:a="http://schemas.openxmlformats.org/drawingml/2006/main">
              <a:ext uri="{FF2B5EF4-FFF2-40B4-BE49-F238E27FC236}">
                <a16:creationId xmlns:a16="http://schemas.microsoft.com/office/drawing/2014/main" id="{7581F9FF-1C72-4185-9458-E0DEBBD68787}"/>
              </a:ext>
            </a:extLst>
          </p:cNvPr>
          <p:cNvSpPr>
            <a:spLocks xmlns:a="http://schemas.openxmlformats.org/drawingml/2006/main" noGrp="1"/>
          </p:cNvSpPr>
          <p:nvPr/>
        </p:nvSpPr>
        <p:spPr>
          <a:xfrm xmlns:a="http://schemas.openxmlformats.org/drawingml/2006/main">
            <a:off x="609600" y="295275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Kısa görev ve katkı açıklaması</a:t>
            </a:r>
          </a:p>
        </p:txBody>
      </p:sp>
      <p:sp>
        <p:nvSpPr>
          <p:cNvPr id="7" name="text-200">
            <a:extLst xmlns:a="http://schemas.openxmlformats.org/drawingml/2006/main">
              <a:ext uri="{FF2B5EF4-FFF2-40B4-BE49-F238E27FC236}">
                <a16:creationId xmlns:a16="http://schemas.microsoft.com/office/drawing/2014/main" id="{B44290E1-6A02-4EBA-BA4A-CC33365BEFC4}"/>
              </a:ext>
            </a:extLst>
          </p:cNvPr>
          <p:cNvSpPr>
            <a:spLocks xmlns:a="http://schemas.openxmlformats.org/drawingml/2006/main" noGrp="1"/>
          </p:cNvSpPr>
          <p:nvPr/>
        </p:nvSpPr>
        <p:spPr>
          <a:xfrm xmlns:a="http://schemas.openxmlformats.org/drawingml/2006/main">
            <a:off x="609600" y="36195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Bir sayfalık etkinlik diyagramı</a:t>
            </a:r>
          </a:p>
        </p:txBody>
      </p:sp>
      <p:sp>
        <p:nvSpPr>
          <p:cNvPr id="8" name="text-201">
            <a:extLst xmlns:a="http://schemas.openxmlformats.org/drawingml/2006/main">
              <a:ext uri="{FF2B5EF4-FFF2-40B4-BE49-F238E27FC236}">
                <a16:creationId xmlns:a16="http://schemas.microsoft.com/office/drawing/2014/main" id="{45176881-DF9D-44B0-B52B-6ADEB64D88B0}"/>
              </a:ext>
            </a:extLst>
          </p:cNvPr>
          <p:cNvSpPr>
            <a:spLocks xmlns:a="http://schemas.openxmlformats.org/drawingml/2006/main" noGrp="1"/>
          </p:cNvSpPr>
          <p:nvPr/>
        </p:nvSpPr>
        <p:spPr>
          <a:xfrm xmlns:a="http://schemas.openxmlformats.org/drawingml/2006/main">
            <a:off x="609600" y="428625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43A"/>
                </a:solidFill>
                <a:latin typeface="Arial"/>
                <a:ea typeface="Arial"/>
                <a:cs typeface="Arial"/>
              </a:defRPr>
            </a:defPPr>
          </a:lstStyle>
          <a:p xmlns:a="http://schemas.openxmlformats.org/drawingml/2006/main">
            <a:pPr>
              <a:defRPr sz="2100" b="0">
                <a:solidFill>
                  <a:srgbClr val="15243A"/>
                </a:solidFill>
                <a:latin typeface="Arial"/>
                <a:ea typeface="Arial"/>
                <a:cs typeface="Arial"/>
              </a:defRPr>
            </a:pPr>
            <a:r>
              <a:rPr sz="2100" b="0">
                <a:solidFill>
                  <a:srgbClr val="15243A"/>
                </a:solidFill>
                <a:latin typeface="Arial"/>
                <a:ea typeface="Arial"/>
                <a:cs typeface="Arial"/>
              </a:rPr>
              <a:t>Kontrol senaryoları ve sonuçları</a:t>
            </a:r>
          </a:p>
        </p:txBody>
      </p:sp>
      <p:sp>
        <p:nvSpPr>
          <p:cNvPr id="9" name="text-202">
            <a:extLst xmlns:a="http://schemas.openxmlformats.org/drawingml/2006/main">
              <a:ext uri="{FF2B5EF4-FFF2-40B4-BE49-F238E27FC236}">
                <a16:creationId xmlns:a16="http://schemas.microsoft.com/office/drawing/2014/main" id="{00656EC5-F053-4A49-98A4-AFD68996E12B}"/>
              </a:ext>
            </a:extLst>
          </p:cNvPr>
          <p:cNvSpPr>
            <a:spLocks xmlns:a="http://schemas.openxmlformats.org/drawingml/2006/main" noGrp="1"/>
          </p:cNvSpPr>
          <p:nvPr/>
        </p:nvSpPr>
        <p:spPr>
          <a:xfrm xmlns:a="http://schemas.openxmlformats.org/drawingml/2006/main">
            <a:off x="6705600" y="16859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C6"/>
                </a:solidFill>
                <a:latin typeface="Arial"/>
                <a:ea typeface="Arial"/>
                <a:cs typeface="Arial"/>
              </a:defRPr>
            </a:defPPr>
          </a:lstStyle>
          <a:p xmlns:a="http://schemas.openxmlformats.org/drawingml/2006/main">
            <a:pPr>
              <a:defRPr sz="2250" b="1">
                <a:solidFill>
                  <a:srgbClr val="2458C6"/>
                </a:solidFill>
                <a:latin typeface="Arial"/>
                <a:ea typeface="Arial"/>
                <a:cs typeface="Arial"/>
              </a:defRPr>
            </a:pPr>
            <a:r>
              <a:rPr sz="2250" b="1">
                <a:solidFill>
                  <a:srgbClr val="2458C6"/>
                </a:solidFill>
                <a:latin typeface="Arial"/>
                <a:ea typeface="Arial"/>
                <a:cs typeface="Arial"/>
              </a:rPr>
              <a:t>8 dakikalık sunum önerisi</a:t>
            </a:r>
          </a:p>
        </p:txBody>
      </p:sp>
      <p:sp>
        <p:nvSpPr>
          <p:cNvPr id="10" name="text-203">
            <a:extLst xmlns:a="http://schemas.openxmlformats.org/drawingml/2006/main">
              <a:ext uri="{FF2B5EF4-FFF2-40B4-BE49-F238E27FC236}">
                <a16:creationId xmlns:a16="http://schemas.microsoft.com/office/drawing/2014/main" id="{DFCA9CFF-A874-4EC8-9C11-923F5B2D125C}"/>
              </a:ext>
            </a:extLst>
          </p:cNvPr>
          <p:cNvSpPr>
            <a:spLocks xmlns:a="http://schemas.openxmlformats.org/drawingml/2006/main" noGrp="1"/>
          </p:cNvSpPr>
          <p:nvPr/>
        </p:nvSpPr>
        <p:spPr>
          <a:xfrm xmlns:a="http://schemas.openxmlformats.org/drawingml/2006/main">
            <a:off x="6705600" y="228600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1 dk: Görev ve hedef</a:t>
            </a:r>
          </a:p>
        </p:txBody>
      </p:sp>
      <p:sp>
        <p:nvSpPr>
          <p:cNvPr id="11" name="text-204">
            <a:extLst xmlns:a="http://schemas.openxmlformats.org/drawingml/2006/main">
              <a:ext uri="{FF2B5EF4-FFF2-40B4-BE49-F238E27FC236}">
                <a16:creationId xmlns:a16="http://schemas.microsoft.com/office/drawing/2014/main" id="{F96841B2-197B-4E87-A86A-305428ED06CC}"/>
              </a:ext>
            </a:extLst>
          </p:cNvPr>
          <p:cNvSpPr>
            <a:spLocks xmlns:a="http://schemas.openxmlformats.org/drawingml/2006/main" noGrp="1"/>
          </p:cNvSpPr>
          <p:nvPr/>
        </p:nvSpPr>
        <p:spPr>
          <a:xfrm xmlns:a="http://schemas.openxmlformats.org/drawingml/2006/main">
            <a:off x="6705600" y="29527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2 dk: Çalışan özellik ve sınır durumu</a:t>
            </a:r>
          </a:p>
        </p:txBody>
      </p:sp>
      <p:sp>
        <p:nvSpPr>
          <p:cNvPr id="12" name="text-205">
            <a:extLst xmlns:a="http://schemas.openxmlformats.org/drawingml/2006/main">
              <a:ext uri="{FF2B5EF4-FFF2-40B4-BE49-F238E27FC236}">
                <a16:creationId xmlns:a16="http://schemas.microsoft.com/office/drawing/2014/main" id="{70E41CD3-7D0A-45E0-96B0-ACFFF3328A4C}"/>
              </a:ext>
            </a:extLst>
          </p:cNvPr>
          <p:cNvSpPr>
            <a:spLocks xmlns:a="http://schemas.openxmlformats.org/drawingml/2006/main" noGrp="1"/>
          </p:cNvSpPr>
          <p:nvPr/>
        </p:nvSpPr>
        <p:spPr>
          <a:xfrm xmlns:a="http://schemas.openxmlformats.org/drawingml/2006/main">
            <a:off x="6705600" y="361950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2 dk: Kodun veri akışı</a:t>
            </a:r>
          </a:p>
        </p:txBody>
      </p:sp>
      <p:sp>
        <p:nvSpPr>
          <p:cNvPr id="13" name="text-206">
            <a:extLst xmlns:a="http://schemas.openxmlformats.org/drawingml/2006/main">
              <a:ext uri="{FF2B5EF4-FFF2-40B4-BE49-F238E27FC236}">
                <a16:creationId xmlns:a16="http://schemas.microsoft.com/office/drawing/2014/main" id="{96DC421C-2926-4FC2-8F58-DA524E633C34}"/>
              </a:ext>
            </a:extLst>
          </p:cNvPr>
          <p:cNvSpPr>
            <a:spLocks xmlns:a="http://schemas.openxmlformats.org/drawingml/2006/main" noGrp="1"/>
          </p:cNvSpPr>
          <p:nvPr/>
        </p:nvSpPr>
        <p:spPr>
          <a:xfrm xmlns:a="http://schemas.openxmlformats.org/drawingml/2006/main">
            <a:off x="6705600" y="42862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1 dk: UML, 2 dk: Sorular</a:t>
            </a:r>
          </a:p>
        </p:txBody>
      </p:sp>
      <p:sp>
        <p:nvSpPr>
          <p:cNvPr id="14" name="text-207">
            <a:extLst xmlns:a="http://schemas.openxmlformats.org/drawingml/2006/main">
              <a:ext uri="{FF2B5EF4-FFF2-40B4-BE49-F238E27FC236}">
                <a16:creationId xmlns:a16="http://schemas.microsoft.com/office/drawing/2014/main" id="{F25403AB-53C6-41F5-9967-94FDC23FEFA5}"/>
              </a:ext>
            </a:extLst>
          </p:cNvPr>
          <p:cNvSpPr>
            <a:spLocks xmlns:a="http://schemas.openxmlformats.org/drawingml/2006/main" noGrp="1"/>
          </p:cNvSpPr>
          <p:nvPr/>
        </p:nvSpPr>
        <p:spPr>
          <a:xfrm xmlns:a="http://schemas.openxmlformats.org/drawingml/2006/main">
            <a:off x="609600" y="548640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Her üye konuşur. Dinleyenler başka bir grubun özelliğini açıklamayı dener.</a:t>
            </a:r>
          </a:p>
        </p:txBody>
      </p:sp>
    </p:spTree>
    <p:extLst>
      <p:ext uri="{BB962C8B-B14F-4D97-AF65-F5344CB8AC3E}">
        <p14:creationId xmlns:p14="http://schemas.microsoft.com/office/powerpoint/2010/main" val="1075872282"/>
      </p:ext>
    </p:extLst>
  </p:cSld>
</p:sld>
</file>

<file path=ppt/slides/slide23.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4" name="text-208">
            <a:extLst xmlns:a="http://schemas.openxmlformats.org/drawingml/2006/main">
              <a:ext uri="{FF2B5EF4-FFF2-40B4-BE49-F238E27FC236}">
                <a16:creationId xmlns:a16="http://schemas.microsoft.com/office/drawing/2014/main" id="{A2986000-0169-46D9-9907-8B7A753502C0}"/>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458C6"/>
                </a:solidFill>
                <a:latin typeface="Arial"/>
                <a:ea typeface="Arial"/>
                <a:cs typeface="Arial"/>
              </a:defRPr>
            </a:defPPr>
          </a:lstStyle>
          <a:p xmlns:a="http://schemas.openxmlformats.org/drawingml/2006/main">
            <a:pPr>
              <a:defRPr sz="1200" b="1">
                <a:solidFill>
                  <a:srgbClr val="2458C6"/>
                </a:solidFill>
                <a:latin typeface="Arial"/>
                <a:ea typeface="Arial"/>
                <a:cs typeface="Arial"/>
              </a:defRPr>
            </a:pPr>
            <a:r>
              <a:rPr sz="1200" b="1">
                <a:solidFill>
                  <a:srgbClr val="2458C6"/>
                </a:solidFill>
                <a:latin typeface="Arial"/>
                <a:ea typeface="Arial"/>
                <a:cs typeface="Arial"/>
              </a:rPr>
              <a:t>DEĞERLENDİRME</a:t>
            </a:r>
          </a:p>
        </p:txBody>
      </p:sp>
      <p:sp>
        <p:nvSpPr>
          <p:cNvPr id="2" name="text-209">
            <a:extLst xmlns:a="http://schemas.openxmlformats.org/drawingml/2006/main">
              <a:ext uri="{FF2B5EF4-FFF2-40B4-BE49-F238E27FC236}">
                <a16:creationId xmlns:a16="http://schemas.microsoft.com/office/drawing/2014/main" id="{5D89ADFD-E4AC-4295-868A-1DDCC0C1FD49}"/>
              </a:ext>
            </a:extLst>
          </p:cNvPr>
          <p:cNvSpPr>
            <a:spLocks xmlns:a="http://schemas.openxmlformats.org/drawingml/2006/main" noGrp="1"/>
          </p:cNvSpPr>
          <p:nvPr/>
        </p:nvSpPr>
        <p:spPr>
          <a:xfrm xmlns:a="http://schemas.openxmlformats.org/drawingml/2006/main">
            <a:off x="609600" y="714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43A"/>
                </a:solidFill>
                <a:latin typeface="Arial"/>
                <a:ea typeface="Arial"/>
                <a:cs typeface="Arial"/>
              </a:defRPr>
            </a:defPPr>
          </a:lstStyle>
          <a:p xmlns:a="http://schemas.openxmlformats.org/drawingml/2006/main">
            <a:pPr>
              <a:defRPr sz="3300" b="1">
                <a:solidFill>
                  <a:srgbClr val="15243A"/>
                </a:solidFill>
                <a:latin typeface="Arial"/>
                <a:ea typeface="Arial"/>
                <a:cs typeface="Arial"/>
              </a:defRPr>
            </a:pPr>
            <a:r>
              <a:rPr sz="3300" b="1">
                <a:solidFill>
                  <a:srgbClr val="15243A"/>
                </a:solidFill>
                <a:latin typeface="Arial"/>
                <a:ea typeface="Arial"/>
                <a:cs typeface="Arial"/>
              </a:rPr>
              <a:t>Değerlendirme ölçütleri</a:t>
            </a:r>
          </a:p>
        </p:txBody>
      </p:sp>
      <p:sp>
        <p:nvSpPr>
          <p:cNvPr id="3" name="text-210">
            <a:extLst xmlns:a="http://schemas.openxmlformats.org/drawingml/2006/main">
              <a:ext uri="{FF2B5EF4-FFF2-40B4-BE49-F238E27FC236}">
                <a16:creationId xmlns:a16="http://schemas.microsoft.com/office/drawing/2014/main" id="{D097B655-D856-4358-83C6-09DBC4824640}"/>
              </a:ext>
            </a:extLst>
          </p:cNvPr>
          <p:cNvSpPr>
            <a:spLocks xmlns:a="http://schemas.openxmlformats.org/drawingml/2006/main" noGrp="1"/>
          </p:cNvSpPr>
          <p:nvPr/>
        </p:nvSpPr>
        <p:spPr>
          <a:xfrm xmlns:a="http://schemas.openxmlformats.org/drawingml/2006/main">
            <a:off x="110871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278"/>
                </a:solidFill>
                <a:latin typeface="Arial"/>
                <a:ea typeface="Arial"/>
                <a:cs typeface="Arial"/>
              </a:defRPr>
            </a:defPPr>
          </a:lstStyle>
          <a:p xmlns:a="http://schemas.openxmlformats.org/drawingml/2006/main">
            <a:pPr>
              <a:defRPr sz="1200" b="0">
                <a:solidFill>
                  <a:srgbClr val="526278"/>
                </a:solidFill>
                <a:latin typeface="Arial"/>
                <a:ea typeface="Arial"/>
                <a:cs typeface="Arial"/>
              </a:defRPr>
            </a:pPr>
            <a:r>
              <a:rPr sz="1200" b="0">
                <a:solidFill>
                  <a:srgbClr val="526278"/>
                </a:solidFill>
                <a:latin typeface="Arial"/>
                <a:ea typeface="Arial"/>
                <a:cs typeface="Arial"/>
              </a:rPr>
              <a:t>23</a:t>
            </a:r>
          </a:p>
        </p:txBody>
      </p:sp>
      <p:sp>
        <p:nvSpPr>
          <p:cNvPr id="4" name="text-211">
            <a:extLst xmlns:a="http://schemas.openxmlformats.org/drawingml/2006/main">
              <a:ext uri="{FF2B5EF4-FFF2-40B4-BE49-F238E27FC236}">
                <a16:creationId xmlns:a16="http://schemas.microsoft.com/office/drawing/2014/main" id="{FC2B6A5F-0E05-49D5-AD06-C9ADEE60BB4C}"/>
              </a:ext>
            </a:extLst>
          </p:cNvPr>
          <p:cNvSpPr>
            <a:spLocks xmlns:a="http://schemas.openxmlformats.org/drawingml/2006/main" noGrp="1"/>
          </p:cNvSpPr>
          <p:nvPr/>
        </p:nvSpPr>
        <p:spPr>
          <a:xfrm xmlns:a="http://schemas.openxmlformats.org/drawingml/2006/main">
            <a:off x="609600" y="166687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58C6"/>
                </a:solidFill>
                <a:latin typeface="Arial"/>
                <a:ea typeface="Arial"/>
                <a:cs typeface="Arial"/>
              </a:defRPr>
            </a:defPPr>
          </a:lstStyle>
          <a:p xmlns:a="http://schemas.openxmlformats.org/drawingml/2006/main">
            <a:pPr>
              <a:defRPr sz="2400" b="1">
                <a:solidFill>
                  <a:srgbClr val="2458C6"/>
                </a:solidFill>
                <a:latin typeface="Arial"/>
                <a:ea typeface="Arial"/>
                <a:cs typeface="Arial"/>
              </a:defRPr>
            </a:pPr>
            <a:r>
              <a:rPr sz="2400" b="1">
                <a:solidFill>
                  <a:srgbClr val="2458C6"/>
                </a:solidFill>
                <a:latin typeface="Arial"/>
                <a:ea typeface="Arial"/>
                <a:cs typeface="Arial"/>
              </a:rPr>
              <a:t>60 puan grup çalışması</a:t>
            </a:r>
          </a:p>
        </p:txBody>
      </p:sp>
      <p:sp>
        <p:nvSpPr>
          <p:cNvPr id="5" name="text-212">
            <a:extLst xmlns:a="http://schemas.openxmlformats.org/drawingml/2006/main">
              <a:ext uri="{FF2B5EF4-FFF2-40B4-BE49-F238E27FC236}">
                <a16:creationId xmlns:a16="http://schemas.microsoft.com/office/drawing/2014/main" id="{3EB61C6B-9F7D-4CF8-B1D2-E37F0BF49B63}"/>
              </a:ext>
            </a:extLst>
          </p:cNvPr>
          <p:cNvSpPr>
            <a:spLocks xmlns:a="http://schemas.openxmlformats.org/drawingml/2006/main" noGrp="1"/>
          </p:cNvSpPr>
          <p:nvPr/>
        </p:nvSpPr>
        <p:spPr>
          <a:xfrm xmlns:a="http://schemas.openxmlformats.org/drawingml/2006/main">
            <a:off x="609600" y="2400300"/>
            <a:ext cx="552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30  Zorunlu özelliklerin çalışması</a:t>
            </a:r>
          </a:p>
        </p:txBody>
      </p:sp>
      <p:sp>
        <p:nvSpPr>
          <p:cNvPr id="6" name="text-213">
            <a:extLst xmlns:a="http://schemas.openxmlformats.org/drawingml/2006/main">
              <a:ext uri="{FF2B5EF4-FFF2-40B4-BE49-F238E27FC236}">
                <a16:creationId xmlns:a16="http://schemas.microsoft.com/office/drawing/2014/main" id="{EA45B96B-66AE-42D6-A4D6-5177D4581B5A}"/>
              </a:ext>
            </a:extLst>
          </p:cNvPr>
          <p:cNvSpPr>
            <a:spLocks xmlns:a="http://schemas.openxmlformats.org/drawingml/2006/main" noGrp="1"/>
          </p:cNvSpPr>
          <p:nvPr/>
        </p:nvSpPr>
        <p:spPr>
          <a:xfrm xmlns:a="http://schemas.openxmlformats.org/drawingml/2006/main">
            <a:off x="609600" y="3009900"/>
            <a:ext cx="552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15  Kullanım ve sınır kontrolleri</a:t>
            </a:r>
          </a:p>
        </p:txBody>
      </p:sp>
      <p:sp>
        <p:nvSpPr>
          <p:cNvPr id="7" name="text-214">
            <a:extLst xmlns:a="http://schemas.openxmlformats.org/drawingml/2006/main">
              <a:ext uri="{FF2B5EF4-FFF2-40B4-BE49-F238E27FC236}">
                <a16:creationId xmlns:a16="http://schemas.microsoft.com/office/drawing/2014/main" id="{DB4CD098-30B8-4E3A-B80F-551331C40B71}"/>
              </a:ext>
            </a:extLst>
          </p:cNvPr>
          <p:cNvSpPr>
            <a:spLocks xmlns:a="http://schemas.openxmlformats.org/drawingml/2006/main" noGrp="1"/>
          </p:cNvSpPr>
          <p:nvPr/>
        </p:nvSpPr>
        <p:spPr>
          <a:xfrm xmlns:a="http://schemas.openxmlformats.org/drawingml/2006/main">
            <a:off x="609600" y="3619500"/>
            <a:ext cx="552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10  UML ile kodun tutarlılığı</a:t>
            </a:r>
          </a:p>
        </p:txBody>
      </p:sp>
      <p:sp>
        <p:nvSpPr>
          <p:cNvPr id="8" name="text-215">
            <a:extLst xmlns:a="http://schemas.openxmlformats.org/drawingml/2006/main">
              <a:ext uri="{FF2B5EF4-FFF2-40B4-BE49-F238E27FC236}">
                <a16:creationId xmlns:a16="http://schemas.microsoft.com/office/drawing/2014/main" id="{AC268EA5-30FE-43FD-9965-8CEB8A02DFF5}"/>
              </a:ext>
            </a:extLst>
          </p:cNvPr>
          <p:cNvSpPr>
            <a:spLocks xmlns:a="http://schemas.openxmlformats.org/drawingml/2006/main" noGrp="1"/>
          </p:cNvSpPr>
          <p:nvPr/>
        </p:nvSpPr>
        <p:spPr>
          <a:xfrm xmlns:a="http://schemas.openxmlformats.org/drawingml/2006/main">
            <a:off x="609600" y="4229100"/>
            <a:ext cx="552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  5  Açık ve süreye uygun sunum</a:t>
            </a:r>
          </a:p>
        </p:txBody>
      </p:sp>
      <p:sp>
        <p:nvSpPr>
          <p:cNvPr id="9" name="text-216">
            <a:extLst xmlns:a="http://schemas.openxmlformats.org/drawingml/2006/main">
              <a:ext uri="{FF2B5EF4-FFF2-40B4-BE49-F238E27FC236}">
                <a16:creationId xmlns:a16="http://schemas.microsoft.com/office/drawing/2014/main" id="{2F92FF2C-F90B-46EE-A0F8-E4C2879E4A4C}"/>
              </a:ext>
            </a:extLst>
          </p:cNvPr>
          <p:cNvSpPr>
            <a:spLocks xmlns:a="http://schemas.openxmlformats.org/drawingml/2006/main" noGrp="1"/>
          </p:cNvSpPr>
          <p:nvPr/>
        </p:nvSpPr>
        <p:spPr>
          <a:xfrm xmlns:a="http://schemas.openxmlformats.org/drawingml/2006/main">
            <a:off x="6705600" y="16668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58C6"/>
                </a:solidFill>
                <a:latin typeface="Arial"/>
                <a:ea typeface="Arial"/>
                <a:cs typeface="Arial"/>
              </a:defRPr>
            </a:defPPr>
          </a:lstStyle>
          <a:p xmlns:a="http://schemas.openxmlformats.org/drawingml/2006/main">
            <a:pPr>
              <a:defRPr sz="2400" b="1">
                <a:solidFill>
                  <a:srgbClr val="2458C6"/>
                </a:solidFill>
                <a:latin typeface="Arial"/>
                <a:ea typeface="Arial"/>
                <a:cs typeface="Arial"/>
              </a:defRPr>
            </a:pPr>
            <a:r>
              <a:rPr sz="2400" b="1">
                <a:solidFill>
                  <a:srgbClr val="2458C6"/>
                </a:solidFill>
                <a:latin typeface="Arial"/>
                <a:ea typeface="Arial"/>
                <a:cs typeface="Arial"/>
              </a:rPr>
              <a:t>40 puan bireysel katkı</a:t>
            </a:r>
          </a:p>
        </p:txBody>
      </p:sp>
      <p:sp>
        <p:nvSpPr>
          <p:cNvPr id="10" name="text-217">
            <a:extLst xmlns:a="http://schemas.openxmlformats.org/drawingml/2006/main">
              <a:ext uri="{FF2B5EF4-FFF2-40B4-BE49-F238E27FC236}">
                <a16:creationId xmlns:a16="http://schemas.microsoft.com/office/drawing/2014/main" id="{5B009F9C-EB01-4C6D-9D4F-E366177A9B42}"/>
              </a:ext>
            </a:extLst>
          </p:cNvPr>
          <p:cNvSpPr>
            <a:spLocks xmlns:a="http://schemas.openxmlformats.org/drawingml/2006/main" noGrp="1"/>
          </p:cNvSpPr>
          <p:nvPr/>
        </p:nvSpPr>
        <p:spPr>
          <a:xfrm xmlns:a="http://schemas.openxmlformats.org/drawingml/2006/main">
            <a:off x="6705600" y="2400300"/>
            <a:ext cx="485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20  Kodu ve katkısını açıklama</a:t>
            </a:r>
          </a:p>
        </p:txBody>
      </p:sp>
      <p:sp>
        <p:nvSpPr>
          <p:cNvPr id="11" name="text-218">
            <a:extLst xmlns:a="http://schemas.openxmlformats.org/drawingml/2006/main">
              <a:ext uri="{FF2B5EF4-FFF2-40B4-BE49-F238E27FC236}">
                <a16:creationId xmlns:a16="http://schemas.microsoft.com/office/drawing/2014/main" id="{C566402F-E178-449A-AF70-00B866E4CE8E}"/>
              </a:ext>
            </a:extLst>
          </p:cNvPr>
          <p:cNvSpPr>
            <a:spLocks xmlns:a="http://schemas.openxmlformats.org/drawingml/2006/main" noGrp="1"/>
          </p:cNvSpPr>
          <p:nvPr/>
        </p:nvSpPr>
        <p:spPr>
          <a:xfrm xmlns:a="http://schemas.openxmlformats.org/drawingml/2006/main">
            <a:off x="6705600" y="3143250"/>
            <a:ext cx="485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10  Rol değişimine katılım</a:t>
            </a:r>
          </a:p>
        </p:txBody>
      </p:sp>
      <p:sp>
        <p:nvSpPr>
          <p:cNvPr id="12" name="text-219">
            <a:extLst xmlns:a="http://schemas.openxmlformats.org/drawingml/2006/main">
              <a:ext uri="{FF2B5EF4-FFF2-40B4-BE49-F238E27FC236}">
                <a16:creationId xmlns:a16="http://schemas.microsoft.com/office/drawing/2014/main" id="{F77AEB9E-D6AF-40C0-A257-D424DBDAED68}"/>
              </a:ext>
            </a:extLst>
          </p:cNvPr>
          <p:cNvSpPr>
            <a:spLocks xmlns:a="http://schemas.openxmlformats.org/drawingml/2006/main" noGrp="1"/>
          </p:cNvSpPr>
          <p:nvPr/>
        </p:nvSpPr>
        <p:spPr>
          <a:xfrm xmlns:a="http://schemas.openxmlformats.org/drawingml/2006/main">
            <a:off x="6705600" y="3886200"/>
            <a:ext cx="485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43A"/>
                </a:solidFill>
                <a:latin typeface="Arial"/>
                <a:ea typeface="Arial"/>
                <a:cs typeface="Arial"/>
              </a:defRPr>
            </a:defPPr>
          </a:lstStyle>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10  Başka gruptan öğrenileni</a:t>
            </a:r>
          </a:p>
          <a:p xmlns:a="http://schemas.openxmlformats.org/drawingml/2006/main">
            <a:pPr>
              <a:defRPr sz="2025" b="0">
                <a:solidFill>
                  <a:srgbClr val="15243A"/>
                </a:solidFill>
                <a:latin typeface="Arial"/>
                <a:ea typeface="Arial"/>
                <a:cs typeface="Arial"/>
              </a:defRPr>
            </a:pPr>
            <a:r>
              <a:rPr sz="2025" b="0">
                <a:solidFill>
                  <a:srgbClr val="15243A"/>
                </a:solidFill>
                <a:latin typeface="Arial"/>
                <a:ea typeface="Arial"/>
                <a:cs typeface="Arial"/>
              </a:rPr>
              <a:t>uygulama veya açıklama</a:t>
            </a:r>
          </a:p>
        </p:txBody>
      </p:sp>
      <p:sp>
        <p:nvSpPr>
          <p:cNvPr id="13" name="text-220">
            <a:extLst xmlns:a="http://schemas.openxmlformats.org/drawingml/2006/main">
              <a:ext uri="{FF2B5EF4-FFF2-40B4-BE49-F238E27FC236}">
                <a16:creationId xmlns:a16="http://schemas.microsoft.com/office/drawing/2014/main" id="{92BF14B5-CEFB-47D0-82BE-39C972FC33F2}"/>
              </a:ext>
            </a:extLst>
          </p:cNvPr>
          <p:cNvSpPr>
            <a:spLocks xmlns:a="http://schemas.openxmlformats.org/drawingml/2006/main" noGrp="1"/>
          </p:cNvSpPr>
          <p:nvPr/>
        </p:nvSpPr>
        <p:spPr>
          <a:xfrm xmlns:a="http://schemas.openxmlformats.org/drawingml/2006/main">
            <a:off x="609600" y="54483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43A"/>
                </a:solidFill>
                <a:latin typeface="Arial"/>
                <a:ea typeface="Arial"/>
                <a:cs typeface="Arial"/>
              </a:defRPr>
            </a:defPPr>
          </a:lstStyle>
          <a:p xmlns:a="http://schemas.openxmlformats.org/drawingml/2006/main">
            <a:pPr>
              <a:defRPr sz="2175" b="1">
                <a:solidFill>
                  <a:srgbClr val="15243A"/>
                </a:solidFill>
                <a:latin typeface="Arial"/>
                <a:ea typeface="Arial"/>
                <a:cs typeface="Arial"/>
              </a:defRPr>
            </a:pPr>
            <a:r>
              <a:rPr sz="2175" b="1">
                <a:solidFill>
                  <a:srgbClr val="15243A"/>
                </a:solidFill>
                <a:latin typeface="Arial"/>
                <a:ea typeface="Arial"/>
                <a:cs typeface="Arial"/>
              </a:rPr>
              <a:t>Ek özellikler isteğe bağlıdır. Tam puan için zorunlu hedefleri karşılamak yeterlidir.</a:t>
            </a:r>
          </a:p>
        </p:txBody>
      </p:sp>
    </p:spTree>
    <p:extLst>
      <p:ext uri="{BB962C8B-B14F-4D97-AF65-F5344CB8AC3E}">
        <p14:creationId xmlns:p14="http://schemas.microsoft.com/office/powerpoint/2010/main" val="4679076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2026-10-14T17:45:50.5960000Z</dcterms:created>
  <dcterms:modified xsi:type="dcterms:W3CDTF">2026-10-14T17:45:50.5960000Z</dcterms:modified>
</coreProperties>
</file>
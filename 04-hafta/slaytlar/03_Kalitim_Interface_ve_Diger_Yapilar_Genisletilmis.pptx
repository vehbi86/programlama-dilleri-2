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99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</p:sldIdLst>
  <p:sldSz cx="15240000" cy="85725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 dosya bağımsız bir ders sunumudur. Kod örneklerini sırayla ele alın. Bir örneği başka sayfanın koduyla birleştirmeyin. İlk üç sunumun çalıştırılabilir örneklerinde gerekli sınıf ve main tanımları aynı sayfadadır.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İkinci sunum anlaşılmadan bu dosyaya geçmeyin. Ek bölümü tek oturumda tamamlamak zorunlu değildir. Slaytlar birer konu tanıtımıdır, önceki örnek dosyasına eklenerek ilerlemez.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https://kotlinlang.org/docs/classes.html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Yalnızca kod tekrarını azaltmak için rastgele kalıtım seçilmemeli. Bir türüdür ilişkisi anlamlı olmalı. Bu slaytta interface ile karşılaştırmaya başlamayın.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https://kotlinlang.org/docs/inheritance.html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Kotlin sınıfları varsayılan olarak finaldır. Sınıfı open yapmak üyeleri otomatik override edilebilir yapmaz. Burada goster kullanılabiliyor, henüz değiştirilmesi istenmiyor.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https://kotlinlang.org/docs/inheritance.html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Alt sınıf parametresinde val/var yok, üst sınıfta val metin var. Kalıcı özelliğin nerede tanımlandığını gösterin. İki ayrı, bağımsız nesne oluşturulduğu şeklinde anlatmayın. Alt nesnenin üst sınıf kısmı da başlatılır.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https://kotlinlang.org/docs/inheritance.html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Üst sınıftaki open ve alt sınıftaki override birlikte incelensin. Fonksiyon ismi ve parametreleri sözleşmeyle uyumludur.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https://kotlinlang.org/docs/inheritance.html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super yalnız üst sınıfı göstermek için kullanılan genel bir nesne değişkeni değildir, üst uygulamaya erişimi sağlar. Android onCreate örneğine dördüncü sunumda döneceğiz.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https://kotlinlang.org/docs/inheritance.html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 dinamik çok biçimliliktir. Nesneye bakmadan her tür için if yazmak zorunda olmadığımızı anlatın. Örnek bütün sınıfları aynı sayfada içerir.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https://kotlinlang.org/docs/inheritance.html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Sadece dönüş tipini değiştirerek overload yapılamaz. Override üst türdeki aynı üyeyi yeniden uygulamaktır. Bu slayt farklı bir Yazici örneğidir, önceki Bildirim koduna ek değildir.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https://kotlinlang.org/docs/functions.html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Burada örnek Yazici olacak. Kalıtım bilindiği için artık bir adım daha atıyoruz. Soyut sınıfın “hiçbir çalışan kod içeremeyeceği” yanlışını özellikle önleyin.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https://kotlinlang.org/docs/classes.html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Örneğin metni “Ekrana yazıldı”dır, gerçek yazıcı cihazına erişim yapmaz. Abstract sınıf kurucu ve saklanan özellikler de taşıyabilir.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https://kotlinlang.org/docs/basic-syntax.html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Interface burada ekran tasarımı anlamında değildir. Soyut sınıfla bütün farkları aynı anda ezberletmeyin. Önce tek bir interface ve tek bir metot yeterlidir.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https://kotlinlang.org/docs/interfaces.html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Kotlin interface içinde varsayılan gövdeli fonksiyonlar da olabilir. “Interface hiçbir kod içermez” genellemesini yapmayın. Burada en basit gövdesiz sözleşme gösteriliyor.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https://kotlinlang.org/docs/interfaces.html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Interface tabanlı çok biçimlilik örneği. Kullanıcıya bu sayfanın önceki Rapor sınıfını dışarıdan gerektirmediğini söyleyin, tüm tanımlar burada.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https://kotlinlang.org/docs/interfaces.html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Interface property bildirimi ve getter gövdesi sunabilir ama backing field ile kendi nesne durumunu saklamaz. Interface constructor içermez. Her iki yapıda da hazır fonksiyon gövdeleri bulunabilir.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https://kotlinlang.org/docs/interfaces.html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 bir nesne işbirliği örneğidir. Composition/association ve DI teknikleri için başlangıçtır. Sadece alan tutmak UML anlamında güçlü bileşim sahipliği kanıtı değildir.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https://kotlinlang.org/docs/basic-syntax.html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 ayırıcı sayfa sıfırdan başlayan öğrencinin bütün ileri yapıları aynı anda öğrenme baskısını azaltır. Kullanıcı sadelik istediği için her örnek tek davranışa odaklanır.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https://kotlinlang.org/docs/classes.html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classın birincil constructor özellikleri otomatik üyelere katılır. Burada copy veya shallow copy ayrıntısını aynı sayfaya yığmıyoruz.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https://kotlinlang.org/docs/data-classes.html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copy sığ kopyadır. İçeride MutableList gibi referanslar varsa kopyalar paylaşır. Bu örnekte String ve Int kullandığımız için temel davranış sade biçimde görünür.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https://kotlinlang.org/docs/data-classes.html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Normal sınıflarda equals özel olarak yazılmazsa varsayılan davranış referans temelli olabilir. == her sınıfta bütün alanları otomatik karşılaştırmaz. Any equals, hashCode ve toString üyelerini sağlar.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https://kotlinlang.org/docs/equality.html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 içindeki değişebilir durum paylaşıldığı için dikkat gerekir. Tek örnek olması veri kalıcılığı veya bütün üyelerin thread-safe olması anlamına gelmez.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https://kotlinlang.org/docs/object-declarations.html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Companion üyeleri teknik olarak companion nesnesinin üyeleridir, Java static ile bire bir aynı değildir. Bu aşamada özel constructor gibi ikinci yeni konu eklemeyin.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https://kotlinlang.org/docs/object-declarations.html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Projede NoteViewHolder NoteAdapter içine yerleştirilmiş normal nested sınıftır, inner değildir. Ayrıntılı Android bağlantısı dördüncü sunumdadır.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https://kotlinlang.org/docs/nested-classes.html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 Kotlin fonksiyon tipi örneğidir. Lambda her zaman interface değildir. Android düğme API’sinde lambda bir SAM dinleyicisine dönüştürülebilir, o somut kullanım dördüncü sunumda gösterilecek.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https://kotlinlang.org/docs/lambdas.html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Projede List&lt;String&gt; ve RecyclerView.Adapter&lt;NoteViewHolder&gt; generic kullanımlardır. in/out varyans ayrıntıları başlangıç dersinde zorunlu değildir. Generic yerine Any kullanmak aynı tip güvenliği ilişkisini kurmaz.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https://kotlinlang.org/docs/generics.html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Enum seçenekleri sabit örneklerdir ve davranış/özellik de taşıyabilir. Bu sayfada yalnız seçenek güvenliğini ele alıyoruz.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https://kotlinlang.org/docs/enum-classes.html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4BB73-00B2-33DA-AF98-AFFC51F3D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8B856B-A1E5-4BB2-E069-2268E4357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37D80-2D3A-7730-CD32-BBCBD8653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Enum seçenekleri sabit örneklerdir ve davranış/özellik de taşıyabilir. Bu sayfada yalnız seçenek güvenliğini ele alıyoruz.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https://kotlinlang.org/docs/enum-classes.html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1354C-03C1-C6C1-C42A-C34739D6BD7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46606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SOLID gibi tasarım ilkelerinin başlangıç karşılıklarıdır. Bu düzeyde beş harfi ezberletmek yerine örneklerdeki sorumlulukları tartışın. Kalıtım, interface ve kapsülleme farklı araçlardır.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https://kotlinlang.org/docs/classes.html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Öğretmen için cevaplar:</a:t>
            </a:r>
          </a:p>
          <a:p>
            <a:r>
              <a:t>1) Bildirim üst sınıftır. 2) override. 3) interface Yazdirilabilir. Ek soru: Interface tanımından doğrudan nesne üretebilir miyiz? Hayır.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 bölüm üçüncü sunumun temel kalıtım ve interface kısmından sonra işlenebilir. Generic variance, coroutine veya karmaşık mimari gerekmiyor.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https://kotlinlang.org/docs/classes.html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private üye alt sınıfın kodundan erişilebilir değildir; protected bu erişimi açar. Bir nesne oluşturulup tek kez ilerle çağrılıyor.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https://kotlinlang.org/docs/classes.html</a:t>
            </a:r>
          </a:p>
          <a:p>
            <a:r>
              <a:t>https://kotlinlang.org/docs/functions.html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Burada gerçek SMS gönderilmez. Çok biçimlilik, aynı çağrının gerçek nesnenin override ettiği davranışı kullanmasıdır.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https://kotlinlang.org/docs/classes.html</a:t>
            </a:r>
          </a:p>
          <a:p>
            <a:r>
              <a:t>https://kotlinlang.org/docs/functions.html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 adım, servise dışarıdan nesne vermenin hazırlığıdır. Interface yalnız işaret değildir; çağrılabilir işlemin imzasını garanti eder.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https://kotlinlang.org/docs/classes.html</a:t>
            </a:r>
          </a:p>
          <a:p>
            <a:r>
              <a:t>https://kotlinlang.org/docs/functions.html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Saat sözleşmesinde 0..23 arasında değer varsayılmıştır. 12 değeri false vermelidir. Bu örnek testlerde bağımlılığı kontrol etme fikrini anlatır; test kütüphanesi gerektirmez.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https://kotlinlang.org/docs/classes.html</a:t>
            </a:r>
          </a:p>
          <a:p>
            <a:r>
              <a:t>https://kotlinlang.org/docs/functions.html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Amaç hesapların gerçekçiliği değil, aynı sözleşmenin farklı uygulamalarıdır. Gerçek uygulamada ağırlık sınırları ve para türü ayrıca tasarlanır. Bu küçük örnekte kilo=3 kullanılıyor.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https://kotlinlang.org/docs/classes.html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kilo için standart 20+15=35, hızlı 40+24=64. Döngüde sınıf adına bakan if yoktur. Yeni bir Kargo uygulaması listeye eklenebilir. İleri alıştırma: tek ücret döndüren SabitKargo yazın.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https://kotlinlang.org/docs/classes.html</a:t>
            </a:r>
          </a:p>
          <a:p>
            <a:r>
              <a:t>https://kotlinlang.org/docs/functions.html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Çözüm: class SabitKargo : Kargo { override fun ucret(kilo: Int): Int = 50 }. Yeni sınıf ve liste elemanı eklenir, mevcut hesap sınıfları değiştirilmez. Bu örnek genişletilebilirliğin somut bir gösterimidir.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https://kotlinlang.org/docs/classes.html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Servis ve depo iki farklı sorumluluktur. Birbirlerinden kalıtım almıyorlar; servis depo kullanıyor. Constructor üzerinden gerekli nesneyi verme yöntemine bağımlılık sağlama denir.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https://kotlinlang.org/docs/classes.html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Interface yalnız ortak çağrıları tanımlar. BellekDeposu veri saklar, NotServisi boşluk kontrol eder. Bu sürüm tekrar eden notları reddetmez. println(depo.adet()) aynı depo nesnesinin son durumunu okur.</a:t>
            </a:r>
          </a:p>
          <a:p>
            <a:endParaRPr/>
          </a:p>
          <a:p>
            <a:r>
              <a:t>Uygulama: Bu sayfanın kodunu ayrı bir Kotlin/JVM dosyasında çalıştırın. Sınıf ve main tanımları bu sayfada tamdır. Yalnız sınıf tanımı olan sayfalar konsola çıktı üretmez.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https://kotlinlang.org/docs/classes.html</a:t>
            </a:r>
          </a:p>
          <a:p>
            <a:r>
              <a:t>https://kotlinlang.org/docs/functions.html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SayacDeposu test amaçlıdır, gerçek veri saklama yerine kullanıldığını iddia etmeyin. Çözüm: private var sayi=0; override fun ekle(metin:String){sayi=sayi+1}; override fun adet():Int=sayi. İleri aşamada dosya veya veritabanı deposu aynı interface’i uygulayabilir; hata yönetimi ayrıca tasarlanmalıdır.</a:t>
            </a:r>
          </a:p>
          <a:p>
            <a:endParaRPr/>
          </a:p>
          <a:p>
            <a:r>
              <a:t>Kaynaklar:</a:t>
            </a:r>
          </a:p>
          <a:p>
            <a:r>
              <a:t>https://kotlinlang.org/docs/classes.html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34DB791F-477A-498D-B8C7-398B046FE1F6}"/>
              </a:ext>
            </a:extLst>
          </p:cNvPr>
          <p:cNvSpPr>
            <a:spLocks noGrp="1"/>
          </p:cNvSpPr>
          <p:nvPr/>
        </p:nvSpPr>
        <p:spPr>
          <a:xfrm>
            <a:off x="781050" y="723900"/>
            <a:ext cx="12954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75DDC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5DDCA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DE280C87-9C4C-49B4-A5F3-04A4CE11DD99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13668375" cy="2247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63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Kalıtım ve interface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988A3654-D776-4ACC-A35A-5BF7794C5D97}"/>
              </a:ext>
            </a:extLst>
          </p:cNvPr>
          <p:cNvSpPr>
            <a:spLocks noGrp="1"/>
          </p:cNvSpPr>
          <p:nvPr/>
        </p:nvSpPr>
        <p:spPr>
          <a:xfrm>
            <a:off x="800100" y="5715000"/>
            <a:ext cx="133350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700" b="0">
                <a:solidFill>
                  <a:srgbClr val="BECCD7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ECCD7"/>
                </a:solidFill>
                <a:latin typeface="Arial"/>
                <a:ea typeface="Arial"/>
                <a:cs typeface="Arial"/>
              </a:rPr>
              <a:t>Önce temel nesne tabanlı yapılar</a:t>
            </a:r>
          </a:p>
          <a:p>
            <a:pPr>
              <a:lnSpc>
                <a:spcPct val="108000"/>
              </a:lnSpc>
              <a:buNone/>
              <a:defRPr sz="2700" b="0">
                <a:solidFill>
                  <a:srgbClr val="BECCD7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ECCD7"/>
                </a:solidFill>
                <a:latin typeface="Arial"/>
                <a:ea typeface="Arial"/>
                <a:cs typeface="Arial"/>
              </a:rPr>
              <a:t>Sonra isteğe bağlı Kotlin örnekleri · 3. sunum</a:t>
            </a:r>
          </a:p>
        </p:txBody>
      </p:sp>
    </p:spTree>
    <p:extLst>
      <p:ext uri="{BB962C8B-B14F-4D97-AF65-F5344CB8AC3E}">
        <p14:creationId xmlns:p14="http://schemas.microsoft.com/office/powerpoint/2010/main" val="560257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384B1CC1-A3CF-4BA6-A27D-CE847BDD8985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243B7C99-264E-49DF-9095-165C46280723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Bu sunumun iki bölümü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106DE8A3-A022-4B49-9D1D-F8011AF00A2E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Önce sınıfların birbirleriyle ilişkisini öğreneceğiz. Sonra ek Kotlin yapılarını ayrı örneklerle tanıyacağız.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1647C293-9D7D-4FAA-B825-0E8593C51B2E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Temel bölüm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E355D5DF-F8E0-4705-843F-40166143BDB4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Kalıtım, override, çok biçimlilik, soyut sınıf ve interface.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BA12C5EC-FE05-49CA-ABAE-53E2D6EBB783}"/>
              </a:ext>
            </a:extLst>
          </p:cNvPr>
          <p:cNvSpPr>
            <a:spLocks noGrp="1"/>
          </p:cNvSpPr>
          <p:nvPr/>
        </p:nvSpPr>
        <p:spPr>
          <a:xfrm>
            <a:off x="742950" y="4600575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Ek bölüm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389204D3-EC66-499E-AA07-2F10CB4A72E1}"/>
              </a:ext>
            </a:extLst>
          </p:cNvPr>
          <p:cNvSpPr>
            <a:spLocks noGrp="1"/>
          </p:cNvSpPr>
          <p:nvPr/>
        </p:nvSpPr>
        <p:spPr>
          <a:xfrm>
            <a:off x="4552950" y="4600575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data class, object, lambda ve diğer yapılar. Her sayfa bağımsız bir örnektir.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585ED2B-CE25-4450-BEAD-36938CE3EC69}"/>
              </a:ext>
            </a:extLst>
          </p:cNvPr>
          <p:cNvSpPr>
            <a:spLocks noGrp="1"/>
          </p:cNvSpPr>
          <p:nvPr/>
        </p:nvSpPr>
        <p:spPr>
          <a:xfrm>
            <a:off x="742950" y="609600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Ön bilgi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8B7AFB42-4911-46D5-A302-E99F3757DB58}"/>
              </a:ext>
            </a:extLst>
          </p:cNvPr>
          <p:cNvSpPr>
            <a:spLocks noGrp="1"/>
          </p:cNvSpPr>
          <p:nvPr/>
        </p:nvSpPr>
        <p:spPr>
          <a:xfrm>
            <a:off x="4552950" y="609600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Sınıf tanımlamayı, nesne oluşturmayı ve parametre vermeyi biliyoruz.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7F2E3502-5377-4B27-A31E-86AAEA30575D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 / 43</a:t>
            </a:r>
          </a:p>
        </p:txBody>
      </p:sp>
    </p:spTree>
    <p:extLst>
      <p:ext uri="{BB962C8B-B14F-4D97-AF65-F5344CB8AC3E}">
        <p14:creationId xmlns:p14="http://schemas.microsoft.com/office/powerpoint/2010/main" val="868386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80A2A86A-F466-458F-BBC2-507BF3514F60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C4149A7A-1DBD-4C63-8794-C1C09C7B27D8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Kalıtım nedir?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E2DE9C74-8E45-4BE3-820B-0DE0ADCD1F09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Kalıtım, bir sınıfın başka bir sınıftaki ortak özellik ve işlemleri temel almasıdır.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A9B8BFD9-D64E-4C56-BC93-C30371D3F16B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Örneğimiz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5A577E31-12A2-438A-BE40-447BCC1BCA47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Bildirim genel sınıf olsun. TelefonBildirimi onun özel bir türü olsun.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C26490ED-7DF3-4EDB-960C-AEDBC8FEF703}"/>
              </a:ext>
            </a:extLst>
          </p:cNvPr>
          <p:cNvSpPr>
            <a:spLocks noGrp="1"/>
          </p:cNvSpPr>
          <p:nvPr/>
        </p:nvSpPr>
        <p:spPr>
          <a:xfrm>
            <a:off x="742950" y="4600575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İlişki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9D8926F0-C51D-4858-89E2-C653FF4A7960}"/>
              </a:ext>
            </a:extLst>
          </p:cNvPr>
          <p:cNvSpPr>
            <a:spLocks noGrp="1"/>
          </p:cNvSpPr>
          <p:nvPr/>
        </p:nvSpPr>
        <p:spPr>
          <a:xfrm>
            <a:off x="4552950" y="4600575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TelefonBildirimi bir Bildirimdir. Bu nedenle bildirimin ortak işlemlerini kullanabilir.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7A315817-7276-4FB8-A0CE-9720DC3ED8CF}"/>
              </a:ext>
            </a:extLst>
          </p:cNvPr>
          <p:cNvSpPr>
            <a:spLocks noGrp="1"/>
          </p:cNvSpPr>
          <p:nvPr/>
        </p:nvSpPr>
        <p:spPr>
          <a:xfrm>
            <a:off x="742950" y="609600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Terimler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4A92837A-C30B-4B16-977D-7F21E60AB2CB}"/>
              </a:ext>
            </a:extLst>
          </p:cNvPr>
          <p:cNvSpPr>
            <a:spLocks noGrp="1"/>
          </p:cNvSpPr>
          <p:nvPr/>
        </p:nvSpPr>
        <p:spPr>
          <a:xfrm>
            <a:off x="4552950" y="609600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Ortak yapı üst sınıf, onu genişleten yapı alt sınıf olarak adlandırılır.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AAA6617A-D86D-41DC-8EF4-A4259FF88C4B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 / 43</a:t>
            </a:r>
          </a:p>
        </p:txBody>
      </p:sp>
    </p:spTree>
    <p:extLst>
      <p:ext uri="{BB962C8B-B14F-4D97-AF65-F5344CB8AC3E}">
        <p14:creationId xmlns:p14="http://schemas.microsoft.com/office/powerpoint/2010/main" val="382132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ikdörtgen 20">
            <a:extLst>
              <a:ext uri="{FF2B5EF4-FFF2-40B4-BE49-F238E27FC236}">
                <a16:creationId xmlns:a16="http://schemas.microsoft.com/office/drawing/2014/main" id="{96AD44A8-2A78-4802-BB23-0E2214D4B9BA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53DB3302-579C-4E54-92FD-1A702CCAECE9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Kalıtım nasıl yazılır?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638BE9F5-8CF6-4CBA-8E5B-DEE839C47D8F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Kotlin’de üst sınıfı genişletmeye açmak için open, alt sınıfı belirtmek için : kullanırız.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8F259284-992C-4EFC-9C46-F238A10F6CB4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9186F298-FB99-41B7-AC9D-89E5BE05272C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open</a:t>
            </a:r>
            <a:r>
              <a:t> </a:t>
            </a:r>
            <a:r>
              <a:rPr>
                <a:solidFill>
                  <a:srgbClr val="6941A5"/>
                </a:solidFill>
              </a:rPr>
              <a:t>class</a:t>
            </a:r>
            <a:r>
              <a:t> Bildirim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C9DB9356-401B-4270-A70B-C3164AA7A7C1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goster() { println(</a:t>
            </a:r>
            <a:r>
              <a:rPr>
                <a:solidFill>
                  <a:srgbClr val="397425"/>
                </a:solidFill>
              </a:rPr>
              <a:t>"Yeni mesaj"</a:t>
            </a:r>
            <a:r>
              <a:t>) }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179B883E-E315-417D-9554-CE988EAC5765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293A30B9-C8C4-4096-A783-2D810681198F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TelefonBildirimi : Bildirim()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F83C3699-579C-420B-96FB-8C2833C4BB1D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20DC6C86-D1F7-4237-83BC-BEFC20D8E9F7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77134A46-7D34-4F22-89CD-8AAD7952F944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bildirim = TelefonBildirimi()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4FC20824-3E1A-46A2-8E13-60DDEF9A7D1D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bildirim.goster()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DC84AAA7-F89C-4650-BC59-C3C5CFD66BA7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A5DBFA56-8CDA-4D09-A80D-17E0863716B8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open class Bildirim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EA3B6A7D-5C63-4831-BF2F-D803A615191C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Bildirim sınıfının başka bir sınıf tarafından genişletilmesine izin verir.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57183F51-58FC-456C-A065-5917ECE3261A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: Bildirim()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030244AC-1FDD-483B-A1F7-97D49DFD374D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TelefonBildirimi, Bildirimden kalıtım alır. goster fonksiyonunu yeniden yazmadan kullanır.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CAE193E6-9952-4777-A76A-51BB5E2A20B5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A9995AD5-20F9-4577-AB18-534416213AEE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Yeni mesaj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0CBFB00-B9C0-4310-B25F-1B56B1D7C998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4 / 43</a:t>
            </a:r>
          </a:p>
        </p:txBody>
      </p:sp>
    </p:spTree>
    <p:extLst>
      <p:ext uri="{BB962C8B-B14F-4D97-AF65-F5344CB8AC3E}">
        <p14:creationId xmlns:p14="http://schemas.microsoft.com/office/powerpoint/2010/main" val="1804956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ikdörtgen 20">
            <a:extLst>
              <a:ext uri="{FF2B5EF4-FFF2-40B4-BE49-F238E27FC236}">
                <a16:creationId xmlns:a16="http://schemas.microsoft.com/office/drawing/2014/main" id="{C0ED04DD-54AD-4802-BED8-103396680F18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CAE6301C-40A2-420A-A73A-33E5986DD667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Üst sınıfa parametre göndermek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F5078102-9F1E-44E5-A82A-15EF268DB26E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Üst sınıf başlangıç bilgisi istiyorsa alt sınıf bu bilgiyi onun yapılandırıcısına gönderir.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97ACF200-F848-466F-A4D1-183C45E25512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C4DD642-BDCB-4686-B403-4F5C0E43FED2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6941A5"/>
                </a:solidFill>
              </a:rPr>
              <a:t>open</a:t>
            </a:r>
            <a:r>
              <a:rPr dirty="0"/>
              <a:t> </a:t>
            </a:r>
            <a:r>
              <a:rPr dirty="0">
                <a:solidFill>
                  <a:srgbClr val="6941A5"/>
                </a:solidFill>
              </a:rPr>
              <a:t>class</a:t>
            </a:r>
            <a:r>
              <a:rPr dirty="0"/>
              <a:t> </a:t>
            </a:r>
            <a:r>
              <a:rPr dirty="0" err="1"/>
              <a:t>Bildirim</a:t>
            </a:r>
            <a:r>
              <a:rPr dirty="0"/>
              <a:t>(</a:t>
            </a:r>
            <a:r>
              <a:rPr dirty="0" err="1">
                <a:solidFill>
                  <a:srgbClr val="6941A5"/>
                </a:solidFill>
              </a:rPr>
              <a:t>val</a:t>
            </a:r>
            <a:r>
              <a:rPr dirty="0"/>
              <a:t> </a:t>
            </a:r>
            <a:r>
              <a:rPr dirty="0" err="1"/>
              <a:t>metin</a:t>
            </a:r>
            <a:r>
              <a:rPr dirty="0"/>
              <a:t>: String)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57308655-BC77-43D0-95DA-F0CBD13A138F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72DB9086-3E02-472C-A0C0-D5868EA143FF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6941A5"/>
                </a:solidFill>
              </a:rPr>
              <a:t>class</a:t>
            </a:r>
            <a:r>
              <a:rPr dirty="0"/>
              <a:t> </a:t>
            </a:r>
            <a:r>
              <a:rPr dirty="0" err="1"/>
              <a:t>TelefonBildirimi</a:t>
            </a:r>
            <a:r>
              <a:rPr dirty="0"/>
              <a:t>(</a:t>
            </a:r>
            <a:r>
              <a:rPr dirty="0" err="1"/>
              <a:t>metin</a:t>
            </a:r>
            <a:r>
              <a:rPr dirty="0"/>
              <a:t>: String) :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E15BF1CB-B683-41DA-A063-CE292A259780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Bildirim(metin)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D5E54BE3-C348-413F-9581-E129BD2A064D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1361A58C-EA35-46CD-9BF4-C85A755670DF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49DF8875-20FF-431B-96EB-3F812FED39B2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b = TelefonBildirimi(</a:t>
            </a:r>
            <a:r>
              <a:rPr>
                <a:solidFill>
                  <a:srgbClr val="397425"/>
                </a:solidFill>
              </a:rPr>
              <a:t>"Toplantı var"</a:t>
            </a:r>
            <a:r>
              <a:t>)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CC9D71DB-0A16-4FED-AE27-4635650DC754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</a:t>
            </a:r>
            <a:r>
              <a:rPr dirty="0" err="1"/>
              <a:t>println</a:t>
            </a:r>
            <a:r>
              <a:rPr dirty="0"/>
              <a:t>(</a:t>
            </a:r>
            <a:r>
              <a:rPr dirty="0" err="1"/>
              <a:t>b.metin</a:t>
            </a:r>
            <a:r>
              <a:rPr dirty="0"/>
              <a:t>)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ADBB0F87-712C-43FF-9B55-FC096557706E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B99782EF-A8F7-4C58-AC7C-7C01B22B4F9E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İlk parantez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E92C07D3-7B9E-4E72-B433-BECB7AC4E602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TelefonBildirimi çağrısı Toplantı var metnini alır.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B686C51A-0028-4051-9125-25470B920722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Bildirim(metin)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351E101D-D692-44C1-B9BA-65F9B6FB5EFD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Aynı metni üst sınıfa gönderir. Üst sınıf bunu metin özelliğinde tutar.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9E7891D9-1B0C-46C6-93B0-2415F5132B20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9AB51DEF-4932-4F08-B3F9-A5768040B38A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Toplantı var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98623E10-9009-4AAC-8206-9938E4EF132F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5 / 43</a:t>
            </a:r>
          </a:p>
        </p:txBody>
      </p:sp>
    </p:spTree>
    <p:extLst>
      <p:ext uri="{BB962C8B-B14F-4D97-AF65-F5344CB8AC3E}">
        <p14:creationId xmlns:p14="http://schemas.microsoft.com/office/powerpoint/2010/main" val="190858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ikdörtgen 22">
            <a:extLst>
              <a:ext uri="{FF2B5EF4-FFF2-40B4-BE49-F238E27FC236}">
                <a16:creationId xmlns:a16="http://schemas.microsoft.com/office/drawing/2014/main" id="{725C8676-BC26-40CB-B779-AF25B7466D3C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C4A27216-CE17-40EA-8C7D-6B63191604CE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override: ortak davranışı değiştirmek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3949A6B5-657B-45D7-9421-EABE10760D5A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Alt sınıf, üst sınıfın izin verdiği bir işlemi kendine uygun biçimde uygulayabilir.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0E92E48E-9D44-4876-92F6-3ECEC44FB6AF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83E240DE-631E-4E59-90EF-A7651080D150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open</a:t>
            </a:r>
            <a:r>
              <a:t> </a:t>
            </a:r>
            <a:r>
              <a:rPr>
                <a:solidFill>
                  <a:srgbClr val="6941A5"/>
                </a:solidFill>
              </a:rPr>
              <a:t>class</a:t>
            </a:r>
            <a:r>
              <a:t> Bildirim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52623008-3EDD-4411-94AB-FBB7473A1603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open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goster() { println(</a:t>
            </a:r>
            <a:r>
              <a:rPr>
                <a:solidFill>
                  <a:srgbClr val="397425"/>
                </a:solidFill>
              </a:rPr>
              <a:t>"Bildirim"</a:t>
            </a:r>
            <a:r>
              <a:t>) }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A3DB5E50-2A93-4830-AE46-3EF66A66DF16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AD4C3E2-E936-4904-B872-3DE5DB5851FB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TelefonBildirimi : Bildirim() {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3A9A46D1-F2DF-427D-B312-617487D85147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goster() {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5EA95606-0B61-40FA-9A24-824858A2651C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println(</a:t>
            </a:r>
            <a:r>
              <a:rPr>
                <a:solidFill>
                  <a:srgbClr val="397425"/>
                </a:solidFill>
              </a:rPr>
              <a:t>"Telefonda yeni mesaj"</a:t>
            </a:r>
            <a:r>
              <a:t>)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F9C620A7-2A66-4D96-8A25-A9F9F7083094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935E3A5A-E6B5-44BD-8F86-8E2B7A08904E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2030C04D-2A58-4172-A0E8-FAB2E2012E7C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296E4D78-99DD-48D3-B358-74E9C685E53C}"/>
              </a:ext>
            </a:extLst>
          </p:cNvPr>
          <p:cNvSpPr>
            <a:spLocks noGrp="1"/>
          </p:cNvSpPr>
          <p:nvPr/>
        </p:nvSpPr>
        <p:spPr>
          <a:xfrm>
            <a:off x="742950" y="59721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TelefonBildirimi().goster()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1F70F557-BC7D-4287-88A1-B3DD973BCAB5}"/>
              </a:ext>
            </a:extLst>
          </p:cNvPr>
          <p:cNvSpPr>
            <a:spLocks noGrp="1"/>
          </p:cNvSpPr>
          <p:nvPr/>
        </p:nvSpPr>
        <p:spPr>
          <a:xfrm>
            <a:off x="742950" y="62960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4ECA6513-630C-4B6B-9535-664E936B599E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open fun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61A93890-D67F-4F05-8920-C2DFB25E1C48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goster fonksiyonunu alt sınıfın değiştirmesine izin verir.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4079AE46-27D7-4DEA-89B3-17F503862FDC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override fun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2DB8F0BC-7A0B-4DDE-867A-FC62F65E97B4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Aynı işlemin telefon için nasıl yapılacağını tanımlar. Çağrıda alt sınıftaki gövde çalışır.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7C80A4AE-3EF0-4992-8D1D-5846B91F5890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B15C73FF-CA61-49B3-ACBE-1D44927EC00E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Telefonda yeni mesaj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7E815A04-C554-431F-A94B-53F061F9801F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6 / 43</a:t>
            </a:r>
          </a:p>
        </p:txBody>
      </p:sp>
    </p:spTree>
    <p:extLst>
      <p:ext uri="{BB962C8B-B14F-4D97-AF65-F5344CB8AC3E}">
        <p14:creationId xmlns:p14="http://schemas.microsoft.com/office/powerpoint/2010/main" val="310282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kdörtgen 23">
            <a:extLst>
              <a:ext uri="{FF2B5EF4-FFF2-40B4-BE49-F238E27FC236}">
                <a16:creationId xmlns:a16="http://schemas.microsoft.com/office/drawing/2014/main" id="{CFA3F16F-76DD-4ED6-805C-967389323F7B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D96C9B4E-8061-493D-B063-949CE6ABB401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super: üst sınıfın işlemini de kullanmak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93271093-7AA1-44E1-B383-6DC750808B63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Yeni davranış içinde üst sınıfın uygulamasını çağırmak için super kullanırız.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C62FAB32-A270-4A03-A5C9-AF42F4128049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C2577495-A6CA-4ED9-BC4C-4A8B70C6A58F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open</a:t>
            </a:r>
            <a:r>
              <a:t> </a:t>
            </a:r>
            <a:r>
              <a:rPr>
                <a:solidFill>
                  <a:srgbClr val="6941A5"/>
                </a:solidFill>
              </a:rPr>
              <a:t>class</a:t>
            </a:r>
            <a:r>
              <a:t> Bildirim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43937F8E-3899-46A8-B509-D99364CEA809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open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goster() { println(</a:t>
            </a:r>
            <a:r>
              <a:rPr>
                <a:solidFill>
                  <a:srgbClr val="397425"/>
                </a:solidFill>
              </a:rPr>
              <a:t>"Yeni mesaj"</a:t>
            </a:r>
            <a:r>
              <a:t>) }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78776270-4F40-4C5A-A38B-A50C9731558F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D8EE4BE2-5C89-4286-90E5-E19317BEB688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TelefonBildirimi : Bildirim() {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C992A053-A694-4FDD-A218-471A10D4C236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goster() {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E4E98A42-D842-4A9E-935B-1A03384A65D5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super</a:t>
            </a:r>
            <a:r>
              <a:t>.goster()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2D6AC2AB-62B2-4CB3-9C26-7622F3EE49B9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println(</a:t>
            </a:r>
            <a:r>
              <a:rPr>
                <a:solidFill>
                  <a:srgbClr val="397425"/>
                </a:solidFill>
              </a:rPr>
              <a:t>"Ses çal"</a:t>
            </a:r>
            <a:r>
              <a:t>)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2CB38292-D68F-40E2-8C6E-C7DF0B35B087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8DBCF053-BD3B-4E6D-850D-56703D488560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BD248FDC-1C31-4AA3-82C2-234E28E4E84A}"/>
              </a:ext>
            </a:extLst>
          </p:cNvPr>
          <p:cNvSpPr>
            <a:spLocks noGrp="1"/>
          </p:cNvSpPr>
          <p:nvPr/>
        </p:nvSpPr>
        <p:spPr>
          <a:xfrm>
            <a:off x="742950" y="59721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F206A34C-D9CF-46F5-B8C2-0B37F8661E68}"/>
              </a:ext>
            </a:extLst>
          </p:cNvPr>
          <p:cNvSpPr>
            <a:spLocks noGrp="1"/>
          </p:cNvSpPr>
          <p:nvPr/>
        </p:nvSpPr>
        <p:spPr>
          <a:xfrm>
            <a:off x="742950" y="62960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TelefonBildirimi().goster()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967B15E8-D742-4C81-B34D-E2985F1B039E}"/>
              </a:ext>
            </a:extLst>
          </p:cNvPr>
          <p:cNvSpPr>
            <a:spLocks noGrp="1"/>
          </p:cNvSpPr>
          <p:nvPr/>
        </p:nvSpPr>
        <p:spPr>
          <a:xfrm>
            <a:off x="742950" y="66198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F4393461-8891-443D-8AF1-C235D4D6D097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super.goster()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741C74BA-1FE2-4481-8F30-994CFA3355A0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Önce üst sınıftaki Yeni mesaj yazısını yazdırır.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6863D37B-627A-4510-A75D-74A910821CAB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Sonraki satır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71703A84-55E7-4BA3-B24F-9E6650CA3E21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Daha sonra alt sınıfın eklediği Ses çal yazısı görünür. Örnek gerçekten ses üretmez.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F45E20DC-92BD-4A44-9637-21064BDF899B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C218E2F9-20BC-4CBF-8FAB-3919400E2647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Yeni mesaj</a:t>
            </a:r>
          </a:p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Ses çal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8081A39A-CFEC-42AF-83E9-AA1A70D25D33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7 / 43</a:t>
            </a:r>
          </a:p>
        </p:txBody>
      </p:sp>
    </p:spTree>
    <p:extLst>
      <p:ext uri="{BB962C8B-B14F-4D97-AF65-F5344CB8AC3E}">
        <p14:creationId xmlns:p14="http://schemas.microsoft.com/office/powerpoint/2010/main" val="683196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kdörtgen 23">
            <a:extLst>
              <a:ext uri="{FF2B5EF4-FFF2-40B4-BE49-F238E27FC236}">
                <a16:creationId xmlns:a16="http://schemas.microsoft.com/office/drawing/2014/main" id="{AB6E49F7-E75A-49C6-B896-68A4ACD0CC56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D160DAF5-7EB0-4C32-844A-B6F52F0B1B66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Çok biçimlilik nedir?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378AD17E-7FB0-4EB3-9BE2-1D011B1B67FA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Ortak bir tip üzerinden çağrı yaparız. Hangi davranışın çalışacağını gerçek nesne belirler.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BC160683-ECB7-480F-B845-F2B69E545F31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97BABAF1-18E2-4EEB-B127-6236A340D952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open</a:t>
            </a:r>
            <a:r>
              <a:t> </a:t>
            </a:r>
            <a:r>
              <a:rPr>
                <a:solidFill>
                  <a:srgbClr val="6941A5"/>
                </a:solidFill>
              </a:rPr>
              <a:t>class</a:t>
            </a:r>
            <a:r>
              <a:t> Bildirim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6D3487C5-3EAB-4B54-8058-2B637F41FA1C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open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goster() { println(</a:t>
            </a:r>
            <a:r>
              <a:rPr>
                <a:solidFill>
                  <a:srgbClr val="397425"/>
                </a:solidFill>
              </a:rPr>
              <a:t>"Bildirim"</a:t>
            </a:r>
            <a:r>
              <a:t>) }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EB80D859-3754-4BFF-BBEE-A56F4C9B9F89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5FAA48AB-6977-4068-A7CB-645AD1A3DAFA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TelefonBildirimi : Bildirim() {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A9DA8E95-1B55-4852-9A3B-1219FD6402DF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goster() {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E7980A9C-9E68-4088-989E-0B11A68B4D3F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println(</a:t>
            </a:r>
            <a:r>
              <a:rPr>
                <a:solidFill>
                  <a:srgbClr val="397425"/>
                </a:solidFill>
              </a:rPr>
              <a:t>"Telefon bildirimi"</a:t>
            </a:r>
            <a:r>
              <a:t>)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F4BF66C9-9244-4051-AC5E-6285E9BB8AB5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41A5A9BC-A9A2-46F9-9918-C0555205646C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0BF2D2B3-F630-4C1A-96B8-3467F2356BAE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EE6874E2-3D38-4093-B025-C5BA55545D11}"/>
              </a:ext>
            </a:extLst>
          </p:cNvPr>
          <p:cNvSpPr>
            <a:spLocks noGrp="1"/>
          </p:cNvSpPr>
          <p:nvPr/>
        </p:nvSpPr>
        <p:spPr>
          <a:xfrm>
            <a:off x="742950" y="59721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b: Bildirim = TelefonBildirimi()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CA2FD576-3AB6-4E24-A10F-0E6EFF4B323A}"/>
              </a:ext>
            </a:extLst>
          </p:cNvPr>
          <p:cNvSpPr>
            <a:spLocks noGrp="1"/>
          </p:cNvSpPr>
          <p:nvPr/>
        </p:nvSpPr>
        <p:spPr>
          <a:xfrm>
            <a:off x="742950" y="62960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b.goster()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D9882FF0-7A5E-4DCB-8BA2-297A45C6C288}"/>
              </a:ext>
            </a:extLst>
          </p:cNvPr>
          <p:cNvSpPr>
            <a:spLocks noGrp="1"/>
          </p:cNvSpPr>
          <p:nvPr/>
        </p:nvSpPr>
        <p:spPr>
          <a:xfrm>
            <a:off x="742950" y="66198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2FE7B34E-CC1D-4824-8530-E6C8A52CDBD5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Değişken tipi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3B789374-AB2B-46C5-A7C3-9D75B438CC9A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b, Bildirim tipinde tanımlandı. Bir TelefonBildirimi de bu tipin alt türüdür.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2FEE690E-EA59-4729-90C5-3614183E9E85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Gerçek nesne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5F181F92-82B8-4392-A5F5-CC92898E128C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Oluşturduğumuz nesne TelefonBildirimi olduğu için onun override ettiği goster çalışır.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6531DF59-146F-4045-8523-1A07A3288FCF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72BF4974-9492-4A7A-B20C-3841BE35C11C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Telefon bildirimi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5C42E859-4770-4CDF-A06B-03657BC8D748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8 / 43</a:t>
            </a:r>
          </a:p>
        </p:txBody>
      </p:sp>
    </p:spTree>
    <p:extLst>
      <p:ext uri="{BB962C8B-B14F-4D97-AF65-F5344CB8AC3E}">
        <p14:creationId xmlns:p14="http://schemas.microsoft.com/office/powerpoint/2010/main" val="721563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ikdörtgen 20">
            <a:extLst>
              <a:ext uri="{FF2B5EF4-FFF2-40B4-BE49-F238E27FC236}">
                <a16:creationId xmlns:a16="http://schemas.microsoft.com/office/drawing/2014/main" id="{2F0824F1-D74A-48EE-A827-0CE5062F5F86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3FEFE31F-5C3E-4C1C-B726-5C1CD3542A32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Overload: aynı isim, farklı parametre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FE79ECB3-4E03-4470-BF5A-617F6A73B80F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Bir sınıfta aynı isimli fonksiyonlar, farklı parametre listeleriyle tanımlanabilir.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D0D8D1AB-EA1C-4C69-A065-E024E693E558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E71A5155-D506-46A0-906D-BEE7937A7424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Yazici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29D1780-0FD4-4DAD-9B6C-5F428E6556AF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yaz(metin: String) { println(metin) }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87E5DD1D-B57C-4704-90EE-DBC801A326CA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yaz(sayi: Int) { println(sayi) }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F2CB4C2-1200-4A19-93EC-DBC627DD8404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FDBBF610-2D0F-42B0-888C-89DCE3C9BFFC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7271D948-9B1F-4C2B-8884-7799A194A11C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yazici = Yazici()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02A74E2D-A965-4ABC-9219-1E129C4F3E1D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yazici.yaz(</a:t>
            </a:r>
            <a:r>
              <a:rPr>
                <a:solidFill>
                  <a:srgbClr val="397425"/>
                </a:solidFill>
              </a:rPr>
              <a:t>"Merhaba"</a:t>
            </a:r>
            <a:r>
              <a:t>)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F1FDFF89-1EA0-410C-ACBA-B12C69320B9A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yazici.yaz(</a:t>
            </a:r>
            <a:r>
              <a:rPr>
                <a:solidFill>
                  <a:srgbClr val="A45110"/>
                </a:solidFill>
              </a:rPr>
              <a:t>5</a:t>
            </a:r>
            <a:r>
              <a:t>)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9880233A-9758-49EE-A5A5-7406B389C4F0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805DCED7-56DF-4307-8987-D1266D7E80D3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Metin gönderince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D0088E1C-CC7C-4E0C-8857-9DCD8F51F71D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String alan yaz fonksiyonu seçilir.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059055F0-47C8-4EE0-9818-730A751B7920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Sayı gönderince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03677EFD-AFAF-43B4-B423-B985E2AD8150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Int alan yaz fonksiyonu seçilir. Burada kalıtım veya override yoktur.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B774D1B2-2E02-489D-8651-C29BF046BB25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1FA26E0F-2FFB-488C-A4C6-51224516C8C9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Merhaba</a:t>
            </a:r>
          </a:p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CA0BDDFB-1576-41E9-88A3-EC7D68202E48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9 / 43</a:t>
            </a:r>
          </a:p>
        </p:txBody>
      </p:sp>
    </p:spTree>
    <p:extLst>
      <p:ext uri="{BB962C8B-B14F-4D97-AF65-F5344CB8AC3E}">
        <p14:creationId xmlns:p14="http://schemas.microsoft.com/office/powerpoint/2010/main" val="886633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E20AEF32-2F20-44D6-BB73-16812CC56F74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EF9B41BE-0163-4518-B6D2-3D5DC211B36F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Soyut sınıf nedir?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975858A8-4A8E-4C7C-BE06-145BB6D266B6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Soyut sınıf, bazı ortak üyeleri tanımlar ama tamamlanması gereken işlemler de bırakabilir.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D29950F8-73E5-423B-87A4-A1DEEB17D42E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abstract class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05D4D669-F3E1-41CE-ABCB-291A5C2D4602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Bu sınıftan doğrudan nesne oluşturamayız. Alt sınıf için temel görevi görür.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F08F471A-E328-41D4-B64D-AD7C6594C154}"/>
              </a:ext>
            </a:extLst>
          </p:cNvPr>
          <p:cNvSpPr>
            <a:spLocks noGrp="1"/>
          </p:cNvSpPr>
          <p:nvPr/>
        </p:nvSpPr>
        <p:spPr>
          <a:xfrm>
            <a:off x="742950" y="4600575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abstract fun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05F061B0-D201-468B-805E-89376C56D250}"/>
              </a:ext>
            </a:extLst>
          </p:cNvPr>
          <p:cNvSpPr>
            <a:spLocks noGrp="1"/>
          </p:cNvSpPr>
          <p:nvPr/>
        </p:nvSpPr>
        <p:spPr>
          <a:xfrm>
            <a:off x="4552950" y="4600575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İşlemin adı ve tipi vardır, gövdesi henüz yoktur.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D2AECEE8-E0CF-4368-8110-E0C80B6BAAB8}"/>
              </a:ext>
            </a:extLst>
          </p:cNvPr>
          <p:cNvSpPr>
            <a:spLocks noGrp="1"/>
          </p:cNvSpPr>
          <p:nvPr/>
        </p:nvSpPr>
        <p:spPr>
          <a:xfrm>
            <a:off x="742950" y="609600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Alt sınıfın işi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5E22B857-9B44-4CDC-9E79-3EF457448B98}"/>
              </a:ext>
            </a:extLst>
          </p:cNvPr>
          <p:cNvSpPr>
            <a:spLocks noGrp="1"/>
          </p:cNvSpPr>
          <p:nvPr/>
        </p:nvSpPr>
        <p:spPr>
          <a:xfrm>
            <a:off x="4552950" y="609600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Somut alt sınıf, eksik bırakılan işlemi override ile tamamlar.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95BD952D-C650-46E1-BAFF-D9318506B0A5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10 / 43</a:t>
            </a:r>
          </a:p>
        </p:txBody>
      </p:sp>
    </p:spTree>
    <p:extLst>
      <p:ext uri="{BB962C8B-B14F-4D97-AF65-F5344CB8AC3E}">
        <p14:creationId xmlns:p14="http://schemas.microsoft.com/office/powerpoint/2010/main" val="1279860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kdörtgen 23">
            <a:extLst>
              <a:ext uri="{FF2B5EF4-FFF2-40B4-BE49-F238E27FC236}">
                <a16:creationId xmlns:a16="http://schemas.microsoft.com/office/drawing/2014/main" id="{C301F302-AA76-4E32-B693-486C05C3D061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7D0186CC-6FFA-47B7-8169-49AD25C2D3B3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Soyut sınıfın küçük örneği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4C7A415F-B379-4B33-9C67-6703FAA87D69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Her yazıcının yaz işlemi olsun. Yazının nasıl gösterileceğini somut yazıcı belirlesin.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85C15ECB-409F-4708-87C6-8CEDBA0985AB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0BA12C4C-FD2D-4CC2-8F16-C82DC306BCD8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abstract</a:t>
            </a:r>
            <a:r>
              <a:t> </a:t>
            </a:r>
            <a:r>
              <a:rPr>
                <a:solidFill>
                  <a:srgbClr val="6941A5"/>
                </a:solidFill>
              </a:rPr>
              <a:t>class</a:t>
            </a:r>
            <a:r>
              <a:t> Yazici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34DAA5CF-6941-4242-913B-C9EB2CADD948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abstract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yaz()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07D2E635-103F-4A39-BF41-93473399B2BF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96B6232B-5597-4CE4-8751-E054132F0C01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EkranYazicisi : Yazici() {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2F1CA906-4E01-4D67-8675-9EB4AB34BAAF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yaz() {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961B4F85-DAD5-4B98-A3FD-2ECD866184C1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println(</a:t>
            </a:r>
            <a:r>
              <a:rPr>
                <a:solidFill>
                  <a:srgbClr val="397425"/>
                </a:solidFill>
              </a:rPr>
              <a:t>"Ekrana yazıldı"</a:t>
            </a:r>
            <a:r>
              <a:t>)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33F66045-599A-4C08-9A4C-4E97EA3287E7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B82F565B-8F1E-4406-B039-30660490975A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D1C0508C-E828-4518-A914-1FDE71C45992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35D8E963-9B2B-41AB-8C12-EF4267B39DE2}"/>
              </a:ext>
            </a:extLst>
          </p:cNvPr>
          <p:cNvSpPr>
            <a:spLocks noGrp="1"/>
          </p:cNvSpPr>
          <p:nvPr/>
        </p:nvSpPr>
        <p:spPr>
          <a:xfrm>
            <a:off x="742950" y="59721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yazici = EkranYazicisi()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A4BF8CAE-C91E-46FE-B9C9-F7B64B407913}"/>
              </a:ext>
            </a:extLst>
          </p:cNvPr>
          <p:cNvSpPr>
            <a:spLocks noGrp="1"/>
          </p:cNvSpPr>
          <p:nvPr/>
        </p:nvSpPr>
        <p:spPr>
          <a:xfrm>
            <a:off x="742950" y="62960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yazici.yaz()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4E4EFBC6-985B-40D8-984D-D38BD381926C}"/>
              </a:ext>
            </a:extLst>
          </p:cNvPr>
          <p:cNvSpPr>
            <a:spLocks noGrp="1"/>
          </p:cNvSpPr>
          <p:nvPr/>
        </p:nvSpPr>
        <p:spPr>
          <a:xfrm>
            <a:off x="742950" y="66198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2CB397AD-B764-4768-9107-813FE26D563D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Yazici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BDFD599-FFD9-487C-B2E9-82E4C9B4A4AC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yaz işlemini zorunlu tutar. Yazici() ile doğrudan nesne oluşturulamaz.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87296B40-75EB-41BD-93D9-F3F637F5209B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EkranYazicisi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A18FB948-336D-459A-AE4A-2243337F0BFC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İşlemin gövdesini tamamlar. Bu sınıftan nesne oluşturup yaz() çağırabiliriz.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88A228DE-264D-41F5-9F1B-E0E20BB3289B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1E022100-F24D-4DB9-9D5B-22D36233DD84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Ekrana yazıldı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3CA87A85-BE4B-4A64-888C-07B6D4DEAFA2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11 / 43</a:t>
            </a:r>
          </a:p>
        </p:txBody>
      </p:sp>
    </p:spTree>
    <p:extLst>
      <p:ext uri="{BB962C8B-B14F-4D97-AF65-F5344CB8AC3E}">
        <p14:creationId xmlns:p14="http://schemas.microsoft.com/office/powerpoint/2010/main" val="197779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14BF6AF4-108D-45E7-8B37-E288FEB383CB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FFFCB148-1C24-4707-999F-243BB74CB325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Interface nedir?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A0A3F41A-7356-4B10-BC03-45A70FBC2888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Interface, bir sınıfın hangi işlemleri sunacağını belirten bir sözleşmedir.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16578032-0C72-4694-8736-1FB2012D0A3C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İstek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CE9F37BB-AF8D-410F-AA8F-356DA1638035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Yazdırılabilir her şeyin yazdir isimli bir işlemi olsun.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391F5E78-9CC3-4661-A32E-DDADB24217B1}"/>
              </a:ext>
            </a:extLst>
          </p:cNvPr>
          <p:cNvSpPr>
            <a:spLocks noGrp="1"/>
          </p:cNvSpPr>
          <p:nvPr/>
        </p:nvSpPr>
        <p:spPr>
          <a:xfrm>
            <a:off x="742950" y="4600575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Sözleşme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5274B782-5B53-46F7-8FE9-3F75CF465505}"/>
              </a:ext>
            </a:extLst>
          </p:cNvPr>
          <p:cNvSpPr>
            <a:spLocks noGrp="1"/>
          </p:cNvSpPr>
          <p:nvPr/>
        </p:nvSpPr>
        <p:spPr>
          <a:xfrm>
            <a:off x="4552950" y="4600575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interface Yazdirilabilir bu ortak işlemi tanımlar.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B6AC1A7E-F3B6-4351-AEB5-77CADC9C8EFA}"/>
              </a:ext>
            </a:extLst>
          </p:cNvPr>
          <p:cNvSpPr>
            <a:spLocks noGrp="1"/>
          </p:cNvSpPr>
          <p:nvPr/>
        </p:nvSpPr>
        <p:spPr>
          <a:xfrm>
            <a:off x="742950" y="609600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Uygulama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DBDC0C81-F6DC-4F8E-B328-26BEFCDF283C}"/>
              </a:ext>
            </a:extLst>
          </p:cNvPr>
          <p:cNvSpPr>
            <a:spLocks noGrp="1"/>
          </p:cNvSpPr>
          <p:nvPr/>
        </p:nvSpPr>
        <p:spPr>
          <a:xfrm>
            <a:off x="4552950" y="609600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Rapor gibi bir sınıf, işlemin kendi içinde nasıl yapılacağını yazar.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79968DAA-F180-4B3F-96C8-0DEC3CD4422A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12 / 43</a:t>
            </a:r>
          </a:p>
        </p:txBody>
      </p:sp>
    </p:spTree>
    <p:extLst>
      <p:ext uri="{BB962C8B-B14F-4D97-AF65-F5344CB8AC3E}">
        <p14:creationId xmlns:p14="http://schemas.microsoft.com/office/powerpoint/2010/main" val="901317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kdörtgen 23">
            <a:extLst>
              <a:ext uri="{FF2B5EF4-FFF2-40B4-BE49-F238E27FC236}">
                <a16:creationId xmlns:a16="http://schemas.microsoft.com/office/drawing/2014/main" id="{555AFB3E-92D7-49DA-89E8-73C0A37F670C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A6D60654-1292-46F5-9C38-1DC678C63DC2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Interface nasıl uygulanır?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78C3C851-449C-4B43-B9E1-A2D1C767C881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Sınıf, interface adını : sonrasında yazar ve gerekli işlemi override ile tamamlar.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C139EAAC-6096-4B7B-806E-FB540DE44E24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D0BDC560-63C7-472D-BCE3-84DFD8DAF6F6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interface</a:t>
            </a:r>
            <a:r>
              <a:t> Yazdirilabilir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F4937D8C-52A9-43BB-9561-55FC94D844D9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yazdir()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7AB9EC44-379F-4BF0-B290-54DF9CC589CE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C2D43E6-3CEA-468D-AB38-E8D3351855A2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Rapor : Yazdirilabilir {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EF93E456-332E-48E1-BC0D-D9EE68200AB4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yazdir() {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A33614CF-C9DF-4102-892F-BA06C575C401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println(</a:t>
            </a:r>
            <a:r>
              <a:rPr>
                <a:solidFill>
                  <a:srgbClr val="397425"/>
                </a:solidFill>
              </a:rPr>
              <a:t>"Ders raporu"</a:t>
            </a:r>
            <a:r>
              <a:t>)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0E0B1988-AF70-401A-A8E4-5316A358F3A6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CAA8C144-7D1B-49D7-AA6E-57C65E1C02DD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31667D0E-D0FD-443C-B2A1-262BF25E2BE0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7D1CE36B-6EC3-432F-9AF9-D1779AEED27D}"/>
              </a:ext>
            </a:extLst>
          </p:cNvPr>
          <p:cNvSpPr>
            <a:spLocks noGrp="1"/>
          </p:cNvSpPr>
          <p:nvPr/>
        </p:nvSpPr>
        <p:spPr>
          <a:xfrm>
            <a:off x="742950" y="59721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rapor = Rapor()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E14C5797-F9E2-44CB-917A-B7F2E0F3D65B}"/>
              </a:ext>
            </a:extLst>
          </p:cNvPr>
          <p:cNvSpPr>
            <a:spLocks noGrp="1"/>
          </p:cNvSpPr>
          <p:nvPr/>
        </p:nvSpPr>
        <p:spPr>
          <a:xfrm>
            <a:off x="742950" y="62960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rapor.yazdir()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B0481C36-51B5-4F58-A05E-4774546075F3}"/>
              </a:ext>
            </a:extLst>
          </p:cNvPr>
          <p:cNvSpPr>
            <a:spLocks noGrp="1"/>
          </p:cNvSpPr>
          <p:nvPr/>
        </p:nvSpPr>
        <p:spPr>
          <a:xfrm>
            <a:off x="742950" y="66198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56AF6DC6-890F-4FFB-BA67-41FD51D81627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Interface tarafı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EB6C1BA1-5AB6-4EB5-AFE9-CFC91D5B656B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Hangi işlemin bulunacağını söyler. Yazdirilabilir tek başına nesne olarak kurulmaz.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A74452CF-8BC3-47E4-9491-556CCCB5A008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Sınıf tarafı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2A1B1370-D784-4841-9833-67AE623D3273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 dirty="0" err="1">
                <a:solidFill>
                  <a:srgbClr val="152F3D"/>
                </a:solidFill>
                <a:latin typeface="Arial"/>
                <a:ea typeface="Arial"/>
                <a:cs typeface="Arial"/>
              </a:rPr>
              <a:t>Rapor</a:t>
            </a:r>
            <a:r>
              <a:rPr sz="2100" b="0" dirty="0">
                <a:solidFill>
                  <a:srgbClr val="152F3D"/>
                </a:solidFill>
                <a:latin typeface="Arial"/>
                <a:ea typeface="Arial"/>
                <a:cs typeface="Arial"/>
              </a:rPr>
              <a:t>, </a:t>
            </a:r>
            <a:r>
              <a:rPr sz="2100" b="0" dirty="0" err="1">
                <a:solidFill>
                  <a:srgbClr val="152F3D"/>
                </a:solidFill>
                <a:latin typeface="Arial"/>
                <a:ea typeface="Arial"/>
                <a:cs typeface="Arial"/>
              </a:rPr>
              <a:t>yazdir</a:t>
            </a:r>
            <a:r>
              <a:rPr sz="2100" b="0" dirty="0">
                <a:solidFill>
                  <a:srgbClr val="152F3D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52F3D"/>
                </a:solidFill>
                <a:latin typeface="Arial"/>
                <a:ea typeface="Arial"/>
                <a:cs typeface="Arial"/>
              </a:rPr>
              <a:t>işleminin</a:t>
            </a:r>
            <a:r>
              <a:rPr sz="2100" b="0" dirty="0">
                <a:solidFill>
                  <a:srgbClr val="152F3D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52F3D"/>
                </a:solidFill>
                <a:latin typeface="Arial"/>
                <a:ea typeface="Arial"/>
                <a:cs typeface="Arial"/>
              </a:rPr>
              <a:t>gövdesini</a:t>
            </a:r>
            <a:r>
              <a:rPr sz="2100" b="0" dirty="0">
                <a:solidFill>
                  <a:srgbClr val="152F3D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52F3D"/>
                </a:solidFill>
                <a:latin typeface="Arial"/>
                <a:ea typeface="Arial"/>
                <a:cs typeface="Arial"/>
              </a:rPr>
              <a:t>verir</a:t>
            </a:r>
            <a:r>
              <a:rPr sz="2100" b="0" dirty="0">
                <a:solidFill>
                  <a:srgbClr val="152F3D"/>
                </a:solidFill>
                <a:latin typeface="Arial"/>
                <a:ea typeface="Arial"/>
                <a:cs typeface="Arial"/>
              </a:rPr>
              <a:t>. Interface </a:t>
            </a:r>
            <a:r>
              <a:rPr sz="2100" b="0" dirty="0" err="1">
                <a:solidFill>
                  <a:srgbClr val="152F3D"/>
                </a:solidFill>
                <a:latin typeface="Arial"/>
                <a:ea typeface="Arial"/>
                <a:cs typeface="Arial"/>
              </a:rPr>
              <a:t>adından</a:t>
            </a:r>
            <a:r>
              <a:rPr sz="2100" b="0" dirty="0">
                <a:solidFill>
                  <a:srgbClr val="152F3D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52F3D"/>
                </a:solidFill>
                <a:latin typeface="Arial"/>
                <a:ea typeface="Arial"/>
                <a:cs typeface="Arial"/>
              </a:rPr>
              <a:t>sonra</a:t>
            </a:r>
            <a:r>
              <a:rPr sz="2100" b="0" dirty="0">
                <a:solidFill>
                  <a:srgbClr val="152F3D"/>
                </a:solidFill>
                <a:latin typeface="Arial"/>
                <a:ea typeface="Arial"/>
                <a:cs typeface="Arial"/>
              </a:rPr>
              <a:t> constructor </a:t>
            </a:r>
            <a:r>
              <a:rPr sz="2100" b="0" dirty="0" err="1">
                <a:solidFill>
                  <a:srgbClr val="152F3D"/>
                </a:solidFill>
                <a:latin typeface="Arial"/>
                <a:ea typeface="Arial"/>
                <a:cs typeface="Arial"/>
              </a:rPr>
              <a:t>parantezi</a:t>
            </a:r>
            <a:r>
              <a:rPr sz="2100" b="0" dirty="0">
                <a:solidFill>
                  <a:srgbClr val="152F3D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52F3D"/>
                </a:solidFill>
                <a:latin typeface="Arial"/>
                <a:ea typeface="Arial"/>
                <a:cs typeface="Arial"/>
              </a:rPr>
              <a:t>yoktur</a:t>
            </a:r>
            <a:r>
              <a:rPr sz="2100" b="0" dirty="0">
                <a:solidFill>
                  <a:srgbClr val="152F3D"/>
                </a:solidFill>
                <a:latin typeface="Arial"/>
                <a:ea typeface="Arial"/>
                <a:cs typeface="Arial"/>
              </a:rPr>
              <a:t>.</a:t>
            </a:r>
            <a:r>
              <a:rPr lang="tr-TR" sz="2100" dirty="0" err="1">
                <a:solidFill>
                  <a:srgbClr val="152F3D"/>
                </a:solidFill>
                <a:latin typeface="Arial"/>
                <a:ea typeface="Arial"/>
                <a:cs typeface="Arial"/>
              </a:rPr>
              <a:t>interfaceler</a:t>
            </a:r>
            <a:r>
              <a:rPr lang="tr-TR" sz="2100" dirty="0">
                <a:solidFill>
                  <a:srgbClr val="152F3D"/>
                </a:solidFill>
                <a:latin typeface="Arial"/>
                <a:ea typeface="Arial"/>
                <a:cs typeface="Arial"/>
              </a:rPr>
              <a:t> </a:t>
            </a:r>
            <a:r>
              <a:rPr lang="tr-TR" sz="2100" dirty="0" err="1">
                <a:solidFill>
                  <a:srgbClr val="152F3D"/>
                </a:solidFill>
                <a:latin typeface="Arial"/>
                <a:ea typeface="Arial"/>
                <a:cs typeface="Arial"/>
              </a:rPr>
              <a:t>constructor</a:t>
            </a:r>
            <a:r>
              <a:rPr lang="tr-TR" sz="2100" dirty="0">
                <a:solidFill>
                  <a:srgbClr val="152F3D"/>
                </a:solidFill>
                <a:latin typeface="Arial"/>
                <a:ea typeface="Arial"/>
                <a:cs typeface="Arial"/>
              </a:rPr>
              <a:t> alamaz.</a:t>
            </a:r>
          </a:p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endParaRPr sz="2100" b="0" dirty="0">
              <a:solidFill>
                <a:srgbClr val="152F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BD7B68E5-4D99-4940-A61F-F3B6554F7DDD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E7B29247-D85A-4461-9748-97D044DBCEF0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Ders raporu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7966A296-1062-4DAD-8579-33FCFAB57C11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13 / 43</a:t>
            </a:r>
          </a:p>
        </p:txBody>
      </p:sp>
    </p:spTree>
    <p:extLst>
      <p:ext uri="{BB962C8B-B14F-4D97-AF65-F5344CB8AC3E}">
        <p14:creationId xmlns:p14="http://schemas.microsoft.com/office/powerpoint/2010/main" val="467019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>
            <a:extLst>
              <a:ext uri="{FF2B5EF4-FFF2-40B4-BE49-F238E27FC236}">
                <a16:creationId xmlns:a16="http://schemas.microsoft.com/office/drawing/2014/main" id="{8D8EE829-3FC0-47D4-8A4C-9595E4B70C65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D62FC94D-28EF-4720-A5A6-AAB88B3B827F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Interface üzerinden farklı nesne kullanmak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9171C189-6C6E-4EAC-8FF8-0A738B6D403A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Aynı sözleşmeyi uygulayan farklı sınıflar, ortak tip üzerinden kullanılabilir.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E3CE21F9-1A1D-45DB-8E7A-5CE13EF18A51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C3E5F0C7-E0CE-43EC-9DB2-51FB9D748511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interface</a:t>
            </a:r>
            <a:r>
              <a:t> Yazdirilabilir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73A0C6D7-5A6B-4F02-B482-172C42318176}"/>
              </a:ext>
            </a:extLst>
          </p:cNvPr>
          <p:cNvSpPr>
            <a:spLocks noGrp="1"/>
          </p:cNvSpPr>
          <p:nvPr/>
        </p:nvSpPr>
        <p:spPr>
          <a:xfrm>
            <a:off x="742950" y="3352800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yazdir()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B7788579-E66E-49F8-95A1-F43C3A507E0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E16C8922-0F2A-4493-9C99-CB8145B0C154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Rapor : Yazdirilabilir {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27B05A14-C462-426F-B65E-DED945A6C845}"/>
              </a:ext>
            </a:extLst>
          </p:cNvPr>
          <p:cNvSpPr>
            <a:spLocks noGrp="1"/>
          </p:cNvSpPr>
          <p:nvPr/>
        </p:nvSpPr>
        <p:spPr>
          <a:xfrm>
            <a:off x="742950" y="4238625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yazdir() { println(</a:t>
            </a:r>
            <a:r>
              <a:rPr>
                <a:solidFill>
                  <a:srgbClr val="397425"/>
                </a:solidFill>
              </a:rPr>
              <a:t>"Rapor"</a:t>
            </a:r>
            <a:r>
              <a:t>) }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FEE29D70-4D67-4D18-8171-EE5E62AEE8AC}"/>
              </a:ext>
            </a:extLst>
          </p:cNvPr>
          <p:cNvSpPr>
            <a:spLocks noGrp="1"/>
          </p:cNvSpPr>
          <p:nvPr/>
        </p:nvSpPr>
        <p:spPr>
          <a:xfrm>
            <a:off x="742950" y="4533900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ED8A8476-AC1A-4393-9E66-9A31474EA153}"/>
              </a:ext>
            </a:extLst>
          </p:cNvPr>
          <p:cNvSpPr>
            <a:spLocks noGrp="1"/>
          </p:cNvSpPr>
          <p:nvPr/>
        </p:nvSpPr>
        <p:spPr>
          <a:xfrm>
            <a:off x="742950" y="4829175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Fatura : Yazdirilabilir {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2733B412-1193-44CB-B56A-8F8139D49360}"/>
              </a:ext>
            </a:extLst>
          </p:cNvPr>
          <p:cNvSpPr>
            <a:spLocks noGrp="1"/>
          </p:cNvSpPr>
          <p:nvPr/>
        </p:nvSpPr>
        <p:spPr>
          <a:xfrm>
            <a:off x="742950" y="5124450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yazdir() { println(</a:t>
            </a:r>
            <a:r>
              <a:rPr>
                <a:solidFill>
                  <a:srgbClr val="397425"/>
                </a:solidFill>
              </a:rPr>
              <a:t>"Fatura"</a:t>
            </a:r>
            <a:r>
              <a:t>) }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E1A6CA7C-9298-4993-B8E1-518EFF2E0C42}"/>
              </a:ext>
            </a:extLst>
          </p:cNvPr>
          <p:cNvSpPr>
            <a:spLocks noGrp="1"/>
          </p:cNvSpPr>
          <p:nvPr/>
        </p:nvSpPr>
        <p:spPr>
          <a:xfrm>
            <a:off x="742950" y="5419725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BC7093F6-2264-434C-B8C5-9FA6AD0EFA9C}"/>
              </a:ext>
            </a:extLst>
          </p:cNvPr>
          <p:cNvSpPr>
            <a:spLocks noGrp="1"/>
          </p:cNvSpPr>
          <p:nvPr/>
        </p:nvSpPr>
        <p:spPr>
          <a:xfrm>
            <a:off x="742950" y="5715000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F6072228-3317-413A-8081-59F38EEC3ABA}"/>
              </a:ext>
            </a:extLst>
          </p:cNvPr>
          <p:cNvSpPr>
            <a:spLocks noGrp="1"/>
          </p:cNvSpPr>
          <p:nvPr/>
        </p:nvSpPr>
        <p:spPr>
          <a:xfrm>
            <a:off x="742950" y="6010275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belge: Yazdirilabilir = Fatura()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0F873D64-2CA9-4E9D-B15A-1F710E5EC4F8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belge.yazdir()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BDA68378-9DAA-4365-8F6E-F35A34B38612}"/>
              </a:ext>
            </a:extLst>
          </p:cNvPr>
          <p:cNvSpPr>
            <a:spLocks noGrp="1"/>
          </p:cNvSpPr>
          <p:nvPr/>
        </p:nvSpPr>
        <p:spPr>
          <a:xfrm>
            <a:off x="742950" y="6600825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ED24A290-DD6A-4778-B2F8-D3B19F55560F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Ortak tip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35DB0DA9-8ED2-4D24-B4B1-EC335B4A76DA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belge değişkeni Yazdirilabilir türündedir. Rapor da Fatura da bu sözleşmeye uyar.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808598E7-CF01-4917-99B6-ABA7EA2C3DB1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Seçilen nesne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FBB7593D-62C2-4889-A1DE-3D789ED729FE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Fatura() verdiğimiz için Faturanın yazdir gövdesi çalışır. Rapor() verilseydi Rapor yazardı.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29077C1-E921-41C4-B651-73AEAFEE7D0D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E2439172-F261-4704-B4AD-19978C258E71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Fatura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43AAE1BC-ACA7-41B2-8AEA-B39389CDE573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14 / 43</a:t>
            </a:r>
          </a:p>
        </p:txBody>
      </p:sp>
    </p:spTree>
    <p:extLst>
      <p:ext uri="{BB962C8B-B14F-4D97-AF65-F5344CB8AC3E}">
        <p14:creationId xmlns:p14="http://schemas.microsoft.com/office/powerpoint/2010/main" val="1379406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5B8AC684-3ACE-4F5D-BF9D-D5769824004B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CBC2484-FF4E-4B9B-B347-114AA52F13FF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Soyut sınıf mı, interface mi?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F8DD24E1-FB38-4D23-B7B6-56AA3775A9D2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İkisi de ortak bir yapı kurabilir, ancak farklı ihtiyaçlarda yararlıdır.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5DB52A0E-4C1A-474F-A533-DB77703B8E12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Soyut sınıf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092B2950-744B-4A5B-B78B-36FDEBD6202E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Ortak başlangıç bilgisi, saklanan durum ve ortak uygulama paylaşmak için uygundur.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97CAB888-BCF0-4E8D-A806-6A92F9E179B0}"/>
              </a:ext>
            </a:extLst>
          </p:cNvPr>
          <p:cNvSpPr>
            <a:spLocks noGrp="1"/>
          </p:cNvSpPr>
          <p:nvPr/>
        </p:nvSpPr>
        <p:spPr>
          <a:xfrm>
            <a:off x="742950" y="4600575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EC49EB0C-9A8C-48C2-BA2D-07216A151829}"/>
              </a:ext>
            </a:extLst>
          </p:cNvPr>
          <p:cNvSpPr>
            <a:spLocks noGrp="1"/>
          </p:cNvSpPr>
          <p:nvPr/>
        </p:nvSpPr>
        <p:spPr>
          <a:xfrm>
            <a:off x="4552950" y="4600575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Birbirinden farklı sınıflarda bulunması gereken ortak yeteneği tanımlar.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936574BB-6491-4B57-BE78-A19E1A33377F}"/>
              </a:ext>
            </a:extLst>
          </p:cNvPr>
          <p:cNvSpPr>
            <a:spLocks noGrp="1"/>
          </p:cNvSpPr>
          <p:nvPr/>
        </p:nvSpPr>
        <p:spPr>
          <a:xfrm>
            <a:off x="742950" y="609600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Kotlin sınırı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4B8EC89D-227B-447C-9D13-E9B87D51C787}"/>
              </a:ext>
            </a:extLst>
          </p:cNvPr>
          <p:cNvSpPr>
            <a:spLocks noGrp="1"/>
          </p:cNvSpPr>
          <p:nvPr/>
        </p:nvSpPr>
        <p:spPr>
          <a:xfrm>
            <a:off x="4552950" y="609600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Bir sınıf tek bir sınıftan kalıtım alır. Birden fazla interface uygulayabilir.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9C3C4519-81C5-4037-A431-0513401F29C8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15 / 43</a:t>
            </a:r>
          </a:p>
        </p:txBody>
      </p:sp>
    </p:spTree>
    <p:extLst>
      <p:ext uri="{BB962C8B-B14F-4D97-AF65-F5344CB8AC3E}">
        <p14:creationId xmlns:p14="http://schemas.microsoft.com/office/powerpoint/2010/main" val="1608270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ikdörtgen 21">
            <a:extLst>
              <a:ext uri="{FF2B5EF4-FFF2-40B4-BE49-F238E27FC236}">
                <a16:creationId xmlns:a16="http://schemas.microsoft.com/office/drawing/2014/main" id="{199719F0-87B3-4AFC-A8FA-076162586743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86636BC5-15E9-4A05-A402-45FF186D158E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Bir nesnenin başka nesneyi kullanması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70A9E5C1-CC1F-469C-896B-CED0E7E718F3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Her ilişki kalıtım değildir. Bir sınıf işini yapmak için başka bir nesneyi kullanabilir.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BA957231-963C-4CD7-BAB9-60639C0C6A3B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9C8B83D4-6F9E-4BDC-8C7F-8154102DE575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Yazici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578C9A44-8FC7-4CD7-8C6D-9FE533576DAF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yaz() { println(</a:t>
            </a:r>
            <a:r>
              <a:rPr>
                <a:solidFill>
                  <a:srgbClr val="397425"/>
                </a:solidFill>
              </a:rPr>
              <a:t>"Not yazıldı"</a:t>
            </a:r>
            <a:r>
              <a:t>) }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B09DEDDC-9A4D-4E49-961B-BC25527C0B2F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78DAC82-83A3-4605-83DF-9FF8FD664E77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NotServisi(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yazici: Yazici) {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72DAB5CB-9FD9-486F-AC99-D4D372D9D5AF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calistir() { yazici.yaz() }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3C300A97-B12E-4EFA-8C5E-752BA8CA30DF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4A2E6284-1D5D-470C-954F-D8A5B383206F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4CEDE8A6-F086-4D6E-AF7F-EC5D214CEAA7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servis = NotServisi(Yazici())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97DD9F9B-5395-4BEC-80AA-880AE08318CB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servis.calistir()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9B6C068B-35A8-439F-A0B7-61A55590F686}"/>
              </a:ext>
            </a:extLst>
          </p:cNvPr>
          <p:cNvSpPr>
            <a:spLocks noGrp="1"/>
          </p:cNvSpPr>
          <p:nvPr/>
        </p:nvSpPr>
        <p:spPr>
          <a:xfrm>
            <a:off x="742950" y="59721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C442FF74-4BCE-4D0C-B14F-7ED6C23DBBEC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İlişki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194919D4-7D9A-4B3C-8062-06045F54BF70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NotServisi bir Yazici türü değildir. Bir Yazici nesnesini kullanır.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052555DC-D41E-492D-8CD5-91AD50209FA9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Kurucudan almak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80AF81A5-77C7-4392-BC5C-D91009A738A7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Gereken nesne dışarıdan verilir. Bu, bağımlılığı dışarıdan sağlamanın basit bir örneğidir.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A561B581-E32A-4E84-8A12-1313CC26C3CE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2333BCAF-8368-4A31-BAAD-28258CC5DD31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Not yazıldı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EC4B9E19-8ADE-43EF-B63D-4C5F4BF328C7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16 / 43</a:t>
            </a:r>
          </a:p>
        </p:txBody>
      </p:sp>
    </p:spTree>
    <p:extLst>
      <p:ext uri="{BB962C8B-B14F-4D97-AF65-F5344CB8AC3E}">
        <p14:creationId xmlns:p14="http://schemas.microsoft.com/office/powerpoint/2010/main" val="134882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7BCCFEBB-6A00-4F0B-8ECD-03981D7FEB25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CCAA39F0-2A9B-4707-BFDC-0BB5AF6F7846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Ek Kotlin yapıları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94DD3A67-68D5-419D-AF68-298BE68C15B1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Bundan sonraki örnekler ayrı konulardır. Birini anlamak için diğer örneği hatırlamak gerekmez.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4A8EE8A5-1FBC-4A8B-A9CD-59DA18A265DC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Veri modeli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F4E5998B-3A99-4EAB-A1AD-95B93A9144E5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data class ile ilgili bilgileri bir tipte toplamak.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01BF0FEC-6DCD-4A2B-9E5D-FA02453AFF69}"/>
              </a:ext>
            </a:extLst>
          </p:cNvPr>
          <p:cNvSpPr>
            <a:spLocks noGrp="1"/>
          </p:cNvSpPr>
          <p:nvPr/>
        </p:nvSpPr>
        <p:spPr>
          <a:xfrm>
            <a:off x="742950" y="4600575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Özel yazımlar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D4A5003-5835-4E08-94CB-F09CFFB386BD}"/>
              </a:ext>
            </a:extLst>
          </p:cNvPr>
          <p:cNvSpPr>
            <a:spLocks noGrp="1"/>
          </p:cNvSpPr>
          <p:nvPr/>
        </p:nvSpPr>
        <p:spPr>
          <a:xfrm>
            <a:off x="4552950" y="4600575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object, companion object, lambda ve iç içe sınıf.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B99F5278-B5DC-4F2C-B82B-970E745E08EF}"/>
              </a:ext>
            </a:extLst>
          </p:cNvPr>
          <p:cNvSpPr>
            <a:spLocks noGrp="1"/>
          </p:cNvSpPr>
          <p:nvPr/>
        </p:nvSpPr>
        <p:spPr>
          <a:xfrm>
            <a:off x="742950" y="609600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İleri tanıtım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75E09946-D823-426A-8265-0C0B8792DB23}"/>
              </a:ext>
            </a:extLst>
          </p:cNvPr>
          <p:cNvSpPr>
            <a:spLocks noGrp="1"/>
          </p:cNvSpPr>
          <p:nvPr/>
        </p:nvSpPr>
        <p:spPr>
          <a:xfrm>
            <a:off x="4552950" y="609600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Generic, enum, sealed ve delegation. Bu kısmı ayrı derslere yayabiliriz.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00255C43-EE4F-4126-888C-F8051107E7D2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17 / 43</a:t>
            </a:r>
          </a:p>
        </p:txBody>
      </p:sp>
    </p:spTree>
    <p:extLst>
      <p:ext uri="{BB962C8B-B14F-4D97-AF65-F5344CB8AC3E}">
        <p14:creationId xmlns:p14="http://schemas.microsoft.com/office/powerpoint/2010/main" val="552983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>
            <a:extLst>
              <a:ext uri="{FF2B5EF4-FFF2-40B4-BE49-F238E27FC236}">
                <a16:creationId xmlns:a16="http://schemas.microsoft.com/office/drawing/2014/main" id="{79BC0A95-7BE3-4624-8BDA-66F4FD1D0EE1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F1575E53-1D88-4B26-91B3-C91FA8BB823F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data class: bilgi taşıyan sınıf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8EE796E-AA8C-4A62-BB93-FCF63DF6C121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data class, verileri birlikte tutmak için kullanılan bir sınıftır. Bazı yardımcı işlemleri Kotlin hazırlar.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F8FD17E2-E81D-47AB-AA36-C62715331255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6BB027E9-BBFD-411B-8CA8-52D9C591BCD8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data</a:t>
            </a:r>
            <a:r>
              <a:t> </a:t>
            </a:r>
            <a:r>
              <a:rPr>
                <a:solidFill>
                  <a:srgbClr val="6941A5"/>
                </a:solidFill>
              </a:rPr>
              <a:t>class</a:t>
            </a:r>
            <a:r>
              <a:t> Kitap(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ad: String,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sayfa: Int)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696FDD90-79EB-42AF-8461-C3E759A3A648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9CBA1E6B-2110-40B6-B151-1BE144813F16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31F7A16-DA67-4DBE-94F9-2F3720856E5F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kitap = Kitap(</a:t>
            </a:r>
            <a:r>
              <a:rPr>
                <a:solidFill>
                  <a:srgbClr val="397425"/>
                </a:solidFill>
              </a:rPr>
              <a:t>"Kotlin"</a:t>
            </a:r>
            <a:r>
              <a:t>, </a:t>
            </a:r>
            <a:r>
              <a:rPr>
                <a:solidFill>
                  <a:srgbClr val="A45110"/>
                </a:solidFill>
              </a:rPr>
              <a:t>120</a:t>
            </a:r>
            <a:r>
              <a:t>)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58798B83-50DE-436A-A910-F855F51B7944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println(kitap.ad)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BFDF298F-8DA5-4A13-9AE9-3755E2179B38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println(kitap.sayfa)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59A77F2D-35C0-4EE0-B082-1BFE78886136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D6E0D9A3-11BE-46CA-8FA6-AB747E009A01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FECE48E4-F1FB-4587-A19A-554C623CEDD9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Kitap adı ve sayfa sayısı aynı nesnede durur.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3302A757-B656-42F9-B36B-8761B449BED0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data ne ekler?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CEEEED53-C4EC-4E2F-8EE7-33AFB2A9B3F6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Kotlin değer eşitliği, okunur toString ve copy gibi yardımcı üyeler üretir. Şimdilik özellikleri okuyoruz.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B34E220A-69D5-445E-9CA0-82CF91F39083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1AE99B3F-7F06-4EDA-8A87-1F853A4E5A3A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Kotlin</a:t>
            </a:r>
          </a:p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120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DBE19B0C-D26C-4852-90AB-FE797B6028DD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18 / 43</a:t>
            </a:r>
          </a:p>
        </p:txBody>
      </p:sp>
    </p:spTree>
    <p:extLst>
      <p:ext uri="{BB962C8B-B14F-4D97-AF65-F5344CB8AC3E}">
        <p14:creationId xmlns:p14="http://schemas.microsoft.com/office/powerpoint/2010/main" val="140792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kdörtgen 19">
            <a:extLst>
              <a:ext uri="{FF2B5EF4-FFF2-40B4-BE49-F238E27FC236}">
                <a16:creationId xmlns:a16="http://schemas.microsoft.com/office/drawing/2014/main" id="{1DA9A5F2-7E8A-43D1-91F6-BE04C24704EC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66C75476-8F72-47D2-8B62-796219AD27FD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copy: veriden yeni bir örnek üretmek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F2A1471-DAAC-42B5-A85F-4323220ABF77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copy, mevcut data class nesnesinden bazı değerleri değiştirerek yeni bir nesne oluşturur.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96A13EDF-B19A-46EC-98E3-02480A232EBF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99B7D463-70F2-4283-B25E-F52410188B63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data</a:t>
            </a:r>
            <a:r>
              <a:t> </a:t>
            </a:r>
            <a:r>
              <a:rPr>
                <a:solidFill>
                  <a:srgbClr val="6941A5"/>
                </a:solidFill>
              </a:rPr>
              <a:t>class</a:t>
            </a:r>
            <a:r>
              <a:t> Kitap(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ad: String,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sayfa: Int)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BB333468-E0E1-4192-AF2F-AF122682909D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6D3708D-B246-4C74-85B6-E208929ECCFA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1C020575-90B8-43C2-962B-A508595AA79E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ilk = Kitap(</a:t>
            </a:r>
            <a:r>
              <a:rPr>
                <a:solidFill>
                  <a:srgbClr val="397425"/>
                </a:solidFill>
              </a:rPr>
              <a:t>"Kotlin"</a:t>
            </a:r>
            <a:r>
              <a:t>, </a:t>
            </a:r>
            <a:r>
              <a:rPr>
                <a:solidFill>
                  <a:srgbClr val="A45110"/>
                </a:solidFill>
              </a:rPr>
              <a:t>120</a:t>
            </a:r>
            <a:r>
              <a:t>)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6313948-F166-463F-A2AC-9AA6454C4D71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yeni = ilk.copy(sayfa = </a:t>
            </a:r>
            <a:r>
              <a:rPr>
                <a:solidFill>
                  <a:srgbClr val="A45110"/>
                </a:solidFill>
              </a:rPr>
              <a:t>150</a:t>
            </a:r>
            <a:r>
              <a:t>)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282EB666-75F6-4B3E-9872-61264D71D036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println(ilk.sayfa)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BFE12F2B-6A67-4DCC-A93E-5C68DA42FC1F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println(yeni.sayfa)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6BB6F06D-90F9-483D-93A2-016F94E7FC98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C41763D4-0FB1-460A-BF80-2DED156DF74B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İlk nesne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53ACB2DD-EB0C-4FD7-BB43-54BF61AE030F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ilk kitabın sayfa değeri 120 olarak kalır.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7696A006-E4E1-4C72-AF06-E044B72F0444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Yeni nesne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65D6FA39-B5D2-456E-A69D-51277173127F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yeni, aynı adla ama 150 sayfa değeriyle oluşur. copy mevcut nesneyi değiştirmez.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149A0F21-A819-462F-AD37-7F069E3575DA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0B9079DF-FB56-4990-A702-7FF632D5B68E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120</a:t>
            </a:r>
          </a:p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150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2B82342A-DCB6-4B23-B246-BEF35256044A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19 / 43</a:t>
            </a:r>
          </a:p>
        </p:txBody>
      </p:sp>
    </p:spTree>
    <p:extLst>
      <p:ext uri="{BB962C8B-B14F-4D97-AF65-F5344CB8AC3E}">
        <p14:creationId xmlns:p14="http://schemas.microsoft.com/office/powerpoint/2010/main" val="595165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kdörtgen 19">
            <a:extLst>
              <a:ext uri="{FF2B5EF4-FFF2-40B4-BE49-F238E27FC236}">
                <a16:creationId xmlns:a16="http://schemas.microsoft.com/office/drawing/2014/main" id="{BF9EE335-0F6C-4148-9B6A-0341E606DBC0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B437F769-0FE2-4EE3-A231-BC290FC830D3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== ile === farkı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FC97F41E-265A-40B8-8AEE-90BDCABC8472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== değer eşitliğini sorgular. === iki referansın aynı nesneyi gösterip göstermediğini sorgular.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549B5E78-BC55-4D98-AD23-C13D5BEDA348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C426B156-6613-4353-B673-220093958259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data</a:t>
            </a:r>
            <a:r>
              <a:t> </a:t>
            </a:r>
            <a:r>
              <a:rPr>
                <a:solidFill>
                  <a:srgbClr val="6941A5"/>
                </a:solidFill>
              </a:rPr>
              <a:t>class</a:t>
            </a:r>
            <a:r>
              <a:t> Kitap(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ad: String)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34C7C655-3A40-4934-91EE-CE2E852EC7E3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136FBA79-D6D3-4532-A5D4-5C3DCF27E3A1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040CDA37-33FB-4821-AA8E-CBF0E8C4AD0C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a = Kitap(</a:t>
            </a:r>
            <a:r>
              <a:rPr>
                <a:solidFill>
                  <a:srgbClr val="397425"/>
                </a:solidFill>
              </a:rPr>
              <a:t>"Kotlin"</a:t>
            </a:r>
            <a:r>
              <a:t>)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05F9757D-D140-4C2E-936D-6BF3DF57BE6D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b = Kitap(</a:t>
            </a:r>
            <a:r>
              <a:rPr>
                <a:solidFill>
                  <a:srgbClr val="397425"/>
                </a:solidFill>
              </a:rPr>
              <a:t>"Kotlin"</a:t>
            </a:r>
            <a:r>
              <a:t>)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084AB206-3EFD-4132-9F7B-1A276038CA5F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println(a == b)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31FBE14E-0A64-48C8-8D98-2A11E703151E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println(a === b)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9DD20A18-19A7-4B5F-84C1-6F71DE29BA26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96563BDB-8742-4864-AC5C-F9AE713576ED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a == b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C4FC750B-B83C-49F5-BA83-9EE177576C96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data class, ad değerlerini karşılaştırır. İkisi Kotlin olduğu için true olur.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AC849EF8-C76C-476F-A2D2-3EE90BAA0C19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a === b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72079B8A-BCCF-40E9-B18A-6D95A3EA6050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İki ayrı Kitap(...) çağrısı var. Ayrı nesneler oldukları için false olur.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4ADEA87B-9ECC-4C8B-AA95-415EE4D8BBE5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2584C379-1E44-4509-BCDB-1F20A46B4FF2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true</a:t>
            </a:r>
          </a:p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false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4EFAD7CA-6102-452B-AC1F-0F0AFC7F3B08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20 / 43</a:t>
            </a:r>
          </a:p>
        </p:txBody>
      </p:sp>
    </p:spTree>
    <p:extLst>
      <p:ext uri="{BB962C8B-B14F-4D97-AF65-F5344CB8AC3E}">
        <p14:creationId xmlns:p14="http://schemas.microsoft.com/office/powerpoint/2010/main" val="1507615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>
            <a:extLst>
              <a:ext uri="{FF2B5EF4-FFF2-40B4-BE49-F238E27FC236}">
                <a16:creationId xmlns:a16="http://schemas.microsoft.com/office/drawing/2014/main" id="{268C2FD5-2DD8-40B3-9C14-7DCEF063B3CD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D2692517-D16E-4947-A0A5-AEACF6798089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object: tek bir ortak örnek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E8F19C93-D448-42C0-B247-46BFD4005CFC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object ile bir sınıf tanımı ve onun adlandırılmış tek örneğini birlikte oluştururuz.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3E081F92-918F-43CA-AC30-96EDDC8F4040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FAC410A2-56A2-4888-8ABB-E4D8D223305B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object</a:t>
            </a:r>
            <a:r>
              <a:t> UygulamaBilgisi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06BF6B91-A2F4-418D-AFA9-5D4DEB308D60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ad = </a:t>
            </a:r>
            <a:r>
              <a:rPr>
                <a:solidFill>
                  <a:srgbClr val="397425"/>
                </a:solidFill>
              </a:rPr>
              <a:t>"Not Defteri"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B2875BB3-59B0-4C03-8833-8E21223B6127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E577AE4C-5DE6-470A-93CE-A8A23AFDD6F0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854ECDB0-DC2A-4ED7-88CF-BEA79E92BC24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62AFC4E8-AC53-464D-BD1B-4FBE19A2BDDD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println(UygulamaBilgisi.ad)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340EA8EA-C987-4770-B913-06816443E91B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E800EDE-45AC-414A-8B63-1BF270AB1F99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Kullanım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66846D3D-063A-4B05-88C9-E12DB61D4A94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UygulamaBilgisi() yazmadan, doğrudan adı üzerinden erişiriz.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9F125A7E-055E-47AC-AED6-988B1874D6C6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Amaç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922755F6-96ED-4997-A82D-6B8F93A0DFFE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Birden fazla örneğe ihtiyaç olmayan ortak bilgileri veya işlemleri bir yerde sunabiliriz.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307BADE2-4CD4-4DC2-9DB2-A59933F3FE8F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8996C17C-8948-42AC-AED9-6DA1B8739AA3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Not Defteri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04D02403-542E-4232-9406-B71DFBFAB73B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21 / 43</a:t>
            </a:r>
          </a:p>
        </p:txBody>
      </p:sp>
    </p:spTree>
    <p:extLst>
      <p:ext uri="{BB962C8B-B14F-4D97-AF65-F5344CB8AC3E}">
        <p14:creationId xmlns:p14="http://schemas.microsoft.com/office/powerpoint/2010/main" val="1426671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ikdörtgen 22">
            <a:extLst>
              <a:ext uri="{FF2B5EF4-FFF2-40B4-BE49-F238E27FC236}">
                <a16:creationId xmlns:a16="http://schemas.microsoft.com/office/drawing/2014/main" id="{0961C663-A764-46D1-916A-C9C86A587BCA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80DFFD2E-7DD2-45AC-BDAB-B7155999F88E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companion object: sınıf adıyla çağrı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FE5905DD-91A7-413A-8B5F-46230D7CCE18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companion object içindeki bir işlemi, sınıf adını kullanarak çağırabiliriz.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884BE625-1771-4968-921D-B2413C52FFA6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8A47607F-CCB5-455B-8B1B-30B5CEC638CC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Kitap(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ad: String)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47758352-C87E-4738-B8F3-727C69A8E5D1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companion</a:t>
            </a:r>
            <a:r>
              <a:t> </a:t>
            </a:r>
            <a:r>
              <a:rPr>
                <a:solidFill>
                  <a:srgbClr val="6941A5"/>
                </a:solidFill>
              </a:rPr>
              <a:t>object</a:t>
            </a:r>
            <a:r>
              <a:t> {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6DCB485A-D220-40FB-A88C-1A18BEEDEA77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ornek(): Kitap {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9242E29-5024-4843-93FD-B41D41246576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   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Kitap(</a:t>
            </a:r>
            <a:r>
              <a:rPr>
                <a:solidFill>
                  <a:srgbClr val="397425"/>
                </a:solidFill>
              </a:rPr>
              <a:t>"Kotlin"</a:t>
            </a:r>
            <a:r>
              <a:t>)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7344935-4CC0-4C46-8EB6-6691C21D1F88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}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4D9FA848-BCB9-4683-85E4-21357B517F91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026A6A68-4313-463C-95D3-F899DB67A4A7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F7E001C1-8623-4D4A-979B-BDF09B3EB8ED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037550E3-1260-4134-B9F3-7410E9C35C70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kitap = Kitap.ornek()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32DD249E-8E70-434A-B6E6-ECCDB7F9C94E}"/>
              </a:ext>
            </a:extLst>
          </p:cNvPr>
          <p:cNvSpPr>
            <a:spLocks noGrp="1"/>
          </p:cNvSpPr>
          <p:nvPr/>
        </p:nvSpPr>
        <p:spPr>
          <a:xfrm>
            <a:off x="742950" y="59721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println(kitap.ad)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603A4631-E65D-4555-984C-97E3517185F4}"/>
              </a:ext>
            </a:extLst>
          </p:cNvPr>
          <p:cNvSpPr>
            <a:spLocks noGrp="1"/>
          </p:cNvSpPr>
          <p:nvPr/>
        </p:nvSpPr>
        <p:spPr>
          <a:xfrm>
            <a:off x="742950" y="62960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F864CCFB-F0A0-43A1-B944-596ED6C33A81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Kitap.ornek()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3C576E3E-3773-4F4B-8797-69C7198B7AE7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Önceden bir Kitap nesnesi oluşturmadan sınıf adıyla işlemi çağırırız.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2D385E45-268E-440C-B3A0-89D8A5F21510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return Kitap("Kotlin")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7129153C-7671-4057-B9A2-0A19D1B82148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Fonksiyon örnek bir Kitap nesnesi üretip döndürür. Buna fabrika metodu denebilir.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8DE3497A-83EE-4DD6-B48E-9A55F1C5DB67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C2DDA49C-B8DC-4C5E-8C58-A3AA5886C3C9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Kotlin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337C2F5-FEAD-4207-A907-FDB98E3B101E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22 / 43</a:t>
            </a:r>
          </a:p>
        </p:txBody>
      </p:sp>
    </p:spTree>
    <p:extLst>
      <p:ext uri="{BB962C8B-B14F-4D97-AF65-F5344CB8AC3E}">
        <p14:creationId xmlns:p14="http://schemas.microsoft.com/office/powerpoint/2010/main" val="1149812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kdörtgen 19">
            <a:extLst>
              <a:ext uri="{FF2B5EF4-FFF2-40B4-BE49-F238E27FC236}">
                <a16:creationId xmlns:a16="http://schemas.microsoft.com/office/drawing/2014/main" id="{442EB1EF-B2D9-4A99-A0A8-915C56E69BB5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85700ADF-5B0E-40E0-B5ED-BA7DF319F77A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İç içe sınıf: nested class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04A60DE7-179C-4973-8889-C2605F080CC2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Bir sınıfı başka bir sınıfın içinde tanımlayabiliriz.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8F50F2AD-70F3-460E-A0B2-986ACB01A051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34F0FA3D-CCB5-401C-A6C1-06D3EC07EC0A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Defter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B5C6BB3A-214E-47C4-89E5-0E008C806473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class</a:t>
            </a:r>
            <a:r>
              <a:t> Sayfa(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numara: Int)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4205537C-91BF-417A-A840-D0C8CA78175D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AB5AA4A-68C3-4BA2-A18A-3E5F16E73CB7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54DBE5D-E636-46C0-88CA-3711EA96B41C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95FEBD14-7624-4BAA-A274-305A38349527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sayfa = Defter.Sayfa(</a:t>
            </a:r>
            <a:r>
              <a:rPr>
                <a:solidFill>
                  <a:srgbClr val="A45110"/>
                </a:solidFill>
              </a:rPr>
              <a:t>1</a:t>
            </a:r>
            <a:r>
              <a:t>)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9AC9EF32-B288-4959-9272-AC74DE59DBA1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println(sayfa.numara)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64C832B8-1448-44FB-855D-30F7B6D3D2E6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232A9EE2-F4E4-4E9A-86F9-417A15AEE8E6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Defter.Sayfa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FBCEE468-4542-49D6-967E-19572B6B8D96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Sayfa tipinin Defter içinde tanımlandığını belirtir.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9AB31040-D8EE-40BC-A097-E2E3C7944B6D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Nesne bağı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698F8159-3054-4AF2-9CF7-4EF51862B654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Bu normal nested sınıf için önce Defter nesnesi oluşturmak gerekmez. inner yazılırsa dış nesneye bağlanır.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CBDC08BB-291A-4EF5-99C8-F5600DBC27F6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B01E5872-DA73-4B69-A68C-24F02178A07A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D0CCD8F5-9838-41FB-82EB-DABB6DD51515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23 / 43</a:t>
            </a:r>
          </a:p>
        </p:txBody>
      </p:sp>
    </p:spTree>
    <p:extLst>
      <p:ext uri="{BB962C8B-B14F-4D97-AF65-F5344CB8AC3E}">
        <p14:creationId xmlns:p14="http://schemas.microsoft.com/office/powerpoint/2010/main" val="157338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ikdörtgen 17">
            <a:extLst>
              <a:ext uri="{FF2B5EF4-FFF2-40B4-BE49-F238E27FC236}">
                <a16:creationId xmlns:a16="http://schemas.microsoft.com/office/drawing/2014/main" id="{C7702ABA-C3A9-46D7-8C81-9D7512ACB673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94BEB002-45A1-448E-BE9D-05ECA8A02808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Lambda: isimsiz kısa fonksiyon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18A8555E-93F8-4161-89EE-D2155EE5D436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Bir işlemi değişkende tutabilir veya başka bir fonksiyona gönderebiliriz.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E06861BC-9D7E-40FB-A2E7-938ADEB7074F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D77DCCF6-74B8-40D5-AE2E-A76954D5542D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E5E6E18F-E563-4C2E-8D87-D65028E9C6E6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selam: () -&gt; Unit = {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94E5931-18EA-4341-97CC-03090837969A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println(</a:t>
            </a:r>
            <a:r>
              <a:rPr>
                <a:solidFill>
                  <a:srgbClr val="397425"/>
                </a:solidFill>
              </a:rPr>
              <a:t>"Merhaba"</a:t>
            </a:r>
            <a:r>
              <a:t>)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B706B7B-84B4-41C0-9D3C-375F897A8F99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A855D1E-FD26-48E5-9838-D510F3978AAA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selam()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9D51725-EEDF-4EAE-847C-AE77D0BA6D46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72869AC4-B852-4EAD-BD53-4867799AC149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() -&gt; Unit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E240111F-C291-4313-A8BC-F157FFDD8BAE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Parametre almayan, anlamlı bir sonuç döndürmeyen fonksiyon tipidir.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9EE14C1A-7347-44EE-B2E0-6505DBA3CBFD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{ ... }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79BE7BFC-45A4-4823-84AD-B1C903B8448D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Lambda gövdesini oluşturur. selam() bu gövdeyi çalıştırır.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92CF66C8-9AAA-405C-82D0-A3C68E9CFB58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BD508975-7AF7-4194-B1C0-342AE2E2733D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Merhaba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67EE7FAA-12BA-4871-8D91-CFA37E834DB3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24 / 43</a:t>
            </a:r>
          </a:p>
        </p:txBody>
      </p:sp>
    </p:spTree>
    <p:extLst>
      <p:ext uri="{BB962C8B-B14F-4D97-AF65-F5344CB8AC3E}">
        <p14:creationId xmlns:p14="http://schemas.microsoft.com/office/powerpoint/2010/main" val="246341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kdörtgen 19">
            <a:extLst>
              <a:ext uri="{FF2B5EF4-FFF2-40B4-BE49-F238E27FC236}">
                <a16:creationId xmlns:a16="http://schemas.microsoft.com/office/drawing/2014/main" id="{BB1CECCB-5C40-4796-A647-9F7E97B7613B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8C37052B-BB4F-4EE9-9661-FC6C237FB69D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Generic: kullanılacak tipi dışarıdan seçmek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0F5A528C-DAA8-47B0-BEEE-C6648AEB3571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 dirty="0">
                <a:solidFill>
                  <a:srgbClr val="526A77"/>
                </a:solidFill>
                <a:latin typeface="Arial"/>
                <a:ea typeface="Arial"/>
                <a:cs typeface="Arial"/>
              </a:rPr>
              <a:t>Generic </a:t>
            </a:r>
            <a:r>
              <a:rPr sz="2250" b="0" dirty="0" err="1">
                <a:solidFill>
                  <a:srgbClr val="526A77"/>
                </a:solidFill>
                <a:latin typeface="Arial"/>
                <a:ea typeface="Arial"/>
                <a:cs typeface="Arial"/>
              </a:rPr>
              <a:t>sınıf</a:t>
            </a:r>
            <a:r>
              <a:rPr sz="2250" b="0" dirty="0">
                <a:solidFill>
                  <a:srgbClr val="526A77"/>
                </a:solidFill>
                <a:latin typeface="Arial"/>
                <a:ea typeface="Arial"/>
                <a:cs typeface="Arial"/>
              </a:rPr>
              <a:t>, </a:t>
            </a:r>
            <a:r>
              <a:rPr sz="2250" b="0" dirty="0" err="1">
                <a:solidFill>
                  <a:srgbClr val="526A77"/>
                </a:solidFill>
                <a:latin typeface="Arial"/>
                <a:ea typeface="Arial"/>
                <a:cs typeface="Arial"/>
              </a:rPr>
              <a:t>tutacağı</a:t>
            </a:r>
            <a:r>
              <a:rPr sz="2250" b="0" dirty="0">
                <a:solidFill>
                  <a:srgbClr val="526A77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526A77"/>
                </a:solidFill>
                <a:latin typeface="Arial"/>
                <a:ea typeface="Arial"/>
                <a:cs typeface="Arial"/>
              </a:rPr>
              <a:t>veri</a:t>
            </a:r>
            <a:r>
              <a:rPr sz="2250" b="0" dirty="0">
                <a:solidFill>
                  <a:srgbClr val="526A77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526A77"/>
                </a:solidFill>
                <a:latin typeface="Arial"/>
                <a:ea typeface="Arial"/>
                <a:cs typeface="Arial"/>
              </a:rPr>
              <a:t>tipini</a:t>
            </a:r>
            <a:r>
              <a:rPr sz="2250" b="0" dirty="0">
                <a:solidFill>
                  <a:srgbClr val="526A77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526A77"/>
                </a:solidFill>
                <a:latin typeface="Arial"/>
                <a:ea typeface="Arial"/>
                <a:cs typeface="Arial"/>
              </a:rPr>
              <a:t>kullanıldığı</a:t>
            </a:r>
            <a:r>
              <a:rPr sz="2250" b="0" dirty="0">
                <a:solidFill>
                  <a:srgbClr val="526A77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526A77"/>
                </a:solidFill>
                <a:latin typeface="Arial"/>
                <a:ea typeface="Arial"/>
                <a:cs typeface="Arial"/>
              </a:rPr>
              <a:t>yerde</a:t>
            </a:r>
            <a:r>
              <a:rPr sz="2250" b="0" dirty="0">
                <a:solidFill>
                  <a:srgbClr val="526A77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526A77"/>
                </a:solidFill>
                <a:latin typeface="Arial"/>
                <a:ea typeface="Arial"/>
                <a:cs typeface="Arial"/>
              </a:rPr>
              <a:t>belirlememizi</a:t>
            </a:r>
            <a:r>
              <a:rPr sz="2250" b="0" dirty="0">
                <a:solidFill>
                  <a:srgbClr val="526A77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526A77"/>
                </a:solidFill>
                <a:latin typeface="Arial"/>
                <a:ea typeface="Arial"/>
                <a:cs typeface="Arial"/>
              </a:rPr>
              <a:t>sağlar</a:t>
            </a:r>
            <a:r>
              <a:rPr sz="2250" b="0" dirty="0">
                <a:solidFill>
                  <a:srgbClr val="526A77"/>
                </a:solidFill>
                <a:latin typeface="Arial"/>
                <a:ea typeface="Arial"/>
                <a:cs typeface="Arial"/>
              </a:rPr>
              <a:t>.</a:t>
            </a:r>
            <a:r>
              <a:rPr lang="tr-TR" sz="2250" b="0" dirty="0">
                <a:solidFill>
                  <a:srgbClr val="526A77"/>
                </a:solidFill>
                <a:latin typeface="Arial"/>
                <a:ea typeface="Arial"/>
                <a:cs typeface="Arial"/>
              </a:rPr>
              <a:t> Kod Tekrarını Önleme (</a:t>
            </a:r>
            <a:r>
              <a:rPr lang="tr-TR" sz="2250" b="0" dirty="0" err="1">
                <a:solidFill>
                  <a:srgbClr val="526A77"/>
                </a:solidFill>
                <a:latin typeface="Arial"/>
                <a:ea typeface="Arial"/>
                <a:cs typeface="Arial"/>
              </a:rPr>
              <a:t>Reusability</a:t>
            </a:r>
            <a:r>
              <a:rPr lang="tr-TR" sz="2250" b="0" dirty="0">
                <a:solidFill>
                  <a:srgbClr val="526A77"/>
                </a:solidFill>
                <a:latin typeface="Arial"/>
                <a:ea typeface="Arial"/>
                <a:cs typeface="Arial"/>
              </a:rPr>
              <a:t>): </a:t>
            </a:r>
            <a:r>
              <a:rPr lang="tr-TR" sz="2250" b="0" dirty="0" err="1">
                <a:solidFill>
                  <a:srgbClr val="526A77"/>
                </a:solidFill>
                <a:latin typeface="Arial"/>
                <a:ea typeface="Arial"/>
                <a:cs typeface="Arial"/>
              </a:rPr>
              <a:t>String</a:t>
            </a:r>
            <a:r>
              <a:rPr lang="tr-TR" sz="2250" b="0" dirty="0">
                <a:solidFill>
                  <a:srgbClr val="526A77"/>
                </a:solidFill>
                <a:latin typeface="Arial"/>
                <a:ea typeface="Arial"/>
                <a:cs typeface="Arial"/>
              </a:rPr>
              <a:t>, </a:t>
            </a:r>
            <a:r>
              <a:rPr lang="tr-TR" sz="2250" b="0" dirty="0" err="1">
                <a:solidFill>
                  <a:srgbClr val="526A77"/>
                </a:solidFill>
                <a:latin typeface="Arial"/>
                <a:ea typeface="Arial"/>
                <a:cs typeface="Arial"/>
              </a:rPr>
              <a:t>Int</a:t>
            </a:r>
            <a:r>
              <a:rPr lang="tr-TR" sz="2250" b="0" dirty="0">
                <a:solidFill>
                  <a:srgbClr val="526A77"/>
                </a:solidFill>
                <a:latin typeface="Arial"/>
                <a:ea typeface="Arial"/>
                <a:cs typeface="Arial"/>
              </a:rPr>
              <a:t>, </a:t>
            </a:r>
            <a:r>
              <a:rPr lang="tr-TR" sz="2250" b="0" dirty="0" err="1">
                <a:solidFill>
                  <a:srgbClr val="526A77"/>
                </a:solidFill>
                <a:latin typeface="Arial"/>
                <a:ea typeface="Arial"/>
                <a:cs typeface="Arial"/>
              </a:rPr>
              <a:t>Boolean</a:t>
            </a:r>
            <a:r>
              <a:rPr lang="tr-TR" sz="2250" b="0" dirty="0">
                <a:solidFill>
                  <a:srgbClr val="526A77"/>
                </a:solidFill>
                <a:latin typeface="Arial"/>
                <a:ea typeface="Arial"/>
                <a:cs typeface="Arial"/>
              </a:rPr>
              <a:t> veya kendi oluşturduğun özel sınıflar için ayrı ayrı aynı fonksiyonları/sınıfları yazmak yerine, tek bir jenerik yapı oluşturarak tüm tiplerle çalışabilirsin.</a:t>
            </a:r>
            <a:endParaRPr sz="2250" b="0" dirty="0">
              <a:solidFill>
                <a:srgbClr val="526A7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C087F458-A2A5-4CB8-8444-D6F61866069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6941A5"/>
                </a:solidFill>
              </a:rPr>
              <a:t>class</a:t>
            </a:r>
            <a:r>
              <a:rPr dirty="0"/>
              <a:t> Kutu&lt;T&gt;(</a:t>
            </a:r>
            <a:r>
              <a:rPr dirty="0" err="1">
                <a:solidFill>
                  <a:srgbClr val="6941A5"/>
                </a:solidFill>
              </a:rPr>
              <a:t>val</a:t>
            </a:r>
            <a:r>
              <a:rPr dirty="0"/>
              <a:t> </a:t>
            </a:r>
            <a:r>
              <a:rPr dirty="0" err="1"/>
              <a:t>deger</a:t>
            </a:r>
            <a:r>
              <a:rPr dirty="0"/>
              <a:t>: T)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C05D1B89-5166-4F7F-848C-BF59DD9FA671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1AC6A9EF-CCA0-42B5-9CEB-B1A0BFC1BFAB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6941A5"/>
                </a:solidFill>
              </a:rPr>
              <a:t>fun</a:t>
            </a:r>
            <a:r>
              <a:rPr dirty="0"/>
              <a:t> main() {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9A0C6919-279E-40EA-A706-2D2480FD102F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</a:t>
            </a:r>
            <a:r>
              <a:rPr dirty="0" err="1">
                <a:solidFill>
                  <a:srgbClr val="6941A5"/>
                </a:solidFill>
              </a:rPr>
              <a:t>val</a:t>
            </a:r>
            <a:r>
              <a:rPr dirty="0"/>
              <a:t> </a:t>
            </a:r>
            <a:r>
              <a:rPr dirty="0" err="1"/>
              <a:t>metin</a:t>
            </a:r>
            <a:r>
              <a:rPr dirty="0"/>
              <a:t> = Kutu&lt;String&gt;(</a:t>
            </a:r>
            <a:r>
              <a:rPr dirty="0">
                <a:solidFill>
                  <a:srgbClr val="397425"/>
                </a:solidFill>
              </a:rPr>
              <a:t>"Kotlin"</a:t>
            </a:r>
            <a:r>
              <a:rPr dirty="0"/>
              <a:t>)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A0E0D6D6-FA92-4FD0-A5A0-B5E38328A558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sayi = Kutu&lt;Int&gt;(</a:t>
            </a:r>
            <a:r>
              <a:rPr>
                <a:solidFill>
                  <a:srgbClr val="A45110"/>
                </a:solidFill>
              </a:rPr>
              <a:t>5</a:t>
            </a:r>
            <a:r>
              <a:t>)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7460D207-DF60-4F86-8FE0-0EC951412FA2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println(metin.deger)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8CB17727-EEC0-4075-8E48-0FF606911FC3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println(sayi.deger)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D931F20A-7D9C-49E7-9EA8-7C904404A57D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9EAE373A-DCD1-4C10-9D87-8F8251881D19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00796C"/>
                </a:solidFill>
                <a:latin typeface="Arial"/>
                <a:ea typeface="Arial"/>
                <a:cs typeface="Arial"/>
              </a:rPr>
              <a:t>T</a:t>
            </a:r>
            <a:r>
              <a:rPr lang="tr-TR" sz="2175" b="1" dirty="0">
                <a:solidFill>
                  <a:srgbClr val="00796C"/>
                </a:solidFill>
                <a:latin typeface="Arial"/>
                <a:ea typeface="Arial"/>
                <a:cs typeface="Arial"/>
              </a:rPr>
              <a:t>(</a:t>
            </a:r>
            <a:r>
              <a:rPr lang="tr-TR" sz="2175" b="1" dirty="0" err="1">
                <a:solidFill>
                  <a:srgbClr val="00796C"/>
                </a:solidFill>
                <a:latin typeface="Arial"/>
                <a:ea typeface="Arial"/>
                <a:cs typeface="Arial"/>
              </a:rPr>
              <a:t>type</a:t>
            </a:r>
            <a:r>
              <a:rPr lang="tr-TR" sz="2175" b="1" dirty="0">
                <a:solidFill>
                  <a:srgbClr val="00796C"/>
                </a:solidFill>
                <a:latin typeface="Arial"/>
                <a:ea typeface="Arial"/>
                <a:cs typeface="Arial"/>
              </a:rPr>
              <a:t>)</a:t>
            </a:r>
            <a:endParaRPr sz="2175" b="1" dirty="0">
              <a:solidFill>
                <a:srgbClr val="0079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8A334E74-E722-4B87-A60D-A27728899E0E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Henüz seçilmemiş tipin yer tutucusudur. Bir değer veya değişken değildir.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B9BAAA50-47B7-419D-8B92-44BA38B0A6F5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String ve Int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94F918BD-BA07-4709-B581-9137E8F0944A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İlk kutu metin, ikinci kutu tam sayı taşır. Her kutunun tipi derleme sırasında bilinir.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685B0BBC-3930-4F50-A3BD-5BAE22FD7F78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1FDD0E6E-A332-4176-8860-45112FE64B50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Kotlin</a:t>
            </a:r>
          </a:p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79564E5B-5436-4A13-A683-FF01A5217C1C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25 / 43</a:t>
            </a:r>
          </a:p>
        </p:txBody>
      </p:sp>
    </p:spTree>
    <p:extLst>
      <p:ext uri="{BB962C8B-B14F-4D97-AF65-F5344CB8AC3E}">
        <p14:creationId xmlns:p14="http://schemas.microsoft.com/office/powerpoint/2010/main" val="6617272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kdörtgen 19">
            <a:extLst>
              <a:ext uri="{FF2B5EF4-FFF2-40B4-BE49-F238E27FC236}">
                <a16:creationId xmlns:a16="http://schemas.microsoft.com/office/drawing/2014/main" id="{5D6E5664-5AF1-4A94-B17F-717939924714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7FF35D33-1ED2-42E0-A770-E53D4579E8B6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enum: önceden belli seçenekler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29A90EFE-FC27-4EFA-BCCF-9BFB62750C1D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enum, yalnız belirlediğimiz seçeneklerden birinin kullanılmasını sağlar.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4ED4CD21-9AFB-497E-992F-E3FEDA3DE65C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5B05AE40-CA75-48D1-B997-7AC4B0CDAB29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enum</a:t>
            </a:r>
            <a:r>
              <a:t> </a:t>
            </a:r>
            <a:r>
              <a:rPr>
                <a:solidFill>
                  <a:srgbClr val="6941A5"/>
                </a:solidFill>
              </a:rPr>
              <a:t>class</a:t>
            </a:r>
            <a:r>
              <a:t> Oncelik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B7BFB824-E336-417B-8845-1B8110A2394E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DUSUK, NORMAL, YUKSEK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F337BA2-BE72-4946-83D8-6575B9F139BD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16F29B9A-F47D-4CB7-BF54-2D8706CE984C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931990BB-1914-4B20-867E-C45BA95B5218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987AF3ED-0D62-491B-B270-FB68BD9FBFE7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oncelik = Oncelik.YUKSEK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B23745D0-8F25-4AD1-B47D-A6ACA3D4FF20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println(oncelik)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B5190185-8B7E-4A08-AA41-FB8E6FC1C939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C1761723-1D38-4C30-9146-091B0D9665AA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İzin verilen değerler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6C7EC3BE-B5C4-4D89-BF18-DF3824B4157E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Öncelik olarak DUSUK, NORMAL veya YUKSEK seçilebilir.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0A1BDF63-F56A-4332-8BE4-8D4567B8C980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Yazım güvenliği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BA3F72C0-96D5-4504-8442-20FFB359EF56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Serbest metin yerine belirli bir tip kullanırız. Yanlış bir seçenek adı derleme hatası verir.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D349F2A3-2E25-4A89-B29A-1A24ADDB4C53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BAF3E69E-EB69-45DB-A138-B7A5E9833D0F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YUKSEK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E902BA53-2511-49A9-8DB0-B8437D4DF942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26 / 43</a:t>
            </a:r>
          </a:p>
        </p:txBody>
      </p:sp>
    </p:spTree>
    <p:extLst>
      <p:ext uri="{BB962C8B-B14F-4D97-AF65-F5344CB8AC3E}">
        <p14:creationId xmlns:p14="http://schemas.microsoft.com/office/powerpoint/2010/main" val="1686805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8B196-D153-5715-AAF3-BE0714AE5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kdörtgen 19">
            <a:extLst>
              <a:ext uri="{FF2B5EF4-FFF2-40B4-BE49-F238E27FC236}">
                <a16:creationId xmlns:a16="http://schemas.microsoft.com/office/drawing/2014/main" id="{32F8E3D0-13E9-3174-00C2-A75CEA8521B9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E485407F-02DD-6B05-1774-D7AA8C9EE387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 dirty="0" err="1">
                <a:solidFill>
                  <a:srgbClr val="152F3D"/>
                </a:solidFill>
                <a:latin typeface="Arial"/>
                <a:ea typeface="Arial"/>
                <a:cs typeface="Arial"/>
              </a:rPr>
              <a:t>enum</a:t>
            </a:r>
            <a:r>
              <a:rPr sz="3750" b="1" dirty="0">
                <a:solidFill>
                  <a:srgbClr val="152F3D"/>
                </a:solidFill>
                <a:latin typeface="Arial"/>
                <a:ea typeface="Arial"/>
                <a:cs typeface="Arial"/>
              </a:rPr>
              <a:t>: </a:t>
            </a:r>
            <a:r>
              <a:rPr sz="3750" b="1" dirty="0" err="1">
                <a:solidFill>
                  <a:srgbClr val="152F3D"/>
                </a:solidFill>
                <a:latin typeface="Arial"/>
                <a:ea typeface="Arial"/>
                <a:cs typeface="Arial"/>
              </a:rPr>
              <a:t>önceden</a:t>
            </a:r>
            <a:r>
              <a:rPr sz="3750" b="1" dirty="0">
                <a:solidFill>
                  <a:srgbClr val="152F3D"/>
                </a:solidFill>
                <a:latin typeface="Arial"/>
                <a:ea typeface="Arial"/>
                <a:cs typeface="Arial"/>
              </a:rPr>
              <a:t> belli </a:t>
            </a:r>
            <a:r>
              <a:rPr sz="3750" b="1" dirty="0" err="1">
                <a:solidFill>
                  <a:srgbClr val="152F3D"/>
                </a:solidFill>
                <a:latin typeface="Arial"/>
                <a:ea typeface="Arial"/>
                <a:cs typeface="Arial"/>
              </a:rPr>
              <a:t>seçenekler</a:t>
            </a:r>
            <a:endParaRPr sz="3750" b="1" dirty="0">
              <a:solidFill>
                <a:srgbClr val="152F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E37CEF8-BC39-468F-09F6-4290EE663D09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DED8ABC3-EAD8-744C-F383-E0C3082E2E43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26 / 43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F3335D8B-34D7-83D4-790B-CC0FBBF1607E}"/>
              </a:ext>
            </a:extLst>
          </p:cNvPr>
          <p:cNvSpPr txBox="1"/>
          <p:nvPr/>
        </p:nvSpPr>
        <p:spPr>
          <a:xfrm>
            <a:off x="1100667" y="3410509"/>
            <a:ext cx="7620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enum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SiparisDurumu</a:t>
            </a:r>
            <a:r>
              <a:rPr lang="tr-TR" dirty="0"/>
              <a:t> {</a:t>
            </a:r>
          </a:p>
          <a:p>
            <a:r>
              <a:rPr lang="tr-TR" dirty="0"/>
              <a:t>    ONAY_BEKLIYOR,</a:t>
            </a:r>
          </a:p>
          <a:p>
            <a:r>
              <a:rPr lang="tr-TR" dirty="0"/>
              <a:t>    HAZIRLANIYOR,</a:t>
            </a:r>
          </a:p>
          <a:p>
            <a:r>
              <a:rPr lang="tr-TR" dirty="0"/>
              <a:t>    YOLDA,</a:t>
            </a:r>
          </a:p>
          <a:p>
            <a:r>
              <a:rPr lang="tr-TR" dirty="0"/>
              <a:t>    TESLIM_EDILDI</a:t>
            </a:r>
          </a:p>
          <a:p>
            <a:r>
              <a:rPr lang="tr-TR" dirty="0"/>
              <a:t>}</a:t>
            </a:r>
          </a:p>
          <a:p>
            <a:endParaRPr lang="tr-TR" dirty="0"/>
          </a:p>
          <a:p>
            <a:r>
              <a:rPr lang="tr-TR" dirty="0" err="1"/>
              <a:t>val</a:t>
            </a:r>
            <a:r>
              <a:rPr lang="tr-TR" dirty="0"/>
              <a:t> </a:t>
            </a:r>
            <a:r>
              <a:rPr lang="tr-TR" dirty="0" err="1"/>
              <a:t>suankiDurum</a:t>
            </a:r>
            <a:r>
              <a:rPr lang="tr-TR" dirty="0"/>
              <a:t> = </a:t>
            </a:r>
            <a:r>
              <a:rPr lang="tr-TR" dirty="0" err="1"/>
              <a:t>SiparisDurumu.YOLDA</a:t>
            </a:r>
            <a:endParaRPr lang="tr-TR" dirty="0"/>
          </a:p>
          <a:p>
            <a:endParaRPr lang="tr-TR" dirty="0"/>
          </a:p>
          <a:p>
            <a:r>
              <a:rPr lang="tr-TR" dirty="0"/>
              <a:t>// </a:t>
            </a:r>
            <a:r>
              <a:rPr lang="tr-TR" dirty="0" err="1"/>
              <a:t>when</a:t>
            </a:r>
            <a:r>
              <a:rPr lang="tr-TR" dirty="0"/>
              <a:t> yapısı tüm durumları kontrol etmeni sağlar</a:t>
            </a:r>
          </a:p>
          <a:p>
            <a:r>
              <a:rPr lang="tr-TR" dirty="0" err="1"/>
              <a:t>when</a:t>
            </a:r>
            <a:r>
              <a:rPr lang="tr-TR" dirty="0"/>
              <a:t> (</a:t>
            </a:r>
            <a:r>
              <a:rPr lang="tr-TR" dirty="0" err="1"/>
              <a:t>suankiDurum</a:t>
            </a:r>
            <a:r>
              <a:rPr lang="tr-TR" dirty="0"/>
              <a:t>) {</a:t>
            </a:r>
          </a:p>
          <a:p>
            <a:r>
              <a:rPr lang="tr-TR" dirty="0"/>
              <a:t>    </a:t>
            </a:r>
            <a:r>
              <a:rPr lang="tr-TR" dirty="0" err="1"/>
              <a:t>SiparisDurumu.ONAY_BEKLIYOR</a:t>
            </a:r>
            <a:r>
              <a:rPr lang="tr-TR" dirty="0"/>
              <a:t> -&gt; </a:t>
            </a:r>
            <a:r>
              <a:rPr lang="tr-TR" dirty="0" err="1"/>
              <a:t>println</a:t>
            </a:r>
            <a:r>
              <a:rPr lang="tr-TR" dirty="0"/>
              <a:t>("Sipariş onaylanacak.")</a:t>
            </a:r>
          </a:p>
          <a:p>
            <a:r>
              <a:rPr lang="tr-TR" dirty="0"/>
              <a:t>    </a:t>
            </a:r>
            <a:r>
              <a:rPr lang="tr-TR" dirty="0" err="1"/>
              <a:t>SiparisDurumu.HAZIRLANIYOR</a:t>
            </a:r>
            <a:r>
              <a:rPr lang="tr-TR" dirty="0"/>
              <a:t> -&gt; </a:t>
            </a:r>
            <a:r>
              <a:rPr lang="tr-TR" dirty="0" err="1"/>
              <a:t>println</a:t>
            </a:r>
            <a:r>
              <a:rPr lang="tr-TR" dirty="0"/>
              <a:t>("Paketleniyor...")</a:t>
            </a:r>
          </a:p>
          <a:p>
            <a:r>
              <a:rPr lang="tr-TR" dirty="0"/>
              <a:t>    </a:t>
            </a:r>
            <a:r>
              <a:rPr lang="tr-TR" dirty="0" err="1"/>
              <a:t>SiparisDurumu.YOLDA</a:t>
            </a:r>
            <a:r>
              <a:rPr lang="tr-TR" dirty="0"/>
              <a:t> -&gt; </a:t>
            </a:r>
            <a:r>
              <a:rPr lang="tr-TR" dirty="0" err="1"/>
              <a:t>println</a:t>
            </a:r>
            <a:r>
              <a:rPr lang="tr-TR" dirty="0"/>
              <a:t>("Kurye yolda.")</a:t>
            </a:r>
          </a:p>
          <a:p>
            <a:r>
              <a:rPr lang="tr-TR" dirty="0"/>
              <a:t>    </a:t>
            </a:r>
            <a:r>
              <a:rPr lang="tr-TR" dirty="0" err="1"/>
              <a:t>SiparisDurumu.TESLIM_EDILDI</a:t>
            </a:r>
            <a:r>
              <a:rPr lang="tr-TR" dirty="0"/>
              <a:t> -&gt; </a:t>
            </a:r>
            <a:r>
              <a:rPr lang="tr-TR" dirty="0" err="1"/>
              <a:t>println</a:t>
            </a:r>
            <a:r>
              <a:rPr lang="tr-TR" dirty="0"/>
              <a:t>("Afiyet olsun!")</a:t>
            </a:r>
          </a:p>
          <a:p>
            <a:r>
              <a:rPr lang="tr-TR" dirty="0"/>
              <a:t>}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DA03CD95-219E-7F8E-8864-B35355095129}"/>
              </a:ext>
            </a:extLst>
          </p:cNvPr>
          <p:cNvSpPr txBox="1"/>
          <p:nvPr/>
        </p:nvSpPr>
        <p:spPr>
          <a:xfrm>
            <a:off x="999066" y="1958244"/>
            <a:ext cx="9849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when</a:t>
            </a:r>
            <a:r>
              <a:rPr lang="tr-TR" dirty="0"/>
              <a:t> Yapısıyla Güçlü Uyum: </a:t>
            </a:r>
            <a:r>
              <a:rPr lang="tr-TR" dirty="0" err="1"/>
              <a:t>Kotlin'de</a:t>
            </a:r>
            <a:r>
              <a:rPr lang="tr-TR" dirty="0"/>
              <a:t> </a:t>
            </a:r>
            <a:r>
              <a:rPr lang="tr-TR" dirty="0" err="1"/>
              <a:t>when</a:t>
            </a:r>
            <a:r>
              <a:rPr lang="tr-TR" dirty="0"/>
              <a:t> (diğer dillerdeki </a:t>
            </a:r>
            <a:r>
              <a:rPr lang="tr-TR" dirty="0" err="1"/>
              <a:t>switch</a:t>
            </a:r>
            <a:r>
              <a:rPr lang="tr-TR" dirty="0"/>
              <a:t>/</a:t>
            </a:r>
            <a:r>
              <a:rPr lang="tr-TR" dirty="0" err="1"/>
              <a:t>case</a:t>
            </a:r>
            <a:r>
              <a:rPr lang="tr-TR" dirty="0"/>
              <a:t>) yapısıyla birlikte kullanıldığında derleyici tüm ihtimalleri yazıp yazmadığını kontrol eder.</a:t>
            </a:r>
          </a:p>
        </p:txBody>
      </p:sp>
    </p:spTree>
    <p:extLst>
      <p:ext uri="{BB962C8B-B14F-4D97-AF65-F5344CB8AC3E}">
        <p14:creationId xmlns:p14="http://schemas.microsoft.com/office/powerpoint/2010/main" val="1766918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3329DA30-082F-401B-976E-C3DB39B680D6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6715C918-86D1-4BCF-BA98-10C297B34504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İyi tasarım için basit sorular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640E48E0-77DA-42D4-AEFC-D608DADAE0E6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Yeni sınıflar eklerken yalnız sözdizimine değil, her sınıfın görevine de bakarız.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5EF9C8A7-3578-409C-9F3E-3C1176313535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Tek sorumluluk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181D79E4-825B-4F2E-B11D-C4DFFE692DA3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Bu sınıfın görevi açık mı? Ekran gösterme ile dosyaya kayıt aynı yerde gereksiz yere karışıyor mu?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A199DD70-81FD-40F9-8808-5BEADB24D1D1}"/>
              </a:ext>
            </a:extLst>
          </p:cNvPr>
          <p:cNvSpPr>
            <a:spLocks noGrp="1"/>
          </p:cNvSpPr>
          <p:nvPr/>
        </p:nvSpPr>
        <p:spPr>
          <a:xfrm>
            <a:off x="742950" y="4600575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İşbirliği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15CF3DB0-588F-4503-857C-0EE5885706C5}"/>
              </a:ext>
            </a:extLst>
          </p:cNvPr>
          <p:cNvSpPr>
            <a:spLocks noGrp="1"/>
          </p:cNvSpPr>
          <p:nvPr/>
        </p:nvSpPr>
        <p:spPr>
          <a:xfrm>
            <a:off x="4552950" y="4600575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Bir sınıf diğerini kullanıyor mu, gerçekten onun alt türü mü? Buna göre ilişki seçilir.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9A7DA64F-9705-4FA7-A9D1-A21EF4017F24}"/>
              </a:ext>
            </a:extLst>
          </p:cNvPr>
          <p:cNvSpPr>
            <a:spLocks noGrp="1"/>
          </p:cNvSpPr>
          <p:nvPr/>
        </p:nvSpPr>
        <p:spPr>
          <a:xfrm>
            <a:off x="742950" y="609600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Sözleşme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558A077E-2137-4E74-8BF2-58AF058A344B}"/>
              </a:ext>
            </a:extLst>
          </p:cNvPr>
          <p:cNvSpPr>
            <a:spLocks noGrp="1"/>
          </p:cNvSpPr>
          <p:nvPr/>
        </p:nvSpPr>
        <p:spPr>
          <a:xfrm>
            <a:off x="4552950" y="609600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Aynı interface’i uygulayan sınıflar, vaat edilen davranışı tutarlı biçimde sağlıyor mu?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F98042E9-4C2C-4747-8C59-B357E732A625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31 / 43</a:t>
            </a:r>
          </a:p>
        </p:txBody>
      </p:sp>
    </p:spTree>
    <p:extLst>
      <p:ext uri="{BB962C8B-B14F-4D97-AF65-F5344CB8AC3E}">
        <p14:creationId xmlns:p14="http://schemas.microsoft.com/office/powerpoint/2010/main" val="16306698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4561C0F0-25F2-487E-8963-6FEF39B71D49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927BF064-7F8E-4D0C-AB80-6C25FC725FEB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Kalıtım ve interface alıştırması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DAC2C626-4BF2-47F8-912A-70DA0468066B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Önce kendi cevabını düşün. Sonra kodu çalıştırarak kontrol et.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F716F0C9-B03C-4D21-9FFB-0BFD7E0A6B5D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Kalıtım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848164BA-1D42-47AB-AE5F-3A62CF9DDCC9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TelefonBildirimi bir Bildirim türüyse hangi sınıf üst sınıftır?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BB7B15D0-6C75-473D-B1F8-F18B404352A6}"/>
              </a:ext>
            </a:extLst>
          </p:cNvPr>
          <p:cNvSpPr>
            <a:spLocks noGrp="1"/>
          </p:cNvSpPr>
          <p:nvPr/>
        </p:nvSpPr>
        <p:spPr>
          <a:xfrm>
            <a:off x="742950" y="4600575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override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CE11679A-41A5-492F-9A48-18495F0056B5}"/>
              </a:ext>
            </a:extLst>
          </p:cNvPr>
          <p:cNvSpPr>
            <a:spLocks noGrp="1"/>
          </p:cNvSpPr>
          <p:nvPr/>
        </p:nvSpPr>
        <p:spPr>
          <a:xfrm>
            <a:off x="4552950" y="4600575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Üst sınıftaki değiştirilebilir goster işlemini alt sınıfta hangi sözcükle yeniden yazarız?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958DE6E1-91DD-4B6D-9396-33ACAED1A88F}"/>
              </a:ext>
            </a:extLst>
          </p:cNvPr>
          <p:cNvSpPr>
            <a:spLocks noGrp="1"/>
          </p:cNvSpPr>
          <p:nvPr/>
        </p:nvSpPr>
        <p:spPr>
          <a:xfrm>
            <a:off x="742950" y="609600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34AC1AB4-2A04-4B75-804A-97335AD7BBC6}"/>
              </a:ext>
            </a:extLst>
          </p:cNvPr>
          <p:cNvSpPr>
            <a:spLocks noGrp="1"/>
          </p:cNvSpPr>
          <p:nvPr/>
        </p:nvSpPr>
        <p:spPr>
          <a:xfrm>
            <a:off x="4552950" y="609600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Rapor ve Fatura için ortak yazdir işlemini hangi yapıyla tanımlarız?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0A779D8F-C528-4799-B9B1-06CEB4C3DEC9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32 / 43</a:t>
            </a:r>
          </a:p>
        </p:txBody>
      </p:sp>
    </p:spTree>
    <p:extLst>
      <p:ext uri="{BB962C8B-B14F-4D97-AF65-F5344CB8AC3E}">
        <p14:creationId xmlns:p14="http://schemas.microsoft.com/office/powerpoint/2010/main" val="605903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906E59B0-058C-4240-8701-178AE2D2B810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795EF8D5-0917-4BB1-8ED5-3401CC0B54FE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Kalıtım ve interface ile daha büyük örnekler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EDD89DC-DA42-4AA4-9EF3-B430A04233FE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Önce tek davranışı değiştireceğiz. Sonra farklı nesneleri ortak bir programda kullanacağız.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F0FBA8E8-7DC8-4CBE-8B83-53BCF1B2C609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Küçük adımlar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A9309F6E-785B-4CDE-8727-F1E8A9E0BB28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protected, ortak türde liste ve interface üzerinden çalışan fonksiyon.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A09F1D25-46C3-4AB0-85AC-91A187E4092F}"/>
              </a:ext>
            </a:extLst>
          </p:cNvPr>
          <p:cNvSpPr>
            <a:spLocks noGrp="1"/>
          </p:cNvSpPr>
          <p:nvPr/>
        </p:nvSpPr>
        <p:spPr>
          <a:xfrm>
            <a:off x="742950" y="4600575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Birinci program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8E964EFF-02E2-49EA-958D-5DD8649EB83B}"/>
              </a:ext>
            </a:extLst>
          </p:cNvPr>
          <p:cNvSpPr>
            <a:spLocks noGrp="1"/>
          </p:cNvSpPr>
          <p:nvPr/>
        </p:nvSpPr>
        <p:spPr>
          <a:xfrm>
            <a:off x="4552950" y="4600575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Farklı kargo türleri kendi ücret hesabını yapacak. Hesap değerleri ders için uydurulmuştur.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B95CA1B9-E641-4B51-8A9C-AD880CDEDD30}"/>
              </a:ext>
            </a:extLst>
          </p:cNvPr>
          <p:cNvSpPr>
            <a:spLocks noGrp="1"/>
          </p:cNvSpPr>
          <p:nvPr/>
        </p:nvSpPr>
        <p:spPr>
          <a:xfrm>
            <a:off x="742950" y="609600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İkinci program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B2D0D517-D863-4330-A01D-6B7378856F3C}"/>
              </a:ext>
            </a:extLst>
          </p:cNvPr>
          <p:cNvSpPr>
            <a:spLocks noGrp="1"/>
          </p:cNvSpPr>
          <p:nvPr/>
        </p:nvSpPr>
        <p:spPr>
          <a:xfrm>
            <a:off x="4552950" y="609600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Not servisi bir depo interface’i kullanacak. Bellek deposunu sonradan değiştirebileceğiz.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4989C673-7601-4F9B-A22B-F46362396B5F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33 / 43</a:t>
            </a:r>
          </a:p>
        </p:txBody>
      </p:sp>
    </p:spTree>
    <p:extLst>
      <p:ext uri="{BB962C8B-B14F-4D97-AF65-F5344CB8AC3E}">
        <p14:creationId xmlns:p14="http://schemas.microsoft.com/office/powerpoint/2010/main" val="638678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kdörtgen 23">
            <a:extLst>
              <a:ext uri="{FF2B5EF4-FFF2-40B4-BE49-F238E27FC236}">
                <a16:creationId xmlns:a16="http://schemas.microsoft.com/office/drawing/2014/main" id="{ECE4D15F-1BEF-43D8-8BB4-19EAE3EC0C12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29B5BB80-175B-42B2-884F-40835C3D4B09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protected: alt sınıf da erişebilsin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0EE1604A-9ED9-46EB-9262-CDCBB445373E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protected üye, kendi sınıfı ve alt sınıfları tarafından kullanılabilir.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02FA01D5-D717-4646-8DBA-5A5DAA39C840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13DA434D-CEEF-4366-8675-8D1074EF7C5D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open</a:t>
            </a:r>
            <a:r>
              <a:t> </a:t>
            </a:r>
            <a:r>
              <a:rPr>
                <a:solidFill>
                  <a:srgbClr val="6941A5"/>
                </a:solidFill>
              </a:rPr>
              <a:t>class</a:t>
            </a:r>
            <a:r>
              <a:t> Sayac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39449EF8-15BD-4091-B2B3-3947119A9FE5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protected</a:t>
            </a:r>
            <a:r>
              <a:t> </a:t>
            </a:r>
            <a:r>
              <a:rPr>
                <a:solidFill>
                  <a:srgbClr val="6941A5"/>
                </a:solidFill>
              </a:rPr>
              <a:t>var</a:t>
            </a:r>
            <a:r>
              <a:t> deger = </a:t>
            </a:r>
            <a:r>
              <a:rPr>
                <a:solidFill>
                  <a:srgbClr val="A45110"/>
                </a:solidFill>
              </a:rPr>
              <a:t>0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93E48302-A05E-4F0F-80D7-D2CB1E6A773E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25076A45-ECEB-4A5B-992B-1C01A3C34063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AdimSayaci : Sayac() {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5A8A90C-FFA3-4BC4-8ED2-0B808996D766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ilerle(): Int {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B9FC701F-BF63-48F7-BD71-C0DB1B574F57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deger = deger + </a:t>
            </a:r>
            <a:r>
              <a:rPr>
                <a:solidFill>
                  <a:srgbClr val="A45110"/>
                </a:solidFill>
              </a:rPr>
              <a:t>1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D53DCD9C-8A07-4331-ACC3-65E78FF58CC3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deger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ED01BA9C-38E0-4E79-BC11-0576D3623DD3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0CA22DA2-C617-48C3-8741-A5AECF9C1A53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A7B11395-02B0-4C06-ACAC-D0F0039306F3}"/>
              </a:ext>
            </a:extLst>
          </p:cNvPr>
          <p:cNvSpPr>
            <a:spLocks noGrp="1"/>
          </p:cNvSpPr>
          <p:nvPr/>
        </p:nvSpPr>
        <p:spPr>
          <a:xfrm>
            <a:off x="742950" y="59721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5394CF67-E6CB-4851-B8AB-40AD50BE5011}"/>
              </a:ext>
            </a:extLst>
          </p:cNvPr>
          <p:cNvSpPr>
            <a:spLocks noGrp="1"/>
          </p:cNvSpPr>
          <p:nvPr/>
        </p:nvSpPr>
        <p:spPr>
          <a:xfrm>
            <a:off x="742950" y="62960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println(AdimSayaci().ilerle())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E2EE12E6-4003-4F4F-93D4-B36448A5CB2C}"/>
              </a:ext>
            </a:extLst>
          </p:cNvPr>
          <p:cNvSpPr>
            <a:spLocks noGrp="1"/>
          </p:cNvSpPr>
          <p:nvPr/>
        </p:nvSpPr>
        <p:spPr>
          <a:xfrm>
            <a:off x="742950" y="66198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184AA6C7-F24B-4A76-96E8-85F24A184059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Alt sınıfın erişimi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204E2E2A-E98B-4011-9A6D-91392D064B0D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AdimSayaci, üst sınıftaki deger özelliğini okuyup değiştirebilir.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A96C8F93-5DD9-45FB-9B66-045F08C30F40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Dışarıdan erişim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BC22783B-3976-4BC3-A82B-F890A606DA7C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main içinde doğrudan sayac.deger okunamaz. Sınıfın sunduğu ilerle işlemi çağrılır.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D56A2154-933C-4E7C-99A2-D19CD239BFDD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D51BC72C-80E9-4A13-9148-2C6A39FCBE25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407F0E1B-CDFE-4F4F-AB0F-42D171CE568F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34 / 43</a:t>
            </a:r>
          </a:p>
        </p:txBody>
      </p:sp>
    </p:spTree>
    <p:extLst>
      <p:ext uri="{BB962C8B-B14F-4D97-AF65-F5344CB8AC3E}">
        <p14:creationId xmlns:p14="http://schemas.microsoft.com/office/powerpoint/2010/main" val="2531438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>
            <a:extLst>
              <a:ext uri="{FF2B5EF4-FFF2-40B4-BE49-F238E27FC236}">
                <a16:creationId xmlns:a16="http://schemas.microsoft.com/office/drawing/2014/main" id="{92C5B171-AC16-4329-98A8-6BE655C6FC37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2B773049-5902-47A0-B18F-6172D97175F3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Ortak türde bir nesne listesi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088F6D60-A6A8-4D57-9454-040AFF9FA49D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Listeyi üst sınıf türünde tanımlasak da çağrıda gerçek nesnenin metodu çalışır.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72F11348-516A-4641-AE9E-D94DE396738A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398A81B8-3E24-4C90-A012-E9C59F6A579C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open</a:t>
            </a:r>
            <a:r>
              <a:t> </a:t>
            </a:r>
            <a:r>
              <a:rPr>
                <a:solidFill>
                  <a:srgbClr val="6941A5"/>
                </a:solidFill>
              </a:rPr>
              <a:t>class</a:t>
            </a:r>
            <a:r>
              <a:t> Bildirim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70BF7451-C13E-40FD-AAF3-1D466A8A85DB}"/>
              </a:ext>
            </a:extLst>
          </p:cNvPr>
          <p:cNvSpPr>
            <a:spLocks noGrp="1"/>
          </p:cNvSpPr>
          <p:nvPr/>
        </p:nvSpPr>
        <p:spPr>
          <a:xfrm>
            <a:off x="742950" y="3352800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open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metin(): String = </a:t>
            </a:r>
            <a:r>
              <a:rPr>
                <a:solidFill>
                  <a:srgbClr val="397425"/>
                </a:solidFill>
              </a:rPr>
              <a:t>"Genel"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58D16A55-DDE5-4F60-8E3A-2444D207E3E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B5E40EE2-6FD0-48B4-A390-8A3F7929861D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Sms : Bildirim() {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8069916A-ECFF-4799-85C4-005FDF21F108}"/>
              </a:ext>
            </a:extLst>
          </p:cNvPr>
          <p:cNvSpPr>
            <a:spLocks noGrp="1"/>
          </p:cNvSpPr>
          <p:nvPr/>
        </p:nvSpPr>
        <p:spPr>
          <a:xfrm>
            <a:off x="742950" y="4238625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metin(): String = </a:t>
            </a:r>
            <a:r>
              <a:rPr>
                <a:solidFill>
                  <a:srgbClr val="397425"/>
                </a:solidFill>
              </a:rPr>
              <a:t>"SMS"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30DB359F-B614-4BA9-95C6-85EB1F9C8733}"/>
              </a:ext>
            </a:extLst>
          </p:cNvPr>
          <p:cNvSpPr>
            <a:spLocks noGrp="1"/>
          </p:cNvSpPr>
          <p:nvPr/>
        </p:nvSpPr>
        <p:spPr>
          <a:xfrm>
            <a:off x="742950" y="4533900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2C5263EF-C828-44DB-98C4-497EACF142D9}"/>
              </a:ext>
            </a:extLst>
          </p:cNvPr>
          <p:cNvSpPr>
            <a:spLocks noGrp="1"/>
          </p:cNvSpPr>
          <p:nvPr/>
        </p:nvSpPr>
        <p:spPr>
          <a:xfrm>
            <a:off x="742950" y="4829175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EBA29A85-AF35-484B-BE7D-38BEB174F789}"/>
              </a:ext>
            </a:extLst>
          </p:cNvPr>
          <p:cNvSpPr>
            <a:spLocks noGrp="1"/>
          </p:cNvSpPr>
          <p:nvPr/>
        </p:nvSpPr>
        <p:spPr>
          <a:xfrm>
            <a:off x="742950" y="5124450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liste: List&lt;Bildirim&gt; =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4D7A991F-EAD3-4318-A70D-8839E46798B5}"/>
              </a:ext>
            </a:extLst>
          </p:cNvPr>
          <p:cNvSpPr>
            <a:spLocks noGrp="1"/>
          </p:cNvSpPr>
          <p:nvPr/>
        </p:nvSpPr>
        <p:spPr>
          <a:xfrm>
            <a:off x="742950" y="5419725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listOf(Bildirim(), Sms())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A25B15F2-AC01-47EC-9C41-3950D7FA20F4}"/>
              </a:ext>
            </a:extLst>
          </p:cNvPr>
          <p:cNvSpPr>
            <a:spLocks noGrp="1"/>
          </p:cNvSpPr>
          <p:nvPr/>
        </p:nvSpPr>
        <p:spPr>
          <a:xfrm>
            <a:off x="742950" y="5715000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for</a:t>
            </a:r>
            <a:r>
              <a:t> (bildirim </a:t>
            </a:r>
            <a:r>
              <a:rPr>
                <a:solidFill>
                  <a:srgbClr val="6941A5"/>
                </a:solidFill>
              </a:rPr>
              <a:t>in</a:t>
            </a:r>
            <a:r>
              <a:t> liste) {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C4E637E7-191A-4E04-B91E-E48F76E8B29E}"/>
              </a:ext>
            </a:extLst>
          </p:cNvPr>
          <p:cNvSpPr>
            <a:spLocks noGrp="1"/>
          </p:cNvSpPr>
          <p:nvPr/>
        </p:nvSpPr>
        <p:spPr>
          <a:xfrm>
            <a:off x="742950" y="6010275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println(bildirim.metin())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D4A1B1F2-6E5D-4949-B5A7-BD1863A9FF19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B7988127-9C5E-4F26-B928-2C6E83603B06}"/>
              </a:ext>
            </a:extLst>
          </p:cNvPr>
          <p:cNvSpPr>
            <a:spLocks noGrp="1"/>
          </p:cNvSpPr>
          <p:nvPr/>
        </p:nvSpPr>
        <p:spPr>
          <a:xfrm>
            <a:off x="742950" y="6600825"/>
            <a:ext cx="8782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D6BE1BAC-F66F-4A60-9CAF-06825AAADA4D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Ortak liste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AF363F5A-FA30-4D21-925A-52DA4F923ED8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Her iki nesne de Bildirim olarak kullanılabilir. Bu yüzden aynı listede bulunabilirler.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FF26FE9F-EB56-4FA8-B899-026E822231D3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Farklı sonuç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D620E04C-4B60-4C8F-B9AA-76C7E1F26886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Döngü aynı metin() çağrısını yapar. İlk nesne Genel, Sms nesnesi SMS döndürür.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C6F9B5B4-6914-403B-AC4E-A1940A065B66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85AEDCEF-B335-48DD-8D3F-F4EB6B525483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Genel</a:t>
            </a:r>
          </a:p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SMS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4787CEDB-A480-4438-9771-7384F7C2F622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35 / 43</a:t>
            </a:r>
          </a:p>
        </p:txBody>
      </p:sp>
    </p:spTree>
    <p:extLst>
      <p:ext uri="{BB962C8B-B14F-4D97-AF65-F5344CB8AC3E}">
        <p14:creationId xmlns:p14="http://schemas.microsoft.com/office/powerpoint/2010/main" val="19839589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kdörtgen 23">
            <a:extLst>
              <a:ext uri="{FF2B5EF4-FFF2-40B4-BE49-F238E27FC236}">
                <a16:creationId xmlns:a16="http://schemas.microsoft.com/office/drawing/2014/main" id="{FDBEF81C-DCC1-46D3-8310-0D7111F843EA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5D072687-111D-42D6-924C-43998905EF92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Fonksiyon bir interface kabul ediyor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41CAFE5E-7CF5-445E-A287-7BD32297EDF3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Fonksiyon, belirli bir sınıf yerine ihtiyacı olan işlemin sözleşmesini isteyebilir.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A6A50380-1419-4729-AD2A-236468C743F8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A6A7153C-D9D8-44F0-B2AA-76B52BF6C5D0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interface</a:t>
            </a:r>
            <a:r>
              <a:t> Mesaj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973583CE-A870-456B-BB19-FA81BA1EF362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oku(): String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BD28BDDD-1CBE-46F0-8BF9-00CA684D27C1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FE92736-26E3-4755-8F85-4262BC9F84D0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Selam : Mesaj {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D5EB6E4E-B0B4-4052-85E5-6F921D8742EC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oku(): String = </a:t>
            </a:r>
            <a:r>
              <a:rPr>
                <a:solidFill>
                  <a:srgbClr val="397425"/>
                </a:solidFill>
              </a:rPr>
              <a:t>"Merhaba"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9D2FDBE8-8D3C-4453-A221-3EB4F9EE716D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5F78B03A-060D-4C12-A71D-785A99B44754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goster(mesaj: Mesaj) {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4BE171E5-34DF-42B8-8C4B-C12377CF88B3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println(mesaj.oku())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D44EBD30-7A90-4F9A-A8DB-7355B36EBB74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F50D520C-77F2-4D6C-99CF-372264FE105F}"/>
              </a:ext>
            </a:extLst>
          </p:cNvPr>
          <p:cNvSpPr>
            <a:spLocks noGrp="1"/>
          </p:cNvSpPr>
          <p:nvPr/>
        </p:nvSpPr>
        <p:spPr>
          <a:xfrm>
            <a:off x="742950" y="59721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41E32838-37FB-4CFE-A070-818337DE23B6}"/>
              </a:ext>
            </a:extLst>
          </p:cNvPr>
          <p:cNvSpPr>
            <a:spLocks noGrp="1"/>
          </p:cNvSpPr>
          <p:nvPr/>
        </p:nvSpPr>
        <p:spPr>
          <a:xfrm>
            <a:off x="742950" y="62960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goster(Selam())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5940D880-8FF9-4D23-9319-C63557708E01}"/>
              </a:ext>
            </a:extLst>
          </p:cNvPr>
          <p:cNvSpPr>
            <a:spLocks noGrp="1"/>
          </p:cNvSpPr>
          <p:nvPr/>
        </p:nvSpPr>
        <p:spPr>
          <a:xfrm>
            <a:off x="742950" y="66198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31EE2D01-49E9-47A7-9D21-80053812F1AD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Parametre tipi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F9E8245A-A818-4F00-81A8-2A258266731E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goster, Mesaj sözleşmesini uygulayan bir nesne bekler. Selam böyle bir nesnedir.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E3A4FAAC-4C14-41CF-929F-68D6264BE8A2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Bağımlılık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B9CEDDDB-9291-4C77-8776-9142D3542EB8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goster yalnız oku işlemini bilir. Başka bir Mesaj sınıfı gelirse de aynı çağrıyı yapabilir.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42E6818C-87A1-4F79-AF33-A2C3DE86033D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71F7072-89DC-4A6E-9F5F-789810F54026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Merhaba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B09A0E6F-79DC-443B-B52F-EDD8C24C4D54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36 / 43</a:t>
            </a:r>
          </a:p>
        </p:txBody>
      </p:sp>
    </p:spTree>
    <p:extLst>
      <p:ext uri="{BB962C8B-B14F-4D97-AF65-F5344CB8AC3E}">
        <p14:creationId xmlns:p14="http://schemas.microsoft.com/office/powerpoint/2010/main" val="1303257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kdörtgen 23">
            <a:extLst>
              <a:ext uri="{FF2B5EF4-FFF2-40B4-BE49-F238E27FC236}">
                <a16:creationId xmlns:a16="http://schemas.microsoft.com/office/drawing/2014/main" id="{730F1D81-E6E0-448D-9214-8C6340683044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5A0416D-89FC-4704-8524-44AF103CA193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4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Interface davranışını küçük bir nesneyle denemek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AEC53AAB-9A8C-4100-AF0D-1EC763BF3772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İsmi olan yeni bir sınıf yazmadan, tek kullanımlık bir interface uygulaması oluşturabiliriz.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0EA70351-4BC2-4535-B81D-75A4E218707F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871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7AC4A76D-6F7D-430D-86B1-C0150871218A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interface</a:t>
            </a:r>
            <a:r>
              <a:t> Saat {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FAD5B2B3-122D-4E3E-81E1-A92983AEE24D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saat(): Int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97F4236-68A8-494B-AB67-3353224FF217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76B61DD-93C1-48C8-A28D-F47B758D8F8C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sabahMi(kaynak: Saat): Boolean {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08C72439-E6AD-4445-80EA-A7C049E47B41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kaynak.saat() &lt; </a:t>
            </a:r>
            <a:r>
              <a:rPr>
                <a:solidFill>
                  <a:srgbClr val="A45110"/>
                </a:solidFill>
              </a:rPr>
              <a:t>12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166FB06E-4A10-4E63-A4D4-2D8A3B732175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1BEEC06B-D6EE-45F9-9EC2-D7E972DA37C0}"/>
              </a:ext>
            </a:extLst>
          </p:cNvPr>
          <p:cNvSpPr>
            <a:spLocks noGrp="1"/>
          </p:cNvSpPr>
          <p:nvPr/>
        </p:nvSpPr>
        <p:spPr>
          <a:xfrm>
            <a:off x="742950" y="50006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B3E6E072-70D1-497F-B14F-2D0D9C92151C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sabit = </a:t>
            </a:r>
            <a:r>
              <a:rPr>
                <a:solidFill>
                  <a:srgbClr val="6941A5"/>
                </a:solidFill>
              </a:rPr>
              <a:t>object</a:t>
            </a:r>
            <a:r>
              <a:t> : Saat {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2B727164-9F9C-42A6-B8E6-85239D44BC33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saat(): Int = </a:t>
            </a:r>
            <a:r>
              <a:rPr>
                <a:solidFill>
                  <a:srgbClr val="A45110"/>
                </a:solidFill>
              </a:rPr>
              <a:t>9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2CFBC578-A8A8-47BD-9A7B-838BBC5EDDBE}"/>
              </a:ext>
            </a:extLst>
          </p:cNvPr>
          <p:cNvSpPr>
            <a:spLocks noGrp="1"/>
          </p:cNvSpPr>
          <p:nvPr/>
        </p:nvSpPr>
        <p:spPr>
          <a:xfrm>
            <a:off x="742950" y="59721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A17069A5-D120-4C73-8CD5-115F43ADA014}"/>
              </a:ext>
            </a:extLst>
          </p:cNvPr>
          <p:cNvSpPr>
            <a:spLocks noGrp="1"/>
          </p:cNvSpPr>
          <p:nvPr/>
        </p:nvSpPr>
        <p:spPr>
          <a:xfrm>
            <a:off x="742950" y="629602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println(sabahMi(sabit))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A243D0FA-2902-4F02-BA8C-78737F6700C5}"/>
              </a:ext>
            </a:extLst>
          </p:cNvPr>
          <p:cNvSpPr>
            <a:spLocks noGrp="1"/>
          </p:cNvSpPr>
          <p:nvPr/>
        </p:nvSpPr>
        <p:spPr>
          <a:xfrm>
            <a:off x="742950" y="6619875"/>
            <a:ext cx="878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ADDF4FD0-7C23-4742-8431-E7BD64403D51}"/>
              </a:ext>
            </a:extLst>
          </p:cNvPr>
          <p:cNvSpPr>
            <a:spLocks noGrp="1"/>
          </p:cNvSpPr>
          <p:nvPr/>
        </p:nvSpPr>
        <p:spPr>
          <a:xfrm>
            <a:off x="9944100" y="3000375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object : Saat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1A676183-657B-40BF-A4E6-DB6CA141D454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Saat işlemini burada uygulayan tek bir nesne oluşturur. Bu, adlandırılmış object tanımından farklıdır.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84C58FFF-06E0-4F82-9649-CBA3E6230F63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4514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Kontrollü deneme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53927F0-D6B2-4C6A-9B40-EBCBE14B8DA5}"/>
              </a:ext>
            </a:extLst>
          </p:cNvPr>
          <p:cNvSpPr>
            <a:spLocks noGrp="1"/>
          </p:cNvSpPr>
          <p:nvPr/>
        </p:nvSpPr>
        <p:spPr>
          <a:xfrm>
            <a:off x="9944100" y="5791200"/>
            <a:ext cx="45148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Gerçek saate bakmak yerine 9 döndürüyoruz. Sonucu her çalıştırmada aynı şekilde deneyebiliriz.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6EDE3FD1-8F71-46DD-AB48-A5D12BED97D4}"/>
              </a:ext>
            </a:extLst>
          </p:cNvPr>
          <p:cNvSpPr>
            <a:spLocks noGrp="1"/>
          </p:cNvSpPr>
          <p:nvPr/>
        </p:nvSpPr>
        <p:spPr>
          <a:xfrm>
            <a:off x="742950" y="7496175"/>
            <a:ext cx="1695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F445E765-F639-4D72-81C5-DD4FE501205D}"/>
              </a:ext>
            </a:extLst>
          </p:cNvPr>
          <p:cNvSpPr>
            <a:spLocks noGrp="1"/>
          </p:cNvSpPr>
          <p:nvPr/>
        </p:nvSpPr>
        <p:spPr>
          <a:xfrm>
            <a:off x="2686050" y="7458075"/>
            <a:ext cx="11811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AF868E16-B646-4480-88E0-C5A2D873B01F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37 / 43</a:t>
            </a:r>
          </a:p>
        </p:txBody>
      </p:sp>
    </p:spTree>
    <p:extLst>
      <p:ext uri="{BB962C8B-B14F-4D97-AF65-F5344CB8AC3E}">
        <p14:creationId xmlns:p14="http://schemas.microsoft.com/office/powerpoint/2010/main" val="9050941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E9CF798F-AFDC-4319-96B0-D42F7DB5393C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191D0EC-2145-4481-9EAB-E02C57DDF4EC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Program 1: farklı kargo hesapları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BB9A0849-EC9F-4C49-8638-B4AAE42C0C6D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Standart ve hızlı kargo aynı işlemi sunar, ancak farklı hesap yapar.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EC02E497-68CE-4E83-B670-87C617CE4016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Ortak sözleşme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909C3374-26FD-4590-8AED-4E0B2F698437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Kargo interface’i ucret(kilo): Int işlemini tanımlar. Ders örneğinde ağırlık pozitif tam sayıdır.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270DFDBC-E591-45E6-972F-A12696FE033C}"/>
              </a:ext>
            </a:extLst>
          </p:cNvPr>
          <p:cNvSpPr>
            <a:spLocks noGrp="1"/>
          </p:cNvSpPr>
          <p:nvPr/>
        </p:nvSpPr>
        <p:spPr>
          <a:xfrm>
            <a:off x="742950" y="4600575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İki uygulama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F1973028-38FA-4082-BCA6-AFFC61AF64B6}"/>
              </a:ext>
            </a:extLst>
          </p:cNvPr>
          <p:cNvSpPr>
            <a:spLocks noGrp="1"/>
          </p:cNvSpPr>
          <p:nvPr/>
        </p:nvSpPr>
        <p:spPr>
          <a:xfrm>
            <a:off x="4552950" y="4600575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Standart: 20 + kilo × 5. Hızlı: 40 + kilo × 8. Bunlar gerçek tarife değildir.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EB63091-AB9B-4D34-A01E-ACF5B8BE3AD4}"/>
              </a:ext>
            </a:extLst>
          </p:cNvPr>
          <p:cNvSpPr>
            <a:spLocks noGrp="1"/>
          </p:cNvSpPr>
          <p:nvPr/>
        </p:nvSpPr>
        <p:spPr>
          <a:xfrm>
            <a:off x="742950" y="609600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Ortak kullanım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045DCABF-57E4-486B-9FA6-AA0CA9A5A480}"/>
              </a:ext>
            </a:extLst>
          </p:cNvPr>
          <p:cNvSpPr>
            <a:spLocks noGrp="1"/>
          </p:cNvSpPr>
          <p:nvPr/>
        </p:nvSpPr>
        <p:spPr>
          <a:xfrm>
            <a:off x="4552950" y="609600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main her iki nesneyi Kargo listesinde tutar. Döngü her nesneden kendi hesabını ister.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91A4594E-58C6-4A9F-A3C1-E79E4B52D69A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38 / 43</a:t>
            </a:r>
          </a:p>
        </p:txBody>
      </p:sp>
    </p:spTree>
    <p:extLst>
      <p:ext uri="{BB962C8B-B14F-4D97-AF65-F5344CB8AC3E}">
        <p14:creationId xmlns:p14="http://schemas.microsoft.com/office/powerpoint/2010/main" val="17040067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Dikdörtgen 29">
            <a:extLst>
              <a:ext uri="{FF2B5EF4-FFF2-40B4-BE49-F238E27FC236}">
                <a16:creationId xmlns:a16="http://schemas.microsoft.com/office/drawing/2014/main" id="{911B12E6-3676-4737-A65C-8B6F49B10B44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EE95858D-D95D-4687-B0AC-98CC4580690D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Kargo hesapları: tam program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35D1EB3A-5FA1-4D55-8F28-B4F7A75EDC85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Çağıran kod aynı kalır. Farklı nesneler kendi hesap sonucunu döndürür.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F24578EF-B453-41A6-91EC-A9BE2168D3A5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6762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Sınıflar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FAD1A742-0B59-49DA-8521-8F75ECA2446A}"/>
              </a:ext>
            </a:extLst>
          </p:cNvPr>
          <p:cNvSpPr>
            <a:spLocks noGrp="1"/>
          </p:cNvSpPr>
          <p:nvPr/>
        </p:nvSpPr>
        <p:spPr>
          <a:xfrm>
            <a:off x="7924800" y="2609850"/>
            <a:ext cx="657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Kullanım ve main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933EA88D-5BE1-41C0-9555-72ACB6402438}"/>
              </a:ext>
            </a:extLst>
          </p:cNvPr>
          <p:cNvSpPr>
            <a:spLocks noGrp="1"/>
          </p:cNvSpPr>
          <p:nvPr/>
        </p:nvSpPr>
        <p:spPr>
          <a:xfrm>
            <a:off x="742950" y="300037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interface</a:t>
            </a:r>
            <a:r>
              <a:t> Kargo {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74B4A8C3-C0A8-453B-9CF2-4E0701E4D335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ucret(kilo: Int): Int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90476DB-CD58-4FD7-B1FE-BF60B8140C45}"/>
              </a:ext>
            </a:extLst>
          </p:cNvPr>
          <p:cNvSpPr>
            <a:spLocks noGrp="1"/>
          </p:cNvSpPr>
          <p:nvPr/>
        </p:nvSpPr>
        <p:spPr>
          <a:xfrm>
            <a:off x="742950" y="351472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9E456C36-05F8-4B07-973A-CA6165B69B3A}"/>
              </a:ext>
            </a:extLst>
          </p:cNvPr>
          <p:cNvSpPr>
            <a:spLocks noGrp="1"/>
          </p:cNvSpPr>
          <p:nvPr/>
        </p:nvSpPr>
        <p:spPr>
          <a:xfrm>
            <a:off x="742950" y="377190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Standart : Kargo {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4C05F0CF-D2DA-4E86-A43F-7F5CA5AC63FE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ucret(kilo: Int): Int {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8C148119-9886-47B8-8837-9E0D05CF2B18}"/>
              </a:ext>
            </a:extLst>
          </p:cNvPr>
          <p:cNvSpPr>
            <a:spLocks noGrp="1"/>
          </p:cNvSpPr>
          <p:nvPr/>
        </p:nvSpPr>
        <p:spPr>
          <a:xfrm>
            <a:off x="742950" y="428625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</a:t>
            </a:r>
            <a:r>
              <a:rPr>
                <a:solidFill>
                  <a:srgbClr val="A45110"/>
                </a:solidFill>
              </a:rPr>
              <a:t>20</a:t>
            </a:r>
            <a:r>
              <a:t> + kilo * </a:t>
            </a:r>
            <a:r>
              <a:rPr>
                <a:solidFill>
                  <a:srgbClr val="A45110"/>
                </a:solidFill>
              </a:rPr>
              <a:t>5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3200F571-BA6C-420C-BDF0-8EBEA6C61CF2}"/>
              </a:ext>
            </a:extLst>
          </p:cNvPr>
          <p:cNvSpPr>
            <a:spLocks noGrp="1"/>
          </p:cNvSpPr>
          <p:nvPr/>
        </p:nvSpPr>
        <p:spPr>
          <a:xfrm>
            <a:off x="742950" y="454342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315FED0C-37D5-41C7-87F3-A50D7A0DF2FB}"/>
              </a:ext>
            </a:extLst>
          </p:cNvPr>
          <p:cNvSpPr>
            <a:spLocks noGrp="1"/>
          </p:cNvSpPr>
          <p:nvPr/>
        </p:nvSpPr>
        <p:spPr>
          <a:xfrm>
            <a:off x="742950" y="480060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091C4EBF-78D1-4B8F-8A53-73565FBCF504}"/>
              </a:ext>
            </a:extLst>
          </p:cNvPr>
          <p:cNvSpPr>
            <a:spLocks noGrp="1"/>
          </p:cNvSpPr>
          <p:nvPr/>
        </p:nvSpPr>
        <p:spPr>
          <a:xfrm>
            <a:off x="742950" y="505777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Hizli : Kargo {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539FF2D7-8640-4935-9B7F-971E5A5F573A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ucret(kilo: Int): Int {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699532AF-310B-4067-A19E-A92414E7BB20}"/>
              </a:ext>
            </a:extLst>
          </p:cNvPr>
          <p:cNvSpPr>
            <a:spLocks noGrp="1"/>
          </p:cNvSpPr>
          <p:nvPr/>
        </p:nvSpPr>
        <p:spPr>
          <a:xfrm>
            <a:off x="742950" y="557212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</a:t>
            </a:r>
            <a:r>
              <a:rPr>
                <a:solidFill>
                  <a:srgbClr val="A45110"/>
                </a:solidFill>
              </a:rPr>
              <a:t>40</a:t>
            </a:r>
            <a:r>
              <a:t> + kilo * </a:t>
            </a:r>
            <a:r>
              <a:rPr>
                <a:solidFill>
                  <a:srgbClr val="A45110"/>
                </a:solidFill>
              </a:rPr>
              <a:t>8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57694415-2383-45EA-A5DE-510E07F695D5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9C756F7F-80B8-4E06-92C7-7AF4BA14873A}"/>
              </a:ext>
            </a:extLst>
          </p:cNvPr>
          <p:cNvSpPr>
            <a:spLocks noGrp="1"/>
          </p:cNvSpPr>
          <p:nvPr/>
        </p:nvSpPr>
        <p:spPr>
          <a:xfrm>
            <a:off x="742950" y="608647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15A55A47-D334-4FD7-8A01-A5B051CD7345}"/>
              </a:ext>
            </a:extLst>
          </p:cNvPr>
          <p:cNvSpPr>
            <a:spLocks noGrp="1"/>
          </p:cNvSpPr>
          <p:nvPr/>
        </p:nvSpPr>
        <p:spPr>
          <a:xfrm>
            <a:off x="7924800" y="300037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00709663-51E5-476A-919A-8741D61568C0}"/>
              </a:ext>
            </a:extLst>
          </p:cNvPr>
          <p:cNvSpPr>
            <a:spLocks noGrp="1"/>
          </p:cNvSpPr>
          <p:nvPr/>
        </p:nvSpPr>
        <p:spPr>
          <a:xfrm>
            <a:off x="7924800" y="325755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secenekler: List&lt;Kargo&gt; =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926EB1F9-A13F-4402-90B3-F685EC0932FE}"/>
              </a:ext>
            </a:extLst>
          </p:cNvPr>
          <p:cNvSpPr>
            <a:spLocks noGrp="1"/>
          </p:cNvSpPr>
          <p:nvPr/>
        </p:nvSpPr>
        <p:spPr>
          <a:xfrm>
            <a:off x="7924800" y="351472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listOf(Standart(), Hizli())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A8CA72EA-1915-4818-842E-837EDB5AF1BA}"/>
              </a:ext>
            </a:extLst>
          </p:cNvPr>
          <p:cNvSpPr>
            <a:spLocks noGrp="1"/>
          </p:cNvSpPr>
          <p:nvPr/>
        </p:nvSpPr>
        <p:spPr>
          <a:xfrm>
            <a:off x="7924800" y="377190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kilo = </a:t>
            </a:r>
            <a:r>
              <a:rPr>
                <a:solidFill>
                  <a:srgbClr val="A45110"/>
                </a:solidFill>
              </a:rPr>
              <a:t>3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48908762-E6BB-4E87-965B-D40BAC8D333C}"/>
              </a:ext>
            </a:extLst>
          </p:cNvPr>
          <p:cNvSpPr>
            <a:spLocks noGrp="1"/>
          </p:cNvSpPr>
          <p:nvPr/>
        </p:nvSpPr>
        <p:spPr>
          <a:xfrm>
            <a:off x="7924800" y="402907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for</a:t>
            </a:r>
            <a:r>
              <a:t> (kargo </a:t>
            </a:r>
            <a:r>
              <a:rPr>
                <a:solidFill>
                  <a:srgbClr val="6941A5"/>
                </a:solidFill>
              </a:rPr>
              <a:t>in</a:t>
            </a:r>
            <a:r>
              <a:t> secenekler) {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B754FF15-FA22-45FD-A09E-D660995B869C}"/>
              </a:ext>
            </a:extLst>
          </p:cNvPr>
          <p:cNvSpPr>
            <a:spLocks noGrp="1"/>
          </p:cNvSpPr>
          <p:nvPr/>
        </p:nvSpPr>
        <p:spPr>
          <a:xfrm>
            <a:off x="7924800" y="428625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println(kargo.ucret(kilo))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892B9032-A62A-4B2B-9EA4-0280E2540FB9}"/>
              </a:ext>
            </a:extLst>
          </p:cNvPr>
          <p:cNvSpPr>
            <a:spLocks noGrp="1"/>
          </p:cNvSpPr>
          <p:nvPr/>
        </p:nvSpPr>
        <p:spPr>
          <a:xfrm>
            <a:off x="7924800" y="454342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33CCCD68-13C6-4534-8FC1-44A8BB272447}"/>
              </a:ext>
            </a:extLst>
          </p:cNvPr>
          <p:cNvSpPr>
            <a:spLocks noGrp="1"/>
          </p:cNvSpPr>
          <p:nvPr/>
        </p:nvSpPr>
        <p:spPr>
          <a:xfrm>
            <a:off x="7924800" y="480060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BB0AF33E-AFFC-47E6-8246-6E53B6814F9E}"/>
              </a:ext>
            </a:extLst>
          </p:cNvPr>
          <p:cNvSpPr>
            <a:spLocks noGrp="1"/>
          </p:cNvSpPr>
          <p:nvPr/>
        </p:nvSpPr>
        <p:spPr>
          <a:xfrm>
            <a:off x="742950" y="7362825"/>
            <a:ext cx="1762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Konsol çıktısı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F9E5121F-669F-41D1-BC88-0B6D9DB59319}"/>
              </a:ext>
            </a:extLst>
          </p:cNvPr>
          <p:cNvSpPr>
            <a:spLocks noGrp="1"/>
          </p:cNvSpPr>
          <p:nvPr/>
        </p:nvSpPr>
        <p:spPr>
          <a:xfrm>
            <a:off x="2686050" y="7324725"/>
            <a:ext cx="5143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35</a:t>
            </a:r>
          </a:p>
          <a:p>
            <a:pPr>
              <a:lnSpc>
                <a:spcPct val="108000"/>
              </a:lnSpc>
              <a:buNone/>
              <a:defRPr sz="16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64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5E3F5CC9-3000-4926-9272-D4AE8CECF215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39 / 43</a:t>
            </a:r>
          </a:p>
        </p:txBody>
      </p:sp>
    </p:spTree>
    <p:extLst>
      <p:ext uri="{BB962C8B-B14F-4D97-AF65-F5344CB8AC3E}">
        <p14:creationId xmlns:p14="http://schemas.microsoft.com/office/powerpoint/2010/main" val="1413120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EAE94F28-A787-4954-A28A-9335E6310E87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36265550-1CFE-444D-8E52-AE20081F95BA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Yeni bir kargo türü eklemek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3A98CF13-43B3-4E6A-AD40-54940DFD8CFB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Sözleşme aynı kaldığında, yeni davranışı kendi sınıfında tanımlayabiliriz.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F83E0502-DA1D-4D42-9D2A-7459FE14D53E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Yeni sınıf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AA0295A0-2A94-45E0-B212-1B581DDB4C11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SabitKargo, Kargo interface’ini uygulasın. ucret her çağrıda 50 döndürsün.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BC4AF44D-F81E-4B41-9D25-F082138B754D}"/>
              </a:ext>
            </a:extLst>
          </p:cNvPr>
          <p:cNvSpPr>
            <a:spLocks noGrp="1"/>
          </p:cNvSpPr>
          <p:nvPr/>
        </p:nvSpPr>
        <p:spPr>
          <a:xfrm>
            <a:off x="742950" y="4600575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Listeye ekleme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8EAE7270-4431-4845-8442-DE6059149223}"/>
              </a:ext>
            </a:extLst>
          </p:cNvPr>
          <p:cNvSpPr>
            <a:spLocks noGrp="1"/>
          </p:cNvSpPr>
          <p:nvPr/>
        </p:nvSpPr>
        <p:spPr>
          <a:xfrm>
            <a:off x="4552950" y="4600575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main içindeki listeye SabitKargo() ekle. for döngüsünü değiştirmek gerekmez.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58F21FD-B5F3-4E6B-9931-5FA84EA6F314}"/>
              </a:ext>
            </a:extLst>
          </p:cNvPr>
          <p:cNvSpPr>
            <a:spLocks noGrp="1"/>
          </p:cNvSpPr>
          <p:nvPr/>
        </p:nvSpPr>
        <p:spPr>
          <a:xfrm>
            <a:off x="742950" y="609600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Beklenen sonuç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B00B5E63-1E48-41B6-B8D4-A06BD1248797}"/>
              </a:ext>
            </a:extLst>
          </p:cNvPr>
          <p:cNvSpPr>
            <a:spLocks noGrp="1"/>
          </p:cNvSpPr>
          <p:nvPr/>
        </p:nvSpPr>
        <p:spPr>
          <a:xfrm>
            <a:off x="4552950" y="609600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Aynı 3 kilo girdisiyle sırasıyla 35, 64 ve 50 yazmalı.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3CB4510D-883B-4F50-8945-7B1A6B05BA1E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40 / 43</a:t>
            </a:r>
          </a:p>
        </p:txBody>
      </p:sp>
    </p:spTree>
    <p:extLst>
      <p:ext uri="{BB962C8B-B14F-4D97-AF65-F5344CB8AC3E}">
        <p14:creationId xmlns:p14="http://schemas.microsoft.com/office/powerpoint/2010/main" val="8338367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8F5AA7B9-10D1-4469-9973-CEFCF551C98E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DAF89EC6-8FA9-4B6B-B679-96FC8902D751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Program 2: depo kullanan not servisi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5D40F5C3-7F2A-4EB2-BE9A-F4A17258B6D6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Not ekleme kuralı ile notların nerede tutulacağını farklı sınıflarda ele alacağız.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FFC0BDE6-CCE5-4BA9-8108-68C89AC3B178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Sözleşme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83E0C002-FD0E-4E8D-87E5-AC33C92FA261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NotDeposu ekle ve adet işlemlerini sunar. Servis bu interface üzerinden çalışır.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2AB7749-F59D-403C-A38A-0DE9145CBE96}"/>
              </a:ext>
            </a:extLst>
          </p:cNvPr>
          <p:cNvSpPr>
            <a:spLocks noGrp="1"/>
          </p:cNvSpPr>
          <p:nvPr/>
        </p:nvSpPr>
        <p:spPr>
          <a:xfrm>
            <a:off x="742950" y="4600575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Bellek deposu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A9692063-341F-4A7F-B510-EB2D3059F2D9}"/>
              </a:ext>
            </a:extLst>
          </p:cNvPr>
          <p:cNvSpPr>
            <a:spLocks noGrp="1"/>
          </p:cNvSpPr>
          <p:nvPr/>
        </p:nvSpPr>
        <p:spPr>
          <a:xfrm>
            <a:off x="4552950" y="4600575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BellekDeposu kendi private listesini yönetir. Şimdilik dosyaya kayıt yapmaz.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BB62E4FC-010C-41C1-9840-CED6F95CCA65}"/>
              </a:ext>
            </a:extLst>
          </p:cNvPr>
          <p:cNvSpPr>
            <a:spLocks noGrp="1"/>
          </p:cNvSpPr>
          <p:nvPr/>
        </p:nvSpPr>
        <p:spPr>
          <a:xfrm>
            <a:off x="742950" y="609600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Servis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6DA4C583-E657-498D-8216-B9A4092211B6}"/>
              </a:ext>
            </a:extLst>
          </p:cNvPr>
          <p:cNvSpPr>
            <a:spLocks noGrp="1"/>
          </p:cNvSpPr>
          <p:nvPr/>
        </p:nvSpPr>
        <p:spPr>
          <a:xfrm>
            <a:off x="4552950" y="609600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NotServisi metni temizler ve boş notu reddeder. Depo nesnesini constructor üzerinden alır.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71D0F903-D3C3-4A99-AB78-9F34819641A8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41 / 43</a:t>
            </a:r>
          </a:p>
        </p:txBody>
      </p:sp>
    </p:spTree>
    <p:extLst>
      <p:ext uri="{BB962C8B-B14F-4D97-AF65-F5344CB8AC3E}">
        <p14:creationId xmlns:p14="http://schemas.microsoft.com/office/powerpoint/2010/main" val="2049146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Dikdörtgen 34">
            <a:extLst>
              <a:ext uri="{FF2B5EF4-FFF2-40B4-BE49-F238E27FC236}">
                <a16:creationId xmlns:a16="http://schemas.microsoft.com/office/drawing/2014/main" id="{75EBA5B5-FFC1-41CF-B7B8-95B9430766CB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003627C9-65F5-4C1A-983A-A9FB5B4F6DA8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Not servisi: tam program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68282BBB-D965-40BA-A359-D0DCF9A9CA1C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Depo veriyi tutar. Servis giriş kuralını uygular. main bu nesneleri birbirine bağlar.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42DEC5AE-176B-402F-986C-3FC7FFBB9C3B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6762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Depo sözleşmesi ve uygulaması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1F70DE9F-5DAB-4A33-9492-8EE4A89E1A50}"/>
              </a:ext>
            </a:extLst>
          </p:cNvPr>
          <p:cNvSpPr>
            <a:spLocks noGrp="1"/>
          </p:cNvSpPr>
          <p:nvPr/>
        </p:nvSpPr>
        <p:spPr>
          <a:xfrm>
            <a:off x="7924800" y="2609850"/>
            <a:ext cx="657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Servis ve programın başlangıcı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E9632226-73EA-412E-B16D-33BC044D6077}"/>
              </a:ext>
            </a:extLst>
          </p:cNvPr>
          <p:cNvSpPr>
            <a:spLocks noGrp="1"/>
          </p:cNvSpPr>
          <p:nvPr/>
        </p:nvSpPr>
        <p:spPr>
          <a:xfrm>
            <a:off x="742950" y="300037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interface</a:t>
            </a:r>
            <a:r>
              <a:t> NotDeposu {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820ED856-0D92-4D96-B4D9-60A6DD6A37B3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ekle(metin: String)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2F70478-A612-4571-BA08-A6F87B25759D}"/>
              </a:ext>
            </a:extLst>
          </p:cNvPr>
          <p:cNvSpPr>
            <a:spLocks noGrp="1"/>
          </p:cNvSpPr>
          <p:nvPr/>
        </p:nvSpPr>
        <p:spPr>
          <a:xfrm>
            <a:off x="742950" y="351472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adet(): Int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A5C66C3D-7EC5-413E-9E34-5E16EFBD86DB}"/>
              </a:ext>
            </a:extLst>
          </p:cNvPr>
          <p:cNvSpPr>
            <a:spLocks noGrp="1"/>
          </p:cNvSpPr>
          <p:nvPr/>
        </p:nvSpPr>
        <p:spPr>
          <a:xfrm>
            <a:off x="742950" y="377190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EEC428CB-7642-4E8C-8B10-8812AA2D1267}"/>
              </a:ext>
            </a:extLst>
          </p:cNvPr>
          <p:cNvSpPr>
            <a:spLocks noGrp="1"/>
          </p:cNvSpPr>
          <p:nvPr/>
        </p:nvSpPr>
        <p:spPr>
          <a:xfrm>
            <a:off x="742950" y="402907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BellekDeposu : NotDeposu {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7F6CF9C0-F1F0-4E1E-AC64-64E9AD3965B9}"/>
              </a:ext>
            </a:extLst>
          </p:cNvPr>
          <p:cNvSpPr>
            <a:spLocks noGrp="1"/>
          </p:cNvSpPr>
          <p:nvPr/>
        </p:nvSpPr>
        <p:spPr>
          <a:xfrm>
            <a:off x="742950" y="428625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private</a:t>
            </a:r>
            <a:r>
              <a:t>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notlar = mutableListOf&lt;String&gt;()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47598E1-388E-4B10-962E-4627E9CB2B9A}"/>
              </a:ext>
            </a:extLst>
          </p:cNvPr>
          <p:cNvSpPr>
            <a:spLocks noGrp="1"/>
          </p:cNvSpPr>
          <p:nvPr/>
        </p:nvSpPr>
        <p:spPr>
          <a:xfrm>
            <a:off x="742950" y="454342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ekle(metin: String) {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2DCA56B7-F1D6-483D-B71B-1D95CD2BFBC6}"/>
              </a:ext>
            </a:extLst>
          </p:cNvPr>
          <p:cNvSpPr>
            <a:spLocks noGrp="1"/>
          </p:cNvSpPr>
          <p:nvPr/>
        </p:nvSpPr>
        <p:spPr>
          <a:xfrm>
            <a:off x="742950" y="480060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notlar.add(metin)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D0ECD759-DCF6-4421-B4EC-7ACAC40768A5}"/>
              </a:ext>
            </a:extLst>
          </p:cNvPr>
          <p:cNvSpPr>
            <a:spLocks noGrp="1"/>
          </p:cNvSpPr>
          <p:nvPr/>
        </p:nvSpPr>
        <p:spPr>
          <a:xfrm>
            <a:off x="742950" y="505777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163BBFAD-3E72-4684-9959-87BF76D3A397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adet(): Int = notlar.size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3BF2DEE9-2A48-4784-AB93-64840FBA8625}"/>
              </a:ext>
            </a:extLst>
          </p:cNvPr>
          <p:cNvSpPr>
            <a:spLocks noGrp="1"/>
          </p:cNvSpPr>
          <p:nvPr/>
        </p:nvSpPr>
        <p:spPr>
          <a:xfrm>
            <a:off x="742950" y="557212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2184C702-13D3-4B30-B916-6BE537FF85D7}"/>
              </a:ext>
            </a:extLst>
          </p:cNvPr>
          <p:cNvSpPr>
            <a:spLocks noGrp="1"/>
          </p:cNvSpPr>
          <p:nvPr/>
        </p:nvSpPr>
        <p:spPr>
          <a:xfrm>
            <a:off x="7924800" y="300037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NotServisi(</a:t>
            </a:r>
            <a:r>
              <a:rPr>
                <a:solidFill>
                  <a:srgbClr val="6941A5"/>
                </a:solidFill>
              </a:rPr>
              <a:t>private</a:t>
            </a:r>
            <a:r>
              <a:t>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depo: NotDeposu) {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74E7683A-6838-4795-9224-049F095026E0}"/>
              </a:ext>
            </a:extLst>
          </p:cNvPr>
          <p:cNvSpPr>
            <a:spLocks noGrp="1"/>
          </p:cNvSpPr>
          <p:nvPr/>
        </p:nvSpPr>
        <p:spPr>
          <a:xfrm>
            <a:off x="7924800" y="325755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kaydet(metin: String): Boolean {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925B3D2B-E90F-4BB2-BF07-241F47421BAD}"/>
              </a:ext>
            </a:extLst>
          </p:cNvPr>
          <p:cNvSpPr>
            <a:spLocks noGrp="1"/>
          </p:cNvSpPr>
          <p:nvPr/>
        </p:nvSpPr>
        <p:spPr>
          <a:xfrm>
            <a:off x="7924800" y="351472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temiz = metin.trim()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7427449E-E1E2-480D-836D-6BC480C82CDB}"/>
              </a:ext>
            </a:extLst>
          </p:cNvPr>
          <p:cNvSpPr>
            <a:spLocks noGrp="1"/>
          </p:cNvSpPr>
          <p:nvPr/>
        </p:nvSpPr>
        <p:spPr>
          <a:xfrm>
            <a:off x="7924800" y="377190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if</a:t>
            </a:r>
            <a:r>
              <a:t> (temiz.isEmpty())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</a:t>
            </a:r>
            <a:r>
              <a:rPr>
                <a:solidFill>
                  <a:srgbClr val="6941A5"/>
                </a:solidFill>
              </a:rPr>
              <a:t>false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23547895-0735-4B24-A93B-BFC5C965F451}"/>
              </a:ext>
            </a:extLst>
          </p:cNvPr>
          <p:cNvSpPr>
            <a:spLocks noGrp="1"/>
          </p:cNvSpPr>
          <p:nvPr/>
        </p:nvSpPr>
        <p:spPr>
          <a:xfrm>
            <a:off x="7924800" y="402907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depo.ekle(temiz)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97A5481A-7530-4562-B2FB-FB6A8209BCFF}"/>
              </a:ext>
            </a:extLst>
          </p:cNvPr>
          <p:cNvSpPr>
            <a:spLocks noGrp="1"/>
          </p:cNvSpPr>
          <p:nvPr/>
        </p:nvSpPr>
        <p:spPr>
          <a:xfrm>
            <a:off x="7924800" y="428625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</a:t>
            </a:r>
            <a:r>
              <a:rPr>
                <a:solidFill>
                  <a:srgbClr val="6941A5"/>
                </a:solidFill>
              </a:rPr>
              <a:t>true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4D91A26B-2069-455C-9758-7FFADD224593}"/>
              </a:ext>
            </a:extLst>
          </p:cNvPr>
          <p:cNvSpPr>
            <a:spLocks noGrp="1"/>
          </p:cNvSpPr>
          <p:nvPr/>
        </p:nvSpPr>
        <p:spPr>
          <a:xfrm>
            <a:off x="7924800" y="454342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F06819E6-55B8-4E1A-ABB5-A94B8C595BAB}"/>
              </a:ext>
            </a:extLst>
          </p:cNvPr>
          <p:cNvSpPr>
            <a:spLocks noGrp="1"/>
          </p:cNvSpPr>
          <p:nvPr/>
        </p:nvSpPr>
        <p:spPr>
          <a:xfrm>
            <a:off x="7924800" y="480060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753565E0-F7C9-476D-A398-8326A406B28E}"/>
              </a:ext>
            </a:extLst>
          </p:cNvPr>
          <p:cNvSpPr>
            <a:spLocks noGrp="1"/>
          </p:cNvSpPr>
          <p:nvPr/>
        </p:nvSpPr>
        <p:spPr>
          <a:xfrm>
            <a:off x="7924800" y="505777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C2A58DAA-85BB-4005-A2B8-C05C69FB305B}"/>
              </a:ext>
            </a:extLst>
          </p:cNvPr>
          <p:cNvSpPr>
            <a:spLocks noGrp="1"/>
          </p:cNvSpPr>
          <p:nvPr/>
        </p:nvSpPr>
        <p:spPr>
          <a:xfrm>
            <a:off x="7924800" y="531495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depo = BellekDeposu()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C11EC6C7-329A-43C7-8D73-45D7079922B6}"/>
              </a:ext>
            </a:extLst>
          </p:cNvPr>
          <p:cNvSpPr>
            <a:spLocks noGrp="1"/>
          </p:cNvSpPr>
          <p:nvPr/>
        </p:nvSpPr>
        <p:spPr>
          <a:xfrm>
            <a:off x="7924800" y="557212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servis = NotServisi(depo)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840B6943-E321-42A2-909E-4D4DEDFB211F}"/>
              </a:ext>
            </a:extLst>
          </p:cNvPr>
          <p:cNvSpPr>
            <a:spLocks noGrp="1"/>
          </p:cNvSpPr>
          <p:nvPr/>
        </p:nvSpPr>
        <p:spPr>
          <a:xfrm>
            <a:off x="7924800" y="582930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println(servis.kaydet(</a:t>
            </a:r>
            <a:r>
              <a:rPr>
                <a:solidFill>
                  <a:srgbClr val="397425"/>
                </a:solidFill>
              </a:rPr>
              <a:t>"  Oku  "</a:t>
            </a:r>
            <a:r>
              <a:t>))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DD212B5B-3E7E-4FFA-9E01-FA20E1DAEED3}"/>
              </a:ext>
            </a:extLst>
          </p:cNvPr>
          <p:cNvSpPr>
            <a:spLocks noGrp="1"/>
          </p:cNvSpPr>
          <p:nvPr/>
        </p:nvSpPr>
        <p:spPr>
          <a:xfrm>
            <a:off x="7924800" y="608647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println(servis.kaydet(</a:t>
            </a:r>
            <a:r>
              <a:rPr>
                <a:solidFill>
                  <a:srgbClr val="397425"/>
                </a:solidFill>
              </a:rPr>
              <a:t>"   "</a:t>
            </a:r>
            <a:r>
              <a:t>))</a:t>
            </a:r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122A54BB-C4B6-4219-8B1E-8B8F7CB7B486}"/>
              </a:ext>
            </a:extLst>
          </p:cNvPr>
          <p:cNvSpPr>
            <a:spLocks noGrp="1"/>
          </p:cNvSpPr>
          <p:nvPr/>
        </p:nvSpPr>
        <p:spPr>
          <a:xfrm>
            <a:off x="7924800" y="6343650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println(depo.adet())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0D213490-8C45-46AA-915D-062FB8A6B14D}"/>
              </a:ext>
            </a:extLst>
          </p:cNvPr>
          <p:cNvSpPr>
            <a:spLocks noGrp="1"/>
          </p:cNvSpPr>
          <p:nvPr/>
        </p:nvSpPr>
        <p:spPr>
          <a:xfrm>
            <a:off x="7924800" y="6600825"/>
            <a:ext cx="6705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1AE1E263-F67A-4CDF-877F-5FFDAFE8C525}"/>
              </a:ext>
            </a:extLst>
          </p:cNvPr>
          <p:cNvSpPr>
            <a:spLocks noGrp="1"/>
          </p:cNvSpPr>
          <p:nvPr/>
        </p:nvSpPr>
        <p:spPr>
          <a:xfrm>
            <a:off x="742950" y="7362825"/>
            <a:ext cx="1762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Konsol çıktısı</a:t>
            </a: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4E738110-C22D-45A1-8ECB-C5B50BBF441D}"/>
              </a:ext>
            </a:extLst>
          </p:cNvPr>
          <p:cNvSpPr>
            <a:spLocks noGrp="1"/>
          </p:cNvSpPr>
          <p:nvPr/>
        </p:nvSpPr>
        <p:spPr>
          <a:xfrm>
            <a:off x="2686050" y="7324725"/>
            <a:ext cx="5143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true</a:t>
            </a:r>
          </a:p>
          <a:p>
            <a:pPr>
              <a:lnSpc>
                <a:spcPct val="108000"/>
              </a:lnSpc>
              <a:buNone/>
              <a:defRPr sz="16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false</a:t>
            </a:r>
          </a:p>
          <a:p>
            <a:pPr>
              <a:lnSpc>
                <a:spcPct val="108000"/>
              </a:lnSpc>
              <a:buNone/>
              <a:defRPr sz="16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26C5586E-2C9F-4FFA-BB56-2CED4EF68AEC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42 / 43</a:t>
            </a:r>
          </a:p>
        </p:txBody>
      </p:sp>
    </p:spTree>
    <p:extLst>
      <p:ext uri="{BB962C8B-B14F-4D97-AF65-F5344CB8AC3E}">
        <p14:creationId xmlns:p14="http://schemas.microsoft.com/office/powerpoint/2010/main" val="18541375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9F18A9D7-C6B9-407C-A84F-AEB5B8C347BA}"/>
              </a:ext>
            </a:extLst>
          </p:cNvPr>
          <p:cNvSpPr>
            <a:spLocks noGrp="1"/>
          </p:cNvSpPr>
          <p:nvPr/>
        </p:nvSpPr>
        <p:spPr>
          <a:xfrm>
            <a:off x="742950" y="3429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sunum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F6829681-67F2-445F-8119-5CB570CAB994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381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Servisi başka bir depoyla denemek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1806DA3C-DB85-43C2-B777-EE3D8802F7CF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366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Servisin kullandığı sözleşmeye uyan başka bir nesne verebiliriz.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16B58C1E-7AF0-41FA-A58E-BEC75DBE4F02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Küçük deneme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E064EA94-94C5-4421-A9A4-AAE6F1CE6A53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NotDeposu uygulayan SayacDeposu yaz. Metinleri saklamak yerine her ekle çağrısında sayacı artır.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1B1D0BC4-6287-4643-95FC-608EC3718A7A}"/>
              </a:ext>
            </a:extLst>
          </p:cNvPr>
          <p:cNvSpPr>
            <a:spLocks noGrp="1"/>
          </p:cNvSpPr>
          <p:nvPr/>
        </p:nvSpPr>
        <p:spPr>
          <a:xfrm>
            <a:off x="742950" y="4600575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Beklenti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581F07E5-1D24-46D5-8425-9A64EA869822}"/>
              </a:ext>
            </a:extLst>
          </p:cNvPr>
          <p:cNvSpPr>
            <a:spLocks noGrp="1"/>
          </p:cNvSpPr>
          <p:nvPr/>
        </p:nvSpPr>
        <p:spPr>
          <a:xfrm>
            <a:off x="4552950" y="4600575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Boş metinde kaydet false dönmeli ve sayaç artmamalı. Geçerli metinde sayaç bir artmalı.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5DD5FE55-A9D2-4770-BBC3-57152924DFE5}"/>
              </a:ext>
            </a:extLst>
          </p:cNvPr>
          <p:cNvSpPr>
            <a:spLocks noGrp="1"/>
          </p:cNvSpPr>
          <p:nvPr/>
        </p:nvSpPr>
        <p:spPr>
          <a:xfrm>
            <a:off x="742950" y="609600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Değişen parça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9B5F8F83-B443-4326-933E-E11473BFDCB7}"/>
              </a:ext>
            </a:extLst>
          </p:cNvPr>
          <p:cNvSpPr>
            <a:spLocks noGrp="1"/>
          </p:cNvSpPr>
          <p:nvPr/>
        </p:nvSpPr>
        <p:spPr>
          <a:xfrm>
            <a:off x="4552950" y="6096000"/>
            <a:ext cx="9886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main içinde verilen depo nesnesi değişir. NotServisi içindeki doğrulama kodu aynı kalır.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CB26CECE-8DBC-4FB4-9BB7-8B72C962FDE7}"/>
              </a:ext>
            </a:extLst>
          </p:cNvPr>
          <p:cNvSpPr>
            <a:spLocks noGrp="1"/>
          </p:cNvSpPr>
          <p:nvPr/>
        </p:nvSpPr>
        <p:spPr>
          <a:xfrm>
            <a:off x="13430250" y="8296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43 / 43</a:t>
            </a:r>
          </a:p>
        </p:txBody>
      </p:sp>
    </p:spTree>
    <p:extLst>
      <p:ext uri="{BB962C8B-B14F-4D97-AF65-F5344CB8AC3E}">
        <p14:creationId xmlns:p14="http://schemas.microsoft.com/office/powerpoint/2010/main" val="18435973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6308</Words>
  <Application>Microsoft Office PowerPoint</Application>
  <DocSecurity>0</DocSecurity>
  <PresentationFormat>Özel</PresentationFormat>
  <Paragraphs>922</Paragraphs>
  <Slides>40</Slides>
  <Notes>40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40</vt:i4>
      </vt:variant>
    </vt:vector>
  </HeadingPairs>
  <TitlesOfParts>
    <vt:vector size="44" baseType="lpstr">
      <vt:lpstr>Arial</vt:lpstr>
      <vt:lpstr>Calibri</vt:lpstr>
      <vt:lpstr>Consolas</vt:lpstr>
      <vt:lpstr>ChatGPT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Mustafa Said Yolcu</cp:lastModifiedBy>
  <cp:revision>5</cp:revision>
  <dcterms:created xsi:type="dcterms:W3CDTF">2026-09-27T23:40:11Z</dcterms:created>
  <dcterms:modified xsi:type="dcterms:W3CDTF">2026-10-14T01:32:48Z</dcterms:modified>
</cp:coreProperties>
</file>
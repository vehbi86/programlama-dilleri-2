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2e763ac87f4792" /><Relationship Type="http://schemas.openxmlformats.org/officeDocument/2006/relationships/extended-properties" Target="/docProps/app.xml" Id="Rf232dcfa3983472f" /><Relationship Type="http://schemas.openxmlformats.org/officeDocument/2006/relationships/officeDocument" Target="/ppt/presentation.xml" Id="R46899e00c1d94d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07bc7671594fc1"/>
  </p:sldMasterIdLst>
  <p:notesMasterIdLst>
    <p:notesMasterId xmlns:r="http://schemas.openxmlformats.org/officeDocument/2006/relationships" r:id="Raf3d9eb8b1f6493b"/>
  </p:notesMasterIdLst>
  <p:sldIdLst>
    <p:sldId xmlns:r="http://schemas.openxmlformats.org/officeDocument/2006/relationships" id="256" r:id="Raf23ff8939464c7c"/>
    <p:sldId xmlns:r="http://schemas.openxmlformats.org/officeDocument/2006/relationships" id="257" r:id="R4c8da3b13f0f44f7"/>
    <p:sldId xmlns:r="http://schemas.openxmlformats.org/officeDocument/2006/relationships" id="258" r:id="R08375e1e97e04bdc"/>
    <p:sldId xmlns:r="http://schemas.openxmlformats.org/officeDocument/2006/relationships" id="259" r:id="R5919f8ef059e4e5e"/>
    <p:sldId xmlns:r="http://schemas.openxmlformats.org/officeDocument/2006/relationships" id="260" r:id="Rd36563fb223e4cb4"/>
    <p:sldId xmlns:r="http://schemas.openxmlformats.org/officeDocument/2006/relationships" id="261" r:id="R31c1a3679762440e"/>
    <p:sldId xmlns:r="http://schemas.openxmlformats.org/officeDocument/2006/relationships" id="262" r:id="R59971ca5c23747ed"/>
    <p:sldId xmlns:r="http://schemas.openxmlformats.org/officeDocument/2006/relationships" id="263" r:id="Raedf09e2180b42d7"/>
    <p:sldId xmlns:r="http://schemas.openxmlformats.org/officeDocument/2006/relationships" id="264" r:id="Raf2055daabe9472e"/>
    <p:sldId xmlns:r="http://schemas.openxmlformats.org/officeDocument/2006/relationships" id="265" r:id="R504ebdbe5468486c"/>
    <p:sldId xmlns:r="http://schemas.openxmlformats.org/officeDocument/2006/relationships" id="266" r:id="R8204e3bbd4db45e5"/>
    <p:sldId xmlns:r="http://schemas.openxmlformats.org/officeDocument/2006/relationships" id="267" r:id="R6048669b9fe041dc"/>
    <p:sldId xmlns:r="http://schemas.openxmlformats.org/officeDocument/2006/relationships" id="268" r:id="Rbe8248b43c0b4eba"/>
    <p:sldId xmlns:r="http://schemas.openxmlformats.org/officeDocument/2006/relationships" id="269" r:id="R45d9b9f4b28f40e6"/>
    <p:sldId xmlns:r="http://schemas.openxmlformats.org/officeDocument/2006/relationships" id="270" r:id="Ra03c1c36aa394241"/>
    <p:sldId xmlns:r="http://schemas.openxmlformats.org/officeDocument/2006/relationships" id="271" r:id="R4f631a1401584746"/>
    <p:sldId xmlns:r="http://schemas.openxmlformats.org/officeDocument/2006/relationships" id="272" r:id="R020702f46ee34c1b"/>
    <p:sldId xmlns:r="http://schemas.openxmlformats.org/officeDocument/2006/relationships" id="273" r:id="R8e3b58cc71f94fa0"/>
    <p:sldId xmlns:r="http://schemas.openxmlformats.org/officeDocument/2006/relationships" id="274" r:id="R85e958c3ed6a45ef"/>
    <p:sldId xmlns:r="http://schemas.openxmlformats.org/officeDocument/2006/relationships" id="275" r:id="R9ac522df562240af"/>
    <p:sldId xmlns:r="http://schemas.openxmlformats.org/officeDocument/2006/relationships" id="276" r:id="R6800467c1b7c441e"/>
    <p:sldId xmlns:r="http://schemas.openxmlformats.org/officeDocument/2006/relationships" id="277" r:id="R01bc5a40ab7c479e"/>
    <p:sldId xmlns:r="http://schemas.openxmlformats.org/officeDocument/2006/relationships" id="278" r:id="Rfa43d228c01c42fa"/>
    <p:sldId xmlns:r="http://schemas.openxmlformats.org/officeDocument/2006/relationships" id="279" r:id="Rd8dfedb17ef84dc9"/>
    <p:sldId xmlns:r="http://schemas.openxmlformats.org/officeDocument/2006/relationships" id="280" r:id="R1a0739397ec94145"/>
    <p:sldId xmlns:r="http://schemas.openxmlformats.org/officeDocument/2006/relationships" id="281" r:id="Rc82b7bc1f048443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4fba57461487d" /><Relationship Type="http://schemas.openxmlformats.org/officeDocument/2006/relationships/slideMaster" Target="/ppt/slideMasters/slideMaster1.xml" Id="R6607bc7671594fc1" /><Relationship Type="http://schemas.openxmlformats.org/officeDocument/2006/relationships/notesMaster" Target="/ppt/notesMasters/notesMaster1.xml" Id="Raf3d9eb8b1f6493b" /><Relationship Type="http://schemas.openxmlformats.org/officeDocument/2006/relationships/presProps" Target="/ppt/presProps.xml" Id="Rdb41accf87de44cd" /><Relationship Type="http://schemas.openxmlformats.org/officeDocument/2006/relationships/tableStyles" Target="/ppt/tableStyles.xml" Id="Rea99c62c55b049dc" /><Relationship Type="http://schemas.openxmlformats.org/officeDocument/2006/relationships/slide" Target="/ppt/slides/slide1.xml" Id="Raf23ff8939464c7c" /><Relationship Type="http://schemas.openxmlformats.org/officeDocument/2006/relationships/slide" Target="/ppt/slides/slide2.xml" Id="R4c8da3b13f0f44f7" /><Relationship Type="http://schemas.openxmlformats.org/officeDocument/2006/relationships/slide" Target="/ppt/slides/slide3.xml" Id="R08375e1e97e04bdc" /><Relationship Type="http://schemas.openxmlformats.org/officeDocument/2006/relationships/slide" Target="/ppt/slides/slide4.xml" Id="R5919f8ef059e4e5e" /><Relationship Type="http://schemas.openxmlformats.org/officeDocument/2006/relationships/slide" Target="/ppt/slides/slide5.xml" Id="Rd36563fb223e4cb4" /><Relationship Type="http://schemas.openxmlformats.org/officeDocument/2006/relationships/slide" Target="/ppt/slides/slide6.xml" Id="R31c1a3679762440e" /><Relationship Type="http://schemas.openxmlformats.org/officeDocument/2006/relationships/slide" Target="/ppt/slides/slide7.xml" Id="R59971ca5c23747ed" /><Relationship Type="http://schemas.openxmlformats.org/officeDocument/2006/relationships/slide" Target="/ppt/slides/slide8.xml" Id="Raedf09e2180b42d7" /><Relationship Type="http://schemas.openxmlformats.org/officeDocument/2006/relationships/slide" Target="/ppt/slides/slide9.xml" Id="Raf2055daabe9472e" /><Relationship Type="http://schemas.openxmlformats.org/officeDocument/2006/relationships/slide" Target="/ppt/slides/slide10.xml" Id="R504ebdbe5468486c" /><Relationship Type="http://schemas.openxmlformats.org/officeDocument/2006/relationships/slide" Target="/ppt/slides/slide11.xml" Id="R8204e3bbd4db45e5" /><Relationship Type="http://schemas.openxmlformats.org/officeDocument/2006/relationships/slide" Target="/ppt/slides/slide12.xml" Id="R6048669b9fe041dc" /><Relationship Type="http://schemas.openxmlformats.org/officeDocument/2006/relationships/slide" Target="/ppt/slides/slide13.xml" Id="Rbe8248b43c0b4eba" /><Relationship Type="http://schemas.openxmlformats.org/officeDocument/2006/relationships/slide" Target="/ppt/slides/slide14.xml" Id="R45d9b9f4b28f40e6" /><Relationship Type="http://schemas.openxmlformats.org/officeDocument/2006/relationships/slide" Target="/ppt/slides/slide15.xml" Id="Ra03c1c36aa394241" /><Relationship Type="http://schemas.openxmlformats.org/officeDocument/2006/relationships/slide" Target="/ppt/slides/slide16.xml" Id="R4f631a1401584746" /><Relationship Type="http://schemas.openxmlformats.org/officeDocument/2006/relationships/slide" Target="/ppt/slides/slide17.xml" Id="R020702f46ee34c1b" /><Relationship Type="http://schemas.openxmlformats.org/officeDocument/2006/relationships/slide" Target="/ppt/slides/slide18.xml" Id="R8e3b58cc71f94fa0" /><Relationship Type="http://schemas.openxmlformats.org/officeDocument/2006/relationships/slide" Target="/ppt/slides/slide19.xml" Id="R85e958c3ed6a45ef" /><Relationship Type="http://schemas.openxmlformats.org/officeDocument/2006/relationships/slide" Target="/ppt/slides/slide20.xml" Id="R9ac522df562240af" /><Relationship Type="http://schemas.openxmlformats.org/officeDocument/2006/relationships/slide" Target="/ppt/slides/slide21.xml" Id="R6800467c1b7c441e" /><Relationship Type="http://schemas.openxmlformats.org/officeDocument/2006/relationships/slide" Target="/ppt/slides/slide22.xml" Id="R01bc5a40ab7c479e" /><Relationship Type="http://schemas.openxmlformats.org/officeDocument/2006/relationships/slide" Target="/ppt/slides/slide23.xml" Id="Rfa43d228c01c42fa" /><Relationship Type="http://schemas.openxmlformats.org/officeDocument/2006/relationships/slide" Target="/ppt/slides/slide24.xml" Id="Rd8dfedb17ef84dc9" /><Relationship Type="http://schemas.openxmlformats.org/officeDocument/2006/relationships/slide" Target="/ppt/slides/slide25.xml" Id="R1a0739397ec94145" /><Relationship Type="http://schemas.openxmlformats.org/officeDocument/2006/relationships/slide" Target="/ppt/slides/slide26.xml" Id="Rc82b7bc1f04844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e3d755d6c948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5c95d42cd948c7" /><Relationship Type="http://schemas.openxmlformats.org/officeDocument/2006/relationships/notesMaster" Target="/ppt/notesMasters/notesMaster1.xml" Id="R2621e383f29041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d01edae7084bb4" /><Relationship Type="http://schemas.openxmlformats.org/officeDocument/2006/relationships/notesMaster" Target="/ppt/notesMasters/notesMaster1.xml" Id="Rb47ddc134ab04b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a1ab602854d6c" /><Relationship Type="http://schemas.openxmlformats.org/officeDocument/2006/relationships/notesMaster" Target="/ppt/notesMasters/notesMaster1.xml" Id="R51fa0023cf2946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20aab02ccd45e1" /><Relationship Type="http://schemas.openxmlformats.org/officeDocument/2006/relationships/notesMaster" Target="/ppt/notesMasters/notesMaster1.xml" Id="Rf5d96fb285224d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d02ed618544297" /><Relationship Type="http://schemas.openxmlformats.org/officeDocument/2006/relationships/notesMaster" Target="/ppt/notesMasters/notesMaster1.xml" Id="R214484d49bcc43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4e1ae649434a2a" /><Relationship Type="http://schemas.openxmlformats.org/officeDocument/2006/relationships/notesMaster" Target="/ppt/notesMasters/notesMaster1.xml" Id="Raeebdf10eb8247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d5f3d726b54a18" /><Relationship Type="http://schemas.openxmlformats.org/officeDocument/2006/relationships/notesMaster" Target="/ppt/notesMasters/notesMaster1.xml" Id="Rc835254850bf4c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58b03c00ca48e1" /><Relationship Type="http://schemas.openxmlformats.org/officeDocument/2006/relationships/notesMaster" Target="/ppt/notesMasters/notesMaster1.xml" Id="R0b690ce0553445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8ad4a269854f39" /><Relationship Type="http://schemas.openxmlformats.org/officeDocument/2006/relationships/notesMaster" Target="/ppt/notesMasters/notesMaster1.xml" Id="R53dae01e0f7e4e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61bde260344255" /><Relationship Type="http://schemas.openxmlformats.org/officeDocument/2006/relationships/notesMaster" Target="/ppt/notesMasters/notesMaster1.xml" Id="Ra8e77ebecfa84e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5a646afc5b43e0" /><Relationship Type="http://schemas.openxmlformats.org/officeDocument/2006/relationships/notesMaster" Target="/ppt/notesMasters/notesMaster1.xml" Id="R3191397bc4ec45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f9413f0c4f4e2b" /><Relationship Type="http://schemas.openxmlformats.org/officeDocument/2006/relationships/notesMaster" Target="/ppt/notesMasters/notesMaster1.xml" Id="R5c71f2d68d664c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095e2d121a4e8f" /><Relationship Type="http://schemas.openxmlformats.org/officeDocument/2006/relationships/notesMaster" Target="/ppt/notesMasters/notesMaster1.xml" Id="R7daccfe765434e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5ad105baaa4b11" /><Relationship Type="http://schemas.openxmlformats.org/officeDocument/2006/relationships/notesMaster" Target="/ppt/notesMasters/notesMaster1.xml" Id="Rff30a5bce5de48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df066fb80c42d8" /><Relationship Type="http://schemas.openxmlformats.org/officeDocument/2006/relationships/notesMaster" Target="/ppt/notesMasters/notesMaster1.xml" Id="R8cc911a56b9d45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79e0d849374eb8" /><Relationship Type="http://schemas.openxmlformats.org/officeDocument/2006/relationships/notesMaster" Target="/ppt/notesMasters/notesMaster1.xml" Id="R432c7e1aff3e40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c98e16048745d0" /><Relationship Type="http://schemas.openxmlformats.org/officeDocument/2006/relationships/notesMaster" Target="/ppt/notesMasters/notesMaster1.xml" Id="R46e148507fc247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d8597668f649de" /><Relationship Type="http://schemas.openxmlformats.org/officeDocument/2006/relationships/notesMaster" Target="/ppt/notesMasters/notesMaster1.xml" Id="R7d5f9c74715a46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dccb544aef4ccb" /><Relationship Type="http://schemas.openxmlformats.org/officeDocument/2006/relationships/notesMaster" Target="/ppt/notesMasters/notesMaster1.xml" Id="Rade828fcc3924b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72b6ee5a2649eb" /><Relationship Type="http://schemas.openxmlformats.org/officeDocument/2006/relationships/notesMaster" Target="/ppt/notesMasters/notesMaster1.xml" Id="Rd9554c185f39492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13f56a98024787" /><Relationship Type="http://schemas.openxmlformats.org/officeDocument/2006/relationships/notesMaster" Target="/ppt/notesMasters/notesMaster1.xml" Id="R2bf68393bca74e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2e3336875c54292" /><Relationship Type="http://schemas.openxmlformats.org/officeDocument/2006/relationships/notesMaster" Target="/ppt/notesMasters/notesMaster1.xml" Id="R4764d170bec047e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119564d5b748a7" /><Relationship Type="http://schemas.openxmlformats.org/officeDocument/2006/relationships/notesMaster" Target="/ppt/notesMasters/notesMaster1.xml" Id="Rb4ed9b838b0d462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b53f05c2f5d41f7" /><Relationship Type="http://schemas.openxmlformats.org/officeDocument/2006/relationships/notesMaster" Target="/ppt/notesMasters/notesMaster1.xml" Id="Rf104090b81ee46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bb47301ce04b15" /><Relationship Type="http://schemas.openxmlformats.org/officeDocument/2006/relationships/notesMaster" Target="/ppt/notesMasters/notesMaster1.xml" Id="Rd106a0cdbc4d4b6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da6aaefd93465c" /><Relationship Type="http://schemas.openxmlformats.org/officeDocument/2006/relationships/notesMaster" Target="/ppt/notesMasters/notesMaster1.xml" Id="R5b09a08d780c44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Önce görev sayfasında öğrencilerin çalışmasını bekleyin, ardından çözümü tartışın. Kod parçası etiketleri yerleştirme konumunu gösterir. Tam çözüm sayfaları tek dosyanın ardışık parçalarıdır.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8a3bb32d846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e2d0256c8a4e59" /><Relationship Type="http://schemas.openxmlformats.org/officeDocument/2006/relationships/slideLayout" Target="/ppt/slideLayouts/slideLayout1.xml" Id="R6dad32bc5fa347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ad32bc5fa347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0fc433a414cf0" /><Relationship Type="http://schemas.openxmlformats.org/officeDocument/2006/relationships/notesSlide" Target="/ppt/notesSlides/notesSlide1.xml" Id="R7b18ae976ed2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a71e7d6394565" /><Relationship Type="http://schemas.openxmlformats.org/officeDocument/2006/relationships/notesSlide" Target="/ppt/notesSlides/notesSlide2.xml" Id="Rb1586f5a51b448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785803a714375" /><Relationship Type="http://schemas.openxmlformats.org/officeDocument/2006/relationships/notesSlide" Target="/ppt/notesSlides/notesSlide3.xml" Id="R7185aee4d77346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08dd0251f46f5" /><Relationship Type="http://schemas.openxmlformats.org/officeDocument/2006/relationships/notesSlide" Target="/ppt/notesSlides/notesSlide4.xml" Id="R636c841783d14e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404f0d3347a9" /><Relationship Type="http://schemas.openxmlformats.org/officeDocument/2006/relationships/notesSlide" Target="/ppt/notesSlides/notesSlide5.xml" Id="Rd3dbdec1ebfc4e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eeefcd5c4ad4" /><Relationship Type="http://schemas.openxmlformats.org/officeDocument/2006/relationships/notesSlide" Target="/ppt/notesSlides/notesSlide6.xml" Id="R4fc4730705d640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7b4ed75bd4e3f" /><Relationship Type="http://schemas.openxmlformats.org/officeDocument/2006/relationships/notesSlide" Target="/ppt/notesSlides/notesSlide7.xml" Id="R4deedec211a34e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5d1d79a7e434d" /><Relationship Type="http://schemas.openxmlformats.org/officeDocument/2006/relationships/notesSlide" Target="/ppt/notesSlides/notesSlide8.xml" Id="R237614ce3c4f45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ea175af0f476b" /><Relationship Type="http://schemas.openxmlformats.org/officeDocument/2006/relationships/notesSlide" Target="/ppt/notesSlides/notesSlide9.xml" Id="R3658350d64c44d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18f3ac6e54e07" /><Relationship Type="http://schemas.openxmlformats.org/officeDocument/2006/relationships/notesSlide" Target="/ppt/notesSlides/notesSlide10.xml" Id="R6269b9d3af304e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71f5c78404b33" /><Relationship Type="http://schemas.openxmlformats.org/officeDocument/2006/relationships/notesSlide" Target="/ppt/notesSlides/notesSlide11.xml" Id="R190ff0a659624e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030a003f84059" /><Relationship Type="http://schemas.openxmlformats.org/officeDocument/2006/relationships/notesSlide" Target="/ppt/notesSlides/notesSlide12.xml" Id="R3f747fdd83f142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de1fe718d4150" /><Relationship Type="http://schemas.openxmlformats.org/officeDocument/2006/relationships/notesSlide" Target="/ppt/notesSlides/notesSlide13.xml" Id="R765dd6c993ef4a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6e977fbd74aea" /><Relationship Type="http://schemas.openxmlformats.org/officeDocument/2006/relationships/notesSlide" Target="/ppt/notesSlides/notesSlide14.xml" Id="R9dcc73fd70354e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f0733aa624e79" /><Relationship Type="http://schemas.openxmlformats.org/officeDocument/2006/relationships/notesSlide" Target="/ppt/notesSlides/notesSlide15.xml" Id="R94edfb7bd9ae46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3443ba7904eb3" /><Relationship Type="http://schemas.openxmlformats.org/officeDocument/2006/relationships/notesSlide" Target="/ppt/notesSlides/notesSlide16.xml" Id="R2b3002f22e3943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d95a234664b73" /><Relationship Type="http://schemas.openxmlformats.org/officeDocument/2006/relationships/notesSlide" Target="/ppt/notesSlides/notesSlide17.xml" Id="R56af0732254247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c147950934583" /><Relationship Type="http://schemas.openxmlformats.org/officeDocument/2006/relationships/notesSlide" Target="/ppt/notesSlides/notesSlide18.xml" Id="R1f4c6ab67f7049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14041d05a469c" /><Relationship Type="http://schemas.openxmlformats.org/officeDocument/2006/relationships/notesSlide" Target="/ppt/notesSlides/notesSlide19.xml" Id="R130e29f76e3c41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cf36234f24d60" /><Relationship Type="http://schemas.openxmlformats.org/officeDocument/2006/relationships/notesSlide" Target="/ppt/notesSlides/notesSlide20.xml" Id="Rc6537936c8d641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0fb8c2df744f4" /><Relationship Type="http://schemas.openxmlformats.org/officeDocument/2006/relationships/notesSlide" Target="/ppt/notesSlides/notesSlide21.xml" Id="R9082327444894b9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4f1f1951743e3" /><Relationship Type="http://schemas.openxmlformats.org/officeDocument/2006/relationships/notesSlide" Target="/ppt/notesSlides/notesSlide22.xml" Id="R16fbb3507beb4b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b10d779ba46db" /><Relationship Type="http://schemas.openxmlformats.org/officeDocument/2006/relationships/notesSlide" Target="/ppt/notesSlides/notesSlide23.xml" Id="Ra95af62d7b514b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7c2153e034146" /><Relationship Type="http://schemas.openxmlformats.org/officeDocument/2006/relationships/notesSlide" Target="/ppt/notesSlides/notesSlide24.xml" Id="Rcb5e862c05394e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ccd69b7514dda" /><Relationship Type="http://schemas.openxmlformats.org/officeDocument/2006/relationships/notesSlide" Target="/ppt/notesSlides/notesSlide25.xml" Id="Rd733130314104a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e8b8f1a7d48a7" /><Relationship Type="http://schemas.openxmlformats.org/officeDocument/2006/relationships/notesSlide" Target="/ppt/notesSlides/notesSlide26.xml" Id="Rd49257abe84f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29ACF-0899-4882-8E2E-FCE08080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1295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1">
                <a:solidFill>
                  <a:srgbClr val="75DDC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5DDCA"/>
                </a:solidFill>
                <a:latin typeface="Arial"/>
                <a:ea typeface="Arial"/>
                <a:cs typeface="Arial"/>
              </a:rPr>
              <a:t>DERS İÇİ PROJE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75978-3FD6-4AB1-9822-FF921C6D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36683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6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Öğrenci ders notu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6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takip sistemi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FCEEF-4441-441D-9750-051B029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333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700" b="0">
                <a:solidFill>
                  <a:srgbClr val="BECCD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ECCD7"/>
                </a:solidFill>
                <a:latin typeface="Arial"/>
                <a:ea typeface="Arial"/>
                <a:cs typeface="Arial"/>
              </a:rPr>
              <a:t>Ders içi proje ve adım adım çözüm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700" b="0">
                <a:solidFill>
                  <a:srgbClr val="BECCD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ECCD7"/>
                </a:solidFill>
                <a:latin typeface="Arial"/>
                <a:ea typeface="Arial"/>
                <a:cs typeface="Arial"/>
              </a:rPr>
              <a:t>Sınıf, nesne, yapılandırıcı ve kapsülleme</a:t>
            </a:r>
          </a:p>
        </p:txBody>
      </p:sp>
    </p:spTree>
    <p:extLst>
      <p:ext uri="{BB962C8B-B14F-4D97-AF65-F5344CB8AC3E}">
        <p14:creationId xmlns:p14="http://schemas.microsoft.com/office/powerpoint/2010/main" val="1976114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3BA29-A0B5-447D-818E-E43B3415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A439-ECDB-4B75-9F61-58AAB573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Projenin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D7D38-A123-4F68-A925-521DAADA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Bir öğrencinin bilgilerini ve sınav notlarını yöneten Kotlin programı yazacağız.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D72E7-295E-4D91-B0C7-EEF3CC49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Veriler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281B7-92B2-4085-8FF6-6E2E841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Her öğrencinin adı, numarası ve kendine ait not listesi olacak.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02162-9576-4617-A115-DACC9761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Kurallar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99F21-CB6A-4236-AFEB-72E31566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Yalnız 0–100 arasındaki notlar kabul edilecek. Geçme ortalaması 50 olacak.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3C834-314F-4F2C-BB5B-E6C46580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B63A6-550C-4EC5-975D-1E1AD4A1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Program öğrenci bilgilerini, ortalamayı ve başarı durumunu konsola yazacak.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A7A8B-F8ED-4E1A-ACE6-E5895CD8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 / 26</a:t>
            </a:r>
          </a:p>
        </p:txBody>
      </p:sp>
    </p:spTree>
    <p:extLst>
      <p:ext uri="{BB962C8B-B14F-4D97-AF65-F5344CB8AC3E}">
        <p14:creationId xmlns:p14="http://schemas.microsoft.com/office/powerpoint/2010/main" val="917622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7F8B0-27E2-4928-BBD2-A4A555A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87E89-1A14-45B2-BD64-0FD8478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Dersin çalışma düzeni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E1DB2-028B-4BFD-A195-F6797848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Önerilen süre: iki ders saati, toplam 80 dakika.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9C2E1-9D0E-4125-ADCB-AF88D330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İlk 40 dakika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D27BE-4D6E-4089-96A7-F22FFD12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Sınıf ve nesneler: 10 dk. Kontrollü not ekleme: 15 dk. Ortalama: 15 dk.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9459B-F36E-44C9-A1C8-33B20A71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 40 dakika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8E19A-CA2E-474B-BF8B-094752D7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Başarı durumu: 10 dk. Rapor: 10 dk. Denemeler ve düzeltmeler: 20 dk.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B172A-5B1B-410F-9C2C-CB9FB7F5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Çalışma ortamı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7B8F9-96E4-41BE-9C76-25FDE9E8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Kotlin/JVM konsol projesinde OgrenciProjesi.kt dosyası. Çıktı Run konsolunda görünür.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D9B8A-BFBB-4B6F-A2E5-8FE871BD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 / 26</a:t>
            </a:r>
          </a:p>
        </p:txBody>
      </p:sp>
    </p:spTree>
    <p:extLst>
      <p:ext uri="{BB962C8B-B14F-4D97-AF65-F5344CB8AC3E}">
        <p14:creationId xmlns:p14="http://schemas.microsoft.com/office/powerpoint/2010/main" val="1583199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9E5BB-BA19-4D49-BCE4-E9F301B8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2678B-1601-4561-9BBD-42C4812E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1. görev: sınıf ve iki nesne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C638D-EEAC-4B55-84EB-4A45EDC1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Önce yalnız kimlik bilgilerini tutan küçük bir sınıf yazın. Süre: 10 dakika.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A82B7-2549-4F17-A39C-D68A6E70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Sınıf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7EAA3-B1CC-4A85-B5F2-2D1FB247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Ogrenci, yapılandırıcıdan ad: String ve numara: Int alsın. İkisi de val olsun.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518D3-25AE-48C4-BA1B-3E01967E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Nesneler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116AA-344A-459A-8A97-E8B3F7F1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 içinde Ayşe / 101 ve Ali / 102 bilgileriyle iki ayrı nesne oluşturun.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3E0AF-BD6E-485F-861C-58C9AC9A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886C1-5F08-4140-B650-BCEC0D3A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Ayşe’nin adını ve Ali’nin numarasını yazdırın. Sınıf ile nesne arasındaki farkı açıklayın.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2526C-D928-4FD1-98EA-273C37EA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4 / 26</a:t>
            </a:r>
          </a:p>
        </p:txBody>
      </p:sp>
    </p:spTree>
    <p:extLst>
      <p:ext uri="{BB962C8B-B14F-4D97-AF65-F5344CB8AC3E}">
        <p14:creationId xmlns:p14="http://schemas.microsoft.com/office/powerpoint/2010/main" val="398128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69C30-97AC-4009-9C27-D4DD225C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0FD16-740E-46E4-85FD-0C2262E2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1. çözüm: sınıf ve nesneler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65A4B-5CC3-4D8B-AE87-A2472545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Yapılandırıcı, her yeni nesnenin başlangıç bilgilerini alır.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E204C-7740-4F22-8570-2CD55B72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Bu sayfadaki kod tek başına çalışır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1C8EC-9C29-4E07-922E-7891990B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Ogrenci(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ad: String,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numara: Int)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B23E2-972F-48C2-9502-C6186FC3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8BA71-ECBF-4830-ABE9-777655C9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58A1F-0D81-47B1-A3C1-64F55F19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ayse = Ogrenci(</a:t>
            </a:r>
            <a:r>
              <a:rPr>
                <a:solidFill>
                  <a:srgbClr val="397425"/>
                </a:solidFill>
              </a:rPr>
              <a:t>"Ayşe"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101</a:t>
            </a:r>
            <a: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0A2FB-4FE4-4F50-8C04-3B15F1C1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ali = Ogrenci(</a:t>
            </a:r>
            <a:r>
              <a:rPr>
                <a:solidFill>
                  <a:srgbClr val="397425"/>
                </a:solidFill>
              </a:rPr>
              <a:t>"Ali"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102</a:t>
            </a:r>
            <a: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5B020-396D-4B13-95F0-B33CFACA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println(ayse.ad)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11A69-C25C-4575-90FF-540374B2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println(ali.numara)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7F95D-DE7C-472A-8D26-0FA7E4A3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96F10-DDF1-46AB-877C-2F24B0CF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Sınıf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8BBAF-E00A-4401-9CAF-994E7456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Ogrenci, hangi bilgilerin bulunacağını tanımlar.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917F2-7731-48A5-B3C8-45145079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Nesneler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E2013-5C50-4E20-9CD7-4A576A78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ayse ve ali iki ayrı nesneyi gösterir. Başlangıç değerleri farklıdır.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DD322-54A3-4617-91EC-EB1C841E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372A6-8AA3-4999-BAE9-DAC2933F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Ayşe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102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AAA6C-176F-41F7-A679-532820DE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5 / 26</a:t>
            </a:r>
          </a:p>
        </p:txBody>
      </p:sp>
    </p:spTree>
    <p:extLst>
      <p:ext uri="{BB962C8B-B14F-4D97-AF65-F5344CB8AC3E}">
        <p14:creationId xmlns:p14="http://schemas.microsoft.com/office/powerpoint/2010/main" val="2120624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2AAA-FAA0-4C19-80F3-12D4F52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BE47-D633-4B34-8306-89C558B4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2. görev: kontrollü not ekleme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F7FAB-71D9-4806-A4A4-3021EBD4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Not listesini sınıf içinde tutun. Süre: 15 dakika.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C1162-4DCF-4CC7-82C0-CFEF9997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Özellik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439F3-C05F-4198-A428-D0DE56BB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private val notlar = mutableListOf&lt;Int&gt;() satırını sınıf gövdesine ekleyin.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4EDC2-4EA1-4148-B72B-E780DE89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Metot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E0395-C338-48A2-B3A3-4CD122E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notEkle(puan: Int): Boolean yazın. 0–100 arasını kabul edin. Diğerlerini reddedin.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DC5A9-1E6B-4656-A776-2032A0A5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Dönüş değeri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4A0B4-9AEC-4524-A897-C11EF772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 eklenirse true, eklenmezse false dönsün. Aynı puan tekrar eklenebilir.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1262A-E77D-469B-BE18-3FB42E6B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6 / 26</a:t>
            </a:r>
          </a:p>
        </p:txBody>
      </p:sp>
    </p:spTree>
    <p:extLst>
      <p:ext uri="{BB962C8B-B14F-4D97-AF65-F5344CB8AC3E}">
        <p14:creationId xmlns:p14="http://schemas.microsoft.com/office/powerpoint/2010/main" val="1952907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508EF-5161-4F7C-88FC-E5C4F4C6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A26AA-6687-43B2-869E-561B28DF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2. çözüm: liste ve kontrol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F623B-22EE-49C2-BBAD-9EE85D7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Sınıf tanımına { } ekleyin. Aşağıdaki üyeleri bu gövdenin içine yazın.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52BEE-C9AC-4770-B9DC-C553A8F0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Ogrenci sınıfının içine eklenecek kod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B792D-303D-4C89-9120-B49EF71C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private</a:t>
            </a:r>
            <a:r>
              <a:t>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notlar = mutableListOf&lt;Int&gt;()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B9824-7E90-41A4-8023-F915E32E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989F6-ABA8-461D-A71A-47ADE00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notEkle(puan: Int): Boolean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61C6A-8AB2-4447-BDEF-EFFC060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(puan &lt; </a:t>
            </a:r>
            <a:r>
              <a:rPr>
                <a:solidFill>
                  <a:srgbClr val="A45110"/>
                </a:solidFill>
              </a:rPr>
              <a:t>0</a:t>
            </a:r>
            <a:r>
              <a:t> || puan &gt; </a:t>
            </a:r>
            <a:r>
              <a:rPr>
                <a:solidFill>
                  <a:srgbClr val="A45110"/>
                </a:solidFill>
              </a:rPr>
              <a:t>100</a:t>
            </a:r>
            <a:r>
              <a:t>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26755-F152-4D44-B37A-B5821130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6941A5"/>
                </a:solidFill>
              </a:rPr>
              <a:t>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CAD21-CCC5-4810-8599-2C35DC8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D6C4A-3A90-4E95-A5F6-ABDD8321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notlar.add(puan)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FE71A-3756-400B-9CA0-2CEDD664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6941A5"/>
                </a:solidFill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64D8A-77B7-47B0-A050-E5CF87E8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A32C2-2A7D-4AF5-BF62-298B3893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Erken dönüş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27A33-E863-4199-9736-A2B1DB36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Geçersiz puanda return false çalışır. add satırına ulaşılmaz.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4950E-0DA2-4BCE-A743-A60E3109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Kapsülleme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7E7AC-16AD-433C-9085-FD84827D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 doğrudan listeyi değiştiremez. Not eklemek için bu metodu çağırır.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535CF-BFE2-413F-9490-14D953DF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ADB6E-BF38-427D-AB5E-F05603C3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notEkle(80): true    notEkle(120): false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13605-3F5A-47B7-83A9-49121CF4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7 / 26</a:t>
            </a:r>
          </a:p>
        </p:txBody>
      </p:sp>
    </p:spTree>
    <p:extLst>
      <p:ext uri="{BB962C8B-B14F-4D97-AF65-F5344CB8AC3E}">
        <p14:creationId xmlns:p14="http://schemas.microsoft.com/office/powerpoint/2010/main" val="22608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AD347-8E7A-42A7-BFFB-ECC56F11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C9A30-254E-462D-ADEB-D279A8BA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Liste için val ve private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1E916-AFD2-4B11-86CC-436E98D7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iki sözcük farklı amaçlarla kullanılır.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138EC-2D93-4529-A7DC-078E4FB1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D7088-4D4A-400E-A101-C489D97D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notlar özelliğine başka bir liste atayamayız. Mevcut değiştirilebilir listeye eleman ekleyebiliriz.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8A0B1-B251-4534-A657-79D3AE95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C419B-FE12-4A5C-B358-78959E14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 içinden ayse.notlar.add(150) yazılamaz. Bu erişim derleme hatası verir.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F4561-3DDC-4074-9E27-362C780D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Nesneye ait veri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9C74D-117C-4188-9084-A82EB0F7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Her Ogrenci oluşturulduğunda yeni bir liste oluşur. Ayşe’ye eklenen not Ali’ye eklenmez.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1F3FA-8A39-4C4B-8565-01D94210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8 / 26</a:t>
            </a:r>
          </a:p>
        </p:txBody>
      </p:sp>
    </p:spTree>
    <p:extLst>
      <p:ext uri="{BB962C8B-B14F-4D97-AF65-F5344CB8AC3E}">
        <p14:creationId xmlns:p14="http://schemas.microsoft.com/office/powerpoint/2010/main" val="1360056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B20B2-A606-40E3-8A50-A1489953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64C0F-7939-4787-9B31-76CFE3FA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3. görev: ortalama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463A3-F47E-4988-9B7F-BC784823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ortalama(): Double metodunu yazın. Süre: 15 dakika.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8CC62-2F38-4C38-8195-88D92B2B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Boş liste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3A875-0C3B-4CAE-8AB5-8514A9E5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Hiç not yoksa 0.0 döndürün. Bölme işlemi yapmayın.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38A9F-92EE-4CCF-ABC9-84DC08A8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Toplama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006E1-4814-45CB-A29B-17DC97C0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toplam değişkenini 0 yapın. for döngüsüyle bütün notları ekleyin.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6392D-E27D-4EDA-A0DE-FC148B02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Bölme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81429-E925-4394-AFA8-3CBB388F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toplam.toDouble() / notlar.size sonucunu döndürün. 80 ve 61 için sonuç 70.5 olmalı.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BDC42-2AD7-404E-BB8D-A1D0992C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9 / 26</a:t>
            </a:r>
          </a:p>
        </p:txBody>
      </p:sp>
    </p:spTree>
    <p:extLst>
      <p:ext uri="{BB962C8B-B14F-4D97-AF65-F5344CB8AC3E}">
        <p14:creationId xmlns:p14="http://schemas.microsoft.com/office/powerpoint/2010/main" val="366610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821AE-2B80-4E5E-B7EC-7403820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16643-22C7-476A-8159-44EF9A4C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3. çözüm: ortalama hesabı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7418E-2D4E-4E38-9FE0-8028748A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Boş listeyi önce ele alırız. Ardından toplama ve bölme işlemini yaparız.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EEDD6-EF32-417E-85B8-84324B5F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Ogrenci sınıfının içine eklenecek kod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03B57-FE3E-481A-8081-3D62BECF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ortalama(): Double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9A6D2-6F79-44B8-A605-E915EC98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(notlar.isEmpty())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A45110"/>
                </a:solidFill>
              </a:rPr>
              <a:t>0</a:t>
            </a:r>
            <a:r>
              <a:t>.</a:t>
            </a:r>
            <a:r>
              <a:rPr>
                <a:solidFill>
                  <a:srgbClr val="A45110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EB332-6A76-456B-B70F-4B30D373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var</a:t>
            </a:r>
            <a:r>
              <a:t> toplam = </a:t>
            </a:r>
            <a:r>
              <a:rPr>
                <a:solidFill>
                  <a:srgbClr val="A45110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82A42-494D-486D-B861-586BA8AF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for</a:t>
            </a:r>
            <a:r>
              <a:t> (not </a:t>
            </a:r>
            <a:r>
              <a:rPr>
                <a:solidFill>
                  <a:srgbClr val="6941A5"/>
                </a:solidFill>
              </a:rPr>
              <a:t>in</a:t>
            </a:r>
            <a:r>
              <a:t> notlar)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D7D33-B75C-4678-B397-8743159D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toplam = toplam + not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6C0D6-2B0D-404D-8C68-C268F0A9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5BC57-0B2F-4FF6-A8D1-DDC94312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toplam.toDouble() / notlar.size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7E23C-66B9-4761-BDFA-0341572B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BD7BC-A63F-4FAB-8D90-0FA87E0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Döngü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5A5AE-9996-445E-84A9-E1582E8D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not, her turda sıradaki puanı alır. toplam bu puanları biriktirir.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98A4E-D276-402E-9430-ED400133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Ondalıklı sonuç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CF365-A411-441B-83E6-DA9592C7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toDouble() sayesinde 141 / 2 işlemi 70.5 verir. Tam sayı bölmesiyle 70 olurdu.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68D9E-DED0-46B0-86FB-99E68BF7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9A9AA-D1CA-4C3A-8F96-5146C2DB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80 ve 61 için ortalama: 70.5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7FCB2-35CE-40DA-BAE4-EB51E04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10 / 26</a:t>
            </a:r>
          </a:p>
        </p:txBody>
      </p:sp>
    </p:spTree>
    <p:extLst>
      <p:ext uri="{BB962C8B-B14F-4D97-AF65-F5344CB8AC3E}">
        <p14:creationId xmlns:p14="http://schemas.microsoft.com/office/powerpoint/2010/main" val="4905100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AA547-034D-4363-8C46-A127BDF8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A9BCB-4244-4F6B-B7C8-E6BBB1C6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4. görev: başarı durumu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DBA4C-1FE4-40DD-8AD4-1A220769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durum(): String metodunu yazın. Süre: 10 dakika.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9E7AE-2830-4427-A407-416D1CC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yok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CC99B-14DD-428B-8206-003507A7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Önce listeyi kontrol edin. Boşsa “Not girilmedi” döndürün.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CA972-B588-4409-A1CF-C582BB40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Geçti / kaldı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DCB1D-5863-41C1-AC3E-D1D2C179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Ortalama en az 50 ise “Geçti”, daha küçükse “Kaldı” döndürün.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D1BC2-2F88-4138-9B98-73CCB643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Metot kullanımı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F8F07-D6D6-45E8-A830-17AFD45C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Ortalama hesabını yeniden yazmayın. Sınıftaki ortalama() metodunu çağırın.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47353-BC8A-4074-8480-51DCA9E6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11 / 26</a:t>
            </a:r>
          </a:p>
        </p:txBody>
      </p:sp>
    </p:spTree>
    <p:extLst>
      <p:ext uri="{BB962C8B-B14F-4D97-AF65-F5344CB8AC3E}">
        <p14:creationId xmlns:p14="http://schemas.microsoft.com/office/powerpoint/2010/main" val="646722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BDDBC-1C93-449C-BCF3-D68044C4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EE1FC-B8C6-421C-BAE1-47D60FDB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4. çözüm: koşulların sırası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91A80-1A81-4C31-B240-97567D16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Not girilmemiş öğrenciyi, sıfır puan almış öğrenciden ayırırız.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645D2-DFD2-49C0-A203-D3251FFE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Ogrenci sınıfının içine eklenecek kod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731F3-8ABA-4C6E-9F43-9BB1DB71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durum(): String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6F07C-F331-4500-AD6F-CB1EFC29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(notlar.isEmpty())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6C404-D0D7-4654-BC43-B8B6C124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397425"/>
                </a:solidFill>
              </a:rPr>
              <a:t>"Not girilmedi"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31C42-B34B-42EB-BC59-2CCA255A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AB2C6-408F-414B-9CA7-62ACDBDB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(ortalama() &gt;= </a:t>
            </a:r>
            <a:r>
              <a:rPr>
                <a:solidFill>
                  <a:srgbClr val="A45110"/>
                </a:solidFill>
              </a:rPr>
              <a:t>50</a:t>
            </a:r>
            <a:r>
              <a:t>.</a:t>
            </a:r>
            <a:r>
              <a:rPr>
                <a:solidFill>
                  <a:srgbClr val="A45110"/>
                </a:solidFill>
              </a:rPr>
              <a:t>0</a:t>
            </a:r>
            <a:r>
              <a:t>) 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72F5D-578A-4B65-AF62-A9DD8D4B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397425"/>
                </a:solidFill>
              </a:rPr>
              <a:t>"Geçti"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3015B-ADC6-4596-AF65-82CDB858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A9365-024C-49E4-B144-C6DB25B1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397425"/>
                </a:solidFill>
              </a:rPr>
              <a:t>"Kaldı"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AD710-F7E3-4769-BCD9-810BF62D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DD350-B784-420D-BA69-84621997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İlk kontrol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67144-9CE2-42EC-970E-88260D3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Liste boşsa sonuç hemen döner. Sonraki koşula geçilmez.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16CD8-5C3E-422B-A7E4-B477DB39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Sınır değer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B957D-FFDC-47ED-9C20-B440B970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&gt;= kullanıldığı için ortalaması tam 50 olan öğrenci geçer.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9834B-E6DA-4E6A-8533-280465D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6D0A2-0B26-4EDE-9492-A8B738AD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Not yok: Not girilmedi    Tek not 0: Kaldı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30B7F-B940-4426-A58B-18C9EB27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12 / 26</a:t>
            </a:r>
          </a:p>
        </p:txBody>
      </p:sp>
    </p:spTree>
    <p:extLst>
      <p:ext uri="{BB962C8B-B14F-4D97-AF65-F5344CB8AC3E}">
        <p14:creationId xmlns:p14="http://schemas.microsoft.com/office/powerpoint/2010/main" val="15034480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92C80-6481-4550-AD20-E5548615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8D95D-F175-4471-B276-AB011431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5. görev: öğrenci raporu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2CC50-96DE-4850-B2C9-3853E083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raporYazdir() metodu bilgileri konsola yazsın. Süre: 10 dakika.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80D92-4A23-462D-9DF0-12EE2B50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Kimlik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8A7FB-92AB-4D6D-AAEA-BD6E83A0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Öğrencinin adını ve numarasını yazdırın.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D2CAE-E137-4877-BA4D-3E0A146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bilgisi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0357C-1297-4353-9A81-C29AD1F2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 sayısını ve ortalamayı yazdırın. Son satırda başarı durumunu gösterin.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D6FE9-93B2-4681-8E64-A29BE36C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09A65-1FFA-4211-882C-96DC7F91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Ayşe’ye 80 ve 60 ekleyin. Not sayısı 2, ortalama 70.0 ve durum Geçti olmalı.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F6B68-FCB7-44E2-BCA3-F420274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13 / 26</a:t>
            </a:r>
          </a:p>
        </p:txBody>
      </p:sp>
    </p:spTree>
    <p:extLst>
      <p:ext uri="{BB962C8B-B14F-4D97-AF65-F5344CB8AC3E}">
        <p14:creationId xmlns:p14="http://schemas.microsoft.com/office/powerpoint/2010/main" val="16841221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B8BE0-BFBD-4B16-8314-5A25B789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3BD23-A803-4688-A4FA-39B86A8E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5. çözüm: rapor metodu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A0F98-E136-48B6-8CE2-9C5D8FCC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Rapor, özellikleri okur ve daha önce yazdığımız metotları çağırır.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E6D47-6719-48BE-A619-C7DD228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Ogrenci sınıfının içine eklenecek kod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71D93-1423-4C33-8AD0-B8737FD7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raporYazdir()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78364-820F-4615-B4F1-6C621CA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</a:t>
            </a:r>
            <a:r>
              <a:rPr>
                <a:solidFill>
                  <a:srgbClr val="397425"/>
                </a:solidFill>
              </a:rPr>
              <a:t>"Öğrenci: "</a:t>
            </a:r>
            <a:r>
              <a:t> + ad)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D028A-4D23-431E-9399-CB319E1D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</a:t>
            </a:r>
            <a:r>
              <a:rPr>
                <a:solidFill>
                  <a:srgbClr val="397425"/>
                </a:solidFill>
              </a:rPr>
              <a:t>"Numara: "</a:t>
            </a:r>
            <a:r>
              <a:t> + numara)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D0CBC-3063-43CF-97F6-CAA2476F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</a:t>
            </a:r>
            <a:r>
              <a:rPr>
                <a:solidFill>
                  <a:srgbClr val="397425"/>
                </a:solidFill>
              </a:rPr>
              <a:t>"Not sayısı: "</a:t>
            </a:r>
            <a:r>
              <a:t> + notlar.size)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6FDF2-9036-49B8-BC97-C01C9C29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</a:t>
            </a:r>
            <a:r>
              <a:rPr>
                <a:solidFill>
                  <a:srgbClr val="397425"/>
                </a:solidFill>
              </a:rPr>
              <a:t>"Ortalama: "</a:t>
            </a:r>
            <a:r>
              <a:t> + ortalama())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46EFC-E83C-4B0C-ACB1-BD23F7F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</a:t>
            </a:r>
            <a:r>
              <a:rPr>
                <a:solidFill>
                  <a:srgbClr val="397425"/>
                </a:solidFill>
              </a:rPr>
              <a:t>"Durum: "</a:t>
            </a:r>
            <a:r>
              <a:t> + durum())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DA417-370B-4491-A7E3-E0873A6B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BD92C-F2F9-4344-AF86-A067D6DB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Aynı nesne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0BE46-9D33-4E7D-8F80-85B202CD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ad, numara ve notlar bu öğrenciye aittir.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930F4-F269-4B85-A7BE-DA68E82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Görev paylaşımı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B2D0E-1FD3-4FB2-A117-C7B6148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ortalama hesaplar, durum karar verir, raporYazdir sonucu gösterir.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48414-0AA4-4A20-AB0A-4CE94D6B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74B52-E00F-489C-B2F3-4DD80DFF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main içinden kullanım: ayse.raporYazdir()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5DC36-5738-4AA1-B461-F2A87895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13902033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60E2B-C38C-459C-AB16-806E4C9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E6E3C-6A44-47C2-BE05-0558A4E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6. görev: programı deneme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623D2-EBD0-4875-B653-C7CDD07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Her senaryoda yeni öğrenci oluşturun. Süre: 20 dakika.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81F2C-83E8-4EDF-90D1-6CBD9B78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Normal durumlar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4FC4F-763F-49C1-9E63-7111E85E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80, 60: 70.0 ve Geçti. 40, 50: 45.0 ve Kaldı. Hiç not yok: Not girilmedi.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C4FB5-2E74-4941-BC2D-0077B6C4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Sınır değerler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A4B63-AC30-4DE7-9CCB-711F4A09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0 ve 100 kabul edilmeli. Tek not 50 ise Geçti olmalı. -1 ve 101 reddedilmeli.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D09E6-94A4-4D12-85E6-7442987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Bağımsız nesneler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2988C-9391-4E2E-8F1E-D74B3A21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Ayşe’ye not ekleyin. Ali’nin durumu hâlâ Not girilmedi olmalı.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E4DFF-5EE7-40A8-A10C-26240092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15 / 26</a:t>
            </a:r>
          </a:p>
        </p:txBody>
      </p:sp>
    </p:spTree>
    <p:extLst>
      <p:ext uri="{BB962C8B-B14F-4D97-AF65-F5344CB8AC3E}">
        <p14:creationId xmlns:p14="http://schemas.microsoft.com/office/powerpoint/2010/main" val="1397543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3C08E-9010-4B67-82A4-435C3E0E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749CB-58C1-40AB-BC48-C6F796E0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6. çözüm: reddedilen notlar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7CAEF-C4F0-4383-ACCC-ADD2971F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main, önceki sayfalarda tamamlanan Ogrenci sınıfıyla çalışır.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8D268-D616-47FA-8EF2-1C9D612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Tamamlanmış Ogrenci sınıfının altındaki 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AAF32-A75B-4FF8-86A0-59F1DCEA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81EA1-B2D9-4DF8-AA27-D17BF51B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ayse = Ogrenci(</a:t>
            </a:r>
            <a:r>
              <a:rPr>
                <a:solidFill>
                  <a:srgbClr val="397425"/>
                </a:solidFill>
              </a:rPr>
              <a:t>"Ayşe"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101</a:t>
            </a:r>
            <a: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70A9B-BDB8-4735-96CD-210518B6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println(ayse.notEkle(</a:t>
            </a:r>
            <a:r>
              <a:rPr>
                <a:solidFill>
                  <a:srgbClr val="A45110"/>
                </a:solidFill>
              </a:rPr>
              <a:t>80</a:t>
            </a:r>
            <a:r>
              <a:t>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8C85C-1224-4F58-B671-C3DA911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println(ayse.notEkle(</a:t>
            </a:r>
            <a:r>
              <a:rPr>
                <a:solidFill>
                  <a:srgbClr val="A45110"/>
                </a:solidFill>
              </a:rPr>
              <a:t>120</a:t>
            </a:r>
            <a:r>
              <a:t>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CBA1F-573F-47D1-B787-9E2E7CD7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println(ayse.notEkle(-</a:t>
            </a:r>
            <a:r>
              <a:rPr>
                <a:solidFill>
                  <a:srgbClr val="A45110"/>
                </a:solidFill>
              </a:rPr>
              <a:t>5</a:t>
            </a:r>
            <a:r>
              <a:t>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58DB3-0B9C-420D-885F-65CD5FC5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println(ayse.ortalama())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E56FC-21EE-41E9-A75F-582A08F3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D3EBC-43D7-4239-AB81-B06512C1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Beklenen davranış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E7B72-FAD0-4B34-ABFC-17BF0C61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Yalnız 80 listeye eklenir. Diğer iki çağrı listeyi değiştirmez.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1714E-0A7E-4571-B9DE-4A16314E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Kontrol sorusu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B1C38-686E-4E4A-BFD8-1F52D9B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Ortalama neden 80.0 kaldı? Yanlış girişler toplama veya sayıya katıldı mı?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6A521-314E-46B7-BF0F-EA5ED40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40A30-07E9-419F-A83E-C4E4BC37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true   false   false   80.0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37EF5-E590-49C7-8795-2C89B3A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16 / 26</a:t>
            </a:r>
          </a:p>
        </p:txBody>
      </p:sp>
    </p:spTree>
    <p:extLst>
      <p:ext uri="{BB962C8B-B14F-4D97-AF65-F5344CB8AC3E}">
        <p14:creationId xmlns:p14="http://schemas.microsoft.com/office/powerpoint/2010/main" val="7096429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FF34F-6636-4ACC-9B15-AD46FF50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B63B7-EF44-4033-91C7-D7A2441C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Tam çözümün dosya düzeni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48FCB-BF2E-49E0-A5C2-623EFF77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Sonraki üç kod sayfası aynı OgrenciProjesi.kt dosyasının devamıdır.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AAA44-0898-43B1-83FF-5AC02924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Birinci parça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9ECF4-D414-4E5F-A795-384FDD08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Sınıfın başlangıcı, not listesi, notEkle ve ortalama. Sınıf henüz kapanmaz.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91296-ACC3-46E0-9BE7-11BE931E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İkinci parça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87B6B-1057-4972-B8CD-D1AC7E16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durum ve raporYazdir. Son süslü parantez Ogrenci sınıfını kapatır.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7BC93-38E7-49D4-9C04-F25691C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Üçüncü parça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93F06-5018-4581-AEE2-388ECFFB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 sınıfın dışına yazılır. Dosyada yalnız bir Ogrenci ve bir main bulunur.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9B0AA-B2F4-4F49-8D13-9AECAF9C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17 / 26</a:t>
            </a:r>
          </a:p>
        </p:txBody>
      </p:sp>
    </p:spTree>
    <p:extLst>
      <p:ext uri="{BB962C8B-B14F-4D97-AF65-F5344CB8AC3E}">
        <p14:creationId xmlns:p14="http://schemas.microsoft.com/office/powerpoint/2010/main" val="13168546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DBB167-A0C0-4F3B-AF90-080FC25B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1D2A4-2820-49FC-8C4C-8EDEF79E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Tam çözüm 1/3: sınıfın başlangıcı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9DB0B-662D-4821-835F-D15F3AD4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OgrenciProjesi.kt dosyasının ilk bölümü. Sonraki sayfayla devam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2625B-B5FC-4573-8C54-75A9071C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Dosyanın ilk bölümü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DD6E1-0E2B-4C2C-833D-EEB8A18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Ogrenci(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ad: String,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numara: Int)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7C67F-5892-4F34-8302-EBB01A26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private</a:t>
            </a:r>
            <a:r>
              <a:t>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notlar = mutableListOf&lt;Int&gt;()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99BE8-F999-4C9B-BA7D-C6B8897C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notEkle(puan: Int): Boolean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5A56D-1CEE-421F-B134-A52DF528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(puan &lt; </a:t>
            </a:r>
            <a:r>
              <a:rPr>
                <a:solidFill>
                  <a:srgbClr val="A45110"/>
                </a:solidFill>
              </a:rPr>
              <a:t>0</a:t>
            </a:r>
            <a:r>
              <a:t> || puan &gt; </a:t>
            </a:r>
            <a:r>
              <a:rPr>
                <a:solidFill>
                  <a:srgbClr val="A45110"/>
                </a:solidFill>
              </a:rPr>
              <a:t>100</a:t>
            </a:r>
            <a:r>
              <a:t>)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6941A5"/>
                </a:solidFill>
              </a:rPr>
              <a:t>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A4462-94FC-485E-8236-30FA358D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notlar.add(puan)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72EB9-549C-41D0-8DA0-0261BEFC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6941A5"/>
                </a:solidFill>
              </a:rPr>
              <a:t>true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2D000-5A20-4529-AA82-5371F4C6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37837-C011-4C33-A556-87FB2260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ortalama(): Double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883F4-66A4-42D6-958A-7DE96F0E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(notlar.isEmpty())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A45110"/>
                </a:solidFill>
              </a:rPr>
              <a:t>0</a:t>
            </a:r>
            <a:r>
              <a:t>.</a:t>
            </a:r>
            <a:r>
              <a:rPr>
                <a:solidFill>
                  <a:srgbClr val="A45110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9D733-7065-4249-84A5-C7578608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var</a:t>
            </a:r>
            <a:r>
              <a:t> toplam = </a:t>
            </a:r>
            <a:r>
              <a:rPr>
                <a:solidFill>
                  <a:srgbClr val="A45110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9A4EF-D188-4091-9164-1E71119C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for</a:t>
            </a:r>
            <a:r>
              <a:t> (not </a:t>
            </a:r>
            <a:r>
              <a:rPr>
                <a:solidFill>
                  <a:srgbClr val="6941A5"/>
                </a:solidFill>
              </a:rPr>
              <a:t>in</a:t>
            </a:r>
            <a:r>
              <a:t> notlar) {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5194D-E2D6-4918-8F12-25B8E328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912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    toplam = toplam + not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CCDD7-CD4A-43C4-A120-20FB3267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579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BF5A9-D776-443A-853A-C5CF7233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246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toplam.toDouble() / notlar.size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0F6B2-6BCB-4573-8746-82E0A7E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91325"/>
            <a:ext cx="878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89870-9F9A-4638-8691-0566AC97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Saklama ve kontrol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26A1A-E95C-4FEA-9796-BF795A9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Liste sınıfa özeldir. notEkle, geçersiz puanı reddeder.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DAE52-AB1F-4F3D-8EAC-5B4A58A7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Hesaplama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0CCD2-6761-41D4-8A7A-6E4F6816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Ortalama liste üzerinden hesaplanır. Ayrı bir ortalama değişkeni tutulmaz.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4B7DE-D44C-402A-985F-EDA9A17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F7D6F-619D-40E8-8706-1D8DAEF5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Devamı sonraki sayfada. Sınıf henüz kapanmadı.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B75EB-5B93-4D82-987F-59033A44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18 / 26</a:t>
            </a:r>
          </a:p>
        </p:txBody>
      </p:sp>
    </p:spTree>
    <p:extLst>
      <p:ext uri="{BB962C8B-B14F-4D97-AF65-F5344CB8AC3E}">
        <p14:creationId xmlns:p14="http://schemas.microsoft.com/office/powerpoint/2010/main" val="300159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5C82C-92FC-402C-8FF7-F9774EF3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6A0F2-106A-405C-BFA4-973F6935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Tam çözüm 2/3: sınıfın devamı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317C5-E87B-498A-8CBA-5BFBFD3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kodu önceki sayfadaki kodun hemen altına ekleyin.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3A001-6EE2-4E0C-A0C6-40FE00A6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Aynı dosyanın devamı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C5E0D-1DB0-4505-BC1B-4C6472B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durum(): String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D3EBE-4EB7-4989-9483-3E4A263A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(notlar.isEmpty())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397425"/>
                </a:solidFill>
              </a:rPr>
              <a:t>"Not girilmedi"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9F40C-617B-40E8-BC57-BA330B6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(ortalama() &gt;= </a:t>
            </a:r>
            <a:r>
              <a:rPr>
                <a:solidFill>
                  <a:srgbClr val="A45110"/>
                </a:solidFill>
              </a:rPr>
              <a:t>50</a:t>
            </a:r>
            <a:r>
              <a:t>.</a:t>
            </a:r>
            <a:r>
              <a:rPr>
                <a:solidFill>
                  <a:srgbClr val="A45110"/>
                </a:solidFill>
              </a:rPr>
              <a:t>0</a:t>
            </a:r>
            <a:r>
              <a:t>)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397425"/>
                </a:solidFill>
              </a:rPr>
              <a:t>"Geçti"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0D5F8-C09D-4ECF-BA7F-EAD41E5D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</a:t>
            </a:r>
            <a:r>
              <a:rPr>
                <a:solidFill>
                  <a:srgbClr val="397425"/>
                </a:solidFill>
              </a:rPr>
              <a:t>"Kaldı"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2C7CB-B7E9-4AAC-A735-378C55F9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20F7C-423B-4660-AFF3-6BA9AEC9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raporYazdir() {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3E52C-D9BE-4265-AA8C-1637783C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"Öğrenci: "</a:t>
            </a:r>
            <a:r>
              <a:t> + ad)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65685-ED4C-44D9-86B0-837F2E0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"Numara: "</a:t>
            </a:r>
            <a:r>
              <a:t> + numara)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A5977-BDEC-44EB-8303-42AF2F93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"Not sayısı: "</a:t>
            </a:r>
            <a:r>
              <a:t> + notlar.size)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4A044-135E-4D51-B057-7D410DF8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"Ortalama: "</a:t>
            </a:r>
            <a:r>
              <a:t> + ortalama())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B472A-69C9-4DC0-85A0-D55F9E1A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println(</a:t>
            </a:r>
            <a:r>
              <a:rPr>
                <a:solidFill>
                  <a:srgbClr val="397425"/>
                </a:solidFill>
              </a:rPr>
              <a:t>"Durum: "</a:t>
            </a:r>
            <a:r>
              <a:t> + durum())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D86DD-5571-4151-B48F-98A718C6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BB52B-06B1-4B09-94D8-DC97AA4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0082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D3916-2BA4-4803-AF9F-01B4E6C6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Metotlar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2B991-4815-4F46-9462-FA54C810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durum ve raporYazdir, Ogrenci sınıfının içinde kalır.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85276-C0D4-4D29-AFFC-FDCAF14F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 parantez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4B87A-8043-4EB1-BCB4-C9AE279C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En alttaki } sınıfı kapatır. main bundan sonra, sınıfın dışına yazılır.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B6941-7A76-4ADF-8BA6-2D76673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D6650-9EA2-4888-BFB4-6E8C0E1A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Ogrenci sınıfı tamamlandı.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C4D20-52F8-416A-B6E6-BA02B05B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19 / 26</a:t>
            </a:r>
          </a:p>
        </p:txBody>
      </p:sp>
    </p:spTree>
    <p:extLst>
      <p:ext uri="{BB962C8B-B14F-4D97-AF65-F5344CB8AC3E}">
        <p14:creationId xmlns:p14="http://schemas.microsoft.com/office/powerpoint/2010/main" val="4294191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EB6FE-D52D-4096-AD8E-0531B418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E98AB-96B0-4B9C-88E6-557283E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Tam çözüm 3/3: main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4242B-39FF-4F74-88E9-0562025F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kodu sınıf kapandıktan sonra aynı dosyanın altına ekleyin.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18A03-1B4B-4F86-81B8-6A9F83D9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Aynı dosyada, sınıfın dışına yazılacak kod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F55D0-B145-4796-A310-CFF0B167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36DC0-34DC-4798-8063-BBE59DC5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ayse = Ogrenci(</a:t>
            </a:r>
            <a:r>
              <a:rPr>
                <a:solidFill>
                  <a:srgbClr val="397425"/>
                </a:solidFill>
              </a:rPr>
              <a:t>"Ayşe"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101</a:t>
            </a:r>
            <a: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506E0-A2E1-460F-BEF5-C44E328D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ali = Ogrenci(</a:t>
            </a:r>
            <a:r>
              <a:rPr>
                <a:solidFill>
                  <a:srgbClr val="397425"/>
                </a:solidFill>
              </a:rPr>
              <a:t>"Ali"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102</a:t>
            </a:r>
            <a: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0349E-8102-48E8-AA79-CE446724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ayse.notEkle(</a:t>
            </a:r>
            <a:r>
              <a:rPr>
                <a:solidFill>
                  <a:srgbClr val="A45110"/>
                </a:solidFill>
              </a:rPr>
              <a:t>80</a:t>
            </a:r>
            <a: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69D6B-F676-40C2-9438-194C283C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ayse.notEkle(</a:t>
            </a:r>
            <a:r>
              <a:rPr>
                <a:solidFill>
                  <a:srgbClr val="A45110"/>
                </a:solidFill>
              </a:rPr>
              <a:t>60</a:t>
            </a:r>
            <a: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DACE2-6F52-405E-A653-98CA094E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ayse.raporYazdir()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F619D-4E2C-4A8A-A8D8-617E871A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println(</a:t>
            </a:r>
            <a:r>
              <a:rPr>
                <a:solidFill>
                  <a:srgbClr val="397425"/>
                </a:solidFill>
              </a:rPr>
              <a:t>"---"</a:t>
            </a:r>
            <a:r>
              <a:t>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2DEC3-C0DA-4454-9521-6130A69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ali.raporYazdir()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71966-85A2-45C0-8CA1-26CD00DE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C11B2-DA87-4993-8252-60328B5B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Ayşe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0EC0B-1B50-4FC6-A2F8-88047F52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İki geçerli notu vardır. Ortalaması 70.0, durumu Geçti olur.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D2FBA-DC4A-4C3C-AB8F-751C7CFB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C9E9B-81D5-4E76-A9D6-5293FB86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Ayrı nesnedir. Kendi listesi boştur. Durumu Not girilmedi olur.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450E5-9395-47DA-BBE9-8ECE65FE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F4782-4040-4A93-991A-1349366E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İki raporun tam çıktısı sonraki sayfada.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C0BB8-7624-482F-9B9B-99551DC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20 / 26</a:t>
            </a:r>
          </a:p>
        </p:txBody>
      </p:sp>
    </p:spTree>
    <p:extLst>
      <p:ext uri="{BB962C8B-B14F-4D97-AF65-F5344CB8AC3E}">
        <p14:creationId xmlns:p14="http://schemas.microsoft.com/office/powerpoint/2010/main" val="13561644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63EA7-81B8-482B-8190-A4BD1A8E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528F5-7EE6-41B4-9466-3C358ACC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Tam programın çıktısı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E37EC-485B-4D7D-887D-0FBB505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Ayşe’nin notları, Ali’nin listesini etkilemez.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A983F-905D-4B20-B1E1-B549F6F2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Konsol çıktısı; Kotlin kodu değildir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EE337-D91F-4188-B817-BB37F634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Öğrenci: Ayşe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D89D8-3807-4068-9E4D-7D1149A4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Numara: </a:t>
            </a:r>
            <a:r>
              <a:rPr>
                <a:solidFill>
                  <a:srgbClr val="A45110"/>
                </a:solidFill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FA497-68DB-410D-90A0-747155CA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Not sayısı: </a:t>
            </a:r>
            <a:r>
              <a:rPr>
                <a:solidFill>
                  <a:srgbClr val="A45110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9CFC0-3008-489C-B23C-B356577C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Ortalama: </a:t>
            </a:r>
            <a:r>
              <a:rPr>
                <a:solidFill>
                  <a:srgbClr val="A45110"/>
                </a:solidFill>
              </a:rPr>
              <a:t>70</a:t>
            </a:r>
            <a:r>
              <a:t>.</a:t>
            </a:r>
            <a:r>
              <a:rPr>
                <a:solidFill>
                  <a:srgbClr val="A45110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EE009-F0E7-4054-BB36-7B2BE048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Durum: Geçti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F58CA-8445-48D5-A121-F685DA8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---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BFAA5-2447-433C-AAB7-B19F677C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Öğrenci: Ali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39311-76C7-46D1-B04B-6D54B7D5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Numara: </a:t>
            </a:r>
            <a:r>
              <a:rPr>
                <a:solidFill>
                  <a:srgbClr val="A45110"/>
                </a:solidFill>
              </a:rPr>
              <a:t>102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DCD43-F678-424E-8689-5DD92004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Not sayısı: </a:t>
            </a:r>
            <a:r>
              <a:rPr>
                <a:solidFill>
                  <a:srgbClr val="A45110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209D9-1E38-4BFD-B624-1BEBE648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Ortalama: </a:t>
            </a:r>
            <a:r>
              <a:rPr>
                <a:solidFill>
                  <a:srgbClr val="A45110"/>
                </a:solidFill>
              </a:rPr>
              <a:t>0</a:t>
            </a:r>
            <a:r>
              <a:t>.</a:t>
            </a:r>
            <a:r>
              <a:rPr>
                <a:solidFill>
                  <a:srgbClr val="A45110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B6B73-5582-45A7-BE03-2CA7F491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960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Durum: Not girilmedi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2CB74-BF6F-4F52-8CBA-DD29206D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İki nesne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24D93-7A26-4276-A46A-4B12216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Aynı sınıftan oluşurlar, farklı veriler taşırlar.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E63BF-F721-4E58-B6CE-1A9DB0B3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Boş liste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45F98-EB6D-42CA-B5D3-4E16F7E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0.0 burada rapor için seçtiğimiz başlangıç sonucudur. Ali’ye sıfır notu girilmedi.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9FBCDB-5FEA-49D3-9BFA-E67F6D5D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EC2C3-09F3-4172-A6FD-1E192F37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Kendi çıktınızla satır satır karşılaştırın.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57E8A-D778-47EC-810E-627CBAA0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21 / 26</a:t>
            </a:r>
          </a:p>
        </p:txBody>
      </p:sp>
    </p:spTree>
    <p:extLst>
      <p:ext uri="{BB962C8B-B14F-4D97-AF65-F5344CB8AC3E}">
        <p14:creationId xmlns:p14="http://schemas.microsoft.com/office/powerpoint/2010/main" val="5666367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AA6E7-2BCC-41EB-A780-701A8AFC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5B935-B0E3-4367-9A16-75BA756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Ek görevler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51CDB-F3BE-4BF6-ACED-A8DF103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Temel programı bitirenler bu görevleri sırayla deneyebilir.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735FB-7503-4406-892B-B407C409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En yüksek not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D9C7D-610C-4DAD-A6F4-E5862EBB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enYuksekNot(): Int yazın. Liste boşsa -1, doluysa en büyük puanı döndürsün.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DD1DA-6253-4ED8-B903-67EEF97D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Başlangıç kuralı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DD776-5C25-45D3-862F-B90C55D7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init ve require ile numaranın pozitif olmasını zorunlu yapın.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C6BD2-F3D8-40BD-8C32-821931E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Toplu rapor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BA3FC-D6D9-4AF9-9EB6-51BFB889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Üç öğrenci nesnesini listede tutun. for ile hepsinin raporunu yazdırın.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5A437-5102-495D-8EB4-6F122827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22 / 26</a:t>
            </a:r>
          </a:p>
        </p:txBody>
      </p:sp>
    </p:spTree>
    <p:extLst>
      <p:ext uri="{BB962C8B-B14F-4D97-AF65-F5344CB8AC3E}">
        <p14:creationId xmlns:p14="http://schemas.microsoft.com/office/powerpoint/2010/main" val="16785188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FB43D-65E0-451D-A9F9-72DC0DC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5B577-EA99-453D-A3CA-F4B5E8EA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Ek çözüm: en yüksek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8A110-8F19-40BB-BCFC-867FDAF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metodu Ogrenci sınıfının içine ekleyin.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F8EF4-1913-4862-A64A-2EE430BC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Ogrenci sınıfının içine eklenecek kod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C2BBF-E7CC-40F3-8681-669B2305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enYuksekNot(): Int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DDEA8-C09C-4E74-A073-7F4DDD5B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(notlar.isEmpty())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-</a:t>
            </a:r>
            <a:r>
              <a:rPr>
                <a:solidFill>
                  <a:srgbClr val="A4511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22908-2A0E-4F79-BC39-2C2F448E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var</a:t>
            </a:r>
            <a:r>
              <a:t> enYuksek = notlar[</a:t>
            </a:r>
            <a:r>
              <a:rPr>
                <a:solidFill>
                  <a:srgbClr val="A45110"/>
                </a:solidFill>
              </a:rPr>
              <a:t>0</a:t>
            </a:r>
            <a:r>
              <a:t>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770FB-080C-4E0F-85C4-1FF6A0B9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for</a:t>
            </a:r>
            <a:r>
              <a:t> (not </a:t>
            </a:r>
            <a:r>
              <a:rPr>
                <a:solidFill>
                  <a:srgbClr val="6941A5"/>
                </a:solidFill>
              </a:rPr>
              <a:t>in</a:t>
            </a:r>
            <a:r>
              <a:t> notlar) 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A4265-0568-43CB-9591-6BDFF20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(not &gt; enYuksek) 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600C6-B04B-46AE-9454-485D298D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    enYuksek = not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76DBB-38B6-4FBC-82B3-19095806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BDBCB-F06B-435D-8F42-C6076B7D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2FB9F-963D-4B00-BCAB-F35B4117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enYuksek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A1C53-D7AE-4E1E-9A74-1F3786E2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447AA-B75C-40AE-B823-B97F9F1D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Başlangıç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159D1-6E10-46F3-8D12-FF5B3312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İlk notu geçici en yüksek değer kabul ederiz.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6578E-E685-4B9D-AE7B-F8594668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Karşılaştırma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36F87-2141-4077-A490-920F183F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Daha büyük not buldukça değeri güncelleriz. -1, not yok anlamına gelir.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0710C-9944-46AA-8446-E8977BE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CF375-481E-4D58-B656-292B8D68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80, 60, 95 için: 95    Boş liste için: -1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A518D-3557-4C2D-B58B-B61EECB9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23 / 26</a:t>
            </a:r>
          </a:p>
        </p:txBody>
      </p:sp>
    </p:spTree>
    <p:extLst>
      <p:ext uri="{BB962C8B-B14F-4D97-AF65-F5344CB8AC3E}">
        <p14:creationId xmlns:p14="http://schemas.microsoft.com/office/powerpoint/2010/main" val="14852670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7B5CA-CFB6-427C-AA62-CB58BBD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E757A-D0FB-4843-B19B-AA8A629D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Ek çözüm: başlangıç kuralı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E48E3-321A-4C56-B47C-2EC9E4DD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init bloğunu Ogrenci sınıfının içine ekleyin.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3A65C-2498-4DE8-9A2A-70404365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Ogrenci sınıfının içine eklenecek kod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EACBA-C886-4F8C-8DA7-63956D77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init</a:t>
            </a:r>
            <a:r>
              <a:t>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46BC9-AAE4-4C72-B0E1-13372D6E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require(numara &gt; </a:t>
            </a:r>
            <a:r>
              <a:rPr>
                <a:solidFill>
                  <a:srgbClr val="A45110"/>
                </a:solidFill>
              </a:rPr>
              <a:t>0</a:t>
            </a:r>
            <a:r>
              <a:t>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01777-C527-4F28-92E8-B8CACB09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</a:t>
            </a:r>
            <a:r>
              <a:rPr>
                <a:solidFill>
                  <a:srgbClr val="397425"/>
                </a:solidFill>
              </a:rPr>
              <a:t>"Öğrenci numarası pozitif olmalı"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35A6D-26C5-40F0-AA15-D50F866E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33856-C43F-4286-9491-A33A786D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E255-4046-4B0D-98B8-D3D8D28E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Ne zaman?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5BB8D-BDA5-438D-9C8D-CC40DB0A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Ogrenci nesnesi kurulurken otomatik çalışır.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0569C-DC25-42D7-AAF4-57275577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Geçersiz giriş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D22F3-8576-4817-A13B-749F053E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0 veya negatif numara verilirse hata oluşur. Bu işlem false döndürmez.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E8FE8-8A1F-45E3-9890-94FAFF2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B3AA1-B7EB-46D1-8417-85F491E6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Ogrenci("Ayşe", 101) geçerli. 0 numarası hata verir.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C0388-22F7-4A23-A1D5-F0EC418A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24 / 26</a:t>
            </a:r>
          </a:p>
        </p:txBody>
      </p:sp>
    </p:spTree>
    <p:extLst>
      <p:ext uri="{BB962C8B-B14F-4D97-AF65-F5344CB8AC3E}">
        <p14:creationId xmlns:p14="http://schemas.microsoft.com/office/powerpoint/2010/main" val="2754967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50BDE-67A9-400C-B06F-A0E86E95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3C337-EE48-4289-8C58-D5AA2A81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Ek çözüm: listedeki öğrenciler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4E375-2341-468D-BDC7-17492114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main, tamamlanan Ogrenci sınıfının dışına yazılır.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9FDD9-13FC-4F36-9A21-C3B14769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Önceki main yerine kullanılacak alternatif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D5A58-2B0C-4F55-B239-FAE209E3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fun</a:t>
            </a:r>
            <a:r>
              <a:t> main()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43FCD-B47F-4F07-AF1E-91C27E48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ogrenciler = listOf(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9D483-38B4-4A65-98FA-21A763EF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Ogrenci(</a:t>
            </a:r>
            <a:r>
              <a:rPr>
                <a:solidFill>
                  <a:srgbClr val="397425"/>
                </a:solidFill>
              </a:rPr>
              <a:t>"Ayşe"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101</a:t>
            </a:r>
            <a:r>
              <a:t>),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292B1-88EA-4774-8A0C-81FBD1A9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Ogrenci(</a:t>
            </a:r>
            <a:r>
              <a:rPr>
                <a:solidFill>
                  <a:srgbClr val="397425"/>
                </a:solidFill>
              </a:rPr>
              <a:t>"Ali"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102</a:t>
            </a:r>
            <a:r>
              <a:t>),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B074B-67E4-4905-A0FE-49A82C1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Ogrenci(</a:t>
            </a:r>
            <a:r>
              <a:rPr>
                <a:solidFill>
                  <a:srgbClr val="397425"/>
                </a:solidFill>
              </a:rPr>
              <a:t>"Ece"</a:t>
            </a:r>
            <a:r>
              <a:t>, </a:t>
            </a:r>
            <a:r>
              <a:rPr>
                <a:solidFill>
                  <a:srgbClr val="A45110"/>
                </a:solidFill>
              </a:rPr>
              <a:t>103</a:t>
            </a:r>
            <a: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7E5D0-8C7B-4DF1-84B0-69AF13F6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C2E3E-B01F-47FF-8C18-1F0FCD48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for</a:t>
            </a:r>
            <a:r>
              <a:t> (ogrenci </a:t>
            </a:r>
            <a:r>
              <a:rPr>
                <a:solidFill>
                  <a:srgbClr val="6941A5"/>
                </a:solidFill>
              </a:rPr>
              <a:t>in</a:t>
            </a:r>
            <a:r>
              <a:t> ogrenciler) 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BE915-4948-4516-9011-B4255348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ogrenci.raporYazdir()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5D4A4-73F9-4F11-A05C-881E270A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7944A-D1B8-4CDA-8648-C49F4365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E9A6F-900C-4F84-BBC5-E944BC19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Liste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6C8F7-9BE7-4C1D-9E82-1D9FC357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Her eleman bir Ogrenci nesnesidir.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1CF29-79CD-4A28-8F85-4FD9538E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Döngü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E90C5-4D55-4B26-861D-CCFA3EA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Sıradaki nesnenin raporYazdir metodu çağrılır. Henüz hiçbirine not eklenmedi.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050EE-866D-430E-8DF7-470C8540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Çıktı / sonuç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C34997-BCC6-4F21-BB83-3178FA8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52F3D"/>
                </a:solidFill>
                <a:latin typeface="Consolas"/>
                <a:ea typeface="Consolas"/>
                <a:cs typeface="Consolas"/>
              </a:rPr>
              <a:t>Üç öğrencinin durumu da Not girilmedi olur.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97E93-5C1D-42FC-9C56-37D0A3E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25 / 26</a:t>
            </a:r>
          </a:p>
        </p:txBody>
      </p:sp>
    </p:spTree>
    <p:extLst>
      <p:ext uri="{BB962C8B-B14F-4D97-AF65-F5344CB8AC3E}">
        <p14:creationId xmlns:p14="http://schemas.microsoft.com/office/powerpoint/2010/main" val="303666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E1465-11E7-480A-8545-64C7D62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 VE ÇÖZÜM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FCADB-1247-446A-8BEA-7B343F32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Teslim ve değerlendirme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9BFFF-2722-4C78-B76C-143857EE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OgrenciProjesi.kt dosyası ve test çıktıları teslim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CB7D6-8621-4F55-BEB1-6A134250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Yapı: 35 puan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635FC-3613-46F2-9C02-7D86A0F8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Sınıf ve iki bağımsız nesne: 20. Yapılandırıcı ve özellikler: 15.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BA992-4FDC-49C1-B26F-515A30C6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Davranış: 50 puan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50A2-67FD-4CBB-BB60-EAA203C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Kapsülleme ve not kontrolü: 25. Ortalama, durum ve rapor: 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4FC6D-ED17-40A1-8105-9DEAC8F3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Denemeler: 15 puan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3BF47-3565-43C8-A544-C20D6F6A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Boş liste, sınır değerler ve reddedilen notları gösterin. private kullanımının nedenini açıklayın.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0008A-070D-427A-B9A3-756A2527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26 / 26</a:t>
            </a:r>
          </a:p>
        </p:txBody>
      </p:sp>
    </p:spTree>
    <p:extLst>
      <p:ext uri="{BB962C8B-B14F-4D97-AF65-F5344CB8AC3E}">
        <p14:creationId xmlns:p14="http://schemas.microsoft.com/office/powerpoint/2010/main" val="1491217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2026-10-04T12:30:35.9900000Z</dcterms:created>
  <dcterms:modified xsi:type="dcterms:W3CDTF">2026-10-04T12:30:35.9900000Z</dcterms:modified>
</coreProperties>
</file>
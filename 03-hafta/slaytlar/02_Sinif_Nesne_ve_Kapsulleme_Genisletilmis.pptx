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5240000" cy="85725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74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dosya bağımsız bir ders sunumudur. Kod örneklerini sırayla ele alın. Bir örneği başka sayfanın koduyla birleştirmeyin. İlk üç sunumun çalıştırılabilir örneklerinde gerekli sınıf ve main tanımları aynı sayfadadır.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Burada constructor, inheritance veya interface terimlerini açmayın. Amaç yalnız sınıf fikridir. Sınıf bir tip tanımlar, var olan belirli bir öğrenci ise örnektir.</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sayfadaki kod geçerli bir sınıf bildirimidir, çalıştırılacak main içermez. İsimlendirmede sınıf adını büyük harfle başlatmak yaygın gelenektir.</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Property ile nesne oluşturmayı aynı anda uzun anlatmayın. Sadece özellik bildirimini inceleyin. Başlangıç değerinin her yeni örneğe ayrı uygulanacağını sonraki sayfalarda göreceğiz.</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https://kotlinlang.org/docs/properties.html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Ogrenci sınıf, ogrenci referans değişkenidir. İsim benzerliği zorunlu değildir; val kisi = Ogrenci() de yazılabilir. Bu örneğin tüm tanımı aynı sayfada yer alır.</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Öğrencinin noktanın solunda nesne, sağında üye bulunduğunu göstermesini isteyin. Önceki slayda geri gitmeden bütün kodu okuyabilsin.</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https://kotlinlang.org/docs/properties.html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ayrım ilk sunumdaki val dizi/listenin içeriği örneğiyle tutarlıdır. Değişkeni val yapmak nesnenin bütün özelliklerini otomatik val yapmaz.</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https://kotlinlang.org/docs/properties.html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Önce iki öğrencinin aynı sınıftan geldiğini, sonra verilerinin farklı olabildiğini vurgulayın. Referans paylaşma konusunu bu sayfaya eklemeyin.</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Fonksiyon kavramı birinci sunumdan geliyor. Yeni nokta, fonksiyonun bir sınıfın üyesi olmasıdır. Üst düzey fonksiyonlarla kapsamlı karşılaştırmayı burada uzatmayın.</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Kurucu, yapılandırıcı ve constructor aynı kavram için kullanılan terimlerdir. Burada init, secondary constructor veya kalıtım anlatılmamalı.</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Parametre ile özelliği ilk kez burada ayrı isimlerle açıkça gösteriyoruz. gelenAd önünde val/var olmadığı için kendisi bir property değildir. Özellik başlatıcısında kullanılabilir.</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birincil yapılandırıcının yaygın Kotlin yazımıdır. Bir önceki sayfadaki gelenAd/ad aktarımının nasıl kısaldığını gösterin. Örneği çalıştırmak için yine sadece bu sayfadaki kod yeterlidir.</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İsimli argümanlar istenirse öğretmen notunda gösterilebilir: Ogrenci(ad="Ayşe", yas=16). Yeni ana konu çoklu parametredir, named argument ayrıntısıyla slaydı kalabalıklaştırmayın.</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Varsayılan değer örneği gerçek öğrenci kayıt sisteminde eksik yaşa 18 atama önerisi değildir. Dil özelliğini göstermek için seçilmiştir.</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https://kotlinlang.org/docs/basic-syntax.html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Öğrencinin iki ad kullanımını oklarla değil sözlü olarak ayırmasını isteyin. Alternatif olarak yeniAd parametresi kullanılırsa this zorunlu olmaz.</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https://kotlinlang.org/docs/this-expressions.html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init bir fonksiyon tanımı değildir. Özellik başlatıcıları ve init blokları gövde sırasına göre çalışır. Burada yalnız çalıştığı zamanı öğretiyoruz.</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https://kotlinlang.org/docs/basic-syntax.html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basit ihtiyaç için varsayılan parametre daha kısa olabilir. Buradaki amaç secondary constructor sözdizimini tanımaktır. Bunu zorunlu tasarım tercihi gibi sunmayın.</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https://kotlinlang.org/docs/basic-syntax.html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Önce problemi tartıştırın. Bir sonraki sayfada private, daha sonra kontrollü fonksiyon gösterilecek. Tek slaytta hepsini yeni sözdizimiyle vermeyin.</a:t>
            </a:r>
          </a:p>
          <a:p>
            <a:endParaRPr/>
          </a:p>
          <a:p>
            <a:r>
              <a:t>Kaynaklar:</a:t>
            </a:r>
          </a:p>
          <a:p>
            <a:r>
              <a:t>https://kotlinlang.org/docs/visibility-modifiers.html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private güvenlik şifrelemesi değildir, kaynak koddaki erişim sınırıdır. public varsayılandır; private olmayan üyeler diğer erişim koşulları uygunsa kullanılabilir.</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https://kotlinlang.org/docs/visibility-modifiers.html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Java tarzı getter yazımı Kotlin için her zaman gerekli değildir. Bu aşamada erişim sınırını göstermek için açık fonksiyon kullandık. private set alternatifini daha sonra gösteriyoruz.</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https://kotlinlang.org/docs/visibility-modifiers.html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puaniOku(): Int = puan tek ifadeli fonksiyon yazımıdır, aynı iş return puan ile de yapılabilir. Geçersiz girişte kullanıcıya bilgi verme gerçek uygulamada ayrıca ele alınır. Öğrenciye 80 vererek çıktıyı yeniden denetmesini söyleyin.</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https://kotlinlang.org/docs/properties.html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yeni ve bağımsız Gorev örneğidir. Öğrenci sınıfının devamı olarak düşünülmemeli. Aynı kapsülleme fikrinin not defterindeki tamamlanma özelliğine uygulanışını gösterir.</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https://kotlinlang.org/docs/properties.html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Öğretmen için cevaplar:</a:t>
            </a:r>
          </a:p>
          <a:p>
            <a:r>
              <a:t>Tam örnek:</a:t>
            </a:r>
          </a:p>
          <a:p>
            <a:r>
              <a:t>class Kitap(val baslik: String)</a:t>
            </a:r>
          </a:p>
          <a:p>
            <a:r>
              <a:t>fun main() {</a:t>
            </a:r>
          </a:p>
          <a:p>
            <a:r>
              <a:t>    val kitap = Kitap("Kotlin Dersleri")</a:t>
            </a:r>
          </a:p>
          <a:p>
            <a:r>
              <a:t>    println(kitap.baslik)</a:t>
            </a:r>
          </a:p>
          <a:p>
            <a:r>
              <a:t>}</a:t>
            </a:r>
          </a:p>
          <a:p>
            <a:r>
              <a:t>Çıktı: Kotlin Dersleri. Ek soru: baslik val olduğu için yeniden atanabilir mi? Hayır.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Öğrenciden Ogrenci("Ayşe") ifadesinde sınıf adını, başlangıç girdisini ve oluşan nesneyi sözlü ayırt etmesini isteyin.</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ek bölümü ayrı ders saatinde işleyebilirsiniz. Kalıtım veya interface gerekmiyor. Öğrenciler önce sınıfı, sonra nesneye yapılan çağrıları okusun.</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Pozitif ve küçük boyutlar varsayılmıştır. Bu sayfada özel getter öğretiliyor. Alan için ayrı bir değişken güncellememek tutarsızlığı azaltır.</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https://kotlinlang.org/docs/classes.html</a:t>
            </a:r>
          </a:p>
          <a:p>
            <a:r>
              <a:t>https://kotlinlang.org/docs/functions.html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Urun("Kalem", -1) ayrı bir denemede hata üretir. Yakalanmayan hata programı durdurabilir. Kullanıcının normal hatalı girdisi için Boolean gibi kontrollü sonuçlar tercih edilebilir; require nesnenin başlangıç sözleşmesini ifade eder.</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https://kotlinlang.org/docs/classes.html</a:t>
            </a:r>
          </a:p>
          <a:p>
            <a:r>
              <a:t>https://kotlinlang.org/docs/functions.html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Dizi veya paralel listelerde ad ve stok konumlarını eşleştirmek yerine ilişkili bilgileri tek nesnede tutuyoruz. Bu sınıf henüz stok değiştirme işlemi sunmuyor.</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https://kotlinlang.org/docs/classes.html</a:t>
            </a:r>
          </a:p>
          <a:p>
            <a:r>
              <a:t>https://kotlinlang.org/docs/functions.html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Boolean sonuç ile nesnenin iç durumu iki ayrı şeydir. Birincisi işlemin başarılı olup olmadığını, ikincisi kitabın ödünç durumunu anlatır. Aynı nesneye iki kez çağrı yapılıyor.</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https://kotlinlang.org/docs/classes.html</a:t>
            </a:r>
          </a:p>
          <a:p>
            <a:r>
              <a:t>https://kotlinlang.org/docs/functions.html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program gerçek kütüphanenin küçük bir modelidir. Kullanıcı hesabı, tarih veya dosyaya kayıt içermez. Önce öğrenciden dört çağrının sonuçlarını tahmin etmesini isteyin.</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Tüm</a:t>
            </a:r>
            <a:r>
              <a:rPr dirty="0"/>
              <a:t> </a:t>
            </a:r>
            <a:r>
              <a:rPr dirty="0" err="1"/>
              <a:t>kod</a:t>
            </a:r>
            <a:r>
              <a:rPr dirty="0"/>
              <a:t> </a:t>
            </a:r>
            <a:r>
              <a:rPr dirty="0" err="1"/>
              <a:t>tek</a:t>
            </a:r>
            <a:r>
              <a:rPr dirty="0"/>
              <a:t> </a:t>
            </a:r>
            <a:r>
              <a:rPr dirty="0" err="1"/>
              <a:t>dosyadır</a:t>
            </a:r>
            <a:r>
              <a:rPr dirty="0"/>
              <a:t>. private set </a:t>
            </a:r>
            <a:r>
              <a:rPr dirty="0" err="1"/>
              <a:t>dışarıdan</a:t>
            </a:r>
            <a:r>
              <a:rPr dirty="0"/>
              <a:t> </a:t>
            </a:r>
            <a:r>
              <a:rPr dirty="0" err="1"/>
              <a:t>atamayı</a:t>
            </a:r>
            <a:r>
              <a:rPr dirty="0"/>
              <a:t> </a:t>
            </a:r>
            <a:r>
              <a:rPr dirty="0" err="1"/>
              <a:t>kapatır</a:t>
            </a:r>
            <a:r>
              <a:rPr dirty="0"/>
              <a:t> ama </a:t>
            </a:r>
            <a:r>
              <a:rPr dirty="0" err="1"/>
              <a:t>okumayı</a:t>
            </a:r>
            <a:r>
              <a:rPr dirty="0"/>
              <a:t> </a:t>
            </a:r>
            <a:r>
              <a:rPr dirty="0" err="1"/>
              <a:t>açık</a:t>
            </a:r>
            <a:r>
              <a:rPr dirty="0"/>
              <a:t> </a:t>
            </a:r>
            <a:r>
              <a:rPr dirty="0" err="1"/>
              <a:t>tutar</a:t>
            </a:r>
            <a:r>
              <a:rPr dirty="0"/>
              <a:t>. </a:t>
            </a:r>
            <a:r>
              <a:rPr dirty="0" err="1"/>
              <a:t>iadeEt</a:t>
            </a:r>
            <a:r>
              <a:rPr dirty="0"/>
              <a:t> ilk </a:t>
            </a:r>
            <a:r>
              <a:rPr dirty="0" err="1"/>
              <a:t>kez</a:t>
            </a:r>
            <a:r>
              <a:rPr dirty="0"/>
              <a:t> </a:t>
            </a:r>
            <a:r>
              <a:rPr dirty="0" err="1"/>
              <a:t>çağrıldığında</a:t>
            </a:r>
            <a:r>
              <a:rPr dirty="0"/>
              <a:t> true, </a:t>
            </a:r>
            <a:r>
              <a:rPr dirty="0" err="1"/>
              <a:t>arka</a:t>
            </a:r>
            <a:r>
              <a:rPr dirty="0"/>
              <a:t> </a:t>
            </a:r>
            <a:r>
              <a:rPr dirty="0" err="1"/>
              <a:t>arkaya</a:t>
            </a:r>
            <a:r>
              <a:rPr dirty="0"/>
              <a:t> </a:t>
            </a:r>
            <a:r>
              <a:rPr dirty="0" err="1"/>
              <a:t>ikinci</a:t>
            </a:r>
            <a:r>
              <a:rPr dirty="0"/>
              <a:t> </a:t>
            </a:r>
            <a:r>
              <a:rPr dirty="0" err="1"/>
              <a:t>çağrıda</a:t>
            </a:r>
            <a:r>
              <a:rPr dirty="0"/>
              <a:t> false </a:t>
            </a:r>
            <a:r>
              <a:rPr dirty="0" err="1"/>
              <a:t>döndürmelidir</a:t>
            </a:r>
            <a:r>
              <a:rPr dirty="0"/>
              <a:t>.</a:t>
            </a:r>
          </a:p>
          <a:p>
            <a:endParaRPr dirty="0"/>
          </a:p>
          <a:p>
            <a:r>
              <a:rPr dirty="0" err="1"/>
              <a:t>Uygulama</a:t>
            </a:r>
            <a:r>
              <a:rPr dirty="0"/>
              <a:t>: Bu </a:t>
            </a:r>
            <a:r>
              <a:rPr dirty="0" err="1"/>
              <a:t>sayfanın</a:t>
            </a:r>
            <a:r>
              <a:rPr dirty="0"/>
              <a:t> </a:t>
            </a:r>
            <a:r>
              <a:rPr dirty="0" err="1"/>
              <a:t>kodunu</a:t>
            </a:r>
            <a:r>
              <a:rPr dirty="0"/>
              <a:t> </a:t>
            </a:r>
            <a:r>
              <a:rPr dirty="0" err="1"/>
              <a:t>ayrı</a:t>
            </a:r>
            <a:r>
              <a:rPr dirty="0"/>
              <a:t> </a:t>
            </a:r>
            <a:r>
              <a:rPr dirty="0" err="1"/>
              <a:t>bir</a:t>
            </a:r>
            <a:r>
              <a:rPr dirty="0"/>
              <a:t> Kotlin/JVM </a:t>
            </a:r>
            <a:r>
              <a:rPr dirty="0" err="1"/>
              <a:t>dosyasında</a:t>
            </a:r>
            <a:r>
              <a:rPr dirty="0"/>
              <a:t> </a:t>
            </a:r>
            <a:r>
              <a:rPr dirty="0" err="1"/>
              <a:t>çalıştırın</a:t>
            </a:r>
            <a:r>
              <a:rPr dirty="0"/>
              <a:t>. </a:t>
            </a:r>
            <a:r>
              <a:rPr dirty="0" err="1"/>
              <a:t>Sınıf</a:t>
            </a:r>
            <a:r>
              <a:rPr dirty="0"/>
              <a:t> </a:t>
            </a:r>
            <a:r>
              <a:rPr dirty="0" err="1"/>
              <a:t>ve</a:t>
            </a:r>
            <a:r>
              <a:rPr dirty="0"/>
              <a:t> main </a:t>
            </a:r>
            <a:r>
              <a:rPr dirty="0" err="1"/>
              <a:t>tanımları</a:t>
            </a:r>
            <a:r>
              <a:rPr dirty="0"/>
              <a:t> </a:t>
            </a:r>
            <a:r>
              <a:rPr dirty="0" err="1"/>
              <a:t>bu</a:t>
            </a:r>
            <a:r>
              <a:rPr dirty="0"/>
              <a:t> </a:t>
            </a:r>
            <a:r>
              <a:rPr dirty="0" err="1"/>
              <a:t>sayfada</a:t>
            </a:r>
            <a:r>
              <a:rPr dirty="0"/>
              <a:t> </a:t>
            </a:r>
            <a:r>
              <a:rPr dirty="0" err="1"/>
              <a:t>tamdır</a:t>
            </a:r>
            <a:r>
              <a:rPr dirty="0"/>
              <a:t>. </a:t>
            </a:r>
            <a:r>
              <a:rPr dirty="0" err="1"/>
              <a:t>Yalnız</a:t>
            </a:r>
            <a:r>
              <a:rPr dirty="0"/>
              <a:t> </a:t>
            </a:r>
            <a:r>
              <a:rPr dirty="0" err="1"/>
              <a:t>sınıf</a:t>
            </a:r>
            <a:r>
              <a:rPr dirty="0"/>
              <a:t> </a:t>
            </a:r>
            <a:r>
              <a:rPr dirty="0" err="1"/>
              <a:t>tanımı</a:t>
            </a:r>
            <a:r>
              <a:rPr dirty="0"/>
              <a:t> </a:t>
            </a:r>
            <a:r>
              <a:rPr dirty="0" err="1"/>
              <a:t>olan</a:t>
            </a:r>
            <a:r>
              <a:rPr dirty="0"/>
              <a:t> </a:t>
            </a:r>
            <a:r>
              <a:rPr dirty="0" err="1"/>
              <a:t>sayfalar</a:t>
            </a:r>
            <a:r>
              <a:rPr dirty="0"/>
              <a:t> </a:t>
            </a:r>
            <a:r>
              <a:rPr dirty="0" err="1"/>
              <a:t>konsola</a:t>
            </a:r>
            <a:r>
              <a:rPr dirty="0"/>
              <a:t> </a:t>
            </a:r>
            <a:r>
              <a:rPr dirty="0" err="1"/>
              <a:t>çıktı</a:t>
            </a:r>
            <a:r>
              <a:rPr dirty="0"/>
              <a:t> </a:t>
            </a:r>
            <a:r>
              <a:rPr dirty="0" err="1"/>
              <a:t>üretmez</a:t>
            </a:r>
            <a:r>
              <a:rPr dirty="0"/>
              <a:t>.</a:t>
            </a:r>
          </a:p>
          <a:p>
            <a:endParaRPr dirty="0"/>
          </a:p>
          <a:p>
            <a:r>
              <a:rPr dirty="0" err="1"/>
              <a:t>Kaynaklar</a:t>
            </a:r>
            <a:r>
              <a:rPr dirty="0"/>
              <a:t>:</a:t>
            </a:r>
          </a:p>
          <a:p>
            <a:r>
              <a:rPr dirty="0"/>
              <a:t>https://kotlinlang.org/docs/classes.html</a:t>
            </a:r>
          </a:p>
          <a:p>
            <a:r>
              <a:rPr dirty="0"/>
              <a:t>https://kotlinlang.org/docs/functions.html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İki ayrı nesnenin kendi oduncte değeri bulunur. Ek deneme: hiç alınmamış kitabı iade etmek false döndürür. Öğrenci dışarıdan kitap.oduncte = false yazarsa derleme hatası almalıdır.</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İşlemler tam sayı miktarlarla çalışır. Fiyat, ödeme ve kalıcı kayıt içermez. Kapasite sınırı örnekte taşma sorununu da önler. İki ayrı işlem aynı private set özelliğini yönetir.</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Başlangıçta 5. Satış 2 ile 3 kalır. 10 satış reddedilir ve 3 korunur. 4 eklenince 7 olur. -1 satış reddedilir. adet &gt; 1000 - stok karşılaştırması kapasiteyi toplama taşması olmadan denetler.</a:t>
            </a:r>
          </a:p>
          <a:p>
            <a:endParaRPr/>
          </a:p>
          <a:p>
            <a:r>
              <a:t>Uygulama: Bu sayfanın kodunu ayrı bir Kotlin/JVM dosyasında çalıştırın. Sınıf ve main tanımları bu sayfada tamdır. Yalnız sınıf tanımı olan sayfalar konsola çıktı üretmez.</a:t>
            </a:r>
          </a:p>
          <a:p>
            <a:endParaRPr/>
          </a:p>
          <a:p>
            <a:r>
              <a:t>Kaynaklar:</a:t>
            </a:r>
          </a:p>
          <a:p>
            <a:r>
              <a:t>https://kotlinlang.org/docs/classes.html</a:t>
            </a:r>
          </a:p>
          <a:p>
            <a:r>
              <a:t>https://kotlinlang.org/docs/functions.html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Alıştırma: bir Urun listesi oluşturup stoklarını for ile raporlayın. Öğrenci sadece dönüş değerini değil, işlem sonrası stok değerini de kontrol etsin. Geçersiz ilk stok require nedeniyle hata verir, sat ve ekle ise Boolean ile reddeder.</a:t>
            </a:r>
          </a:p>
          <a:p>
            <a:endParaRPr/>
          </a:p>
          <a:p>
            <a:r>
              <a:t>Kaynaklar:</a:t>
            </a:r>
          </a:p>
          <a:p>
            <a:r>
              <a:t>https://kotlinlang.org/docs/classes.html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2238"/>
        </a:solidFill>
        <a:effectLst/>
      </p:bgPr>
    </p:bg>
    <p:spTree>
      <p:nvGrpSpPr>
        <p:cNvPr id="1" name=""/>
        <p:cNvGrpSpPr/>
        <p:nvPr/>
      </p:nvGrpSpPr>
      <p:grpSpPr>
        <a:xfrm>
          <a:off x="0" y="0"/>
          <a:ext cx="0" cy="0"/>
          <a:chOff x="0" y="0"/>
          <a:chExt cx="0" cy="0"/>
        </a:xfrm>
      </p:grpSpPr>
      <p:sp>
        <p:nvSpPr>
          <p:cNvPr id="4" name="Dikdörtgen 3">
            <a:extLst>
              <a:ext uri="{FF2B5EF4-FFF2-40B4-BE49-F238E27FC236}">
                <a16:creationId xmlns:a16="http://schemas.microsoft.com/office/drawing/2014/main" id="{9ACBB114-8A95-4DB7-AEC8-37EACC7DE621}"/>
              </a:ext>
            </a:extLst>
          </p:cNvPr>
          <p:cNvSpPr>
            <a:spLocks noGrp="1"/>
          </p:cNvSpPr>
          <p:nvPr/>
        </p:nvSpPr>
        <p:spPr>
          <a:xfrm>
            <a:off x="781050" y="723900"/>
            <a:ext cx="12954000" cy="476250"/>
          </a:xfrm>
          <a:prstGeom prst="rect">
            <a:avLst/>
          </a:prstGeom>
          <a:noFill/>
          <a:ln w="0">
            <a:noFill/>
          </a:ln>
        </p:spPr>
        <p:txBody>
          <a:bodyPr wrap="square" lIns="0" tIns="0" rIns="0" bIns="0" anchor="t">
            <a:noAutofit/>
          </a:bodyPr>
          <a:lstStyle/>
          <a:p>
            <a:pPr>
              <a:lnSpc>
                <a:spcPct val="108000"/>
              </a:lnSpc>
              <a:buNone/>
              <a:defRPr sz="2100" b="1">
                <a:solidFill>
                  <a:srgbClr val="75DDCA"/>
                </a:solidFill>
                <a:latin typeface="Arial"/>
                <a:ea typeface="Arial"/>
                <a:cs typeface="Arial"/>
              </a:defRPr>
            </a:pPr>
            <a:r>
              <a:rPr sz="2100" b="1">
                <a:solidFill>
                  <a:srgbClr val="75DDCA"/>
                </a:solidFill>
                <a:latin typeface="Arial"/>
                <a:ea typeface="Arial"/>
                <a:cs typeface="Arial"/>
              </a:rPr>
              <a:t>2. SUNUM</a:t>
            </a:r>
          </a:p>
        </p:txBody>
      </p:sp>
      <p:sp>
        <p:nvSpPr>
          <p:cNvPr id="2" name="Dikdörtgen 1">
            <a:extLst>
              <a:ext uri="{FF2B5EF4-FFF2-40B4-BE49-F238E27FC236}">
                <a16:creationId xmlns:a16="http://schemas.microsoft.com/office/drawing/2014/main" id="{A5621367-58BC-4DC3-81DB-F79BE6DA5967}"/>
              </a:ext>
            </a:extLst>
          </p:cNvPr>
          <p:cNvSpPr>
            <a:spLocks noGrp="1"/>
          </p:cNvSpPr>
          <p:nvPr/>
        </p:nvSpPr>
        <p:spPr>
          <a:xfrm>
            <a:off x="742950" y="2114550"/>
            <a:ext cx="13668375" cy="2247900"/>
          </a:xfrm>
          <a:prstGeom prst="rect">
            <a:avLst/>
          </a:prstGeom>
          <a:noFill/>
          <a:ln w="0">
            <a:noFill/>
          </a:ln>
        </p:spPr>
        <p:txBody>
          <a:bodyPr wrap="square" lIns="0" tIns="0" rIns="0" bIns="0" anchor="t">
            <a:noAutofit/>
          </a:bodyPr>
          <a:lstStyle/>
          <a:p>
            <a:pPr>
              <a:lnSpc>
                <a:spcPct val="108000"/>
              </a:lnSpc>
              <a:buNone/>
              <a:defRPr sz="6300" b="1">
                <a:solidFill>
                  <a:srgbClr val="F5F8FA"/>
                </a:solidFill>
                <a:latin typeface="Arial"/>
                <a:ea typeface="Arial"/>
                <a:cs typeface="Arial"/>
              </a:defRPr>
            </a:pPr>
            <a:r>
              <a:rPr sz="6300" b="1">
                <a:solidFill>
                  <a:srgbClr val="F5F8FA"/>
                </a:solidFill>
                <a:latin typeface="Arial"/>
                <a:ea typeface="Arial"/>
                <a:cs typeface="Arial"/>
              </a:rPr>
              <a:t>Sınıf ve nesne</a:t>
            </a:r>
          </a:p>
        </p:txBody>
      </p:sp>
      <p:sp>
        <p:nvSpPr>
          <p:cNvPr id="3" name="Dikdörtgen 2">
            <a:extLst>
              <a:ext uri="{FF2B5EF4-FFF2-40B4-BE49-F238E27FC236}">
                <a16:creationId xmlns:a16="http://schemas.microsoft.com/office/drawing/2014/main" id="{6F2D00A1-98CF-4A73-AFD8-2663A83960CF}"/>
              </a:ext>
            </a:extLst>
          </p:cNvPr>
          <p:cNvSpPr>
            <a:spLocks noGrp="1"/>
          </p:cNvSpPr>
          <p:nvPr/>
        </p:nvSpPr>
        <p:spPr>
          <a:xfrm>
            <a:off x="800100" y="5715000"/>
            <a:ext cx="13335000" cy="1285875"/>
          </a:xfrm>
          <a:prstGeom prst="rect">
            <a:avLst/>
          </a:prstGeom>
          <a:noFill/>
          <a:ln w="0">
            <a:noFill/>
          </a:ln>
        </p:spPr>
        <p:txBody>
          <a:bodyPr wrap="square" lIns="0" tIns="0" rIns="0" bIns="0" anchor="t">
            <a:noAutofit/>
          </a:bodyPr>
          <a:lstStyle/>
          <a:p>
            <a:pPr>
              <a:lnSpc>
                <a:spcPct val="108000"/>
              </a:lnSpc>
              <a:buNone/>
              <a:defRPr sz="2700" b="0">
                <a:solidFill>
                  <a:srgbClr val="BECCD7"/>
                </a:solidFill>
                <a:latin typeface="Arial"/>
                <a:ea typeface="Arial"/>
                <a:cs typeface="Arial"/>
              </a:defRPr>
            </a:pPr>
            <a:r>
              <a:rPr sz="2700" b="0">
                <a:solidFill>
                  <a:srgbClr val="BECCD7"/>
                </a:solidFill>
                <a:latin typeface="Arial"/>
                <a:ea typeface="Arial"/>
                <a:cs typeface="Arial"/>
              </a:rPr>
              <a:t>Önce sınıf tanımı, sonra nesne ve yapılandırıcı</a:t>
            </a:r>
          </a:p>
          <a:p>
            <a:pPr>
              <a:lnSpc>
                <a:spcPct val="108000"/>
              </a:lnSpc>
              <a:buNone/>
              <a:defRPr sz="2700" b="0">
                <a:solidFill>
                  <a:srgbClr val="BECCD7"/>
                </a:solidFill>
                <a:latin typeface="Arial"/>
                <a:ea typeface="Arial"/>
                <a:cs typeface="Arial"/>
              </a:defRPr>
            </a:pPr>
            <a:r>
              <a:rPr sz="2700" b="0">
                <a:solidFill>
                  <a:srgbClr val="BECCD7"/>
                </a:solidFill>
                <a:latin typeface="Arial"/>
                <a:ea typeface="Arial"/>
                <a:cs typeface="Arial"/>
              </a:rPr>
              <a:t>Adım adım 2. sunum</a:t>
            </a:r>
          </a:p>
        </p:txBody>
      </p:sp>
    </p:spTree>
    <p:extLst>
      <p:ext uri="{BB962C8B-B14F-4D97-AF65-F5344CB8AC3E}">
        <p14:creationId xmlns:p14="http://schemas.microsoft.com/office/powerpoint/2010/main" val="64144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1" name="Dikdörtgen 10">
            <a:extLst>
              <a:ext uri="{FF2B5EF4-FFF2-40B4-BE49-F238E27FC236}">
                <a16:creationId xmlns:a16="http://schemas.microsoft.com/office/drawing/2014/main" id="{6C1A15A5-706E-4F31-A680-00372349C68B}"/>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BB2477D6-481D-41FA-B75F-64BECE344D8E}"/>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Sınıf nedir?</a:t>
            </a:r>
          </a:p>
        </p:txBody>
      </p:sp>
      <p:sp>
        <p:nvSpPr>
          <p:cNvPr id="3" name="Dikdörtgen 2">
            <a:extLst>
              <a:ext uri="{FF2B5EF4-FFF2-40B4-BE49-F238E27FC236}">
                <a16:creationId xmlns:a16="http://schemas.microsoft.com/office/drawing/2014/main" id="{C8D07955-003E-4904-95F4-CF741F5C6368}"/>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Sınıf, aynı türdeki varlıkların hangi bilgileri ve hangi işlemleri taşıyacağını tanımlar.</a:t>
            </a:r>
          </a:p>
        </p:txBody>
      </p:sp>
      <p:sp>
        <p:nvSpPr>
          <p:cNvPr id="4" name="Dikdörtgen 3">
            <a:extLst>
              <a:ext uri="{FF2B5EF4-FFF2-40B4-BE49-F238E27FC236}">
                <a16:creationId xmlns:a16="http://schemas.microsoft.com/office/drawing/2014/main" id="{E785E94C-2ECB-46A4-A75E-C08A2A6F557E}"/>
              </a:ext>
            </a:extLst>
          </p:cNvPr>
          <p:cNvSpPr>
            <a:spLocks noGrp="1"/>
          </p:cNvSpPr>
          <p:nvPr/>
        </p:nvSpPr>
        <p:spPr>
          <a:xfrm>
            <a:off x="742950" y="310515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Örneğimiz: öğrenci</a:t>
            </a:r>
          </a:p>
        </p:txBody>
      </p:sp>
      <p:sp>
        <p:nvSpPr>
          <p:cNvPr id="5" name="Dikdörtgen 4">
            <a:extLst>
              <a:ext uri="{FF2B5EF4-FFF2-40B4-BE49-F238E27FC236}">
                <a16:creationId xmlns:a16="http://schemas.microsoft.com/office/drawing/2014/main" id="{CBB2339F-4216-4CB1-B297-C39E6875E619}"/>
              </a:ext>
            </a:extLst>
          </p:cNvPr>
          <p:cNvSpPr>
            <a:spLocks noGrp="1"/>
          </p:cNvSpPr>
          <p:nvPr/>
        </p:nvSpPr>
        <p:spPr>
          <a:xfrm>
            <a:off x="4552950" y="310515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Bir öğrencinin adı ve puanı olabilir. Öğrenci bilgilerini göstermek bir işlem olabilir.</a:t>
            </a:r>
          </a:p>
        </p:txBody>
      </p:sp>
      <p:sp>
        <p:nvSpPr>
          <p:cNvPr id="6" name="Dikdörtgen 5">
            <a:extLst>
              <a:ext uri="{FF2B5EF4-FFF2-40B4-BE49-F238E27FC236}">
                <a16:creationId xmlns:a16="http://schemas.microsoft.com/office/drawing/2014/main" id="{F2DF8A27-529E-4A66-8E04-C93F0AFB63DA}"/>
              </a:ext>
            </a:extLst>
          </p:cNvPr>
          <p:cNvSpPr>
            <a:spLocks noGrp="1"/>
          </p:cNvSpPr>
          <p:nvPr/>
        </p:nvSpPr>
        <p:spPr>
          <a:xfrm>
            <a:off x="742950" y="4600575"/>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Neden birlikte?</a:t>
            </a:r>
          </a:p>
        </p:txBody>
      </p:sp>
      <p:sp>
        <p:nvSpPr>
          <p:cNvPr id="7" name="Dikdörtgen 6">
            <a:extLst>
              <a:ext uri="{FF2B5EF4-FFF2-40B4-BE49-F238E27FC236}">
                <a16:creationId xmlns:a16="http://schemas.microsoft.com/office/drawing/2014/main" id="{3B4F3594-7D4F-4090-8F7C-16859AC2EE9D}"/>
              </a:ext>
            </a:extLst>
          </p:cNvPr>
          <p:cNvSpPr>
            <a:spLocks noGrp="1"/>
          </p:cNvSpPr>
          <p:nvPr/>
        </p:nvSpPr>
        <p:spPr>
          <a:xfrm>
            <a:off x="4552950" y="4600575"/>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Bir öğrenciye ait bilgileri ayrı ayrı takip etmek yerine aynı yapı içinde tutabiliriz.</a:t>
            </a:r>
          </a:p>
        </p:txBody>
      </p:sp>
      <p:sp>
        <p:nvSpPr>
          <p:cNvPr id="8" name="Dikdörtgen 7">
            <a:extLst>
              <a:ext uri="{FF2B5EF4-FFF2-40B4-BE49-F238E27FC236}">
                <a16:creationId xmlns:a16="http://schemas.microsoft.com/office/drawing/2014/main" id="{40E41493-9891-4D52-BFF5-ECE6C31FDB42}"/>
              </a:ext>
            </a:extLst>
          </p:cNvPr>
          <p:cNvSpPr>
            <a:spLocks noGrp="1"/>
          </p:cNvSpPr>
          <p:nvPr/>
        </p:nvSpPr>
        <p:spPr>
          <a:xfrm>
            <a:off x="742950" y="609600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Bu bölümün sırası</a:t>
            </a:r>
          </a:p>
        </p:txBody>
      </p:sp>
      <p:sp>
        <p:nvSpPr>
          <p:cNvPr id="9" name="Dikdörtgen 8">
            <a:extLst>
              <a:ext uri="{FF2B5EF4-FFF2-40B4-BE49-F238E27FC236}">
                <a16:creationId xmlns:a16="http://schemas.microsoft.com/office/drawing/2014/main" id="{0C8A69FD-C0AE-4237-9658-238BC0DE5ABF}"/>
              </a:ext>
            </a:extLst>
          </p:cNvPr>
          <p:cNvSpPr>
            <a:spLocks noGrp="1"/>
          </p:cNvSpPr>
          <p:nvPr/>
        </p:nvSpPr>
        <p:spPr>
          <a:xfrm>
            <a:off x="4552950" y="609600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Önce yalnız sınıfı yazacağız. Daha sonra nesne oluşturacak ve başlangıç bilgisi vereceğiz.</a:t>
            </a:r>
          </a:p>
        </p:txBody>
      </p:sp>
      <p:sp>
        <p:nvSpPr>
          <p:cNvPr id="10" name="Dikdörtgen 9">
            <a:extLst>
              <a:ext uri="{FF2B5EF4-FFF2-40B4-BE49-F238E27FC236}">
                <a16:creationId xmlns:a16="http://schemas.microsoft.com/office/drawing/2014/main" id="{EA5D2CF4-C97C-4D8E-A9B7-9FEBC9E25130}"/>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 / 35</a:t>
            </a:r>
          </a:p>
        </p:txBody>
      </p:sp>
    </p:spTree>
    <p:extLst>
      <p:ext uri="{BB962C8B-B14F-4D97-AF65-F5344CB8AC3E}">
        <p14:creationId xmlns:p14="http://schemas.microsoft.com/office/powerpoint/2010/main" val="1336690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4" name="Dikdörtgen 13">
            <a:extLst>
              <a:ext uri="{FF2B5EF4-FFF2-40B4-BE49-F238E27FC236}">
                <a16:creationId xmlns:a16="http://schemas.microsoft.com/office/drawing/2014/main" id="{3D59F824-49F7-491F-A1D3-F21EF238326E}"/>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D904FE65-FA56-4628-90E7-B3AB34E22E64}"/>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Kotlin’de sınıf nasıl yazılır?</a:t>
            </a:r>
          </a:p>
        </p:txBody>
      </p:sp>
      <p:sp>
        <p:nvSpPr>
          <p:cNvPr id="3" name="Dikdörtgen 2">
            <a:extLst>
              <a:ext uri="{FF2B5EF4-FFF2-40B4-BE49-F238E27FC236}">
                <a16:creationId xmlns:a16="http://schemas.microsoft.com/office/drawing/2014/main" id="{19104C0E-A16E-4182-B98A-30CD8F0F9B48}"/>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 sınıf tanımlamak için class sözcüğünü ve sınıfın adını yazarız.</a:t>
            </a:r>
          </a:p>
        </p:txBody>
      </p:sp>
      <p:sp>
        <p:nvSpPr>
          <p:cNvPr id="4" name="Dikdörtgen 3">
            <a:extLst>
              <a:ext uri="{FF2B5EF4-FFF2-40B4-BE49-F238E27FC236}">
                <a16:creationId xmlns:a16="http://schemas.microsoft.com/office/drawing/2014/main" id="{3BAB719F-79C0-44B6-A2DC-70DD32789EAF}"/>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Sınıf tanımı</a:t>
            </a:r>
          </a:p>
        </p:txBody>
      </p:sp>
      <p:sp>
        <p:nvSpPr>
          <p:cNvPr id="5" name="Dikdörtgen 4">
            <a:extLst>
              <a:ext uri="{FF2B5EF4-FFF2-40B4-BE49-F238E27FC236}">
                <a16:creationId xmlns:a16="http://schemas.microsoft.com/office/drawing/2014/main" id="{7B45DE72-23D7-4523-ADB7-48E4343FA1D7}"/>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 {</a:t>
            </a:r>
          </a:p>
        </p:txBody>
      </p:sp>
      <p:sp>
        <p:nvSpPr>
          <p:cNvPr id="6" name="Dikdörtgen 5">
            <a:extLst>
              <a:ext uri="{FF2B5EF4-FFF2-40B4-BE49-F238E27FC236}">
                <a16:creationId xmlns:a16="http://schemas.microsoft.com/office/drawing/2014/main" id="{AE3A6392-098E-4AAC-9FC3-4D713C6219F4}"/>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7" name="Dikdörtgen 6">
            <a:extLst>
              <a:ext uri="{FF2B5EF4-FFF2-40B4-BE49-F238E27FC236}">
                <a16:creationId xmlns:a16="http://schemas.microsoft.com/office/drawing/2014/main" id="{A2D33B6C-6E36-4449-8D81-034040365287}"/>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class</a:t>
            </a:r>
          </a:p>
        </p:txBody>
      </p:sp>
      <p:sp>
        <p:nvSpPr>
          <p:cNvPr id="8" name="Dikdörtgen 7">
            <a:extLst>
              <a:ext uri="{FF2B5EF4-FFF2-40B4-BE49-F238E27FC236}">
                <a16:creationId xmlns:a16="http://schemas.microsoft.com/office/drawing/2014/main" id="{F694BF40-C866-4BD3-A3AB-E31B875760EF}"/>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Kotlin’e bir sınıf tanımladığımızı bildirir.</a:t>
            </a:r>
          </a:p>
        </p:txBody>
      </p:sp>
      <p:sp>
        <p:nvSpPr>
          <p:cNvPr id="9" name="Dikdörtgen 8">
            <a:extLst>
              <a:ext uri="{FF2B5EF4-FFF2-40B4-BE49-F238E27FC236}">
                <a16:creationId xmlns:a16="http://schemas.microsoft.com/office/drawing/2014/main" id="{CAAAE541-3EFE-4021-A8AB-740D25C4957C}"/>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Ogrenci ve { }</a:t>
            </a:r>
          </a:p>
        </p:txBody>
      </p:sp>
      <p:sp>
        <p:nvSpPr>
          <p:cNvPr id="10" name="Dikdörtgen 9">
            <a:extLst>
              <a:ext uri="{FF2B5EF4-FFF2-40B4-BE49-F238E27FC236}">
                <a16:creationId xmlns:a16="http://schemas.microsoft.com/office/drawing/2014/main" id="{D2AE0618-141A-4689-B193-8BB5654B2374}"/>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Ogrenci sınıfın adıdır. Bilgileri ve işlemleri süslü parantezlerin içine ekleyeceğiz.</a:t>
            </a:r>
          </a:p>
        </p:txBody>
      </p:sp>
      <p:sp>
        <p:nvSpPr>
          <p:cNvPr id="11" name="Dikdörtgen 10">
            <a:extLst>
              <a:ext uri="{FF2B5EF4-FFF2-40B4-BE49-F238E27FC236}">
                <a16:creationId xmlns:a16="http://schemas.microsoft.com/office/drawing/2014/main" id="{73E3F9CF-A823-47D1-82C5-631605C22BB2}"/>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2" name="Dikdörtgen 11">
            <a:extLst>
              <a:ext uri="{FF2B5EF4-FFF2-40B4-BE49-F238E27FC236}">
                <a16:creationId xmlns:a16="http://schemas.microsoft.com/office/drawing/2014/main" id="{ADD9F491-57CC-423D-88BD-C6D89C31862F}"/>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Bu tanım tek başına konsola yazı yazmaz.</a:t>
            </a:r>
          </a:p>
        </p:txBody>
      </p:sp>
      <p:sp>
        <p:nvSpPr>
          <p:cNvPr id="13" name="Dikdörtgen 12">
            <a:extLst>
              <a:ext uri="{FF2B5EF4-FFF2-40B4-BE49-F238E27FC236}">
                <a16:creationId xmlns:a16="http://schemas.microsoft.com/office/drawing/2014/main" id="{36F1A3FB-C85A-4332-8A90-32BA97B90F63}"/>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 / 35</a:t>
            </a:r>
          </a:p>
        </p:txBody>
      </p:sp>
    </p:spTree>
    <p:extLst>
      <p:ext uri="{BB962C8B-B14F-4D97-AF65-F5344CB8AC3E}">
        <p14:creationId xmlns:p14="http://schemas.microsoft.com/office/powerpoint/2010/main" val="923289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5" name="Dikdörtgen 14">
            <a:extLst>
              <a:ext uri="{FF2B5EF4-FFF2-40B4-BE49-F238E27FC236}">
                <a16:creationId xmlns:a16="http://schemas.microsoft.com/office/drawing/2014/main" id="{B9A1CA44-A33F-46CC-A7E0-EFD86BCF2699}"/>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90D28B7E-5948-44DA-9B3F-F16BD0895046}"/>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Sınıfın içine bilgi eklemek</a:t>
            </a:r>
          </a:p>
        </p:txBody>
      </p:sp>
      <p:sp>
        <p:nvSpPr>
          <p:cNvPr id="3" name="Dikdörtgen 2">
            <a:extLst>
              <a:ext uri="{FF2B5EF4-FFF2-40B4-BE49-F238E27FC236}">
                <a16:creationId xmlns:a16="http://schemas.microsoft.com/office/drawing/2014/main" id="{FDE28BCA-7959-45A3-BF5C-06B97CEFD5A5}"/>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Sınıfın içinde tanımlanan değişkene özellik, yani property denir.</a:t>
            </a:r>
          </a:p>
        </p:txBody>
      </p:sp>
      <p:sp>
        <p:nvSpPr>
          <p:cNvPr id="4" name="Dikdörtgen 3">
            <a:extLst>
              <a:ext uri="{FF2B5EF4-FFF2-40B4-BE49-F238E27FC236}">
                <a16:creationId xmlns:a16="http://schemas.microsoft.com/office/drawing/2014/main" id="{97A6B39D-EB52-45A3-86EF-0EBF5AED764D}"/>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Sınıf tanımı</a:t>
            </a:r>
          </a:p>
        </p:txBody>
      </p:sp>
      <p:sp>
        <p:nvSpPr>
          <p:cNvPr id="5" name="Dikdörtgen 4">
            <a:extLst>
              <a:ext uri="{FF2B5EF4-FFF2-40B4-BE49-F238E27FC236}">
                <a16:creationId xmlns:a16="http://schemas.microsoft.com/office/drawing/2014/main" id="{54292ED6-4DD5-44A7-B615-765E2F0DA554}"/>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 {</a:t>
            </a:r>
          </a:p>
        </p:txBody>
      </p:sp>
      <p:sp>
        <p:nvSpPr>
          <p:cNvPr id="6" name="Dikdörtgen 5">
            <a:extLst>
              <a:ext uri="{FF2B5EF4-FFF2-40B4-BE49-F238E27FC236}">
                <a16:creationId xmlns:a16="http://schemas.microsoft.com/office/drawing/2014/main" id="{F7CC7606-07AD-43C4-AD28-13731AE7CF69}"/>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var</a:t>
            </a:r>
            <a:r>
              <a:t> ad = </a:t>
            </a:r>
            <a:r>
              <a:rPr>
                <a:solidFill>
                  <a:srgbClr val="397425"/>
                </a:solidFill>
              </a:rPr>
              <a:t>"Ayşe"</a:t>
            </a:r>
          </a:p>
        </p:txBody>
      </p:sp>
      <p:sp>
        <p:nvSpPr>
          <p:cNvPr id="7" name="Dikdörtgen 6">
            <a:extLst>
              <a:ext uri="{FF2B5EF4-FFF2-40B4-BE49-F238E27FC236}">
                <a16:creationId xmlns:a16="http://schemas.microsoft.com/office/drawing/2014/main" id="{DCC51FDE-561E-4033-93C9-36BC9E14EE32}"/>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8" name="Dikdörtgen 7">
            <a:extLst>
              <a:ext uri="{FF2B5EF4-FFF2-40B4-BE49-F238E27FC236}">
                <a16:creationId xmlns:a16="http://schemas.microsoft.com/office/drawing/2014/main" id="{8C116059-5DFD-47C7-9E90-F2F237EAF72F}"/>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Özellik adı</a:t>
            </a:r>
          </a:p>
        </p:txBody>
      </p:sp>
      <p:sp>
        <p:nvSpPr>
          <p:cNvPr id="9" name="Dikdörtgen 8">
            <a:extLst>
              <a:ext uri="{FF2B5EF4-FFF2-40B4-BE49-F238E27FC236}">
                <a16:creationId xmlns:a16="http://schemas.microsoft.com/office/drawing/2014/main" id="{B7BA8B94-03B9-4AA2-90C1-BA365C2D8A47}"/>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ad, bu sınıftaki öğrencinin ad bilgisini temsil eder.</a:t>
            </a:r>
          </a:p>
        </p:txBody>
      </p:sp>
      <p:sp>
        <p:nvSpPr>
          <p:cNvPr id="10" name="Dikdörtgen 9">
            <a:extLst>
              <a:ext uri="{FF2B5EF4-FFF2-40B4-BE49-F238E27FC236}">
                <a16:creationId xmlns:a16="http://schemas.microsoft.com/office/drawing/2014/main" id="{5D18D439-C88D-403A-9FD5-8C65543C6E59}"/>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Başlangıç değeri</a:t>
            </a:r>
          </a:p>
        </p:txBody>
      </p:sp>
      <p:sp>
        <p:nvSpPr>
          <p:cNvPr id="11" name="Dikdörtgen 10">
            <a:extLst>
              <a:ext uri="{FF2B5EF4-FFF2-40B4-BE49-F238E27FC236}">
                <a16:creationId xmlns:a16="http://schemas.microsoft.com/office/drawing/2014/main" id="{BEC37498-9BD9-43DA-A61C-B174D5B1D0BC}"/>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Yeni bir Ogrenci oluşturulduğunda ad özelliği Ayşe değeriyle başlar.</a:t>
            </a:r>
          </a:p>
        </p:txBody>
      </p:sp>
      <p:sp>
        <p:nvSpPr>
          <p:cNvPr id="12" name="Dikdörtgen 11">
            <a:extLst>
              <a:ext uri="{FF2B5EF4-FFF2-40B4-BE49-F238E27FC236}">
                <a16:creationId xmlns:a16="http://schemas.microsoft.com/office/drawing/2014/main" id="{CEDE81E1-0B5A-48EC-93EA-BE78E19938D6}"/>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3" name="Dikdörtgen 12">
            <a:extLst>
              <a:ext uri="{FF2B5EF4-FFF2-40B4-BE49-F238E27FC236}">
                <a16:creationId xmlns:a16="http://schemas.microsoft.com/office/drawing/2014/main" id="{8163AA5B-F0AB-48DD-B3A8-39CD12F6AE4D}"/>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Sınıfın artık ad isimli bir özelliği var.</a:t>
            </a:r>
          </a:p>
        </p:txBody>
      </p:sp>
      <p:sp>
        <p:nvSpPr>
          <p:cNvPr id="14" name="Dikdörtgen 13">
            <a:extLst>
              <a:ext uri="{FF2B5EF4-FFF2-40B4-BE49-F238E27FC236}">
                <a16:creationId xmlns:a16="http://schemas.microsoft.com/office/drawing/2014/main" id="{6AD09A3A-6FC8-4352-A925-047D4EDD25A0}"/>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4 / 35</a:t>
            </a:r>
          </a:p>
        </p:txBody>
      </p:sp>
    </p:spTree>
    <p:extLst>
      <p:ext uri="{BB962C8B-B14F-4D97-AF65-F5344CB8AC3E}">
        <p14:creationId xmlns:p14="http://schemas.microsoft.com/office/powerpoint/2010/main" val="71717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9" name="Dikdörtgen 18">
            <a:extLst>
              <a:ext uri="{FF2B5EF4-FFF2-40B4-BE49-F238E27FC236}">
                <a16:creationId xmlns:a16="http://schemas.microsoft.com/office/drawing/2014/main" id="{1ED7E637-D545-49F7-BD60-333EA40FF8EE}"/>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4ABD3C2A-F8AC-4DB9-8186-B0E210BEEBA5}"/>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Nesne nasıl oluşturulur?</a:t>
            </a:r>
          </a:p>
        </p:txBody>
      </p:sp>
      <p:sp>
        <p:nvSpPr>
          <p:cNvPr id="3" name="Dikdörtgen 2">
            <a:extLst>
              <a:ext uri="{FF2B5EF4-FFF2-40B4-BE49-F238E27FC236}">
                <a16:creationId xmlns:a16="http://schemas.microsoft.com/office/drawing/2014/main" id="{56AE5896-7EE1-451B-B30F-62350976CBF3}"/>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Nesne, sınıfta tanımlanan yapının programda oluşturduğumuz bir örneğidir.</a:t>
            </a:r>
          </a:p>
        </p:txBody>
      </p:sp>
      <p:sp>
        <p:nvSpPr>
          <p:cNvPr id="4" name="Dikdörtgen 3">
            <a:extLst>
              <a:ext uri="{FF2B5EF4-FFF2-40B4-BE49-F238E27FC236}">
                <a16:creationId xmlns:a16="http://schemas.microsoft.com/office/drawing/2014/main" id="{C2BE5BD9-6F26-42CE-A2D7-220BB2CA80DA}"/>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91E7334B-6C82-4242-A578-645E919129D6}"/>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 {</a:t>
            </a:r>
          </a:p>
        </p:txBody>
      </p:sp>
      <p:sp>
        <p:nvSpPr>
          <p:cNvPr id="6" name="Dikdörtgen 5">
            <a:extLst>
              <a:ext uri="{FF2B5EF4-FFF2-40B4-BE49-F238E27FC236}">
                <a16:creationId xmlns:a16="http://schemas.microsoft.com/office/drawing/2014/main" id="{4A1894FF-969A-4E8E-9542-237465147FCA}"/>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var</a:t>
            </a:r>
            <a:r>
              <a:t> ad = </a:t>
            </a:r>
            <a:r>
              <a:rPr>
                <a:solidFill>
                  <a:srgbClr val="397425"/>
                </a:solidFill>
              </a:rPr>
              <a:t>"Ayşe"</a:t>
            </a:r>
          </a:p>
        </p:txBody>
      </p:sp>
      <p:sp>
        <p:nvSpPr>
          <p:cNvPr id="7" name="Dikdörtgen 6">
            <a:extLst>
              <a:ext uri="{FF2B5EF4-FFF2-40B4-BE49-F238E27FC236}">
                <a16:creationId xmlns:a16="http://schemas.microsoft.com/office/drawing/2014/main" id="{FB251260-43ED-4251-8F01-B7838366C965}"/>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8" name="Dikdörtgen 7">
            <a:extLst>
              <a:ext uri="{FF2B5EF4-FFF2-40B4-BE49-F238E27FC236}">
                <a16:creationId xmlns:a16="http://schemas.microsoft.com/office/drawing/2014/main" id="{50F00D22-586A-4013-924B-64406E2FDF6A}"/>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9" name="Dikdörtgen 8">
            <a:extLst>
              <a:ext uri="{FF2B5EF4-FFF2-40B4-BE49-F238E27FC236}">
                <a16:creationId xmlns:a16="http://schemas.microsoft.com/office/drawing/2014/main" id="{63AD3FDC-8C37-4979-9739-3E71FAE84CC6}"/>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0" name="Dikdörtgen 9">
            <a:extLst>
              <a:ext uri="{FF2B5EF4-FFF2-40B4-BE49-F238E27FC236}">
                <a16:creationId xmlns:a16="http://schemas.microsoft.com/office/drawing/2014/main" id="{DE826671-5FC9-45E0-83AA-F0CA221C7DC2}"/>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p>
        </p:txBody>
      </p:sp>
      <p:sp>
        <p:nvSpPr>
          <p:cNvPr id="11" name="Dikdörtgen 10">
            <a:extLst>
              <a:ext uri="{FF2B5EF4-FFF2-40B4-BE49-F238E27FC236}">
                <a16:creationId xmlns:a16="http://schemas.microsoft.com/office/drawing/2014/main" id="{A88F2923-5590-49DB-9315-83C5AED131B6}"/>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2" name="Dikdörtgen 11">
            <a:extLst>
              <a:ext uri="{FF2B5EF4-FFF2-40B4-BE49-F238E27FC236}">
                <a16:creationId xmlns:a16="http://schemas.microsoft.com/office/drawing/2014/main" id="{7573A29A-712F-4F35-B58E-625C8AE5B480}"/>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Ogrenci()</a:t>
            </a:r>
          </a:p>
        </p:txBody>
      </p:sp>
      <p:sp>
        <p:nvSpPr>
          <p:cNvPr id="13" name="Dikdörtgen 12">
            <a:extLst>
              <a:ext uri="{FF2B5EF4-FFF2-40B4-BE49-F238E27FC236}">
                <a16:creationId xmlns:a16="http://schemas.microsoft.com/office/drawing/2014/main" id="{9D969E76-B87C-4CBB-9313-A96C1AC904C0}"/>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Ogrenci sınıfından bir nesne oluşturur. Kotlin’de new yazmayız.</a:t>
            </a:r>
          </a:p>
        </p:txBody>
      </p:sp>
      <p:sp>
        <p:nvSpPr>
          <p:cNvPr id="14" name="Dikdörtgen 13">
            <a:extLst>
              <a:ext uri="{FF2B5EF4-FFF2-40B4-BE49-F238E27FC236}">
                <a16:creationId xmlns:a16="http://schemas.microsoft.com/office/drawing/2014/main" id="{6B65687F-4A47-4533-A0E9-53E043334998}"/>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val ogrenci</a:t>
            </a:r>
          </a:p>
        </p:txBody>
      </p:sp>
      <p:sp>
        <p:nvSpPr>
          <p:cNvPr id="15" name="Dikdörtgen 14">
            <a:extLst>
              <a:ext uri="{FF2B5EF4-FFF2-40B4-BE49-F238E27FC236}">
                <a16:creationId xmlns:a16="http://schemas.microsoft.com/office/drawing/2014/main" id="{E5A566F0-DE7C-495E-91FC-F0669938FA60}"/>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Oluşan nesneye ogrenci ismiyle erişmemizi sağlar. Sınıf adı ile değişken adı farklı görevlerdedir.</a:t>
            </a:r>
          </a:p>
        </p:txBody>
      </p:sp>
      <p:sp>
        <p:nvSpPr>
          <p:cNvPr id="16" name="Dikdörtgen 15">
            <a:extLst>
              <a:ext uri="{FF2B5EF4-FFF2-40B4-BE49-F238E27FC236}">
                <a16:creationId xmlns:a16="http://schemas.microsoft.com/office/drawing/2014/main" id="{5FC70FDC-B0D2-416F-BB86-C24AD63B6375}"/>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7" name="Dikdörtgen 16">
            <a:extLst>
              <a:ext uri="{FF2B5EF4-FFF2-40B4-BE49-F238E27FC236}">
                <a16:creationId xmlns:a16="http://schemas.microsoft.com/office/drawing/2014/main" id="{896CE170-03D0-48AB-9060-AF361BF012C2}"/>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Bir Ogrenci nesnesi oluşur. Henüz çıktı yok.</a:t>
            </a:r>
          </a:p>
        </p:txBody>
      </p:sp>
      <p:sp>
        <p:nvSpPr>
          <p:cNvPr id="18" name="Dikdörtgen 17">
            <a:extLst>
              <a:ext uri="{FF2B5EF4-FFF2-40B4-BE49-F238E27FC236}">
                <a16:creationId xmlns:a16="http://schemas.microsoft.com/office/drawing/2014/main" id="{5C644BA3-A6AA-4168-9845-9882D83FE273}"/>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5 / 35</a:t>
            </a:r>
          </a:p>
        </p:txBody>
      </p:sp>
    </p:spTree>
    <p:extLst>
      <p:ext uri="{BB962C8B-B14F-4D97-AF65-F5344CB8AC3E}">
        <p14:creationId xmlns:p14="http://schemas.microsoft.com/office/powerpoint/2010/main" val="2023048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0" name="Dikdörtgen 19">
            <a:extLst>
              <a:ext uri="{FF2B5EF4-FFF2-40B4-BE49-F238E27FC236}">
                <a16:creationId xmlns:a16="http://schemas.microsoft.com/office/drawing/2014/main" id="{B7382A88-14D0-479E-ACC2-603CBB46C309}"/>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08DC529A-EE45-4052-9E00-804DA8E9D3A0}"/>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Nesnenin bilgisini okumak</a:t>
            </a:r>
          </a:p>
        </p:txBody>
      </p:sp>
      <p:sp>
        <p:nvSpPr>
          <p:cNvPr id="3" name="Dikdörtgen 2">
            <a:extLst>
              <a:ext uri="{FF2B5EF4-FFF2-40B4-BE49-F238E27FC236}">
                <a16:creationId xmlns:a16="http://schemas.microsoft.com/office/drawing/2014/main" id="{3D68B401-5C63-4A5C-9CEA-23FD07AEDEF7}"/>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Nesnenin özelliğine nokta işaretiyle ulaşırız.</a:t>
            </a:r>
          </a:p>
        </p:txBody>
      </p:sp>
      <p:sp>
        <p:nvSpPr>
          <p:cNvPr id="4" name="Dikdörtgen 3">
            <a:extLst>
              <a:ext uri="{FF2B5EF4-FFF2-40B4-BE49-F238E27FC236}">
                <a16:creationId xmlns:a16="http://schemas.microsoft.com/office/drawing/2014/main" id="{A0C76B7E-0F36-46CE-8D07-4D8A2DABC3A4}"/>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37AC076C-EDB4-4010-8146-CD141BF053FE}"/>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 {</a:t>
            </a:r>
          </a:p>
        </p:txBody>
      </p:sp>
      <p:sp>
        <p:nvSpPr>
          <p:cNvPr id="6" name="Dikdörtgen 5">
            <a:extLst>
              <a:ext uri="{FF2B5EF4-FFF2-40B4-BE49-F238E27FC236}">
                <a16:creationId xmlns:a16="http://schemas.microsoft.com/office/drawing/2014/main" id="{EF174B9B-ECCA-45CB-B3CC-490AEEC45CF2}"/>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var</a:t>
            </a:r>
            <a:r>
              <a:t> ad = </a:t>
            </a:r>
            <a:r>
              <a:rPr>
                <a:solidFill>
                  <a:srgbClr val="397425"/>
                </a:solidFill>
              </a:rPr>
              <a:t>"Ayşe"</a:t>
            </a:r>
          </a:p>
        </p:txBody>
      </p:sp>
      <p:sp>
        <p:nvSpPr>
          <p:cNvPr id="7" name="Dikdörtgen 6">
            <a:extLst>
              <a:ext uri="{FF2B5EF4-FFF2-40B4-BE49-F238E27FC236}">
                <a16:creationId xmlns:a16="http://schemas.microsoft.com/office/drawing/2014/main" id="{FA91F3A1-1758-47FC-9732-DC3D65D272AA}"/>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8" name="Dikdörtgen 7">
            <a:extLst>
              <a:ext uri="{FF2B5EF4-FFF2-40B4-BE49-F238E27FC236}">
                <a16:creationId xmlns:a16="http://schemas.microsoft.com/office/drawing/2014/main" id="{9D21E503-49C8-46B7-ABF1-7AF49F31879E}"/>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9" name="Dikdörtgen 8">
            <a:extLst>
              <a:ext uri="{FF2B5EF4-FFF2-40B4-BE49-F238E27FC236}">
                <a16:creationId xmlns:a16="http://schemas.microsoft.com/office/drawing/2014/main" id="{AB5405D0-0B04-4722-8358-38F498FB41FB}"/>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0" name="Dikdörtgen 9">
            <a:extLst>
              <a:ext uri="{FF2B5EF4-FFF2-40B4-BE49-F238E27FC236}">
                <a16:creationId xmlns:a16="http://schemas.microsoft.com/office/drawing/2014/main" id="{53BE242C-DB44-4FAE-A0CE-AE3AEC26BD3E}"/>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p>
        </p:txBody>
      </p:sp>
      <p:sp>
        <p:nvSpPr>
          <p:cNvPr id="11" name="Dikdörtgen 10">
            <a:extLst>
              <a:ext uri="{FF2B5EF4-FFF2-40B4-BE49-F238E27FC236}">
                <a16:creationId xmlns:a16="http://schemas.microsoft.com/office/drawing/2014/main" id="{31422253-4C45-4DF7-AB96-14C6F12D1649}"/>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println(ogrenci.ad)</a:t>
            </a:r>
          </a:p>
        </p:txBody>
      </p:sp>
      <p:sp>
        <p:nvSpPr>
          <p:cNvPr id="12" name="Dikdörtgen 11">
            <a:extLst>
              <a:ext uri="{FF2B5EF4-FFF2-40B4-BE49-F238E27FC236}">
                <a16:creationId xmlns:a16="http://schemas.microsoft.com/office/drawing/2014/main" id="{6910E127-2949-428B-B8EB-2B5594986A97}"/>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3" name="Dikdörtgen 12">
            <a:extLst>
              <a:ext uri="{FF2B5EF4-FFF2-40B4-BE49-F238E27FC236}">
                <a16:creationId xmlns:a16="http://schemas.microsoft.com/office/drawing/2014/main" id="{9F175FB9-BF17-457D-9DA3-3232FF611D05}"/>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ogrenci</a:t>
            </a:r>
          </a:p>
        </p:txBody>
      </p:sp>
      <p:sp>
        <p:nvSpPr>
          <p:cNvPr id="14" name="Dikdörtgen 13">
            <a:extLst>
              <a:ext uri="{FF2B5EF4-FFF2-40B4-BE49-F238E27FC236}">
                <a16:creationId xmlns:a16="http://schemas.microsoft.com/office/drawing/2014/main" id="{DA27E1EE-C972-4080-8226-F34420686EAE}"/>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Hangi nesneyle ilgilendiğimizi belirtir.</a:t>
            </a:r>
          </a:p>
        </p:txBody>
      </p:sp>
      <p:sp>
        <p:nvSpPr>
          <p:cNvPr id="15" name="Dikdörtgen 14">
            <a:extLst>
              <a:ext uri="{FF2B5EF4-FFF2-40B4-BE49-F238E27FC236}">
                <a16:creationId xmlns:a16="http://schemas.microsoft.com/office/drawing/2014/main" id="{2642A3AD-5BBC-4851-9F1D-C90B925ECFAC}"/>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.ad</a:t>
            </a:r>
          </a:p>
        </p:txBody>
      </p:sp>
      <p:sp>
        <p:nvSpPr>
          <p:cNvPr id="16" name="Dikdörtgen 15">
            <a:extLst>
              <a:ext uri="{FF2B5EF4-FFF2-40B4-BE49-F238E27FC236}">
                <a16:creationId xmlns:a16="http://schemas.microsoft.com/office/drawing/2014/main" id="{CB7F94F8-94B0-4466-96F7-F4623128C2B9}"/>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O nesnenin ad özelliğini seçer. println bu özelliğin değerini yazdırır.</a:t>
            </a:r>
          </a:p>
        </p:txBody>
      </p:sp>
      <p:sp>
        <p:nvSpPr>
          <p:cNvPr id="17" name="Dikdörtgen 16">
            <a:extLst>
              <a:ext uri="{FF2B5EF4-FFF2-40B4-BE49-F238E27FC236}">
                <a16:creationId xmlns:a16="http://schemas.microsoft.com/office/drawing/2014/main" id="{013E3B79-10F5-4ACC-91F7-F9C8AAD6291E}"/>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8" name="Dikdörtgen 17">
            <a:extLst>
              <a:ext uri="{FF2B5EF4-FFF2-40B4-BE49-F238E27FC236}">
                <a16:creationId xmlns:a16="http://schemas.microsoft.com/office/drawing/2014/main" id="{7D77293B-9C59-4AC3-BC15-139546316068}"/>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Ayşe</a:t>
            </a:r>
          </a:p>
        </p:txBody>
      </p:sp>
      <p:sp>
        <p:nvSpPr>
          <p:cNvPr id="19" name="Dikdörtgen 18">
            <a:extLst>
              <a:ext uri="{FF2B5EF4-FFF2-40B4-BE49-F238E27FC236}">
                <a16:creationId xmlns:a16="http://schemas.microsoft.com/office/drawing/2014/main" id="{FDF409E7-1D94-498B-BE0A-24C23566A436}"/>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6 / 35</a:t>
            </a:r>
          </a:p>
        </p:txBody>
      </p:sp>
    </p:spTree>
    <p:extLst>
      <p:ext uri="{BB962C8B-B14F-4D97-AF65-F5344CB8AC3E}">
        <p14:creationId xmlns:p14="http://schemas.microsoft.com/office/powerpoint/2010/main" val="2094424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1" name="Dikdörtgen 20">
            <a:extLst>
              <a:ext uri="{FF2B5EF4-FFF2-40B4-BE49-F238E27FC236}">
                <a16:creationId xmlns:a16="http://schemas.microsoft.com/office/drawing/2014/main" id="{F528353C-E711-4E14-BED8-EEBFE4626406}"/>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1E572338-22A6-4170-BCFD-5DDCDA44EB5A}"/>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Nesnenin bilgisini değiştirmek</a:t>
            </a:r>
          </a:p>
        </p:txBody>
      </p:sp>
      <p:sp>
        <p:nvSpPr>
          <p:cNvPr id="3" name="Dikdörtgen 2">
            <a:extLst>
              <a:ext uri="{FF2B5EF4-FFF2-40B4-BE49-F238E27FC236}">
                <a16:creationId xmlns:a16="http://schemas.microsoft.com/office/drawing/2014/main" id="{342EE91D-A001-4A23-B266-65318628A966}"/>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 özellik var ile tanımlanmışsa ve erişime açıksa yeni bir değer atayabiliriz.</a:t>
            </a:r>
          </a:p>
        </p:txBody>
      </p:sp>
      <p:sp>
        <p:nvSpPr>
          <p:cNvPr id="4" name="Dikdörtgen 3">
            <a:extLst>
              <a:ext uri="{FF2B5EF4-FFF2-40B4-BE49-F238E27FC236}">
                <a16:creationId xmlns:a16="http://schemas.microsoft.com/office/drawing/2014/main" id="{33104A21-6BD7-4368-9E3A-4347113AC10A}"/>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1ECAE494-9065-4B4C-A22D-8D9ADC66C359}"/>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 {</a:t>
            </a:r>
          </a:p>
        </p:txBody>
      </p:sp>
      <p:sp>
        <p:nvSpPr>
          <p:cNvPr id="6" name="Dikdörtgen 5">
            <a:extLst>
              <a:ext uri="{FF2B5EF4-FFF2-40B4-BE49-F238E27FC236}">
                <a16:creationId xmlns:a16="http://schemas.microsoft.com/office/drawing/2014/main" id="{5139CF57-F9EF-451E-956F-4D57CA9D8B2B}"/>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var</a:t>
            </a:r>
            <a:r>
              <a:t> ad = </a:t>
            </a:r>
            <a:r>
              <a:rPr>
                <a:solidFill>
                  <a:srgbClr val="397425"/>
                </a:solidFill>
              </a:rPr>
              <a:t>"Ayşe"</a:t>
            </a:r>
          </a:p>
        </p:txBody>
      </p:sp>
      <p:sp>
        <p:nvSpPr>
          <p:cNvPr id="7" name="Dikdörtgen 6">
            <a:extLst>
              <a:ext uri="{FF2B5EF4-FFF2-40B4-BE49-F238E27FC236}">
                <a16:creationId xmlns:a16="http://schemas.microsoft.com/office/drawing/2014/main" id="{8D05D78D-1B74-4A48-8B49-77E259D27C41}"/>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8" name="Dikdörtgen 7">
            <a:extLst>
              <a:ext uri="{FF2B5EF4-FFF2-40B4-BE49-F238E27FC236}">
                <a16:creationId xmlns:a16="http://schemas.microsoft.com/office/drawing/2014/main" id="{E4ADDF97-2D06-4C43-A15D-8CFE4FE39F19}"/>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9" name="Dikdörtgen 8">
            <a:extLst>
              <a:ext uri="{FF2B5EF4-FFF2-40B4-BE49-F238E27FC236}">
                <a16:creationId xmlns:a16="http://schemas.microsoft.com/office/drawing/2014/main" id="{092A4F7B-ECDD-4376-897E-628A637E84F8}"/>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0" name="Dikdörtgen 9">
            <a:extLst>
              <a:ext uri="{FF2B5EF4-FFF2-40B4-BE49-F238E27FC236}">
                <a16:creationId xmlns:a16="http://schemas.microsoft.com/office/drawing/2014/main" id="{A0A218C9-5F75-4A3B-810C-B7E2D8D43F5F}"/>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p>
        </p:txBody>
      </p:sp>
      <p:sp>
        <p:nvSpPr>
          <p:cNvPr id="11" name="Dikdörtgen 10">
            <a:extLst>
              <a:ext uri="{FF2B5EF4-FFF2-40B4-BE49-F238E27FC236}">
                <a16:creationId xmlns:a16="http://schemas.microsoft.com/office/drawing/2014/main" id="{ED269BA6-9A22-45A6-A497-1755772DD35D}"/>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ogrenci.ad = </a:t>
            </a:r>
            <a:r>
              <a:rPr>
                <a:solidFill>
                  <a:srgbClr val="397425"/>
                </a:solidFill>
              </a:rPr>
              <a:t>"Ali"</a:t>
            </a:r>
          </a:p>
        </p:txBody>
      </p:sp>
      <p:sp>
        <p:nvSpPr>
          <p:cNvPr id="12" name="Dikdörtgen 11">
            <a:extLst>
              <a:ext uri="{FF2B5EF4-FFF2-40B4-BE49-F238E27FC236}">
                <a16:creationId xmlns:a16="http://schemas.microsoft.com/office/drawing/2014/main" id="{FEBD1E51-C41B-4A9A-9DEE-53AD8D2D4DD1}"/>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println(ogrenci.ad)</a:t>
            </a:r>
          </a:p>
        </p:txBody>
      </p:sp>
      <p:sp>
        <p:nvSpPr>
          <p:cNvPr id="13" name="Dikdörtgen 12">
            <a:extLst>
              <a:ext uri="{FF2B5EF4-FFF2-40B4-BE49-F238E27FC236}">
                <a16:creationId xmlns:a16="http://schemas.microsoft.com/office/drawing/2014/main" id="{9AEC049D-45BD-455A-8690-AB1E24DCBD21}"/>
              </a:ext>
            </a:extLst>
          </p:cNvPr>
          <p:cNvSpPr>
            <a:spLocks noGrp="1"/>
          </p:cNvSpPr>
          <p:nvPr/>
        </p:nvSpPr>
        <p:spPr>
          <a:xfrm>
            <a:off x="742950" y="56483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4" name="Dikdörtgen 13">
            <a:extLst>
              <a:ext uri="{FF2B5EF4-FFF2-40B4-BE49-F238E27FC236}">
                <a16:creationId xmlns:a16="http://schemas.microsoft.com/office/drawing/2014/main" id="{D07C0935-7EC7-4D9D-B4FF-8A8A110A251B}"/>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Atama</a:t>
            </a:r>
          </a:p>
        </p:txBody>
      </p:sp>
      <p:sp>
        <p:nvSpPr>
          <p:cNvPr id="15" name="Dikdörtgen 14">
            <a:extLst>
              <a:ext uri="{FF2B5EF4-FFF2-40B4-BE49-F238E27FC236}">
                <a16:creationId xmlns:a16="http://schemas.microsoft.com/office/drawing/2014/main" id="{AE2E6418-6909-4DDB-A3DF-D28516E4C741}"/>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ogrenci.ad = "Ali", nesnenin içindeki ad bilgisini değiştirir.</a:t>
            </a:r>
          </a:p>
        </p:txBody>
      </p:sp>
      <p:sp>
        <p:nvSpPr>
          <p:cNvPr id="16" name="Dikdörtgen 15">
            <a:extLst>
              <a:ext uri="{FF2B5EF4-FFF2-40B4-BE49-F238E27FC236}">
                <a16:creationId xmlns:a16="http://schemas.microsoft.com/office/drawing/2014/main" id="{7E956D05-1EB0-4E35-92E2-F11E932FBD06}"/>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val ile çelişmez</a:t>
            </a:r>
          </a:p>
        </p:txBody>
      </p:sp>
      <p:sp>
        <p:nvSpPr>
          <p:cNvPr id="17" name="Dikdörtgen 16">
            <a:extLst>
              <a:ext uri="{FF2B5EF4-FFF2-40B4-BE49-F238E27FC236}">
                <a16:creationId xmlns:a16="http://schemas.microsoft.com/office/drawing/2014/main" id="{A65A6292-E227-4CF3-B347-F5ED38CC818B}"/>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ogrenci değişkenine başka bir nesne atamıyoruz. Mevcut nesnenin var özelliğini değiştiriyoruz.</a:t>
            </a:r>
          </a:p>
        </p:txBody>
      </p:sp>
      <p:sp>
        <p:nvSpPr>
          <p:cNvPr id="18" name="Dikdörtgen 17">
            <a:extLst>
              <a:ext uri="{FF2B5EF4-FFF2-40B4-BE49-F238E27FC236}">
                <a16:creationId xmlns:a16="http://schemas.microsoft.com/office/drawing/2014/main" id="{0CE39541-91FE-42F2-9FA5-AB8E98209B5D}"/>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9" name="Dikdörtgen 18">
            <a:extLst>
              <a:ext uri="{FF2B5EF4-FFF2-40B4-BE49-F238E27FC236}">
                <a16:creationId xmlns:a16="http://schemas.microsoft.com/office/drawing/2014/main" id="{ED02CE42-5AA3-4508-9121-62F5EAC653B2}"/>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Ali</a:t>
            </a:r>
          </a:p>
        </p:txBody>
      </p:sp>
      <p:sp>
        <p:nvSpPr>
          <p:cNvPr id="20" name="Dikdörtgen 19">
            <a:extLst>
              <a:ext uri="{FF2B5EF4-FFF2-40B4-BE49-F238E27FC236}">
                <a16:creationId xmlns:a16="http://schemas.microsoft.com/office/drawing/2014/main" id="{AFBDB4DC-E5C9-4FBD-A7DD-36E53E651013}"/>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7 / 35</a:t>
            </a:r>
          </a:p>
        </p:txBody>
      </p:sp>
    </p:spTree>
    <p:extLst>
      <p:ext uri="{BB962C8B-B14F-4D97-AF65-F5344CB8AC3E}">
        <p14:creationId xmlns:p14="http://schemas.microsoft.com/office/powerpoint/2010/main" val="1613202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4" name="Dikdörtgen 23">
            <a:extLst>
              <a:ext uri="{FF2B5EF4-FFF2-40B4-BE49-F238E27FC236}">
                <a16:creationId xmlns:a16="http://schemas.microsoft.com/office/drawing/2014/main" id="{7FAD62BA-119E-4FAA-821B-857F77DCE651}"/>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3431CB6C-C542-4195-A7DA-3F75ABFBA832}"/>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Aynı sınıftan iki nesne</a:t>
            </a:r>
          </a:p>
        </p:txBody>
      </p:sp>
      <p:sp>
        <p:nvSpPr>
          <p:cNvPr id="3" name="Dikdörtgen 2">
            <a:extLst>
              <a:ext uri="{FF2B5EF4-FFF2-40B4-BE49-F238E27FC236}">
                <a16:creationId xmlns:a16="http://schemas.microsoft.com/office/drawing/2014/main" id="{5C287128-3F68-4644-8873-DB968BB9A4F8}"/>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 sınıftan birden fazla nesne oluşturabiliriz. Her nesnenin kendi özellik değerleri vardır.</a:t>
            </a:r>
          </a:p>
        </p:txBody>
      </p:sp>
      <p:sp>
        <p:nvSpPr>
          <p:cNvPr id="4" name="Dikdörtgen 3">
            <a:extLst>
              <a:ext uri="{FF2B5EF4-FFF2-40B4-BE49-F238E27FC236}">
                <a16:creationId xmlns:a16="http://schemas.microsoft.com/office/drawing/2014/main" id="{CC79AECF-52B7-4D02-A95C-0BDBBA2050A0}"/>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01CA6028-EEE8-40AB-A811-5F294E772569}"/>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 {</a:t>
            </a:r>
          </a:p>
        </p:txBody>
      </p:sp>
      <p:sp>
        <p:nvSpPr>
          <p:cNvPr id="6" name="Dikdörtgen 5">
            <a:extLst>
              <a:ext uri="{FF2B5EF4-FFF2-40B4-BE49-F238E27FC236}">
                <a16:creationId xmlns:a16="http://schemas.microsoft.com/office/drawing/2014/main" id="{91876B3B-5851-4114-A88D-EFD2F146CD04}"/>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var</a:t>
            </a:r>
            <a:r>
              <a:t> ad = </a:t>
            </a:r>
            <a:r>
              <a:rPr>
                <a:solidFill>
                  <a:srgbClr val="397425"/>
                </a:solidFill>
              </a:rPr>
              <a:t>""</a:t>
            </a:r>
          </a:p>
        </p:txBody>
      </p:sp>
      <p:sp>
        <p:nvSpPr>
          <p:cNvPr id="7" name="Dikdörtgen 6">
            <a:extLst>
              <a:ext uri="{FF2B5EF4-FFF2-40B4-BE49-F238E27FC236}">
                <a16:creationId xmlns:a16="http://schemas.microsoft.com/office/drawing/2014/main" id="{372E013C-09AE-44FD-BBEE-D1DA0E9D4F86}"/>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8" name="Dikdörtgen 7">
            <a:extLst>
              <a:ext uri="{FF2B5EF4-FFF2-40B4-BE49-F238E27FC236}">
                <a16:creationId xmlns:a16="http://schemas.microsoft.com/office/drawing/2014/main" id="{058E1D16-1762-4E1E-A294-F24272BEB528}"/>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9" name="Dikdörtgen 8">
            <a:extLst>
              <a:ext uri="{FF2B5EF4-FFF2-40B4-BE49-F238E27FC236}">
                <a16:creationId xmlns:a16="http://schemas.microsoft.com/office/drawing/2014/main" id="{58D86919-83CC-4565-8132-B0B334F73BF9}"/>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0" name="Dikdörtgen 9">
            <a:extLst>
              <a:ext uri="{FF2B5EF4-FFF2-40B4-BE49-F238E27FC236}">
                <a16:creationId xmlns:a16="http://schemas.microsoft.com/office/drawing/2014/main" id="{58D3E60E-F9D2-4633-A000-F02AD5DCF18F}"/>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birinci = Ogrenci()</a:t>
            </a:r>
          </a:p>
        </p:txBody>
      </p:sp>
      <p:sp>
        <p:nvSpPr>
          <p:cNvPr id="11" name="Dikdörtgen 10">
            <a:extLst>
              <a:ext uri="{FF2B5EF4-FFF2-40B4-BE49-F238E27FC236}">
                <a16:creationId xmlns:a16="http://schemas.microsoft.com/office/drawing/2014/main" id="{717BD175-2BB5-487C-ABEB-7CF29B5F51C8}"/>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ikinci = Ogrenci()</a:t>
            </a:r>
          </a:p>
        </p:txBody>
      </p:sp>
      <p:sp>
        <p:nvSpPr>
          <p:cNvPr id="12" name="Dikdörtgen 11">
            <a:extLst>
              <a:ext uri="{FF2B5EF4-FFF2-40B4-BE49-F238E27FC236}">
                <a16:creationId xmlns:a16="http://schemas.microsoft.com/office/drawing/2014/main" id="{242BD2D0-76A7-4FCA-8495-8A41F2464E9E}"/>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birinci.ad = </a:t>
            </a:r>
            <a:r>
              <a:rPr>
                <a:solidFill>
                  <a:srgbClr val="397425"/>
                </a:solidFill>
              </a:rPr>
              <a:t>"Ayşe"</a:t>
            </a:r>
          </a:p>
        </p:txBody>
      </p:sp>
      <p:sp>
        <p:nvSpPr>
          <p:cNvPr id="13" name="Dikdörtgen 12">
            <a:extLst>
              <a:ext uri="{FF2B5EF4-FFF2-40B4-BE49-F238E27FC236}">
                <a16:creationId xmlns:a16="http://schemas.microsoft.com/office/drawing/2014/main" id="{824AE888-A9C9-4AE0-90B3-AD697698AAD8}"/>
              </a:ext>
            </a:extLst>
          </p:cNvPr>
          <p:cNvSpPr>
            <a:spLocks noGrp="1"/>
          </p:cNvSpPr>
          <p:nvPr/>
        </p:nvSpPr>
        <p:spPr>
          <a:xfrm>
            <a:off x="742950" y="56483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ikinci.ad = </a:t>
            </a:r>
            <a:r>
              <a:rPr>
                <a:solidFill>
                  <a:srgbClr val="397425"/>
                </a:solidFill>
              </a:rPr>
              <a:t>"Ali"</a:t>
            </a:r>
          </a:p>
        </p:txBody>
      </p:sp>
      <p:sp>
        <p:nvSpPr>
          <p:cNvPr id="14" name="Dikdörtgen 13">
            <a:extLst>
              <a:ext uri="{FF2B5EF4-FFF2-40B4-BE49-F238E27FC236}">
                <a16:creationId xmlns:a16="http://schemas.microsoft.com/office/drawing/2014/main" id="{6A74EFCE-F2AF-4F8E-9C72-6C8BB9773DD2}"/>
              </a:ext>
            </a:extLst>
          </p:cNvPr>
          <p:cNvSpPr>
            <a:spLocks noGrp="1"/>
          </p:cNvSpPr>
          <p:nvPr/>
        </p:nvSpPr>
        <p:spPr>
          <a:xfrm>
            <a:off x="742950" y="59721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println(birinci.ad)</a:t>
            </a:r>
          </a:p>
        </p:txBody>
      </p:sp>
      <p:sp>
        <p:nvSpPr>
          <p:cNvPr id="15" name="Dikdörtgen 14">
            <a:extLst>
              <a:ext uri="{FF2B5EF4-FFF2-40B4-BE49-F238E27FC236}">
                <a16:creationId xmlns:a16="http://schemas.microsoft.com/office/drawing/2014/main" id="{5BDD2FE4-3C9E-4503-A8AC-8992A2398404}"/>
              </a:ext>
            </a:extLst>
          </p:cNvPr>
          <p:cNvSpPr>
            <a:spLocks noGrp="1"/>
          </p:cNvSpPr>
          <p:nvPr/>
        </p:nvSpPr>
        <p:spPr>
          <a:xfrm>
            <a:off x="742950" y="62960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println(ikinci.ad)</a:t>
            </a:r>
          </a:p>
        </p:txBody>
      </p:sp>
      <p:sp>
        <p:nvSpPr>
          <p:cNvPr id="16" name="Dikdörtgen 15">
            <a:extLst>
              <a:ext uri="{FF2B5EF4-FFF2-40B4-BE49-F238E27FC236}">
                <a16:creationId xmlns:a16="http://schemas.microsoft.com/office/drawing/2014/main" id="{0109C6FD-FBCA-4897-AAD6-FC6983E9FF96}"/>
              </a:ext>
            </a:extLst>
          </p:cNvPr>
          <p:cNvSpPr>
            <a:spLocks noGrp="1"/>
          </p:cNvSpPr>
          <p:nvPr/>
        </p:nvSpPr>
        <p:spPr>
          <a:xfrm>
            <a:off x="742950" y="66198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7" name="Dikdörtgen 16">
            <a:extLst>
              <a:ext uri="{FF2B5EF4-FFF2-40B4-BE49-F238E27FC236}">
                <a16:creationId xmlns:a16="http://schemas.microsoft.com/office/drawing/2014/main" id="{06D3301E-81EC-417C-89E3-92ACEBC9FA55}"/>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İki oluşturma</a:t>
            </a:r>
          </a:p>
        </p:txBody>
      </p:sp>
      <p:sp>
        <p:nvSpPr>
          <p:cNvPr id="18" name="Dikdörtgen 17">
            <a:extLst>
              <a:ext uri="{FF2B5EF4-FFF2-40B4-BE49-F238E27FC236}">
                <a16:creationId xmlns:a16="http://schemas.microsoft.com/office/drawing/2014/main" id="{B67B3331-99EB-4BE0-B82A-4CF8CD3418BF}"/>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İki ayrı Ogrenci() çağrısı, iki ayrı nesne üretir.</a:t>
            </a:r>
          </a:p>
        </p:txBody>
      </p:sp>
      <p:sp>
        <p:nvSpPr>
          <p:cNvPr id="19" name="Dikdörtgen 18">
            <a:extLst>
              <a:ext uri="{FF2B5EF4-FFF2-40B4-BE49-F238E27FC236}">
                <a16:creationId xmlns:a16="http://schemas.microsoft.com/office/drawing/2014/main" id="{880BB692-0FFF-4C9B-B023-D85CB16AD1FD}"/>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Bağımsız değerler</a:t>
            </a:r>
          </a:p>
        </p:txBody>
      </p:sp>
      <p:sp>
        <p:nvSpPr>
          <p:cNvPr id="20" name="Dikdörtgen 19">
            <a:extLst>
              <a:ext uri="{FF2B5EF4-FFF2-40B4-BE49-F238E27FC236}">
                <a16:creationId xmlns:a16="http://schemas.microsoft.com/office/drawing/2014/main" id="{E474D2DB-CF67-4E57-ABFA-004550F71ADF}"/>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birinci.ad değiştirilince ikinci.ad değişmez. Çünkü farklı nesnelerdir.</a:t>
            </a:r>
          </a:p>
        </p:txBody>
      </p:sp>
      <p:sp>
        <p:nvSpPr>
          <p:cNvPr id="21" name="Dikdörtgen 20">
            <a:extLst>
              <a:ext uri="{FF2B5EF4-FFF2-40B4-BE49-F238E27FC236}">
                <a16:creationId xmlns:a16="http://schemas.microsoft.com/office/drawing/2014/main" id="{1657A67A-227B-4075-9086-6FD03253C037}"/>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2" name="Dikdörtgen 21">
            <a:extLst>
              <a:ext uri="{FF2B5EF4-FFF2-40B4-BE49-F238E27FC236}">
                <a16:creationId xmlns:a16="http://schemas.microsoft.com/office/drawing/2014/main" id="{7C2F85EB-4678-4426-9E49-DA79957D64F9}"/>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Ayşe</a:t>
            </a:r>
          </a:p>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Ali</a:t>
            </a:r>
          </a:p>
        </p:txBody>
      </p:sp>
      <p:sp>
        <p:nvSpPr>
          <p:cNvPr id="23" name="Dikdörtgen 22">
            <a:extLst>
              <a:ext uri="{FF2B5EF4-FFF2-40B4-BE49-F238E27FC236}">
                <a16:creationId xmlns:a16="http://schemas.microsoft.com/office/drawing/2014/main" id="{0BAB3659-F4F3-489A-8F26-E259FD22AE8F}"/>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8 / 35</a:t>
            </a:r>
          </a:p>
        </p:txBody>
      </p:sp>
    </p:spTree>
    <p:extLst>
      <p:ext uri="{BB962C8B-B14F-4D97-AF65-F5344CB8AC3E}">
        <p14:creationId xmlns:p14="http://schemas.microsoft.com/office/powerpoint/2010/main" val="1341381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3" name="Dikdörtgen 22">
            <a:extLst>
              <a:ext uri="{FF2B5EF4-FFF2-40B4-BE49-F238E27FC236}">
                <a16:creationId xmlns:a16="http://schemas.microsoft.com/office/drawing/2014/main" id="{536D0443-9E4B-4413-9751-A4D66F31217A}"/>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A3CC52EC-52FC-4E4C-8E63-3AED88855130}"/>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Sınıfa işlem eklemek</a:t>
            </a:r>
          </a:p>
        </p:txBody>
      </p:sp>
      <p:sp>
        <p:nvSpPr>
          <p:cNvPr id="3" name="Dikdörtgen 2">
            <a:extLst>
              <a:ext uri="{FF2B5EF4-FFF2-40B4-BE49-F238E27FC236}">
                <a16:creationId xmlns:a16="http://schemas.microsoft.com/office/drawing/2014/main" id="{C2C35D82-3E5B-4994-A3D8-0976147097C4}"/>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Sınıfın içindeki fonksiyon, o nesnenin yapabileceği bir işlemi tanımlar. Buna metot da denir.</a:t>
            </a:r>
          </a:p>
        </p:txBody>
      </p:sp>
      <p:sp>
        <p:nvSpPr>
          <p:cNvPr id="4" name="Dikdörtgen 3">
            <a:extLst>
              <a:ext uri="{FF2B5EF4-FFF2-40B4-BE49-F238E27FC236}">
                <a16:creationId xmlns:a16="http://schemas.microsoft.com/office/drawing/2014/main" id="{B5B6496B-EB97-4890-AF98-83EB26104EB0}"/>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6AE1265B-F366-484E-ACD9-7F955F1F1CAC}"/>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 {</a:t>
            </a:r>
          </a:p>
        </p:txBody>
      </p:sp>
      <p:sp>
        <p:nvSpPr>
          <p:cNvPr id="6" name="Dikdörtgen 5">
            <a:extLst>
              <a:ext uri="{FF2B5EF4-FFF2-40B4-BE49-F238E27FC236}">
                <a16:creationId xmlns:a16="http://schemas.microsoft.com/office/drawing/2014/main" id="{E64985D1-1431-4746-AD48-BAD93CD03FE2}"/>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var</a:t>
            </a:r>
            <a:r>
              <a:t> ad = </a:t>
            </a:r>
            <a:r>
              <a:rPr>
                <a:solidFill>
                  <a:srgbClr val="397425"/>
                </a:solidFill>
              </a:rPr>
              <a:t>"Ayşe"</a:t>
            </a:r>
          </a:p>
        </p:txBody>
      </p:sp>
      <p:sp>
        <p:nvSpPr>
          <p:cNvPr id="7" name="Dikdörtgen 6">
            <a:extLst>
              <a:ext uri="{FF2B5EF4-FFF2-40B4-BE49-F238E27FC236}">
                <a16:creationId xmlns:a16="http://schemas.microsoft.com/office/drawing/2014/main" id="{1791CD31-2724-4562-A144-2009B7A5D753}"/>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fun</a:t>
            </a:r>
            <a:r>
              <a:t> tanit() {</a:t>
            </a:r>
          </a:p>
        </p:txBody>
      </p:sp>
      <p:sp>
        <p:nvSpPr>
          <p:cNvPr id="8" name="Dikdörtgen 7">
            <a:extLst>
              <a:ext uri="{FF2B5EF4-FFF2-40B4-BE49-F238E27FC236}">
                <a16:creationId xmlns:a16="http://schemas.microsoft.com/office/drawing/2014/main" id="{38646F47-3419-4D25-A32B-65147738D72E}"/>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println(ad)</a:t>
            </a:r>
          </a:p>
        </p:txBody>
      </p:sp>
      <p:sp>
        <p:nvSpPr>
          <p:cNvPr id="9" name="Dikdörtgen 8">
            <a:extLst>
              <a:ext uri="{FF2B5EF4-FFF2-40B4-BE49-F238E27FC236}">
                <a16:creationId xmlns:a16="http://schemas.microsoft.com/office/drawing/2014/main" id="{810D7FDE-5BB7-4697-B5E7-5FCA14B7D910}"/>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0" name="Dikdörtgen 9">
            <a:extLst>
              <a:ext uri="{FF2B5EF4-FFF2-40B4-BE49-F238E27FC236}">
                <a16:creationId xmlns:a16="http://schemas.microsoft.com/office/drawing/2014/main" id="{32E3FEF6-94C4-42BA-9074-EE15A1E4537A}"/>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1" name="Dikdörtgen 10">
            <a:extLst>
              <a:ext uri="{FF2B5EF4-FFF2-40B4-BE49-F238E27FC236}">
                <a16:creationId xmlns:a16="http://schemas.microsoft.com/office/drawing/2014/main" id="{E324C214-013B-4E1C-9193-4CB516949273}"/>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2" name="Dikdörtgen 11">
            <a:extLst>
              <a:ext uri="{FF2B5EF4-FFF2-40B4-BE49-F238E27FC236}">
                <a16:creationId xmlns:a16="http://schemas.microsoft.com/office/drawing/2014/main" id="{A7E09623-20A1-4511-8011-8F4CBB8095A1}"/>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3" name="Dikdörtgen 12">
            <a:extLst>
              <a:ext uri="{FF2B5EF4-FFF2-40B4-BE49-F238E27FC236}">
                <a16:creationId xmlns:a16="http://schemas.microsoft.com/office/drawing/2014/main" id="{591A3262-6FAA-4393-A840-6CC412A71CE5}"/>
              </a:ext>
            </a:extLst>
          </p:cNvPr>
          <p:cNvSpPr>
            <a:spLocks noGrp="1"/>
          </p:cNvSpPr>
          <p:nvPr/>
        </p:nvSpPr>
        <p:spPr>
          <a:xfrm>
            <a:off x="742950" y="56483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p>
        </p:txBody>
      </p:sp>
      <p:sp>
        <p:nvSpPr>
          <p:cNvPr id="14" name="Dikdörtgen 13">
            <a:extLst>
              <a:ext uri="{FF2B5EF4-FFF2-40B4-BE49-F238E27FC236}">
                <a16:creationId xmlns:a16="http://schemas.microsoft.com/office/drawing/2014/main" id="{567BEF07-5D59-44C2-8DEF-8A62394F7DD8}"/>
              </a:ext>
            </a:extLst>
          </p:cNvPr>
          <p:cNvSpPr>
            <a:spLocks noGrp="1"/>
          </p:cNvSpPr>
          <p:nvPr/>
        </p:nvSpPr>
        <p:spPr>
          <a:xfrm>
            <a:off x="742950" y="59721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ogrenci.tanit()</a:t>
            </a:r>
          </a:p>
        </p:txBody>
      </p:sp>
      <p:sp>
        <p:nvSpPr>
          <p:cNvPr id="15" name="Dikdörtgen 14">
            <a:extLst>
              <a:ext uri="{FF2B5EF4-FFF2-40B4-BE49-F238E27FC236}">
                <a16:creationId xmlns:a16="http://schemas.microsoft.com/office/drawing/2014/main" id="{D5BE20B9-797E-446B-889A-C2142CD66781}"/>
              </a:ext>
            </a:extLst>
          </p:cNvPr>
          <p:cNvSpPr>
            <a:spLocks noGrp="1"/>
          </p:cNvSpPr>
          <p:nvPr/>
        </p:nvSpPr>
        <p:spPr>
          <a:xfrm>
            <a:off x="742950" y="62960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6" name="Dikdörtgen 15">
            <a:extLst>
              <a:ext uri="{FF2B5EF4-FFF2-40B4-BE49-F238E27FC236}">
                <a16:creationId xmlns:a16="http://schemas.microsoft.com/office/drawing/2014/main" id="{EE1E5561-A944-4029-8858-A8D842509366}"/>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tanit()</a:t>
            </a:r>
          </a:p>
        </p:txBody>
      </p:sp>
      <p:sp>
        <p:nvSpPr>
          <p:cNvPr id="17" name="Dikdörtgen 16">
            <a:extLst>
              <a:ext uri="{FF2B5EF4-FFF2-40B4-BE49-F238E27FC236}">
                <a16:creationId xmlns:a16="http://schemas.microsoft.com/office/drawing/2014/main" id="{1F379C49-3CA4-4440-AFDB-437F7415481E}"/>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Bu nesnenin ad özelliğini okuyup yazdırır. Sınıf içinden özelliğe doğrudan ulaşır.</a:t>
            </a:r>
          </a:p>
        </p:txBody>
      </p:sp>
      <p:sp>
        <p:nvSpPr>
          <p:cNvPr id="18" name="Dikdörtgen 17">
            <a:extLst>
              <a:ext uri="{FF2B5EF4-FFF2-40B4-BE49-F238E27FC236}">
                <a16:creationId xmlns:a16="http://schemas.microsoft.com/office/drawing/2014/main" id="{8269FE41-4AE6-4119-A8D7-D3FB5921EA3C}"/>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ogrenci.tanit()</a:t>
            </a:r>
          </a:p>
        </p:txBody>
      </p:sp>
      <p:sp>
        <p:nvSpPr>
          <p:cNvPr id="19" name="Dikdörtgen 18">
            <a:extLst>
              <a:ext uri="{FF2B5EF4-FFF2-40B4-BE49-F238E27FC236}">
                <a16:creationId xmlns:a16="http://schemas.microsoft.com/office/drawing/2014/main" id="{65B49CC9-DF18-4FEB-BCB8-D1306552E54D}"/>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main içinde, bu öğrenci nesnesinin tanit işlemini çağırır.</a:t>
            </a:r>
          </a:p>
        </p:txBody>
      </p:sp>
      <p:sp>
        <p:nvSpPr>
          <p:cNvPr id="20" name="Dikdörtgen 19">
            <a:extLst>
              <a:ext uri="{FF2B5EF4-FFF2-40B4-BE49-F238E27FC236}">
                <a16:creationId xmlns:a16="http://schemas.microsoft.com/office/drawing/2014/main" id="{AA020BFE-B5CA-499D-864B-487B1270059D}"/>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1" name="Dikdörtgen 20">
            <a:extLst>
              <a:ext uri="{FF2B5EF4-FFF2-40B4-BE49-F238E27FC236}">
                <a16:creationId xmlns:a16="http://schemas.microsoft.com/office/drawing/2014/main" id="{E8E64A27-49A9-4792-9EB8-CEE8B9E9F68B}"/>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Ayşe</a:t>
            </a:r>
          </a:p>
        </p:txBody>
      </p:sp>
      <p:sp>
        <p:nvSpPr>
          <p:cNvPr id="22" name="Dikdörtgen 21">
            <a:extLst>
              <a:ext uri="{FF2B5EF4-FFF2-40B4-BE49-F238E27FC236}">
                <a16:creationId xmlns:a16="http://schemas.microsoft.com/office/drawing/2014/main" id="{C41DF782-795D-404C-BE45-906684DC76A8}"/>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9 / 35</a:t>
            </a:r>
          </a:p>
        </p:txBody>
      </p:sp>
    </p:spTree>
    <p:extLst>
      <p:ext uri="{BB962C8B-B14F-4D97-AF65-F5344CB8AC3E}">
        <p14:creationId xmlns:p14="http://schemas.microsoft.com/office/powerpoint/2010/main" val="185197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1" name="Dikdörtgen 10">
            <a:extLst>
              <a:ext uri="{FF2B5EF4-FFF2-40B4-BE49-F238E27FC236}">
                <a16:creationId xmlns:a16="http://schemas.microsoft.com/office/drawing/2014/main" id="{4ED1295A-61EF-43CD-9962-E211143B4A61}"/>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8676E617-A0E3-4917-A056-492D3457B248}"/>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Yapılandırıcı neden gerekir?</a:t>
            </a:r>
          </a:p>
        </p:txBody>
      </p:sp>
      <p:sp>
        <p:nvSpPr>
          <p:cNvPr id="3" name="Dikdörtgen 2">
            <a:extLst>
              <a:ext uri="{FF2B5EF4-FFF2-40B4-BE49-F238E27FC236}">
                <a16:creationId xmlns:a16="http://schemas.microsoft.com/office/drawing/2014/main" id="{0EBD3F75-E132-42E6-A507-F8FF9467DE75}"/>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Nesneyi oluştururken başlangıç bilgisini vermek isteriz. Bunu yapılandırıcı, yani constructor sağlar.</a:t>
            </a:r>
          </a:p>
        </p:txBody>
      </p:sp>
      <p:sp>
        <p:nvSpPr>
          <p:cNvPr id="4" name="Dikdörtgen 3">
            <a:extLst>
              <a:ext uri="{FF2B5EF4-FFF2-40B4-BE49-F238E27FC236}">
                <a16:creationId xmlns:a16="http://schemas.microsoft.com/office/drawing/2014/main" id="{FBBB7F6A-B887-4F62-BBC9-3F79A8BF031F}"/>
              </a:ext>
            </a:extLst>
          </p:cNvPr>
          <p:cNvSpPr>
            <a:spLocks noGrp="1"/>
          </p:cNvSpPr>
          <p:nvPr/>
        </p:nvSpPr>
        <p:spPr>
          <a:xfrm>
            <a:off x="742950" y="310515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Şu ana kadar</a:t>
            </a:r>
          </a:p>
        </p:txBody>
      </p:sp>
      <p:sp>
        <p:nvSpPr>
          <p:cNvPr id="5" name="Dikdörtgen 4">
            <a:extLst>
              <a:ext uri="{FF2B5EF4-FFF2-40B4-BE49-F238E27FC236}">
                <a16:creationId xmlns:a16="http://schemas.microsoft.com/office/drawing/2014/main" id="{3D5B38A2-3F9E-4ECE-9212-A5560977A93A}"/>
              </a:ext>
            </a:extLst>
          </p:cNvPr>
          <p:cNvSpPr>
            <a:spLocks noGrp="1"/>
          </p:cNvSpPr>
          <p:nvPr/>
        </p:nvSpPr>
        <p:spPr>
          <a:xfrm>
            <a:off x="4552950" y="310515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Önce Ogrenci() yazdık, sonra ogrenci.ad = "Ayşe" ile ad verdik.</a:t>
            </a:r>
          </a:p>
        </p:txBody>
      </p:sp>
      <p:sp>
        <p:nvSpPr>
          <p:cNvPr id="6" name="Dikdörtgen 5">
            <a:extLst>
              <a:ext uri="{FF2B5EF4-FFF2-40B4-BE49-F238E27FC236}">
                <a16:creationId xmlns:a16="http://schemas.microsoft.com/office/drawing/2014/main" id="{FFB535AF-7CA2-4E16-BAEB-F0AA25FB130A}"/>
              </a:ext>
            </a:extLst>
          </p:cNvPr>
          <p:cNvSpPr>
            <a:spLocks noGrp="1"/>
          </p:cNvSpPr>
          <p:nvPr/>
        </p:nvSpPr>
        <p:spPr>
          <a:xfrm>
            <a:off x="742950" y="4600575"/>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İstediğimiz kullanım</a:t>
            </a:r>
          </a:p>
        </p:txBody>
      </p:sp>
      <p:sp>
        <p:nvSpPr>
          <p:cNvPr id="7" name="Dikdörtgen 6">
            <a:extLst>
              <a:ext uri="{FF2B5EF4-FFF2-40B4-BE49-F238E27FC236}">
                <a16:creationId xmlns:a16="http://schemas.microsoft.com/office/drawing/2014/main" id="{39FB0713-C2E1-488D-AD27-3C256C6193BC}"/>
              </a:ext>
            </a:extLst>
          </p:cNvPr>
          <p:cNvSpPr>
            <a:spLocks noGrp="1"/>
          </p:cNvSpPr>
          <p:nvPr/>
        </p:nvSpPr>
        <p:spPr>
          <a:xfrm>
            <a:off x="4552950" y="4600575"/>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Ogrenci("Ayşe") yazarak nesneyi adıyla birlikte oluşturmak.</a:t>
            </a:r>
          </a:p>
        </p:txBody>
      </p:sp>
      <p:sp>
        <p:nvSpPr>
          <p:cNvPr id="8" name="Dikdörtgen 7">
            <a:extLst>
              <a:ext uri="{FF2B5EF4-FFF2-40B4-BE49-F238E27FC236}">
                <a16:creationId xmlns:a16="http://schemas.microsoft.com/office/drawing/2014/main" id="{42295FE5-1D52-4B11-9E94-92417ED3A0BD}"/>
              </a:ext>
            </a:extLst>
          </p:cNvPr>
          <p:cNvSpPr>
            <a:spLocks noGrp="1"/>
          </p:cNvSpPr>
          <p:nvPr/>
        </p:nvSpPr>
        <p:spPr>
          <a:xfrm>
            <a:off x="742950" y="609600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Sonraki adım</a:t>
            </a:r>
          </a:p>
        </p:txBody>
      </p:sp>
      <p:sp>
        <p:nvSpPr>
          <p:cNvPr id="9" name="Dikdörtgen 8">
            <a:extLst>
              <a:ext uri="{FF2B5EF4-FFF2-40B4-BE49-F238E27FC236}">
                <a16:creationId xmlns:a16="http://schemas.microsoft.com/office/drawing/2014/main" id="{1A74F506-1875-4AF2-A34B-DE156C46CD34}"/>
              </a:ext>
            </a:extLst>
          </p:cNvPr>
          <p:cNvSpPr>
            <a:spLocks noGrp="1"/>
          </p:cNvSpPr>
          <p:nvPr/>
        </p:nvSpPr>
        <p:spPr>
          <a:xfrm>
            <a:off x="4552950" y="609600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Sınıf adından sonraki paranteze hangi bilgiyi beklediğimizi yazacağız.</a:t>
            </a:r>
          </a:p>
        </p:txBody>
      </p:sp>
      <p:sp>
        <p:nvSpPr>
          <p:cNvPr id="10" name="Dikdörtgen 9">
            <a:extLst>
              <a:ext uri="{FF2B5EF4-FFF2-40B4-BE49-F238E27FC236}">
                <a16:creationId xmlns:a16="http://schemas.microsoft.com/office/drawing/2014/main" id="{0667AB5A-E3D6-4AE1-ABA2-B01D1D942E16}"/>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10 / 35</a:t>
            </a:r>
          </a:p>
        </p:txBody>
      </p:sp>
    </p:spTree>
    <p:extLst>
      <p:ext uri="{BB962C8B-B14F-4D97-AF65-F5344CB8AC3E}">
        <p14:creationId xmlns:p14="http://schemas.microsoft.com/office/powerpoint/2010/main" val="1578367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0" name="Dikdörtgen 19">
            <a:extLst>
              <a:ext uri="{FF2B5EF4-FFF2-40B4-BE49-F238E27FC236}">
                <a16:creationId xmlns:a16="http://schemas.microsoft.com/office/drawing/2014/main" id="{BC3A2F7D-A493-4704-BA71-B9E452715409}"/>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8C0DA545-1BE1-417B-81CC-93675FAFED21}"/>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Sınıf nasıl parametre alır?</a:t>
            </a:r>
          </a:p>
        </p:txBody>
      </p:sp>
      <p:sp>
        <p:nvSpPr>
          <p:cNvPr id="3" name="Dikdörtgen 2">
            <a:extLst>
              <a:ext uri="{FF2B5EF4-FFF2-40B4-BE49-F238E27FC236}">
                <a16:creationId xmlns:a16="http://schemas.microsoft.com/office/drawing/2014/main" id="{E07DB177-62A2-4D4B-84B9-CDBE7FC696E5}"/>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Sınıf adından sonraki parantezde başlangıçta beklenen bilgiyi tanımlarız.</a:t>
            </a:r>
          </a:p>
        </p:txBody>
      </p:sp>
      <p:sp>
        <p:nvSpPr>
          <p:cNvPr id="4" name="Dikdörtgen 3">
            <a:extLst>
              <a:ext uri="{FF2B5EF4-FFF2-40B4-BE49-F238E27FC236}">
                <a16:creationId xmlns:a16="http://schemas.microsoft.com/office/drawing/2014/main" id="{47DD79C0-4653-4512-878E-7C2C021ED359}"/>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C6BEDAE9-2A1B-450E-A0C3-62DD26E1A54B}"/>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Ogrenci(gelenAd: String) {</a:t>
            </a:r>
          </a:p>
        </p:txBody>
      </p:sp>
      <p:sp>
        <p:nvSpPr>
          <p:cNvPr id="6" name="Dikdörtgen 5">
            <a:extLst>
              <a:ext uri="{FF2B5EF4-FFF2-40B4-BE49-F238E27FC236}">
                <a16:creationId xmlns:a16="http://schemas.microsoft.com/office/drawing/2014/main" id="{1A9C581E-E58C-4652-898A-9C77D4DB008C}"/>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ad = gelenAd</a:t>
            </a:r>
          </a:p>
        </p:txBody>
      </p:sp>
      <p:sp>
        <p:nvSpPr>
          <p:cNvPr id="7" name="Dikdörtgen 6">
            <a:extLst>
              <a:ext uri="{FF2B5EF4-FFF2-40B4-BE49-F238E27FC236}">
                <a16:creationId xmlns:a16="http://schemas.microsoft.com/office/drawing/2014/main" id="{381F5875-48F3-4B81-89A9-A7F4F5224C58}"/>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8" name="Dikdörtgen 7">
            <a:extLst>
              <a:ext uri="{FF2B5EF4-FFF2-40B4-BE49-F238E27FC236}">
                <a16:creationId xmlns:a16="http://schemas.microsoft.com/office/drawing/2014/main" id="{7D138B36-2383-485C-ABC8-E8DDF63BD400}"/>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9" name="Dikdörtgen 8">
            <a:extLst>
              <a:ext uri="{FF2B5EF4-FFF2-40B4-BE49-F238E27FC236}">
                <a16:creationId xmlns:a16="http://schemas.microsoft.com/office/drawing/2014/main" id="{694E9E03-4CCB-4668-A2B9-624340E5B489}"/>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0" name="Dikdörtgen 9">
            <a:extLst>
              <a:ext uri="{FF2B5EF4-FFF2-40B4-BE49-F238E27FC236}">
                <a16:creationId xmlns:a16="http://schemas.microsoft.com/office/drawing/2014/main" id="{872C3B04-E4DB-44CF-8211-617A80F8A31A}"/>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r>
              <a:rPr>
                <a:solidFill>
                  <a:srgbClr val="397425"/>
                </a:solidFill>
              </a:rPr>
              <a:t>"Ayşe"</a:t>
            </a:r>
            <a:r>
              <a:t>)</a:t>
            </a:r>
          </a:p>
        </p:txBody>
      </p:sp>
      <p:sp>
        <p:nvSpPr>
          <p:cNvPr id="11" name="Dikdörtgen 10">
            <a:extLst>
              <a:ext uri="{FF2B5EF4-FFF2-40B4-BE49-F238E27FC236}">
                <a16:creationId xmlns:a16="http://schemas.microsoft.com/office/drawing/2014/main" id="{2E69CDF7-1D57-4D35-B62A-348A66A1D0E9}"/>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println(ogrenci.ad)</a:t>
            </a:r>
          </a:p>
        </p:txBody>
      </p:sp>
      <p:sp>
        <p:nvSpPr>
          <p:cNvPr id="12" name="Dikdörtgen 11">
            <a:extLst>
              <a:ext uri="{FF2B5EF4-FFF2-40B4-BE49-F238E27FC236}">
                <a16:creationId xmlns:a16="http://schemas.microsoft.com/office/drawing/2014/main" id="{AF80DD9C-9E6A-4CC3-8F4C-939B55B83DC8}"/>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3" name="Dikdörtgen 12">
            <a:extLst>
              <a:ext uri="{FF2B5EF4-FFF2-40B4-BE49-F238E27FC236}">
                <a16:creationId xmlns:a16="http://schemas.microsoft.com/office/drawing/2014/main" id="{0C28766C-1DA0-4BC7-8992-C047F5CB1E00}"/>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gelenAd: String</a:t>
            </a:r>
          </a:p>
        </p:txBody>
      </p:sp>
      <p:sp>
        <p:nvSpPr>
          <p:cNvPr id="14" name="Dikdörtgen 13">
            <a:extLst>
              <a:ext uri="{FF2B5EF4-FFF2-40B4-BE49-F238E27FC236}">
                <a16:creationId xmlns:a16="http://schemas.microsoft.com/office/drawing/2014/main" id="{00684791-3706-4CBB-9A37-874DB40A0570}"/>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Nesne kurulurken bir metin beklenir. Ayşe değeri gelenAd parametresine gelir.</a:t>
            </a:r>
          </a:p>
        </p:txBody>
      </p:sp>
      <p:sp>
        <p:nvSpPr>
          <p:cNvPr id="15" name="Dikdörtgen 14">
            <a:extLst>
              <a:ext uri="{FF2B5EF4-FFF2-40B4-BE49-F238E27FC236}">
                <a16:creationId xmlns:a16="http://schemas.microsoft.com/office/drawing/2014/main" id="{D9043583-853B-42B6-9DA1-B0EB0F91BD46}"/>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val ad = gelenAd</a:t>
            </a:r>
          </a:p>
        </p:txBody>
      </p:sp>
      <p:sp>
        <p:nvSpPr>
          <p:cNvPr id="16" name="Dikdörtgen 15">
            <a:extLst>
              <a:ext uri="{FF2B5EF4-FFF2-40B4-BE49-F238E27FC236}">
                <a16:creationId xmlns:a16="http://schemas.microsoft.com/office/drawing/2014/main" id="{F6A161ED-C1E8-44FF-A1B4-7616BFE7E3D5}"/>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Gelen bilgiyi nesnenin ad özelliğine aktarır. Böylece sonradan ogrenci.ad ile okuyabiliriz.</a:t>
            </a:r>
          </a:p>
        </p:txBody>
      </p:sp>
      <p:sp>
        <p:nvSpPr>
          <p:cNvPr id="17" name="Dikdörtgen 16">
            <a:extLst>
              <a:ext uri="{FF2B5EF4-FFF2-40B4-BE49-F238E27FC236}">
                <a16:creationId xmlns:a16="http://schemas.microsoft.com/office/drawing/2014/main" id="{6C77AA53-8DE6-4259-BF36-79ADA67179F5}"/>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8" name="Dikdörtgen 17">
            <a:extLst>
              <a:ext uri="{FF2B5EF4-FFF2-40B4-BE49-F238E27FC236}">
                <a16:creationId xmlns:a16="http://schemas.microsoft.com/office/drawing/2014/main" id="{F1EA3C72-147D-4A30-93DF-05AFD3398F8A}"/>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Ayşe</a:t>
            </a:r>
          </a:p>
        </p:txBody>
      </p:sp>
      <p:sp>
        <p:nvSpPr>
          <p:cNvPr id="19" name="Dikdörtgen 18">
            <a:extLst>
              <a:ext uri="{FF2B5EF4-FFF2-40B4-BE49-F238E27FC236}">
                <a16:creationId xmlns:a16="http://schemas.microsoft.com/office/drawing/2014/main" id="{677D56A8-EDB2-44BD-B119-69830386BAD6}"/>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11 / 35</a:t>
            </a:r>
          </a:p>
        </p:txBody>
      </p:sp>
    </p:spTree>
    <p:extLst>
      <p:ext uri="{BB962C8B-B14F-4D97-AF65-F5344CB8AC3E}">
        <p14:creationId xmlns:p14="http://schemas.microsoft.com/office/powerpoint/2010/main" val="1177041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9" name="Dikdörtgen 18">
            <a:extLst>
              <a:ext uri="{FF2B5EF4-FFF2-40B4-BE49-F238E27FC236}">
                <a16:creationId xmlns:a16="http://schemas.microsoft.com/office/drawing/2014/main" id="{4FC14564-25B9-4E2D-973B-B9B0B75A39BF}"/>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BDFFC29A-E42B-4CC4-95E5-E59CC4520D49}"/>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Parametreyi doğrudan özellik yapmak</a:t>
            </a:r>
          </a:p>
        </p:txBody>
      </p:sp>
      <p:sp>
        <p:nvSpPr>
          <p:cNvPr id="3" name="Dikdörtgen 2">
            <a:extLst>
              <a:ext uri="{FF2B5EF4-FFF2-40B4-BE49-F238E27FC236}">
                <a16:creationId xmlns:a16="http://schemas.microsoft.com/office/drawing/2014/main" id="{2FF4BC2B-87F2-414E-B571-7E3BB3A3F972}"/>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Parametrenin başına val veya var yazarsak Kotlin onu aynı zamanda özellik olarak tanımlar.</a:t>
            </a:r>
          </a:p>
        </p:txBody>
      </p:sp>
      <p:sp>
        <p:nvSpPr>
          <p:cNvPr id="4" name="Dikdörtgen 3">
            <a:extLst>
              <a:ext uri="{FF2B5EF4-FFF2-40B4-BE49-F238E27FC236}">
                <a16:creationId xmlns:a16="http://schemas.microsoft.com/office/drawing/2014/main" id="{0A0278CC-21F5-49C9-B01C-1D645D86329C}"/>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182BE900-F19A-4A4E-AD01-6F46BBA7057D}"/>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a:t>
            </a:r>
            <a:r>
              <a:rPr>
                <a:solidFill>
                  <a:srgbClr val="6941A5"/>
                </a:solidFill>
              </a:rPr>
              <a:t>val</a:t>
            </a:r>
            <a:r>
              <a:t> ad: String) {</a:t>
            </a:r>
          </a:p>
        </p:txBody>
      </p:sp>
      <p:sp>
        <p:nvSpPr>
          <p:cNvPr id="6" name="Dikdörtgen 5">
            <a:extLst>
              <a:ext uri="{FF2B5EF4-FFF2-40B4-BE49-F238E27FC236}">
                <a16:creationId xmlns:a16="http://schemas.microsoft.com/office/drawing/2014/main" id="{0F936A1F-DF20-4428-A647-788A220AF6F4}"/>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7" name="Dikdörtgen 6">
            <a:extLst>
              <a:ext uri="{FF2B5EF4-FFF2-40B4-BE49-F238E27FC236}">
                <a16:creationId xmlns:a16="http://schemas.microsoft.com/office/drawing/2014/main" id="{73CE5BBC-D4F3-42F6-B01D-7BD293A8C5BE}"/>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8" name="Dikdörtgen 7">
            <a:extLst>
              <a:ext uri="{FF2B5EF4-FFF2-40B4-BE49-F238E27FC236}">
                <a16:creationId xmlns:a16="http://schemas.microsoft.com/office/drawing/2014/main" id="{D2F62400-D4E4-4A25-84E0-4442CF5880FC}"/>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9" name="Dikdörtgen 8">
            <a:extLst>
              <a:ext uri="{FF2B5EF4-FFF2-40B4-BE49-F238E27FC236}">
                <a16:creationId xmlns:a16="http://schemas.microsoft.com/office/drawing/2014/main" id="{861B08E2-6810-449D-8742-A2633518E805}"/>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r>
              <a:rPr>
                <a:solidFill>
                  <a:srgbClr val="397425"/>
                </a:solidFill>
              </a:rPr>
              <a:t>"Ayşe"</a:t>
            </a:r>
            <a:r>
              <a:t>)</a:t>
            </a:r>
          </a:p>
        </p:txBody>
      </p:sp>
      <p:sp>
        <p:nvSpPr>
          <p:cNvPr id="10" name="Dikdörtgen 9">
            <a:extLst>
              <a:ext uri="{FF2B5EF4-FFF2-40B4-BE49-F238E27FC236}">
                <a16:creationId xmlns:a16="http://schemas.microsoft.com/office/drawing/2014/main" id="{129D7CB5-5A08-4793-938E-3937EC09D201}"/>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println(ogrenci.ad)</a:t>
            </a:r>
          </a:p>
        </p:txBody>
      </p:sp>
      <p:sp>
        <p:nvSpPr>
          <p:cNvPr id="11" name="Dikdörtgen 10">
            <a:extLst>
              <a:ext uri="{FF2B5EF4-FFF2-40B4-BE49-F238E27FC236}">
                <a16:creationId xmlns:a16="http://schemas.microsoft.com/office/drawing/2014/main" id="{00613DF5-C409-4CD5-BED9-B988D4341383}"/>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2" name="Dikdörtgen 11">
            <a:extLst>
              <a:ext uri="{FF2B5EF4-FFF2-40B4-BE49-F238E27FC236}">
                <a16:creationId xmlns:a16="http://schemas.microsoft.com/office/drawing/2014/main" id="{989DB883-D0B0-469F-8847-D7D861D6FB09}"/>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Kısa yazım</a:t>
            </a:r>
          </a:p>
        </p:txBody>
      </p:sp>
      <p:sp>
        <p:nvSpPr>
          <p:cNvPr id="13" name="Dikdörtgen 12">
            <a:extLst>
              <a:ext uri="{FF2B5EF4-FFF2-40B4-BE49-F238E27FC236}">
                <a16:creationId xmlns:a16="http://schemas.microsoft.com/office/drawing/2014/main" id="{AC63C6D2-C93D-4227-AE26-61EE70514074}"/>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val ad: String hem başlangıç parametresi hem nesnenin özelliğidir.</a:t>
            </a:r>
          </a:p>
        </p:txBody>
      </p:sp>
      <p:sp>
        <p:nvSpPr>
          <p:cNvPr id="14" name="Dikdörtgen 13">
            <a:extLst>
              <a:ext uri="{FF2B5EF4-FFF2-40B4-BE49-F238E27FC236}">
                <a16:creationId xmlns:a16="http://schemas.microsoft.com/office/drawing/2014/main" id="{ED70F2EA-E611-4EE1-87BA-73AD902519D6}"/>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val seçimi</a:t>
            </a:r>
          </a:p>
        </p:txBody>
      </p:sp>
      <p:sp>
        <p:nvSpPr>
          <p:cNvPr id="15" name="Dikdörtgen 14">
            <a:extLst>
              <a:ext uri="{FF2B5EF4-FFF2-40B4-BE49-F238E27FC236}">
                <a16:creationId xmlns:a16="http://schemas.microsoft.com/office/drawing/2014/main" id="{0EBE88E9-08BD-497B-8446-BED6417FBBE4}"/>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Ad okunabilir. Dışarıdan ogrenci.ad = "Ali" yazılamaz. Değişmesi istenirse var kullanılabilir.</a:t>
            </a:r>
          </a:p>
        </p:txBody>
      </p:sp>
      <p:sp>
        <p:nvSpPr>
          <p:cNvPr id="16" name="Dikdörtgen 15">
            <a:extLst>
              <a:ext uri="{FF2B5EF4-FFF2-40B4-BE49-F238E27FC236}">
                <a16:creationId xmlns:a16="http://schemas.microsoft.com/office/drawing/2014/main" id="{1CA1F6E5-6B2C-4A02-B10D-285FC8824494}"/>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7" name="Dikdörtgen 16">
            <a:extLst>
              <a:ext uri="{FF2B5EF4-FFF2-40B4-BE49-F238E27FC236}">
                <a16:creationId xmlns:a16="http://schemas.microsoft.com/office/drawing/2014/main" id="{38EA2303-0399-4732-A4AF-DF2E71196DE3}"/>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Ayşe</a:t>
            </a:r>
          </a:p>
        </p:txBody>
      </p:sp>
      <p:sp>
        <p:nvSpPr>
          <p:cNvPr id="18" name="Dikdörtgen 17">
            <a:extLst>
              <a:ext uri="{FF2B5EF4-FFF2-40B4-BE49-F238E27FC236}">
                <a16:creationId xmlns:a16="http://schemas.microsoft.com/office/drawing/2014/main" id="{D8182BE6-1053-4EF9-8F24-DE1A48240DFA}"/>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12 / 35</a:t>
            </a:r>
          </a:p>
        </p:txBody>
      </p:sp>
    </p:spTree>
    <p:extLst>
      <p:ext uri="{BB962C8B-B14F-4D97-AF65-F5344CB8AC3E}">
        <p14:creationId xmlns:p14="http://schemas.microsoft.com/office/powerpoint/2010/main" val="1279469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2" name="Dikdörtgen 21">
            <a:extLst>
              <a:ext uri="{FF2B5EF4-FFF2-40B4-BE49-F238E27FC236}">
                <a16:creationId xmlns:a16="http://schemas.microsoft.com/office/drawing/2014/main" id="{E2615A1C-794B-4A21-BCEB-CAD85403FDDA}"/>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B1BF1E85-4A78-4D01-A28C-6E81491EF985}"/>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Birden fazla parametre almak</a:t>
            </a:r>
          </a:p>
        </p:txBody>
      </p:sp>
      <p:sp>
        <p:nvSpPr>
          <p:cNvPr id="3" name="Dikdörtgen 2">
            <a:extLst>
              <a:ext uri="{FF2B5EF4-FFF2-40B4-BE49-F238E27FC236}">
                <a16:creationId xmlns:a16="http://schemas.microsoft.com/office/drawing/2014/main" id="{005E021E-C5E3-4930-82F6-0DD2C80CF03B}"/>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 nesnenin birden fazla başlangıç bilgisi olabilir. Parametreleri virgülle ayırırız.</a:t>
            </a:r>
          </a:p>
        </p:txBody>
      </p:sp>
      <p:sp>
        <p:nvSpPr>
          <p:cNvPr id="4" name="Dikdörtgen 3">
            <a:extLst>
              <a:ext uri="{FF2B5EF4-FFF2-40B4-BE49-F238E27FC236}">
                <a16:creationId xmlns:a16="http://schemas.microsoft.com/office/drawing/2014/main" id="{8D233BC4-BA1E-493B-8DE3-A6C327031DD2}"/>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CA290C19-5B17-439B-9BAB-AEDF68DDC0F4}"/>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a:t>
            </a:r>
          </a:p>
        </p:txBody>
      </p:sp>
      <p:sp>
        <p:nvSpPr>
          <p:cNvPr id="6" name="Dikdörtgen 5">
            <a:extLst>
              <a:ext uri="{FF2B5EF4-FFF2-40B4-BE49-F238E27FC236}">
                <a16:creationId xmlns:a16="http://schemas.microsoft.com/office/drawing/2014/main" id="{27BFB658-EE47-402D-AA6E-E2A1CDA32548}"/>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ad: String,</a:t>
            </a:r>
          </a:p>
        </p:txBody>
      </p:sp>
      <p:sp>
        <p:nvSpPr>
          <p:cNvPr id="7" name="Dikdörtgen 6">
            <a:extLst>
              <a:ext uri="{FF2B5EF4-FFF2-40B4-BE49-F238E27FC236}">
                <a16:creationId xmlns:a16="http://schemas.microsoft.com/office/drawing/2014/main" id="{8C553258-AD83-4F16-BDB0-940C5E928192}"/>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yas: Int</a:t>
            </a:r>
          </a:p>
        </p:txBody>
      </p:sp>
      <p:sp>
        <p:nvSpPr>
          <p:cNvPr id="8" name="Dikdörtgen 7">
            <a:extLst>
              <a:ext uri="{FF2B5EF4-FFF2-40B4-BE49-F238E27FC236}">
                <a16:creationId xmlns:a16="http://schemas.microsoft.com/office/drawing/2014/main" id="{FE625F56-AE7B-43BC-AEB2-0976570FCFB3}"/>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9" name="Dikdörtgen 8">
            <a:extLst>
              <a:ext uri="{FF2B5EF4-FFF2-40B4-BE49-F238E27FC236}">
                <a16:creationId xmlns:a16="http://schemas.microsoft.com/office/drawing/2014/main" id="{4474729C-4784-4D18-9606-21AC6411C298}"/>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0" name="Dikdörtgen 9">
            <a:extLst>
              <a:ext uri="{FF2B5EF4-FFF2-40B4-BE49-F238E27FC236}">
                <a16:creationId xmlns:a16="http://schemas.microsoft.com/office/drawing/2014/main" id="{10C514F4-E835-430B-99C5-F116B65155A6}"/>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1" name="Dikdörtgen 10">
            <a:extLst>
              <a:ext uri="{FF2B5EF4-FFF2-40B4-BE49-F238E27FC236}">
                <a16:creationId xmlns:a16="http://schemas.microsoft.com/office/drawing/2014/main" id="{7EF8C6AC-0FD8-4D0D-A12C-7DBF71171428}"/>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r>
              <a:rPr>
                <a:solidFill>
                  <a:srgbClr val="397425"/>
                </a:solidFill>
              </a:rPr>
              <a:t>"Ayşe"</a:t>
            </a:r>
            <a:r>
              <a:t>, </a:t>
            </a:r>
            <a:r>
              <a:rPr>
                <a:solidFill>
                  <a:srgbClr val="A45110"/>
                </a:solidFill>
              </a:rPr>
              <a:t>16</a:t>
            </a:r>
            <a:r>
              <a:t>)</a:t>
            </a:r>
          </a:p>
        </p:txBody>
      </p:sp>
      <p:sp>
        <p:nvSpPr>
          <p:cNvPr id="12" name="Dikdörtgen 11">
            <a:extLst>
              <a:ext uri="{FF2B5EF4-FFF2-40B4-BE49-F238E27FC236}">
                <a16:creationId xmlns:a16="http://schemas.microsoft.com/office/drawing/2014/main" id="{2CDC756F-4F07-4599-BC05-57CEB7C1C6D9}"/>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println(ogrenci.ad)</a:t>
            </a:r>
          </a:p>
        </p:txBody>
      </p:sp>
      <p:sp>
        <p:nvSpPr>
          <p:cNvPr id="13" name="Dikdörtgen 12">
            <a:extLst>
              <a:ext uri="{FF2B5EF4-FFF2-40B4-BE49-F238E27FC236}">
                <a16:creationId xmlns:a16="http://schemas.microsoft.com/office/drawing/2014/main" id="{AFC1401D-D48A-420E-B518-658FE14C4763}"/>
              </a:ext>
            </a:extLst>
          </p:cNvPr>
          <p:cNvSpPr>
            <a:spLocks noGrp="1"/>
          </p:cNvSpPr>
          <p:nvPr/>
        </p:nvSpPr>
        <p:spPr>
          <a:xfrm>
            <a:off x="742950" y="56483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println(ogrenci.yas)</a:t>
            </a:r>
          </a:p>
        </p:txBody>
      </p:sp>
      <p:sp>
        <p:nvSpPr>
          <p:cNvPr id="14" name="Dikdörtgen 13">
            <a:extLst>
              <a:ext uri="{FF2B5EF4-FFF2-40B4-BE49-F238E27FC236}">
                <a16:creationId xmlns:a16="http://schemas.microsoft.com/office/drawing/2014/main" id="{D76ED91C-299F-414D-985A-4140BEBB03C1}"/>
              </a:ext>
            </a:extLst>
          </p:cNvPr>
          <p:cNvSpPr>
            <a:spLocks noGrp="1"/>
          </p:cNvSpPr>
          <p:nvPr/>
        </p:nvSpPr>
        <p:spPr>
          <a:xfrm>
            <a:off x="742950" y="59721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5" name="Dikdörtgen 14">
            <a:extLst>
              <a:ext uri="{FF2B5EF4-FFF2-40B4-BE49-F238E27FC236}">
                <a16:creationId xmlns:a16="http://schemas.microsoft.com/office/drawing/2014/main" id="{9647A896-FFE0-443D-87AA-B42446B4FF92}"/>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Beklenen sıra</a:t>
            </a:r>
          </a:p>
        </p:txBody>
      </p:sp>
      <p:sp>
        <p:nvSpPr>
          <p:cNvPr id="16" name="Dikdörtgen 15">
            <a:extLst>
              <a:ext uri="{FF2B5EF4-FFF2-40B4-BE49-F238E27FC236}">
                <a16:creationId xmlns:a16="http://schemas.microsoft.com/office/drawing/2014/main" id="{93235E11-2184-44AB-80B9-8AF698CA30C3}"/>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Önce String ad, sonra Int yaş verilir. Değerlerin tipleri tanımla uyumlu olmalıdır.</a:t>
            </a:r>
          </a:p>
        </p:txBody>
      </p:sp>
      <p:sp>
        <p:nvSpPr>
          <p:cNvPr id="17" name="Dikdörtgen 16">
            <a:extLst>
              <a:ext uri="{FF2B5EF4-FFF2-40B4-BE49-F238E27FC236}">
                <a16:creationId xmlns:a16="http://schemas.microsoft.com/office/drawing/2014/main" id="{4F93E8F8-E028-4031-8E3B-825094CA0B92}"/>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Sınıf gövdesi</a:t>
            </a:r>
          </a:p>
        </p:txBody>
      </p:sp>
      <p:sp>
        <p:nvSpPr>
          <p:cNvPr id="18" name="Dikdörtgen 17">
            <a:extLst>
              <a:ext uri="{FF2B5EF4-FFF2-40B4-BE49-F238E27FC236}">
                <a16:creationId xmlns:a16="http://schemas.microsoft.com/office/drawing/2014/main" id="{0244E82E-05A1-4FE2-B618-981CA3435908}"/>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Başka üye yoksa boş süslü parantezleri yazmayabiliriz. Bu da geçerli bir sınıftır.</a:t>
            </a:r>
          </a:p>
        </p:txBody>
      </p:sp>
      <p:sp>
        <p:nvSpPr>
          <p:cNvPr id="19" name="Dikdörtgen 18">
            <a:extLst>
              <a:ext uri="{FF2B5EF4-FFF2-40B4-BE49-F238E27FC236}">
                <a16:creationId xmlns:a16="http://schemas.microsoft.com/office/drawing/2014/main" id="{8D4BB464-4D62-4E5C-8C77-0BA137931317}"/>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0" name="Dikdörtgen 19">
            <a:extLst>
              <a:ext uri="{FF2B5EF4-FFF2-40B4-BE49-F238E27FC236}">
                <a16:creationId xmlns:a16="http://schemas.microsoft.com/office/drawing/2014/main" id="{790DA45D-9FAC-4527-AC2E-2E2ABAE79E98}"/>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Ayşe</a:t>
            </a:r>
          </a:p>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16</a:t>
            </a:r>
          </a:p>
        </p:txBody>
      </p:sp>
      <p:sp>
        <p:nvSpPr>
          <p:cNvPr id="21" name="Dikdörtgen 20">
            <a:extLst>
              <a:ext uri="{FF2B5EF4-FFF2-40B4-BE49-F238E27FC236}">
                <a16:creationId xmlns:a16="http://schemas.microsoft.com/office/drawing/2014/main" id="{7C3B6501-408A-4053-878A-EA4BA859B422}"/>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13 / 35</a:t>
            </a:r>
          </a:p>
        </p:txBody>
      </p:sp>
    </p:spTree>
    <p:extLst>
      <p:ext uri="{BB962C8B-B14F-4D97-AF65-F5344CB8AC3E}">
        <p14:creationId xmlns:p14="http://schemas.microsoft.com/office/powerpoint/2010/main" val="505829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1" name="Dikdörtgen 20">
            <a:extLst>
              <a:ext uri="{FF2B5EF4-FFF2-40B4-BE49-F238E27FC236}">
                <a16:creationId xmlns:a16="http://schemas.microsoft.com/office/drawing/2014/main" id="{83D4E4E7-E765-4BC6-BBCD-BAADB308622A}"/>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79923812-7467-41C3-A62C-6DB9E9B33F1A}"/>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Varsayılan başlangıç değeri</a:t>
            </a:r>
          </a:p>
        </p:txBody>
      </p:sp>
      <p:sp>
        <p:nvSpPr>
          <p:cNvPr id="3" name="Dikdörtgen 2">
            <a:extLst>
              <a:ext uri="{FF2B5EF4-FFF2-40B4-BE49-F238E27FC236}">
                <a16:creationId xmlns:a16="http://schemas.microsoft.com/office/drawing/2014/main" id="{506465ED-DBBF-43C9-8BAC-AE978D364D7B}"/>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 parametre verilmediğinde kullanılacak değeri tanımda belirleyebiliriz.</a:t>
            </a:r>
          </a:p>
        </p:txBody>
      </p:sp>
      <p:sp>
        <p:nvSpPr>
          <p:cNvPr id="4" name="Dikdörtgen 3">
            <a:extLst>
              <a:ext uri="{FF2B5EF4-FFF2-40B4-BE49-F238E27FC236}">
                <a16:creationId xmlns:a16="http://schemas.microsoft.com/office/drawing/2014/main" id="{C03630FF-4D1B-4F40-8956-C87052F4605A}"/>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5C86E6D0-2A4B-4D9D-8863-10B34F9EEFBD}"/>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a:t>
            </a:r>
          </a:p>
        </p:txBody>
      </p:sp>
      <p:sp>
        <p:nvSpPr>
          <p:cNvPr id="6" name="Dikdörtgen 5">
            <a:extLst>
              <a:ext uri="{FF2B5EF4-FFF2-40B4-BE49-F238E27FC236}">
                <a16:creationId xmlns:a16="http://schemas.microsoft.com/office/drawing/2014/main" id="{3318C11C-7B5A-4EF1-A4D2-E8D652FF6A5A}"/>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ad: String,</a:t>
            </a:r>
          </a:p>
        </p:txBody>
      </p:sp>
      <p:sp>
        <p:nvSpPr>
          <p:cNvPr id="7" name="Dikdörtgen 6">
            <a:extLst>
              <a:ext uri="{FF2B5EF4-FFF2-40B4-BE49-F238E27FC236}">
                <a16:creationId xmlns:a16="http://schemas.microsoft.com/office/drawing/2014/main" id="{C79163A3-DF90-433F-83FF-9A815E8C4FF8}"/>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yas: Int = </a:t>
            </a:r>
            <a:r>
              <a:rPr>
                <a:solidFill>
                  <a:srgbClr val="A45110"/>
                </a:solidFill>
              </a:rPr>
              <a:t>18</a:t>
            </a:r>
          </a:p>
        </p:txBody>
      </p:sp>
      <p:sp>
        <p:nvSpPr>
          <p:cNvPr id="8" name="Dikdörtgen 7">
            <a:extLst>
              <a:ext uri="{FF2B5EF4-FFF2-40B4-BE49-F238E27FC236}">
                <a16:creationId xmlns:a16="http://schemas.microsoft.com/office/drawing/2014/main" id="{A76489D4-5E30-4188-A47C-6D4F6D2246B3}"/>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9" name="Dikdörtgen 8">
            <a:extLst>
              <a:ext uri="{FF2B5EF4-FFF2-40B4-BE49-F238E27FC236}">
                <a16:creationId xmlns:a16="http://schemas.microsoft.com/office/drawing/2014/main" id="{F41144A8-7DBF-4F09-AF74-BBFFBD04D25B}"/>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0" name="Dikdörtgen 9">
            <a:extLst>
              <a:ext uri="{FF2B5EF4-FFF2-40B4-BE49-F238E27FC236}">
                <a16:creationId xmlns:a16="http://schemas.microsoft.com/office/drawing/2014/main" id="{70FD6AD2-778C-47A2-92E0-A05C216ADB6A}"/>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1" name="Dikdörtgen 10">
            <a:extLst>
              <a:ext uri="{FF2B5EF4-FFF2-40B4-BE49-F238E27FC236}">
                <a16:creationId xmlns:a16="http://schemas.microsoft.com/office/drawing/2014/main" id="{BBF00813-F50D-4C05-BCE0-2C5C10E365C9}"/>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r>
              <a:rPr>
                <a:solidFill>
                  <a:srgbClr val="397425"/>
                </a:solidFill>
              </a:rPr>
              <a:t>"Ayşe"</a:t>
            </a:r>
            <a:r>
              <a:t>)</a:t>
            </a:r>
          </a:p>
        </p:txBody>
      </p:sp>
      <p:sp>
        <p:nvSpPr>
          <p:cNvPr id="12" name="Dikdörtgen 11">
            <a:extLst>
              <a:ext uri="{FF2B5EF4-FFF2-40B4-BE49-F238E27FC236}">
                <a16:creationId xmlns:a16="http://schemas.microsoft.com/office/drawing/2014/main" id="{C436D33A-87BE-47BA-B246-6F8BF1FDB5BA}"/>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println(ogrenci.yas)</a:t>
            </a:r>
          </a:p>
        </p:txBody>
      </p:sp>
      <p:sp>
        <p:nvSpPr>
          <p:cNvPr id="13" name="Dikdörtgen 12">
            <a:extLst>
              <a:ext uri="{FF2B5EF4-FFF2-40B4-BE49-F238E27FC236}">
                <a16:creationId xmlns:a16="http://schemas.microsoft.com/office/drawing/2014/main" id="{3415F978-8594-473C-AE44-FF861439C838}"/>
              </a:ext>
            </a:extLst>
          </p:cNvPr>
          <p:cNvSpPr>
            <a:spLocks noGrp="1"/>
          </p:cNvSpPr>
          <p:nvPr/>
        </p:nvSpPr>
        <p:spPr>
          <a:xfrm>
            <a:off x="742950" y="56483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4" name="Dikdörtgen 13">
            <a:extLst>
              <a:ext uri="{FF2B5EF4-FFF2-40B4-BE49-F238E27FC236}">
                <a16:creationId xmlns:a16="http://schemas.microsoft.com/office/drawing/2014/main" id="{8CB159C2-D99F-478F-9100-79329891B59F}"/>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 18</a:t>
            </a:r>
          </a:p>
        </p:txBody>
      </p:sp>
      <p:sp>
        <p:nvSpPr>
          <p:cNvPr id="15" name="Dikdörtgen 14">
            <a:extLst>
              <a:ext uri="{FF2B5EF4-FFF2-40B4-BE49-F238E27FC236}">
                <a16:creationId xmlns:a16="http://schemas.microsoft.com/office/drawing/2014/main" id="{4E4293DB-DD61-47E7-937E-C546C2BB7C32}"/>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Çağrıda yaş verilmezse 18 kullanılır. Ad hâlâ zorunludur.</a:t>
            </a:r>
          </a:p>
        </p:txBody>
      </p:sp>
      <p:sp>
        <p:nvSpPr>
          <p:cNvPr id="16" name="Dikdörtgen 15">
            <a:extLst>
              <a:ext uri="{FF2B5EF4-FFF2-40B4-BE49-F238E27FC236}">
                <a16:creationId xmlns:a16="http://schemas.microsoft.com/office/drawing/2014/main" id="{954C8137-6BAC-4A66-9A7A-E8A547393F2F}"/>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Başka değer vermek</a:t>
            </a:r>
          </a:p>
        </p:txBody>
      </p:sp>
      <p:sp>
        <p:nvSpPr>
          <p:cNvPr id="17" name="Dikdörtgen 16">
            <a:extLst>
              <a:ext uri="{FF2B5EF4-FFF2-40B4-BE49-F238E27FC236}">
                <a16:creationId xmlns:a16="http://schemas.microsoft.com/office/drawing/2014/main" id="{9D05044D-71B5-4BDF-8540-C908D11D028A}"/>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Ogrenci("Ayşe", 16) yazılsaydı yas özelliği 16 olurdu.</a:t>
            </a:r>
          </a:p>
        </p:txBody>
      </p:sp>
      <p:sp>
        <p:nvSpPr>
          <p:cNvPr id="18" name="Dikdörtgen 17">
            <a:extLst>
              <a:ext uri="{FF2B5EF4-FFF2-40B4-BE49-F238E27FC236}">
                <a16:creationId xmlns:a16="http://schemas.microsoft.com/office/drawing/2014/main" id="{2EDB700D-234F-4459-9CC8-5C960847A0CE}"/>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9" name="Dikdörtgen 18">
            <a:extLst>
              <a:ext uri="{FF2B5EF4-FFF2-40B4-BE49-F238E27FC236}">
                <a16:creationId xmlns:a16="http://schemas.microsoft.com/office/drawing/2014/main" id="{810BE9C4-D484-456A-94CD-AC2714DDB390}"/>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18</a:t>
            </a:r>
          </a:p>
        </p:txBody>
      </p:sp>
      <p:sp>
        <p:nvSpPr>
          <p:cNvPr id="20" name="Dikdörtgen 19">
            <a:extLst>
              <a:ext uri="{FF2B5EF4-FFF2-40B4-BE49-F238E27FC236}">
                <a16:creationId xmlns:a16="http://schemas.microsoft.com/office/drawing/2014/main" id="{B65598A5-1CC9-4EB8-AAC0-7732DF3782D9}"/>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14 / 35</a:t>
            </a:r>
          </a:p>
        </p:txBody>
      </p:sp>
    </p:spTree>
    <p:extLst>
      <p:ext uri="{BB962C8B-B14F-4D97-AF65-F5344CB8AC3E}">
        <p14:creationId xmlns:p14="http://schemas.microsoft.com/office/powerpoint/2010/main" val="1213724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3" name="Dikdörtgen 22">
            <a:extLst>
              <a:ext uri="{FF2B5EF4-FFF2-40B4-BE49-F238E27FC236}">
                <a16:creationId xmlns:a16="http://schemas.microsoft.com/office/drawing/2014/main" id="{D54CBF3A-8473-462B-9780-9AAC7DABBF46}"/>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EB58EBB2-BA39-4DDD-9E59-21BB5F814EEB}"/>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this hangi nesneyi gösterir?</a:t>
            </a:r>
          </a:p>
        </p:txBody>
      </p:sp>
      <p:sp>
        <p:nvSpPr>
          <p:cNvPr id="3" name="Dikdörtgen 2">
            <a:extLst>
              <a:ext uri="{FF2B5EF4-FFF2-40B4-BE49-F238E27FC236}">
                <a16:creationId xmlns:a16="http://schemas.microsoft.com/office/drawing/2014/main" id="{40915B10-0E27-4F57-98BE-E43085CE2BFB}"/>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this, o anda içinde bulunduğumuz nesneyi belirtir. Aynı isimler karıştığında yardımcı olur.</a:t>
            </a:r>
          </a:p>
        </p:txBody>
      </p:sp>
      <p:sp>
        <p:nvSpPr>
          <p:cNvPr id="4" name="Dikdörtgen 3">
            <a:extLst>
              <a:ext uri="{FF2B5EF4-FFF2-40B4-BE49-F238E27FC236}">
                <a16:creationId xmlns:a16="http://schemas.microsoft.com/office/drawing/2014/main" id="{4E7C3351-2E8B-4AFD-8C86-92C8D26B4299}"/>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C926A56F-8182-4328-A4A7-8EE95A6C84C0}"/>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a:t>
            </a:r>
            <a:r>
              <a:rPr>
                <a:solidFill>
                  <a:srgbClr val="6941A5"/>
                </a:solidFill>
              </a:rPr>
              <a:t>var</a:t>
            </a:r>
            <a:r>
              <a:t> ad: String) {</a:t>
            </a:r>
          </a:p>
        </p:txBody>
      </p:sp>
      <p:sp>
        <p:nvSpPr>
          <p:cNvPr id="6" name="Dikdörtgen 5">
            <a:extLst>
              <a:ext uri="{FF2B5EF4-FFF2-40B4-BE49-F238E27FC236}">
                <a16:creationId xmlns:a16="http://schemas.microsoft.com/office/drawing/2014/main" id="{092C4466-861B-4481-BBB2-32FE488B60AB}"/>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fun</a:t>
            </a:r>
            <a:r>
              <a:t> adDegistir(ad: String) {</a:t>
            </a:r>
          </a:p>
        </p:txBody>
      </p:sp>
      <p:sp>
        <p:nvSpPr>
          <p:cNvPr id="7" name="Dikdörtgen 6">
            <a:extLst>
              <a:ext uri="{FF2B5EF4-FFF2-40B4-BE49-F238E27FC236}">
                <a16:creationId xmlns:a16="http://schemas.microsoft.com/office/drawing/2014/main" id="{71FCBF35-8E29-4662-BBF2-5A16CFF892E1}"/>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this</a:t>
            </a:r>
            <a:r>
              <a:t>.ad = ad</a:t>
            </a:r>
          </a:p>
        </p:txBody>
      </p:sp>
      <p:sp>
        <p:nvSpPr>
          <p:cNvPr id="8" name="Dikdörtgen 7">
            <a:extLst>
              <a:ext uri="{FF2B5EF4-FFF2-40B4-BE49-F238E27FC236}">
                <a16:creationId xmlns:a16="http://schemas.microsoft.com/office/drawing/2014/main" id="{BEC8A20E-EA1E-41A9-B907-8B95584E7570}"/>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9" name="Dikdörtgen 8">
            <a:extLst>
              <a:ext uri="{FF2B5EF4-FFF2-40B4-BE49-F238E27FC236}">
                <a16:creationId xmlns:a16="http://schemas.microsoft.com/office/drawing/2014/main" id="{7F225883-B0CF-4D30-9606-35ADDAA0320D}"/>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0" name="Dikdörtgen 9">
            <a:extLst>
              <a:ext uri="{FF2B5EF4-FFF2-40B4-BE49-F238E27FC236}">
                <a16:creationId xmlns:a16="http://schemas.microsoft.com/office/drawing/2014/main" id="{6CD98DBD-8975-4F9D-8E17-07C13E1F9BAE}"/>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1" name="Dikdörtgen 10">
            <a:extLst>
              <a:ext uri="{FF2B5EF4-FFF2-40B4-BE49-F238E27FC236}">
                <a16:creationId xmlns:a16="http://schemas.microsoft.com/office/drawing/2014/main" id="{29170112-07C6-41BF-905C-F64B994D3A67}"/>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2" name="Dikdörtgen 11">
            <a:extLst>
              <a:ext uri="{FF2B5EF4-FFF2-40B4-BE49-F238E27FC236}">
                <a16:creationId xmlns:a16="http://schemas.microsoft.com/office/drawing/2014/main" id="{BC5A3173-8B81-4F48-8172-F645E894562F}"/>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r>
              <a:rPr>
                <a:solidFill>
                  <a:srgbClr val="397425"/>
                </a:solidFill>
              </a:rPr>
              <a:t>"Ayşe"</a:t>
            </a:r>
            <a:r>
              <a:t>)</a:t>
            </a:r>
          </a:p>
        </p:txBody>
      </p:sp>
      <p:sp>
        <p:nvSpPr>
          <p:cNvPr id="13" name="Dikdörtgen 12">
            <a:extLst>
              <a:ext uri="{FF2B5EF4-FFF2-40B4-BE49-F238E27FC236}">
                <a16:creationId xmlns:a16="http://schemas.microsoft.com/office/drawing/2014/main" id="{E58C9019-2BE2-4180-A060-E482706C3D8C}"/>
              </a:ext>
            </a:extLst>
          </p:cNvPr>
          <p:cNvSpPr>
            <a:spLocks noGrp="1"/>
          </p:cNvSpPr>
          <p:nvPr/>
        </p:nvSpPr>
        <p:spPr>
          <a:xfrm>
            <a:off x="742950" y="56483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ogrenci.adDegistir(</a:t>
            </a:r>
            <a:r>
              <a:rPr>
                <a:solidFill>
                  <a:srgbClr val="397425"/>
                </a:solidFill>
              </a:rPr>
              <a:t>"Ali"</a:t>
            </a:r>
            <a:r>
              <a:t>)</a:t>
            </a:r>
          </a:p>
        </p:txBody>
      </p:sp>
      <p:sp>
        <p:nvSpPr>
          <p:cNvPr id="14" name="Dikdörtgen 13">
            <a:extLst>
              <a:ext uri="{FF2B5EF4-FFF2-40B4-BE49-F238E27FC236}">
                <a16:creationId xmlns:a16="http://schemas.microsoft.com/office/drawing/2014/main" id="{C484EBC4-C974-49A8-8ABD-597C2B027935}"/>
              </a:ext>
            </a:extLst>
          </p:cNvPr>
          <p:cNvSpPr>
            <a:spLocks noGrp="1"/>
          </p:cNvSpPr>
          <p:nvPr/>
        </p:nvSpPr>
        <p:spPr>
          <a:xfrm>
            <a:off x="742950" y="59721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println(ogrenci.ad)</a:t>
            </a:r>
          </a:p>
        </p:txBody>
      </p:sp>
      <p:sp>
        <p:nvSpPr>
          <p:cNvPr id="15" name="Dikdörtgen 14">
            <a:extLst>
              <a:ext uri="{FF2B5EF4-FFF2-40B4-BE49-F238E27FC236}">
                <a16:creationId xmlns:a16="http://schemas.microsoft.com/office/drawing/2014/main" id="{AA3C6D8F-9C2E-427B-A2B4-06B0A3A6D691}"/>
              </a:ext>
            </a:extLst>
          </p:cNvPr>
          <p:cNvSpPr>
            <a:spLocks noGrp="1"/>
          </p:cNvSpPr>
          <p:nvPr/>
        </p:nvSpPr>
        <p:spPr>
          <a:xfrm>
            <a:off x="742950" y="62960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6" name="Dikdörtgen 15">
            <a:extLst>
              <a:ext uri="{FF2B5EF4-FFF2-40B4-BE49-F238E27FC236}">
                <a16:creationId xmlns:a16="http://schemas.microsoft.com/office/drawing/2014/main" id="{18D58B15-73E0-47C7-8F40-9B4E6ABF77C8}"/>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this.ad</a:t>
            </a:r>
          </a:p>
        </p:txBody>
      </p:sp>
      <p:sp>
        <p:nvSpPr>
          <p:cNvPr id="17" name="Dikdörtgen 16">
            <a:extLst>
              <a:ext uri="{FF2B5EF4-FFF2-40B4-BE49-F238E27FC236}">
                <a16:creationId xmlns:a16="http://schemas.microsoft.com/office/drawing/2014/main" id="{CAAFD148-73D8-4A91-9A57-EA06A0258478}"/>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Nesnenin ad özelliğidir. Atamanın solunda değişecek alanı gösterir.</a:t>
            </a:r>
          </a:p>
        </p:txBody>
      </p:sp>
      <p:sp>
        <p:nvSpPr>
          <p:cNvPr id="18" name="Dikdörtgen 17">
            <a:extLst>
              <a:ext uri="{FF2B5EF4-FFF2-40B4-BE49-F238E27FC236}">
                <a16:creationId xmlns:a16="http://schemas.microsoft.com/office/drawing/2014/main" id="{DBBA1EA6-E22D-4FC5-98F3-77FDEEBFC3DE}"/>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Sağdaki ad</a:t>
            </a:r>
          </a:p>
        </p:txBody>
      </p:sp>
      <p:sp>
        <p:nvSpPr>
          <p:cNvPr id="19" name="Dikdörtgen 18">
            <a:extLst>
              <a:ext uri="{FF2B5EF4-FFF2-40B4-BE49-F238E27FC236}">
                <a16:creationId xmlns:a16="http://schemas.microsoft.com/office/drawing/2014/main" id="{A6ECBEB2-0167-4CF1-85E1-011EB1315BD3}"/>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Fonksiyonun aldığı yeni değerdir. Bu çağrıda Ali metnini taşır.</a:t>
            </a:r>
          </a:p>
        </p:txBody>
      </p:sp>
      <p:sp>
        <p:nvSpPr>
          <p:cNvPr id="20" name="Dikdörtgen 19">
            <a:extLst>
              <a:ext uri="{FF2B5EF4-FFF2-40B4-BE49-F238E27FC236}">
                <a16:creationId xmlns:a16="http://schemas.microsoft.com/office/drawing/2014/main" id="{DE1FE1A4-1F66-4433-93D5-F5C6DEBF5189}"/>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1" name="Dikdörtgen 20">
            <a:extLst>
              <a:ext uri="{FF2B5EF4-FFF2-40B4-BE49-F238E27FC236}">
                <a16:creationId xmlns:a16="http://schemas.microsoft.com/office/drawing/2014/main" id="{6164E050-964E-4183-A2B3-521EC1585C71}"/>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Ali</a:t>
            </a:r>
          </a:p>
        </p:txBody>
      </p:sp>
      <p:sp>
        <p:nvSpPr>
          <p:cNvPr id="22" name="Dikdörtgen 21">
            <a:extLst>
              <a:ext uri="{FF2B5EF4-FFF2-40B4-BE49-F238E27FC236}">
                <a16:creationId xmlns:a16="http://schemas.microsoft.com/office/drawing/2014/main" id="{1AC98604-D9DC-43B0-A646-71545DDB2EE9}"/>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15 / 35</a:t>
            </a:r>
          </a:p>
        </p:txBody>
      </p:sp>
    </p:spTree>
    <p:extLst>
      <p:ext uri="{BB962C8B-B14F-4D97-AF65-F5344CB8AC3E}">
        <p14:creationId xmlns:p14="http://schemas.microsoft.com/office/powerpoint/2010/main" val="200850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2" name="Dikdörtgen 21">
            <a:extLst>
              <a:ext uri="{FF2B5EF4-FFF2-40B4-BE49-F238E27FC236}">
                <a16:creationId xmlns:a16="http://schemas.microsoft.com/office/drawing/2014/main" id="{3B536C26-711F-4453-A97E-4BE746487DD0}"/>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E96B85C0-2546-4769-A019-E8A0378EF74A}"/>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init ne zaman çalışır?</a:t>
            </a:r>
          </a:p>
        </p:txBody>
      </p:sp>
      <p:sp>
        <p:nvSpPr>
          <p:cNvPr id="3" name="Dikdörtgen 2">
            <a:extLst>
              <a:ext uri="{FF2B5EF4-FFF2-40B4-BE49-F238E27FC236}">
                <a16:creationId xmlns:a16="http://schemas.microsoft.com/office/drawing/2014/main" id="{B06B1AF9-B496-4E3E-A34E-F383085B1BA9}"/>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init bloğu nesne oluşturulurken otomatik olarak çalışır. Başlangıç işlemleri burada yapılabilir.</a:t>
            </a:r>
          </a:p>
        </p:txBody>
      </p:sp>
      <p:sp>
        <p:nvSpPr>
          <p:cNvPr id="4" name="Dikdörtgen 3">
            <a:extLst>
              <a:ext uri="{FF2B5EF4-FFF2-40B4-BE49-F238E27FC236}">
                <a16:creationId xmlns:a16="http://schemas.microsoft.com/office/drawing/2014/main" id="{A8AED4CE-F50C-45CA-8DA5-650EAEBAD59B}"/>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BB2E94CA-148E-4D3A-81F8-C971522E9B9C}"/>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a:t>
            </a:r>
            <a:r>
              <a:rPr>
                <a:solidFill>
                  <a:srgbClr val="6941A5"/>
                </a:solidFill>
              </a:rPr>
              <a:t>val</a:t>
            </a:r>
            <a:r>
              <a:t> ad: String) {</a:t>
            </a:r>
          </a:p>
        </p:txBody>
      </p:sp>
      <p:sp>
        <p:nvSpPr>
          <p:cNvPr id="6" name="Dikdörtgen 5">
            <a:extLst>
              <a:ext uri="{FF2B5EF4-FFF2-40B4-BE49-F238E27FC236}">
                <a16:creationId xmlns:a16="http://schemas.microsoft.com/office/drawing/2014/main" id="{BA026222-6BF3-4865-B27B-F8E478DA5B59}"/>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init</a:t>
            </a:r>
            <a:r>
              <a:t> {</a:t>
            </a:r>
          </a:p>
        </p:txBody>
      </p:sp>
      <p:sp>
        <p:nvSpPr>
          <p:cNvPr id="7" name="Dikdörtgen 6">
            <a:extLst>
              <a:ext uri="{FF2B5EF4-FFF2-40B4-BE49-F238E27FC236}">
                <a16:creationId xmlns:a16="http://schemas.microsoft.com/office/drawing/2014/main" id="{21E906A3-6766-42A6-9C09-A82B69880072}"/>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a:t>
            </a:r>
            <a:r>
              <a:rPr>
                <a:solidFill>
                  <a:srgbClr val="397425"/>
                </a:solidFill>
              </a:rPr>
              <a:t>"Öğrenci oluşturuldu"</a:t>
            </a:r>
            <a:r>
              <a:t>)</a:t>
            </a:r>
          </a:p>
        </p:txBody>
      </p:sp>
      <p:sp>
        <p:nvSpPr>
          <p:cNvPr id="8" name="Dikdörtgen 7">
            <a:extLst>
              <a:ext uri="{FF2B5EF4-FFF2-40B4-BE49-F238E27FC236}">
                <a16:creationId xmlns:a16="http://schemas.microsoft.com/office/drawing/2014/main" id="{6C940BED-C9E9-4B26-BAC6-07117858CF16}"/>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9" name="Dikdörtgen 8">
            <a:extLst>
              <a:ext uri="{FF2B5EF4-FFF2-40B4-BE49-F238E27FC236}">
                <a16:creationId xmlns:a16="http://schemas.microsoft.com/office/drawing/2014/main" id="{1DB096B5-63F0-44AB-A797-3724DA85A762}"/>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0" name="Dikdörtgen 9">
            <a:extLst>
              <a:ext uri="{FF2B5EF4-FFF2-40B4-BE49-F238E27FC236}">
                <a16:creationId xmlns:a16="http://schemas.microsoft.com/office/drawing/2014/main" id="{378C8B51-ACCE-431C-B491-7D82FC26D2E7}"/>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1" name="Dikdörtgen 10">
            <a:extLst>
              <a:ext uri="{FF2B5EF4-FFF2-40B4-BE49-F238E27FC236}">
                <a16:creationId xmlns:a16="http://schemas.microsoft.com/office/drawing/2014/main" id="{4842D923-FDFB-4C7D-916F-101065C0BE33}"/>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2" name="Dikdörtgen 11">
            <a:extLst>
              <a:ext uri="{FF2B5EF4-FFF2-40B4-BE49-F238E27FC236}">
                <a16:creationId xmlns:a16="http://schemas.microsoft.com/office/drawing/2014/main" id="{196823AF-2B29-4FFC-9AED-946C0E1E25C1}"/>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r>
              <a:rPr>
                <a:solidFill>
                  <a:srgbClr val="397425"/>
                </a:solidFill>
              </a:rPr>
              <a:t>"Ayşe"</a:t>
            </a:r>
            <a:r>
              <a:t>)</a:t>
            </a:r>
          </a:p>
        </p:txBody>
      </p:sp>
      <p:sp>
        <p:nvSpPr>
          <p:cNvPr id="13" name="Dikdörtgen 12">
            <a:extLst>
              <a:ext uri="{FF2B5EF4-FFF2-40B4-BE49-F238E27FC236}">
                <a16:creationId xmlns:a16="http://schemas.microsoft.com/office/drawing/2014/main" id="{A10D3CF6-FABB-4829-AD37-50251A118AA3}"/>
              </a:ext>
            </a:extLst>
          </p:cNvPr>
          <p:cNvSpPr>
            <a:spLocks noGrp="1"/>
          </p:cNvSpPr>
          <p:nvPr/>
        </p:nvSpPr>
        <p:spPr>
          <a:xfrm>
            <a:off x="742950" y="56483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println(ogrenci.ad)</a:t>
            </a:r>
          </a:p>
        </p:txBody>
      </p:sp>
      <p:sp>
        <p:nvSpPr>
          <p:cNvPr id="14" name="Dikdörtgen 13">
            <a:extLst>
              <a:ext uri="{FF2B5EF4-FFF2-40B4-BE49-F238E27FC236}">
                <a16:creationId xmlns:a16="http://schemas.microsoft.com/office/drawing/2014/main" id="{3BBC3CAF-6D04-407E-8FDD-BE41FD55C9D3}"/>
              </a:ext>
            </a:extLst>
          </p:cNvPr>
          <p:cNvSpPr>
            <a:spLocks noGrp="1"/>
          </p:cNvSpPr>
          <p:nvPr/>
        </p:nvSpPr>
        <p:spPr>
          <a:xfrm>
            <a:off x="742950" y="59721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5" name="Dikdörtgen 14">
            <a:extLst>
              <a:ext uri="{FF2B5EF4-FFF2-40B4-BE49-F238E27FC236}">
                <a16:creationId xmlns:a16="http://schemas.microsoft.com/office/drawing/2014/main" id="{7B5B8A1E-F257-4302-8A89-3E98F1A3AF4F}"/>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Otomatik çağrı</a:t>
            </a:r>
          </a:p>
        </p:txBody>
      </p:sp>
      <p:sp>
        <p:nvSpPr>
          <p:cNvPr id="16" name="Dikdörtgen 15">
            <a:extLst>
              <a:ext uri="{FF2B5EF4-FFF2-40B4-BE49-F238E27FC236}">
                <a16:creationId xmlns:a16="http://schemas.microsoft.com/office/drawing/2014/main" id="{B818FEC0-EC78-4BC6-9CDD-F20099E98550}"/>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Ogrenci("Ayşe") çalışırken init içindeki yazı önce görünür. init() diye çağırmayız.</a:t>
            </a:r>
          </a:p>
        </p:txBody>
      </p:sp>
      <p:sp>
        <p:nvSpPr>
          <p:cNvPr id="17" name="Dikdörtgen 16">
            <a:extLst>
              <a:ext uri="{FF2B5EF4-FFF2-40B4-BE49-F238E27FC236}">
                <a16:creationId xmlns:a16="http://schemas.microsoft.com/office/drawing/2014/main" id="{4FBBC673-1D69-4BC5-9501-F18BB2061734}"/>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Sonraki işlem</a:t>
            </a:r>
          </a:p>
        </p:txBody>
      </p:sp>
      <p:sp>
        <p:nvSpPr>
          <p:cNvPr id="18" name="Dikdörtgen 17">
            <a:extLst>
              <a:ext uri="{FF2B5EF4-FFF2-40B4-BE49-F238E27FC236}">
                <a16:creationId xmlns:a16="http://schemas.microsoft.com/office/drawing/2014/main" id="{A2EB7F31-AA3C-4A4D-9292-8DBB80061598}"/>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Nesne oluştuktan sonra main devam eder ve öğrencinin adını yazdırır.</a:t>
            </a:r>
          </a:p>
        </p:txBody>
      </p:sp>
      <p:sp>
        <p:nvSpPr>
          <p:cNvPr id="19" name="Dikdörtgen 18">
            <a:extLst>
              <a:ext uri="{FF2B5EF4-FFF2-40B4-BE49-F238E27FC236}">
                <a16:creationId xmlns:a16="http://schemas.microsoft.com/office/drawing/2014/main" id="{2C3351A2-422D-4EFD-BAE5-DAA8170DCF2D}"/>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0" name="Dikdörtgen 19">
            <a:extLst>
              <a:ext uri="{FF2B5EF4-FFF2-40B4-BE49-F238E27FC236}">
                <a16:creationId xmlns:a16="http://schemas.microsoft.com/office/drawing/2014/main" id="{40F5FBA7-90DE-4EE5-9C37-70493B7224F5}"/>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Öğrenci oluşturuldu</a:t>
            </a:r>
          </a:p>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Ayşe</a:t>
            </a:r>
          </a:p>
        </p:txBody>
      </p:sp>
      <p:sp>
        <p:nvSpPr>
          <p:cNvPr id="21" name="Dikdörtgen 20">
            <a:extLst>
              <a:ext uri="{FF2B5EF4-FFF2-40B4-BE49-F238E27FC236}">
                <a16:creationId xmlns:a16="http://schemas.microsoft.com/office/drawing/2014/main" id="{23BD5463-9F48-4C33-B188-D04808F94F5B}"/>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16 / 35</a:t>
            </a:r>
          </a:p>
        </p:txBody>
      </p:sp>
    </p:spTree>
    <p:extLst>
      <p:ext uri="{BB962C8B-B14F-4D97-AF65-F5344CB8AC3E}">
        <p14:creationId xmlns:p14="http://schemas.microsoft.com/office/powerpoint/2010/main" val="417889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0" name="Dikdörtgen 19">
            <a:extLst>
              <a:ext uri="{FF2B5EF4-FFF2-40B4-BE49-F238E27FC236}">
                <a16:creationId xmlns:a16="http://schemas.microsoft.com/office/drawing/2014/main" id="{DBF64EF0-556D-4964-BB26-96633FF6B43E}"/>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43CAA0CB-A99E-45AE-B902-5FB434C63DA1}"/>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İkincil yapılandırıcı</a:t>
            </a:r>
          </a:p>
        </p:txBody>
      </p:sp>
      <p:sp>
        <p:nvSpPr>
          <p:cNvPr id="3" name="Dikdörtgen 2">
            <a:extLst>
              <a:ext uri="{FF2B5EF4-FFF2-40B4-BE49-F238E27FC236}">
                <a16:creationId xmlns:a16="http://schemas.microsoft.com/office/drawing/2014/main" id="{0544604A-A118-4A81-A5F5-79CC37222909}"/>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Aynı nesneyi farklı giriş bilgileriyle oluşturmak için constructor yazabiliriz.</a:t>
            </a:r>
          </a:p>
        </p:txBody>
      </p:sp>
      <p:sp>
        <p:nvSpPr>
          <p:cNvPr id="4" name="Dikdörtgen 3">
            <a:extLst>
              <a:ext uri="{FF2B5EF4-FFF2-40B4-BE49-F238E27FC236}">
                <a16:creationId xmlns:a16="http://schemas.microsoft.com/office/drawing/2014/main" id="{CBDF3F9D-4753-45D4-B763-F9A3A932A7D3}"/>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F3B97B57-20BA-43B0-8640-6C3E222D353B}"/>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a:t>
            </a:r>
            <a:r>
              <a:rPr>
                <a:solidFill>
                  <a:srgbClr val="6941A5"/>
                </a:solidFill>
              </a:rPr>
              <a:t>val</a:t>
            </a:r>
            <a:r>
              <a:t> ad: String, </a:t>
            </a:r>
            <a:r>
              <a:rPr>
                <a:solidFill>
                  <a:srgbClr val="6941A5"/>
                </a:solidFill>
              </a:rPr>
              <a:t>val</a:t>
            </a:r>
            <a:r>
              <a:t> yas: Int) {</a:t>
            </a:r>
          </a:p>
        </p:txBody>
      </p:sp>
      <p:sp>
        <p:nvSpPr>
          <p:cNvPr id="6" name="Dikdörtgen 5">
            <a:extLst>
              <a:ext uri="{FF2B5EF4-FFF2-40B4-BE49-F238E27FC236}">
                <a16:creationId xmlns:a16="http://schemas.microsoft.com/office/drawing/2014/main" id="{B4F0CD55-748D-45C5-9334-108817D539DC}"/>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constructor</a:t>
            </a:r>
            <a:r>
              <a:t>(ad: String) : </a:t>
            </a:r>
            <a:r>
              <a:rPr>
                <a:solidFill>
                  <a:srgbClr val="6941A5"/>
                </a:solidFill>
              </a:rPr>
              <a:t>this</a:t>
            </a:r>
            <a:r>
              <a:t>(ad, </a:t>
            </a:r>
            <a:r>
              <a:rPr>
                <a:solidFill>
                  <a:srgbClr val="A45110"/>
                </a:solidFill>
              </a:rPr>
              <a:t>18</a:t>
            </a:r>
            <a:r>
              <a:t>)</a:t>
            </a:r>
          </a:p>
        </p:txBody>
      </p:sp>
      <p:sp>
        <p:nvSpPr>
          <p:cNvPr id="7" name="Dikdörtgen 6">
            <a:extLst>
              <a:ext uri="{FF2B5EF4-FFF2-40B4-BE49-F238E27FC236}">
                <a16:creationId xmlns:a16="http://schemas.microsoft.com/office/drawing/2014/main" id="{C24E76A5-3C03-4020-B270-7B5A784511B7}"/>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8" name="Dikdörtgen 7">
            <a:extLst>
              <a:ext uri="{FF2B5EF4-FFF2-40B4-BE49-F238E27FC236}">
                <a16:creationId xmlns:a16="http://schemas.microsoft.com/office/drawing/2014/main" id="{7B561B33-1AFD-4333-9CB9-6A4594A1AAF3}"/>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9" name="Dikdörtgen 8">
            <a:extLst>
              <a:ext uri="{FF2B5EF4-FFF2-40B4-BE49-F238E27FC236}">
                <a16:creationId xmlns:a16="http://schemas.microsoft.com/office/drawing/2014/main" id="{2C3C2E8F-062C-4B03-AA75-691082DC0A29}"/>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0" name="Dikdörtgen 9">
            <a:extLst>
              <a:ext uri="{FF2B5EF4-FFF2-40B4-BE49-F238E27FC236}">
                <a16:creationId xmlns:a16="http://schemas.microsoft.com/office/drawing/2014/main" id="{4DC446D6-3C50-4389-A60C-D71A51F3279B}"/>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r>
              <a:rPr>
                <a:solidFill>
                  <a:srgbClr val="397425"/>
                </a:solidFill>
              </a:rPr>
              <a:t>"Ayşe"</a:t>
            </a:r>
            <a:r>
              <a:t>)</a:t>
            </a:r>
          </a:p>
        </p:txBody>
      </p:sp>
      <p:sp>
        <p:nvSpPr>
          <p:cNvPr id="11" name="Dikdörtgen 10">
            <a:extLst>
              <a:ext uri="{FF2B5EF4-FFF2-40B4-BE49-F238E27FC236}">
                <a16:creationId xmlns:a16="http://schemas.microsoft.com/office/drawing/2014/main" id="{0F9569E6-7F50-4E1E-8BA9-C0DC2413F52A}"/>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println(ogrenci.yas)</a:t>
            </a:r>
          </a:p>
        </p:txBody>
      </p:sp>
      <p:sp>
        <p:nvSpPr>
          <p:cNvPr id="12" name="Dikdörtgen 11">
            <a:extLst>
              <a:ext uri="{FF2B5EF4-FFF2-40B4-BE49-F238E27FC236}">
                <a16:creationId xmlns:a16="http://schemas.microsoft.com/office/drawing/2014/main" id="{5EE91230-75F4-4137-9BB3-9F54B226E4FF}"/>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3" name="Dikdörtgen 12">
            <a:extLst>
              <a:ext uri="{FF2B5EF4-FFF2-40B4-BE49-F238E27FC236}">
                <a16:creationId xmlns:a16="http://schemas.microsoft.com/office/drawing/2014/main" id="{FF1B4DD3-8477-4F1A-868F-53D3F1A8EDC1}"/>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constructor(ad: String)</a:t>
            </a:r>
          </a:p>
        </p:txBody>
      </p:sp>
      <p:sp>
        <p:nvSpPr>
          <p:cNvPr id="14" name="Dikdörtgen 13">
            <a:extLst>
              <a:ext uri="{FF2B5EF4-FFF2-40B4-BE49-F238E27FC236}">
                <a16:creationId xmlns:a16="http://schemas.microsoft.com/office/drawing/2014/main" id="{D74C13EB-5A9F-4D65-8372-AD2CB0EB4AD2}"/>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Yalnız ad alan başka bir oluşturma yolu tanımlar.</a:t>
            </a:r>
          </a:p>
        </p:txBody>
      </p:sp>
      <p:sp>
        <p:nvSpPr>
          <p:cNvPr id="15" name="Dikdörtgen 14">
            <a:extLst>
              <a:ext uri="{FF2B5EF4-FFF2-40B4-BE49-F238E27FC236}">
                <a16:creationId xmlns:a16="http://schemas.microsoft.com/office/drawing/2014/main" id="{710DC384-4026-4489-98CD-8324EA846AFE}"/>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this(ad, 18)</a:t>
            </a:r>
          </a:p>
        </p:txBody>
      </p:sp>
      <p:sp>
        <p:nvSpPr>
          <p:cNvPr id="16" name="Dikdörtgen 15">
            <a:extLst>
              <a:ext uri="{FF2B5EF4-FFF2-40B4-BE49-F238E27FC236}">
                <a16:creationId xmlns:a16="http://schemas.microsoft.com/office/drawing/2014/main" id="{A49B879F-5364-4C02-BDA9-F902A88E5E20}"/>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Adı ve 18 değerini birincil yapılandırıcıya gönderir. Sonuçta yine bir Ogrenci nesnesi oluşur.</a:t>
            </a:r>
          </a:p>
        </p:txBody>
      </p:sp>
      <p:sp>
        <p:nvSpPr>
          <p:cNvPr id="17" name="Dikdörtgen 16">
            <a:extLst>
              <a:ext uri="{FF2B5EF4-FFF2-40B4-BE49-F238E27FC236}">
                <a16:creationId xmlns:a16="http://schemas.microsoft.com/office/drawing/2014/main" id="{E8645B52-55AF-43EA-AF20-B3616CEEEB57}"/>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8" name="Dikdörtgen 17">
            <a:extLst>
              <a:ext uri="{FF2B5EF4-FFF2-40B4-BE49-F238E27FC236}">
                <a16:creationId xmlns:a16="http://schemas.microsoft.com/office/drawing/2014/main" id="{A4E4BDEB-07DF-4EA8-9175-F3E90DDB3205}"/>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18</a:t>
            </a:r>
          </a:p>
        </p:txBody>
      </p:sp>
      <p:sp>
        <p:nvSpPr>
          <p:cNvPr id="19" name="Dikdörtgen 18">
            <a:extLst>
              <a:ext uri="{FF2B5EF4-FFF2-40B4-BE49-F238E27FC236}">
                <a16:creationId xmlns:a16="http://schemas.microsoft.com/office/drawing/2014/main" id="{F455F525-A65C-42E2-BFF2-5681C40C4D1C}"/>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17 / 35</a:t>
            </a:r>
          </a:p>
        </p:txBody>
      </p:sp>
    </p:spTree>
    <p:extLst>
      <p:ext uri="{BB962C8B-B14F-4D97-AF65-F5344CB8AC3E}">
        <p14:creationId xmlns:p14="http://schemas.microsoft.com/office/powerpoint/2010/main" val="1743380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1" name="Dikdörtgen 10">
            <a:extLst>
              <a:ext uri="{FF2B5EF4-FFF2-40B4-BE49-F238E27FC236}">
                <a16:creationId xmlns:a16="http://schemas.microsoft.com/office/drawing/2014/main" id="{54C87D3B-8D80-4543-AB64-3ADDDAA77BFE}"/>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F9150ED6-D2C6-499C-A293-6FC3BEA3DA47}"/>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Kapsülleme nedir?</a:t>
            </a:r>
          </a:p>
        </p:txBody>
      </p:sp>
      <p:sp>
        <p:nvSpPr>
          <p:cNvPr id="3" name="Dikdörtgen 2">
            <a:extLst>
              <a:ext uri="{FF2B5EF4-FFF2-40B4-BE49-F238E27FC236}">
                <a16:creationId xmlns:a16="http://schemas.microsoft.com/office/drawing/2014/main" id="{42FDCA68-C6BC-43AF-8AE5-A122FEFBD317}"/>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Kapsülleme, nesnenin bilgisinin nasıl değiştirileceğini nesnenin kendi kurallarıyla yönetmesidir.</a:t>
            </a:r>
          </a:p>
        </p:txBody>
      </p:sp>
      <p:sp>
        <p:nvSpPr>
          <p:cNvPr id="4" name="Dikdörtgen 3">
            <a:extLst>
              <a:ext uri="{FF2B5EF4-FFF2-40B4-BE49-F238E27FC236}">
                <a16:creationId xmlns:a16="http://schemas.microsoft.com/office/drawing/2014/main" id="{A339D455-BDEF-45B9-ACC4-1F16FD73170B}"/>
              </a:ext>
            </a:extLst>
          </p:cNvPr>
          <p:cNvSpPr>
            <a:spLocks noGrp="1"/>
          </p:cNvSpPr>
          <p:nvPr/>
        </p:nvSpPr>
        <p:spPr>
          <a:xfrm>
            <a:off x="742950" y="310515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Problem</a:t>
            </a:r>
          </a:p>
        </p:txBody>
      </p:sp>
      <p:sp>
        <p:nvSpPr>
          <p:cNvPr id="5" name="Dikdörtgen 4">
            <a:extLst>
              <a:ext uri="{FF2B5EF4-FFF2-40B4-BE49-F238E27FC236}">
                <a16:creationId xmlns:a16="http://schemas.microsoft.com/office/drawing/2014/main" id="{CA834233-86C3-4AD4-9522-CF3089E5CDA8}"/>
              </a:ext>
            </a:extLst>
          </p:cNvPr>
          <p:cNvSpPr>
            <a:spLocks noGrp="1"/>
          </p:cNvSpPr>
          <p:nvPr/>
        </p:nvSpPr>
        <p:spPr>
          <a:xfrm>
            <a:off x="4552950" y="310515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Öğrenci puanına dışarıdan -20 veya 150 gibi geçersiz değerler atanabilir.</a:t>
            </a:r>
          </a:p>
        </p:txBody>
      </p:sp>
      <p:sp>
        <p:nvSpPr>
          <p:cNvPr id="6" name="Dikdörtgen 5">
            <a:extLst>
              <a:ext uri="{FF2B5EF4-FFF2-40B4-BE49-F238E27FC236}">
                <a16:creationId xmlns:a16="http://schemas.microsoft.com/office/drawing/2014/main" id="{0695BA79-3254-4B0C-A1D5-F1D49890E711}"/>
              </a:ext>
            </a:extLst>
          </p:cNvPr>
          <p:cNvSpPr>
            <a:spLocks noGrp="1"/>
          </p:cNvSpPr>
          <p:nvPr/>
        </p:nvSpPr>
        <p:spPr>
          <a:xfrm>
            <a:off x="742950" y="4600575"/>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İstediğimiz kural</a:t>
            </a:r>
          </a:p>
        </p:txBody>
      </p:sp>
      <p:sp>
        <p:nvSpPr>
          <p:cNvPr id="7" name="Dikdörtgen 6">
            <a:extLst>
              <a:ext uri="{FF2B5EF4-FFF2-40B4-BE49-F238E27FC236}">
                <a16:creationId xmlns:a16="http://schemas.microsoft.com/office/drawing/2014/main" id="{932D9A5A-CD33-4785-92DF-E66429B16245}"/>
              </a:ext>
            </a:extLst>
          </p:cNvPr>
          <p:cNvSpPr>
            <a:spLocks noGrp="1"/>
          </p:cNvSpPr>
          <p:nvPr/>
        </p:nvSpPr>
        <p:spPr>
          <a:xfrm>
            <a:off x="4552950" y="4600575"/>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Puan yalnız 0 ile 100 arasında olsun.</a:t>
            </a:r>
          </a:p>
        </p:txBody>
      </p:sp>
      <p:sp>
        <p:nvSpPr>
          <p:cNvPr id="8" name="Dikdörtgen 7">
            <a:extLst>
              <a:ext uri="{FF2B5EF4-FFF2-40B4-BE49-F238E27FC236}">
                <a16:creationId xmlns:a16="http://schemas.microsoft.com/office/drawing/2014/main" id="{D7CD227C-E17F-497A-85AC-4C8907777226}"/>
              </a:ext>
            </a:extLst>
          </p:cNvPr>
          <p:cNvSpPr>
            <a:spLocks noGrp="1"/>
          </p:cNvSpPr>
          <p:nvPr/>
        </p:nvSpPr>
        <p:spPr>
          <a:xfrm>
            <a:off x="742950" y="609600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Yaklaşım</a:t>
            </a:r>
          </a:p>
        </p:txBody>
      </p:sp>
      <p:sp>
        <p:nvSpPr>
          <p:cNvPr id="9" name="Dikdörtgen 8">
            <a:extLst>
              <a:ext uri="{FF2B5EF4-FFF2-40B4-BE49-F238E27FC236}">
                <a16:creationId xmlns:a16="http://schemas.microsoft.com/office/drawing/2014/main" id="{CFDD1F7A-3100-42ED-8EE2-294F8C897A38}"/>
              </a:ext>
            </a:extLst>
          </p:cNvPr>
          <p:cNvSpPr>
            <a:spLocks noGrp="1"/>
          </p:cNvSpPr>
          <p:nvPr/>
        </p:nvSpPr>
        <p:spPr>
          <a:xfrm>
            <a:off x="4552950" y="609600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Puanı doğrudan değiştirmeyi kapatır, kontrollü bir fonksiyon sunarız.</a:t>
            </a:r>
          </a:p>
        </p:txBody>
      </p:sp>
      <p:sp>
        <p:nvSpPr>
          <p:cNvPr id="10" name="Dikdörtgen 9">
            <a:extLst>
              <a:ext uri="{FF2B5EF4-FFF2-40B4-BE49-F238E27FC236}">
                <a16:creationId xmlns:a16="http://schemas.microsoft.com/office/drawing/2014/main" id="{5A63B8C9-37D6-4B01-BC8C-A66602137C0A}"/>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18 / 35</a:t>
            </a:r>
          </a:p>
        </p:txBody>
      </p:sp>
    </p:spTree>
    <p:extLst>
      <p:ext uri="{BB962C8B-B14F-4D97-AF65-F5344CB8AC3E}">
        <p14:creationId xmlns:p14="http://schemas.microsoft.com/office/powerpoint/2010/main" val="945706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0" name="Dikdörtgen 19">
            <a:extLst>
              <a:ext uri="{FF2B5EF4-FFF2-40B4-BE49-F238E27FC236}">
                <a16:creationId xmlns:a16="http://schemas.microsoft.com/office/drawing/2014/main" id="{268F9B1D-1826-48D6-B334-6A7DAE60BF8A}"/>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73A2247E-383F-498E-AAA1-681A545124FB}"/>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private: bilgiyi sınıf içinde tutmak</a:t>
            </a:r>
          </a:p>
        </p:txBody>
      </p:sp>
      <p:sp>
        <p:nvSpPr>
          <p:cNvPr id="3" name="Dikdörtgen 2">
            <a:extLst>
              <a:ext uri="{FF2B5EF4-FFF2-40B4-BE49-F238E27FC236}">
                <a16:creationId xmlns:a16="http://schemas.microsoft.com/office/drawing/2014/main" id="{85461F58-65D5-458D-8B2A-236390C0C14E}"/>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private bir özellik, dışarıdaki kod tarafından doğrudan okunamaz veya değiştirilemez.</a:t>
            </a:r>
          </a:p>
        </p:txBody>
      </p:sp>
      <p:sp>
        <p:nvSpPr>
          <p:cNvPr id="4" name="Dikdörtgen 3">
            <a:extLst>
              <a:ext uri="{FF2B5EF4-FFF2-40B4-BE49-F238E27FC236}">
                <a16:creationId xmlns:a16="http://schemas.microsoft.com/office/drawing/2014/main" id="{FB560163-69BB-4306-A09A-4289D08F629B}"/>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D6F89700-72DF-45E4-8862-CD8E2C65034B}"/>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 {</a:t>
            </a:r>
          </a:p>
        </p:txBody>
      </p:sp>
      <p:sp>
        <p:nvSpPr>
          <p:cNvPr id="6" name="Dikdörtgen 5">
            <a:extLst>
              <a:ext uri="{FF2B5EF4-FFF2-40B4-BE49-F238E27FC236}">
                <a16:creationId xmlns:a16="http://schemas.microsoft.com/office/drawing/2014/main" id="{9C16666C-1033-4776-9276-B19607E5AA89}"/>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private</a:t>
            </a:r>
            <a:r>
              <a:t> </a:t>
            </a:r>
            <a:r>
              <a:rPr>
                <a:solidFill>
                  <a:srgbClr val="6941A5"/>
                </a:solidFill>
              </a:rPr>
              <a:t>var</a:t>
            </a:r>
            <a:r>
              <a:t> puan = </a:t>
            </a:r>
            <a:r>
              <a:rPr>
                <a:solidFill>
                  <a:srgbClr val="A45110"/>
                </a:solidFill>
              </a:rPr>
              <a:t>50</a:t>
            </a:r>
          </a:p>
        </p:txBody>
      </p:sp>
      <p:sp>
        <p:nvSpPr>
          <p:cNvPr id="7" name="Dikdörtgen 6">
            <a:extLst>
              <a:ext uri="{FF2B5EF4-FFF2-40B4-BE49-F238E27FC236}">
                <a16:creationId xmlns:a16="http://schemas.microsoft.com/office/drawing/2014/main" id="{38246EA8-E8C4-436F-BEEA-AEFE882A54E2}"/>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8" name="Dikdörtgen 7">
            <a:extLst>
              <a:ext uri="{FF2B5EF4-FFF2-40B4-BE49-F238E27FC236}">
                <a16:creationId xmlns:a16="http://schemas.microsoft.com/office/drawing/2014/main" id="{C616564E-5E91-473D-95DD-649412D907A3}"/>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9" name="Dikdörtgen 8">
            <a:extLst>
              <a:ext uri="{FF2B5EF4-FFF2-40B4-BE49-F238E27FC236}">
                <a16:creationId xmlns:a16="http://schemas.microsoft.com/office/drawing/2014/main" id="{BCB118A3-11CD-4C62-A599-638D54BFE70E}"/>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0" name="Dikdörtgen 9">
            <a:extLst>
              <a:ext uri="{FF2B5EF4-FFF2-40B4-BE49-F238E27FC236}">
                <a16:creationId xmlns:a16="http://schemas.microsoft.com/office/drawing/2014/main" id="{51E9F2B8-3A41-43D0-BF79-3B2DE14C7BFE}"/>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p>
        </p:txBody>
      </p:sp>
      <p:sp>
        <p:nvSpPr>
          <p:cNvPr id="11" name="Dikdörtgen 10">
            <a:extLst>
              <a:ext uri="{FF2B5EF4-FFF2-40B4-BE49-F238E27FC236}">
                <a16:creationId xmlns:a16="http://schemas.microsoft.com/office/drawing/2014/main" id="{1285694E-E957-481C-9E53-379AD6B8F0F6}"/>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67985"/>
                </a:solidFill>
              </a:rPr>
              <a:t>// println(ogrenci.puan) yazılamaz.</a:t>
            </a:r>
          </a:p>
        </p:txBody>
      </p:sp>
      <p:sp>
        <p:nvSpPr>
          <p:cNvPr id="12" name="Dikdörtgen 11">
            <a:extLst>
              <a:ext uri="{FF2B5EF4-FFF2-40B4-BE49-F238E27FC236}">
                <a16:creationId xmlns:a16="http://schemas.microsoft.com/office/drawing/2014/main" id="{FF3F35D6-69B5-4C19-906A-D2E894A3EF71}"/>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3" name="Dikdörtgen 12">
            <a:extLst>
              <a:ext uri="{FF2B5EF4-FFF2-40B4-BE49-F238E27FC236}">
                <a16:creationId xmlns:a16="http://schemas.microsoft.com/office/drawing/2014/main" id="{916DC4FB-18CC-4098-96CD-A343B88F637A}"/>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private var puan</a:t>
            </a:r>
          </a:p>
        </p:txBody>
      </p:sp>
      <p:sp>
        <p:nvSpPr>
          <p:cNvPr id="14" name="Dikdörtgen 13">
            <a:extLst>
              <a:ext uri="{FF2B5EF4-FFF2-40B4-BE49-F238E27FC236}">
                <a16:creationId xmlns:a16="http://schemas.microsoft.com/office/drawing/2014/main" id="{F6C4C7DF-4DA8-4EB4-8753-553C9FACBB27}"/>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puan yalnız bu sınıfın içinden erişilebilir.</a:t>
            </a:r>
          </a:p>
        </p:txBody>
      </p:sp>
      <p:sp>
        <p:nvSpPr>
          <p:cNvPr id="15" name="Dikdörtgen 14">
            <a:extLst>
              <a:ext uri="{FF2B5EF4-FFF2-40B4-BE49-F238E27FC236}">
                <a16:creationId xmlns:a16="http://schemas.microsoft.com/office/drawing/2014/main" id="{E9AFBEAB-A8F3-45DA-AC25-2D03F12AEC03}"/>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Yorum satırı</a:t>
            </a:r>
          </a:p>
        </p:txBody>
      </p:sp>
      <p:sp>
        <p:nvSpPr>
          <p:cNvPr id="16" name="Dikdörtgen 15">
            <a:extLst>
              <a:ext uri="{FF2B5EF4-FFF2-40B4-BE49-F238E27FC236}">
                <a16:creationId xmlns:a16="http://schemas.microsoft.com/office/drawing/2014/main" id="{D51F05B7-63EF-45CD-A6BD-B65240631B51}"/>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 ile başlayan örnek çalışmaz. Yorumu kaldırıp özelliğe erişmeye çalışırsak derleme hatası olur.</a:t>
            </a:r>
          </a:p>
        </p:txBody>
      </p:sp>
      <p:sp>
        <p:nvSpPr>
          <p:cNvPr id="17" name="Dikdörtgen 16">
            <a:extLst>
              <a:ext uri="{FF2B5EF4-FFF2-40B4-BE49-F238E27FC236}">
                <a16:creationId xmlns:a16="http://schemas.microsoft.com/office/drawing/2014/main" id="{8410D96E-2F18-47AE-A04A-A6D3DBB11602}"/>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8" name="Dikdörtgen 17">
            <a:extLst>
              <a:ext uri="{FF2B5EF4-FFF2-40B4-BE49-F238E27FC236}">
                <a16:creationId xmlns:a16="http://schemas.microsoft.com/office/drawing/2014/main" id="{2EF1F8B6-D63A-485A-994B-7507CFE3066A}"/>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Nesne oluşur. puan dışarıdan erişilemez.</a:t>
            </a:r>
          </a:p>
        </p:txBody>
      </p:sp>
      <p:sp>
        <p:nvSpPr>
          <p:cNvPr id="19" name="Dikdörtgen 18">
            <a:extLst>
              <a:ext uri="{FF2B5EF4-FFF2-40B4-BE49-F238E27FC236}">
                <a16:creationId xmlns:a16="http://schemas.microsoft.com/office/drawing/2014/main" id="{4C43A2C1-958A-478C-985E-B45231EDCB8E}"/>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19 / 35</a:t>
            </a:r>
          </a:p>
        </p:txBody>
      </p:sp>
    </p:spTree>
    <p:extLst>
      <p:ext uri="{BB962C8B-B14F-4D97-AF65-F5344CB8AC3E}">
        <p14:creationId xmlns:p14="http://schemas.microsoft.com/office/powerpoint/2010/main" val="159067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3" name="Dikdörtgen 22">
            <a:extLst>
              <a:ext uri="{FF2B5EF4-FFF2-40B4-BE49-F238E27FC236}">
                <a16:creationId xmlns:a16="http://schemas.microsoft.com/office/drawing/2014/main" id="{5DFE6375-AA46-4EE7-B1EF-12C28062F722}"/>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2963683E-A5CA-4894-BBEC-677BD8C496FF}"/>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private bilgiye fonksiyonla erişmek</a:t>
            </a:r>
          </a:p>
        </p:txBody>
      </p:sp>
      <p:sp>
        <p:nvSpPr>
          <p:cNvPr id="3" name="Dikdörtgen 2">
            <a:extLst>
              <a:ext uri="{FF2B5EF4-FFF2-40B4-BE49-F238E27FC236}">
                <a16:creationId xmlns:a16="http://schemas.microsoft.com/office/drawing/2014/main" id="{B7A7EB8D-3543-43B8-A380-8D49BB129D50}"/>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Sınıf kendi private özelliğini kullanabilir ve dışarıya seçtiği işlemleri sunabilir.</a:t>
            </a:r>
          </a:p>
        </p:txBody>
      </p:sp>
      <p:sp>
        <p:nvSpPr>
          <p:cNvPr id="4" name="Dikdörtgen 3">
            <a:extLst>
              <a:ext uri="{FF2B5EF4-FFF2-40B4-BE49-F238E27FC236}">
                <a16:creationId xmlns:a16="http://schemas.microsoft.com/office/drawing/2014/main" id="{BBC98EDA-4045-4185-9351-B1EA73A43158}"/>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ABA24D6C-244C-47B8-B0FB-3F27D866FF47}"/>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 {</a:t>
            </a:r>
          </a:p>
        </p:txBody>
      </p:sp>
      <p:sp>
        <p:nvSpPr>
          <p:cNvPr id="6" name="Dikdörtgen 5">
            <a:extLst>
              <a:ext uri="{FF2B5EF4-FFF2-40B4-BE49-F238E27FC236}">
                <a16:creationId xmlns:a16="http://schemas.microsoft.com/office/drawing/2014/main" id="{7750F097-027F-4B9E-B282-AACDA64ACE10}"/>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private</a:t>
            </a:r>
            <a:r>
              <a:t> </a:t>
            </a:r>
            <a:r>
              <a:rPr>
                <a:solidFill>
                  <a:srgbClr val="6941A5"/>
                </a:solidFill>
              </a:rPr>
              <a:t>var</a:t>
            </a:r>
            <a:r>
              <a:t> puan = </a:t>
            </a:r>
            <a:r>
              <a:rPr>
                <a:solidFill>
                  <a:srgbClr val="A45110"/>
                </a:solidFill>
              </a:rPr>
              <a:t>50</a:t>
            </a:r>
          </a:p>
        </p:txBody>
      </p:sp>
      <p:sp>
        <p:nvSpPr>
          <p:cNvPr id="7" name="Dikdörtgen 6">
            <a:extLst>
              <a:ext uri="{FF2B5EF4-FFF2-40B4-BE49-F238E27FC236}">
                <a16:creationId xmlns:a16="http://schemas.microsoft.com/office/drawing/2014/main" id="{985FFABC-B076-4762-92F7-92A47140D14E}"/>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fun</a:t>
            </a:r>
            <a:r>
              <a:t> puaniOku(): Int {</a:t>
            </a:r>
          </a:p>
        </p:txBody>
      </p:sp>
      <p:sp>
        <p:nvSpPr>
          <p:cNvPr id="8" name="Dikdörtgen 7">
            <a:extLst>
              <a:ext uri="{FF2B5EF4-FFF2-40B4-BE49-F238E27FC236}">
                <a16:creationId xmlns:a16="http://schemas.microsoft.com/office/drawing/2014/main" id="{E733E0F7-D928-42D3-89BE-73F3101E75E9}"/>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return</a:t>
            </a:r>
            <a:r>
              <a:t> puan</a:t>
            </a:r>
          </a:p>
        </p:txBody>
      </p:sp>
      <p:sp>
        <p:nvSpPr>
          <p:cNvPr id="9" name="Dikdörtgen 8">
            <a:extLst>
              <a:ext uri="{FF2B5EF4-FFF2-40B4-BE49-F238E27FC236}">
                <a16:creationId xmlns:a16="http://schemas.microsoft.com/office/drawing/2014/main" id="{253F395D-E941-4518-AC99-A4F532981B78}"/>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0" name="Dikdörtgen 9">
            <a:extLst>
              <a:ext uri="{FF2B5EF4-FFF2-40B4-BE49-F238E27FC236}">
                <a16:creationId xmlns:a16="http://schemas.microsoft.com/office/drawing/2014/main" id="{1CA8F9DD-96AC-4D62-9E06-E3E8EC6713BB}"/>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1" name="Dikdörtgen 10">
            <a:extLst>
              <a:ext uri="{FF2B5EF4-FFF2-40B4-BE49-F238E27FC236}">
                <a16:creationId xmlns:a16="http://schemas.microsoft.com/office/drawing/2014/main" id="{051A056C-B14E-4D0B-A312-7FEDE6AED5AE}"/>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2" name="Dikdörtgen 11">
            <a:extLst>
              <a:ext uri="{FF2B5EF4-FFF2-40B4-BE49-F238E27FC236}">
                <a16:creationId xmlns:a16="http://schemas.microsoft.com/office/drawing/2014/main" id="{1D02FD9D-B737-4307-927B-A043B2F210C5}"/>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3" name="Dikdörtgen 12">
            <a:extLst>
              <a:ext uri="{FF2B5EF4-FFF2-40B4-BE49-F238E27FC236}">
                <a16:creationId xmlns:a16="http://schemas.microsoft.com/office/drawing/2014/main" id="{B7A2D5CC-DAA7-401A-952E-758F1476F064}"/>
              </a:ext>
            </a:extLst>
          </p:cNvPr>
          <p:cNvSpPr>
            <a:spLocks noGrp="1"/>
          </p:cNvSpPr>
          <p:nvPr/>
        </p:nvSpPr>
        <p:spPr>
          <a:xfrm>
            <a:off x="742950" y="56483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p>
        </p:txBody>
      </p:sp>
      <p:sp>
        <p:nvSpPr>
          <p:cNvPr id="14" name="Dikdörtgen 13">
            <a:extLst>
              <a:ext uri="{FF2B5EF4-FFF2-40B4-BE49-F238E27FC236}">
                <a16:creationId xmlns:a16="http://schemas.microsoft.com/office/drawing/2014/main" id="{ABD0EF62-5E3A-4D6A-84D4-5F81A77AEA52}"/>
              </a:ext>
            </a:extLst>
          </p:cNvPr>
          <p:cNvSpPr>
            <a:spLocks noGrp="1"/>
          </p:cNvSpPr>
          <p:nvPr/>
        </p:nvSpPr>
        <p:spPr>
          <a:xfrm>
            <a:off x="742950" y="59721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println(ogrenci.puaniOku())</a:t>
            </a:r>
          </a:p>
        </p:txBody>
      </p:sp>
      <p:sp>
        <p:nvSpPr>
          <p:cNvPr id="15" name="Dikdörtgen 14">
            <a:extLst>
              <a:ext uri="{FF2B5EF4-FFF2-40B4-BE49-F238E27FC236}">
                <a16:creationId xmlns:a16="http://schemas.microsoft.com/office/drawing/2014/main" id="{99C0A63A-44D5-4991-9099-3524A015BE96}"/>
              </a:ext>
            </a:extLst>
          </p:cNvPr>
          <p:cNvSpPr>
            <a:spLocks noGrp="1"/>
          </p:cNvSpPr>
          <p:nvPr/>
        </p:nvSpPr>
        <p:spPr>
          <a:xfrm>
            <a:off x="742950" y="62960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6" name="Dikdörtgen 15">
            <a:extLst>
              <a:ext uri="{FF2B5EF4-FFF2-40B4-BE49-F238E27FC236}">
                <a16:creationId xmlns:a16="http://schemas.microsoft.com/office/drawing/2014/main" id="{134F7EF6-A55F-462A-AAF5-C9C410E8229B}"/>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Sınıfın içinde</a:t>
            </a:r>
          </a:p>
        </p:txBody>
      </p:sp>
      <p:sp>
        <p:nvSpPr>
          <p:cNvPr id="17" name="Dikdörtgen 16">
            <a:extLst>
              <a:ext uri="{FF2B5EF4-FFF2-40B4-BE49-F238E27FC236}">
                <a16:creationId xmlns:a16="http://schemas.microsoft.com/office/drawing/2014/main" id="{813BFF61-CF8D-45C5-8EB6-44E32DC308BE}"/>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puaniOku fonksiyonu private puan özelliğini okuyabilir.</a:t>
            </a:r>
          </a:p>
        </p:txBody>
      </p:sp>
      <p:sp>
        <p:nvSpPr>
          <p:cNvPr id="18" name="Dikdörtgen 17">
            <a:extLst>
              <a:ext uri="{FF2B5EF4-FFF2-40B4-BE49-F238E27FC236}">
                <a16:creationId xmlns:a16="http://schemas.microsoft.com/office/drawing/2014/main" id="{2AAE7025-B7A8-4FFF-ACCF-50E4E1693C74}"/>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Sınıfın dışında</a:t>
            </a:r>
          </a:p>
        </p:txBody>
      </p:sp>
      <p:sp>
        <p:nvSpPr>
          <p:cNvPr id="19" name="Dikdörtgen 18">
            <a:extLst>
              <a:ext uri="{FF2B5EF4-FFF2-40B4-BE49-F238E27FC236}">
                <a16:creationId xmlns:a16="http://schemas.microsoft.com/office/drawing/2014/main" id="{A5995900-ED16-4DE5-8020-84E9ECD2F29A}"/>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main, puana doğrudan ulaşmaz. İzin verilen puaniOku() fonksiyonunu çağırır.</a:t>
            </a:r>
          </a:p>
        </p:txBody>
      </p:sp>
      <p:sp>
        <p:nvSpPr>
          <p:cNvPr id="20" name="Dikdörtgen 19">
            <a:extLst>
              <a:ext uri="{FF2B5EF4-FFF2-40B4-BE49-F238E27FC236}">
                <a16:creationId xmlns:a16="http://schemas.microsoft.com/office/drawing/2014/main" id="{02B29A18-F76D-474D-A18A-761B4044C9F8}"/>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1" name="Dikdörtgen 20">
            <a:extLst>
              <a:ext uri="{FF2B5EF4-FFF2-40B4-BE49-F238E27FC236}">
                <a16:creationId xmlns:a16="http://schemas.microsoft.com/office/drawing/2014/main" id="{70D86466-A44B-49EE-AD87-FE321F623A8D}"/>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50</a:t>
            </a:r>
          </a:p>
        </p:txBody>
      </p:sp>
      <p:sp>
        <p:nvSpPr>
          <p:cNvPr id="22" name="Dikdörtgen 21">
            <a:extLst>
              <a:ext uri="{FF2B5EF4-FFF2-40B4-BE49-F238E27FC236}">
                <a16:creationId xmlns:a16="http://schemas.microsoft.com/office/drawing/2014/main" id="{13C6F8A5-B67D-4D1A-B2F9-DEA6C9332B54}"/>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20 / 35</a:t>
            </a:r>
          </a:p>
        </p:txBody>
      </p:sp>
    </p:spTree>
    <p:extLst>
      <p:ext uri="{BB962C8B-B14F-4D97-AF65-F5344CB8AC3E}">
        <p14:creationId xmlns:p14="http://schemas.microsoft.com/office/powerpoint/2010/main" val="930711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5" name="Dikdörtgen 24">
            <a:extLst>
              <a:ext uri="{FF2B5EF4-FFF2-40B4-BE49-F238E27FC236}">
                <a16:creationId xmlns:a16="http://schemas.microsoft.com/office/drawing/2014/main" id="{FE9AC9A1-EF09-4FDF-A60F-9941E545976C}"/>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46502B41-D7C4-4EA5-B294-87DC52462176}"/>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Değişimi bir kuralla sınırlamak</a:t>
            </a:r>
          </a:p>
        </p:txBody>
      </p:sp>
      <p:sp>
        <p:nvSpPr>
          <p:cNvPr id="3" name="Dikdörtgen 2">
            <a:extLst>
              <a:ext uri="{FF2B5EF4-FFF2-40B4-BE49-F238E27FC236}">
                <a16:creationId xmlns:a16="http://schemas.microsoft.com/office/drawing/2014/main" id="{CFF3C04B-2325-4238-B338-0C7CC7AC1434}"/>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Puan güncellemesini fonksiyondan geçirerek geçersiz değerlerin nesneye girmesini engelleriz.</a:t>
            </a:r>
          </a:p>
        </p:txBody>
      </p:sp>
      <p:sp>
        <p:nvSpPr>
          <p:cNvPr id="4" name="Dikdörtgen 3">
            <a:extLst>
              <a:ext uri="{FF2B5EF4-FFF2-40B4-BE49-F238E27FC236}">
                <a16:creationId xmlns:a16="http://schemas.microsoft.com/office/drawing/2014/main" id="{F34BF2A3-2D33-457F-A852-424A2A287028}"/>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832DF288-C9BF-47EA-82A0-5198B6C50F6D}"/>
              </a:ext>
            </a:extLst>
          </p:cNvPr>
          <p:cNvSpPr>
            <a:spLocks noGrp="1"/>
          </p:cNvSpPr>
          <p:nvPr/>
        </p:nvSpPr>
        <p:spPr>
          <a:xfrm>
            <a:off x="742950" y="305752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Ogrenci {</a:t>
            </a:r>
          </a:p>
        </p:txBody>
      </p:sp>
      <p:sp>
        <p:nvSpPr>
          <p:cNvPr id="6" name="Dikdörtgen 5">
            <a:extLst>
              <a:ext uri="{FF2B5EF4-FFF2-40B4-BE49-F238E27FC236}">
                <a16:creationId xmlns:a16="http://schemas.microsoft.com/office/drawing/2014/main" id="{7E36B3A1-8E4B-461B-9DAB-C1EBDE3F6224}"/>
              </a:ext>
            </a:extLst>
          </p:cNvPr>
          <p:cNvSpPr>
            <a:spLocks noGrp="1"/>
          </p:cNvSpPr>
          <p:nvPr/>
        </p:nvSpPr>
        <p:spPr>
          <a:xfrm>
            <a:off x="742950" y="335280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private</a:t>
            </a:r>
            <a:r>
              <a:t> </a:t>
            </a:r>
            <a:r>
              <a:rPr>
                <a:solidFill>
                  <a:srgbClr val="6941A5"/>
                </a:solidFill>
              </a:rPr>
              <a:t>var</a:t>
            </a:r>
            <a:r>
              <a:t> puan = </a:t>
            </a:r>
            <a:r>
              <a:rPr>
                <a:solidFill>
                  <a:srgbClr val="A45110"/>
                </a:solidFill>
              </a:rPr>
              <a:t>50</a:t>
            </a:r>
          </a:p>
        </p:txBody>
      </p:sp>
      <p:sp>
        <p:nvSpPr>
          <p:cNvPr id="7" name="Dikdörtgen 6">
            <a:extLst>
              <a:ext uri="{FF2B5EF4-FFF2-40B4-BE49-F238E27FC236}">
                <a16:creationId xmlns:a16="http://schemas.microsoft.com/office/drawing/2014/main" id="{C621D5E1-19AD-4388-9588-E3E9CDD7C2E0}"/>
              </a:ext>
            </a:extLst>
          </p:cNvPr>
          <p:cNvSpPr>
            <a:spLocks noGrp="1"/>
          </p:cNvSpPr>
          <p:nvPr/>
        </p:nvSpPr>
        <p:spPr>
          <a:xfrm>
            <a:off x="742950" y="364807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fun</a:t>
            </a:r>
            <a:r>
              <a:t> puanVer(yeni: Int) {</a:t>
            </a:r>
          </a:p>
        </p:txBody>
      </p:sp>
      <p:sp>
        <p:nvSpPr>
          <p:cNvPr id="8" name="Dikdörtgen 7">
            <a:extLst>
              <a:ext uri="{FF2B5EF4-FFF2-40B4-BE49-F238E27FC236}">
                <a16:creationId xmlns:a16="http://schemas.microsoft.com/office/drawing/2014/main" id="{62D7FC4D-8D2A-4036-ACFF-8E2847ABE8E0}"/>
              </a:ext>
            </a:extLst>
          </p:cNvPr>
          <p:cNvSpPr>
            <a:spLocks noGrp="1"/>
          </p:cNvSpPr>
          <p:nvPr/>
        </p:nvSpPr>
        <p:spPr>
          <a:xfrm>
            <a:off x="742950" y="394335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if</a:t>
            </a:r>
            <a:r>
              <a:t> (yeni </a:t>
            </a:r>
            <a:r>
              <a:rPr>
                <a:solidFill>
                  <a:srgbClr val="6941A5"/>
                </a:solidFill>
              </a:rPr>
              <a:t>in</a:t>
            </a:r>
            <a:r>
              <a:t> </a:t>
            </a:r>
            <a:r>
              <a:rPr>
                <a:solidFill>
                  <a:srgbClr val="A45110"/>
                </a:solidFill>
              </a:rPr>
              <a:t>0</a:t>
            </a:r>
            <a:r>
              <a:t>..</a:t>
            </a:r>
            <a:r>
              <a:rPr>
                <a:solidFill>
                  <a:srgbClr val="A45110"/>
                </a:solidFill>
              </a:rPr>
              <a:t>100</a:t>
            </a:r>
            <a:r>
              <a:t>) puan = yeni</a:t>
            </a:r>
          </a:p>
        </p:txBody>
      </p:sp>
      <p:sp>
        <p:nvSpPr>
          <p:cNvPr id="9" name="Dikdörtgen 8">
            <a:extLst>
              <a:ext uri="{FF2B5EF4-FFF2-40B4-BE49-F238E27FC236}">
                <a16:creationId xmlns:a16="http://schemas.microsoft.com/office/drawing/2014/main" id="{D7D28E05-A2C4-485F-8815-39F6292BE3F5}"/>
              </a:ext>
            </a:extLst>
          </p:cNvPr>
          <p:cNvSpPr>
            <a:spLocks noGrp="1"/>
          </p:cNvSpPr>
          <p:nvPr/>
        </p:nvSpPr>
        <p:spPr>
          <a:xfrm>
            <a:off x="742950" y="423862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0" name="Dikdörtgen 9">
            <a:extLst>
              <a:ext uri="{FF2B5EF4-FFF2-40B4-BE49-F238E27FC236}">
                <a16:creationId xmlns:a16="http://schemas.microsoft.com/office/drawing/2014/main" id="{FFF30255-0D7C-4C48-A005-57B5B0FDAF0A}"/>
              </a:ext>
            </a:extLst>
          </p:cNvPr>
          <p:cNvSpPr>
            <a:spLocks noGrp="1"/>
          </p:cNvSpPr>
          <p:nvPr/>
        </p:nvSpPr>
        <p:spPr>
          <a:xfrm>
            <a:off x="742950" y="453390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fun</a:t>
            </a:r>
            <a:r>
              <a:t> puaniOku(): Int = puan</a:t>
            </a:r>
          </a:p>
        </p:txBody>
      </p:sp>
      <p:sp>
        <p:nvSpPr>
          <p:cNvPr id="11" name="Dikdörtgen 10">
            <a:extLst>
              <a:ext uri="{FF2B5EF4-FFF2-40B4-BE49-F238E27FC236}">
                <a16:creationId xmlns:a16="http://schemas.microsoft.com/office/drawing/2014/main" id="{77455F31-FCA6-46C1-85CB-F48C2A29A35B}"/>
              </a:ext>
            </a:extLst>
          </p:cNvPr>
          <p:cNvSpPr>
            <a:spLocks noGrp="1"/>
          </p:cNvSpPr>
          <p:nvPr/>
        </p:nvSpPr>
        <p:spPr>
          <a:xfrm>
            <a:off x="742950" y="482917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2" name="Dikdörtgen 11">
            <a:extLst>
              <a:ext uri="{FF2B5EF4-FFF2-40B4-BE49-F238E27FC236}">
                <a16:creationId xmlns:a16="http://schemas.microsoft.com/office/drawing/2014/main" id="{D6465E1C-9338-4C43-B849-2E79072628D2}"/>
              </a:ext>
            </a:extLst>
          </p:cNvPr>
          <p:cNvSpPr>
            <a:spLocks noGrp="1"/>
          </p:cNvSpPr>
          <p:nvPr/>
        </p:nvSpPr>
        <p:spPr>
          <a:xfrm>
            <a:off x="742950" y="512445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3" name="Dikdörtgen 12">
            <a:extLst>
              <a:ext uri="{FF2B5EF4-FFF2-40B4-BE49-F238E27FC236}">
                <a16:creationId xmlns:a16="http://schemas.microsoft.com/office/drawing/2014/main" id="{35F30D6A-AAEF-4C1B-9B49-585F7636F9F8}"/>
              </a:ext>
            </a:extLst>
          </p:cNvPr>
          <p:cNvSpPr>
            <a:spLocks noGrp="1"/>
          </p:cNvSpPr>
          <p:nvPr/>
        </p:nvSpPr>
        <p:spPr>
          <a:xfrm>
            <a:off x="742950" y="541972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4" name="Dikdörtgen 13">
            <a:extLst>
              <a:ext uri="{FF2B5EF4-FFF2-40B4-BE49-F238E27FC236}">
                <a16:creationId xmlns:a16="http://schemas.microsoft.com/office/drawing/2014/main" id="{2D96542C-C9D3-47DE-B4FE-296ECBFE8799}"/>
              </a:ext>
            </a:extLst>
          </p:cNvPr>
          <p:cNvSpPr>
            <a:spLocks noGrp="1"/>
          </p:cNvSpPr>
          <p:nvPr/>
        </p:nvSpPr>
        <p:spPr>
          <a:xfrm>
            <a:off x="742950" y="571500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ogrenci = Ogrenci()</a:t>
            </a:r>
          </a:p>
        </p:txBody>
      </p:sp>
      <p:sp>
        <p:nvSpPr>
          <p:cNvPr id="15" name="Dikdörtgen 14">
            <a:extLst>
              <a:ext uri="{FF2B5EF4-FFF2-40B4-BE49-F238E27FC236}">
                <a16:creationId xmlns:a16="http://schemas.microsoft.com/office/drawing/2014/main" id="{BC884BE2-19DF-42D0-9133-144876DFD8D5}"/>
              </a:ext>
            </a:extLst>
          </p:cNvPr>
          <p:cNvSpPr>
            <a:spLocks noGrp="1"/>
          </p:cNvSpPr>
          <p:nvPr/>
        </p:nvSpPr>
        <p:spPr>
          <a:xfrm>
            <a:off x="742950" y="601027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ogrenci.puanVer(</a:t>
            </a:r>
            <a:r>
              <a:rPr>
                <a:solidFill>
                  <a:srgbClr val="A45110"/>
                </a:solidFill>
              </a:rPr>
              <a:t>150</a:t>
            </a:r>
            <a:r>
              <a:t>)</a:t>
            </a:r>
          </a:p>
        </p:txBody>
      </p:sp>
      <p:sp>
        <p:nvSpPr>
          <p:cNvPr id="16" name="Dikdörtgen 15">
            <a:extLst>
              <a:ext uri="{FF2B5EF4-FFF2-40B4-BE49-F238E27FC236}">
                <a16:creationId xmlns:a16="http://schemas.microsoft.com/office/drawing/2014/main" id="{701CAF4F-388F-479E-B54C-46924ABD52DD}"/>
              </a:ext>
            </a:extLst>
          </p:cNvPr>
          <p:cNvSpPr>
            <a:spLocks noGrp="1"/>
          </p:cNvSpPr>
          <p:nvPr/>
        </p:nvSpPr>
        <p:spPr>
          <a:xfrm>
            <a:off x="742950" y="630555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println(ogrenci.puaniOku())</a:t>
            </a:r>
          </a:p>
        </p:txBody>
      </p:sp>
      <p:sp>
        <p:nvSpPr>
          <p:cNvPr id="17" name="Dikdörtgen 16">
            <a:extLst>
              <a:ext uri="{FF2B5EF4-FFF2-40B4-BE49-F238E27FC236}">
                <a16:creationId xmlns:a16="http://schemas.microsoft.com/office/drawing/2014/main" id="{5A465588-0558-4CAF-8DD6-70A01C50304B}"/>
              </a:ext>
            </a:extLst>
          </p:cNvPr>
          <p:cNvSpPr>
            <a:spLocks noGrp="1"/>
          </p:cNvSpPr>
          <p:nvPr/>
        </p:nvSpPr>
        <p:spPr>
          <a:xfrm>
            <a:off x="742950" y="660082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8" name="Dikdörtgen 17">
            <a:extLst>
              <a:ext uri="{FF2B5EF4-FFF2-40B4-BE49-F238E27FC236}">
                <a16:creationId xmlns:a16="http://schemas.microsoft.com/office/drawing/2014/main" id="{291B6C8C-5633-4406-953C-A5C693257331}"/>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yeni in 0..100</a:t>
            </a:r>
          </a:p>
        </p:txBody>
      </p:sp>
      <p:sp>
        <p:nvSpPr>
          <p:cNvPr id="19" name="Dikdörtgen 18">
            <a:extLst>
              <a:ext uri="{FF2B5EF4-FFF2-40B4-BE49-F238E27FC236}">
                <a16:creationId xmlns:a16="http://schemas.microsoft.com/office/drawing/2014/main" id="{70849DDF-5548-4DB7-845C-EC06E7C5D285}"/>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Yeni değer 0 ile 100 arasında mı diye kontrol eder. Değilse atama yapılmaz.</a:t>
            </a:r>
          </a:p>
        </p:txBody>
      </p:sp>
      <p:sp>
        <p:nvSpPr>
          <p:cNvPr id="20" name="Dikdörtgen 19">
            <a:extLst>
              <a:ext uri="{FF2B5EF4-FFF2-40B4-BE49-F238E27FC236}">
                <a16:creationId xmlns:a16="http://schemas.microsoft.com/office/drawing/2014/main" id="{9068E8DD-729B-4FDC-B793-75BBD7ED7C04}"/>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Sonuç</a:t>
            </a:r>
          </a:p>
        </p:txBody>
      </p:sp>
      <p:sp>
        <p:nvSpPr>
          <p:cNvPr id="21" name="Dikdörtgen 20">
            <a:extLst>
              <a:ext uri="{FF2B5EF4-FFF2-40B4-BE49-F238E27FC236}">
                <a16:creationId xmlns:a16="http://schemas.microsoft.com/office/drawing/2014/main" id="{15A7ED3E-1878-474B-8DE9-E6E8A22D8E79}"/>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150 kabul edilmediği için puan 50 kalır. Kapsülleme, bu kuralı nesnenin içinde korur.</a:t>
            </a:r>
          </a:p>
        </p:txBody>
      </p:sp>
      <p:sp>
        <p:nvSpPr>
          <p:cNvPr id="22" name="Dikdörtgen 21">
            <a:extLst>
              <a:ext uri="{FF2B5EF4-FFF2-40B4-BE49-F238E27FC236}">
                <a16:creationId xmlns:a16="http://schemas.microsoft.com/office/drawing/2014/main" id="{704F69F9-0A3D-440D-906A-B6FDF039AA99}"/>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3" name="Dikdörtgen 22">
            <a:extLst>
              <a:ext uri="{FF2B5EF4-FFF2-40B4-BE49-F238E27FC236}">
                <a16:creationId xmlns:a16="http://schemas.microsoft.com/office/drawing/2014/main" id="{E9D81EDE-8E17-4168-948A-C5E18F2B6DEE}"/>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50</a:t>
            </a:r>
          </a:p>
        </p:txBody>
      </p:sp>
      <p:sp>
        <p:nvSpPr>
          <p:cNvPr id="24" name="Dikdörtgen 23">
            <a:extLst>
              <a:ext uri="{FF2B5EF4-FFF2-40B4-BE49-F238E27FC236}">
                <a16:creationId xmlns:a16="http://schemas.microsoft.com/office/drawing/2014/main" id="{150BCA42-CF26-4B19-960A-5007E6C510CA}"/>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21 / 35</a:t>
            </a:r>
          </a:p>
        </p:txBody>
      </p:sp>
    </p:spTree>
    <p:extLst>
      <p:ext uri="{BB962C8B-B14F-4D97-AF65-F5344CB8AC3E}">
        <p14:creationId xmlns:p14="http://schemas.microsoft.com/office/powerpoint/2010/main" val="350730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5" name="Dikdörtgen 24">
            <a:extLst>
              <a:ext uri="{FF2B5EF4-FFF2-40B4-BE49-F238E27FC236}">
                <a16:creationId xmlns:a16="http://schemas.microsoft.com/office/drawing/2014/main" id="{CD210977-DF7B-4BC6-AABF-FBDAC980845A}"/>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83AFE0F6-6FB9-46C9-842C-24F6394157A3}"/>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private set: okunur, dışarıdan değişmez</a:t>
            </a:r>
          </a:p>
        </p:txBody>
      </p:sp>
      <p:sp>
        <p:nvSpPr>
          <p:cNvPr id="3" name="Dikdörtgen 2">
            <a:extLst>
              <a:ext uri="{FF2B5EF4-FFF2-40B4-BE49-F238E27FC236}">
                <a16:creationId xmlns:a16="http://schemas.microsoft.com/office/drawing/2014/main" id="{382714D1-3CEB-42E8-8124-61D71A386879}"/>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 özelliğin okunmasına izin verip dışarıdan yazılmasını kapatabiliriz.</a:t>
            </a:r>
          </a:p>
        </p:txBody>
      </p:sp>
      <p:sp>
        <p:nvSpPr>
          <p:cNvPr id="4" name="Dikdörtgen 3">
            <a:extLst>
              <a:ext uri="{FF2B5EF4-FFF2-40B4-BE49-F238E27FC236}">
                <a16:creationId xmlns:a16="http://schemas.microsoft.com/office/drawing/2014/main" id="{B63E96F6-7DBD-432B-8FA7-C7B71607AA1C}"/>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248A14E1-88C6-462F-B90E-E529B170535E}"/>
              </a:ext>
            </a:extLst>
          </p:cNvPr>
          <p:cNvSpPr>
            <a:spLocks noGrp="1"/>
          </p:cNvSpPr>
          <p:nvPr/>
        </p:nvSpPr>
        <p:spPr>
          <a:xfrm>
            <a:off x="742950" y="305752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Gorev {</a:t>
            </a:r>
          </a:p>
        </p:txBody>
      </p:sp>
      <p:sp>
        <p:nvSpPr>
          <p:cNvPr id="6" name="Dikdörtgen 5">
            <a:extLst>
              <a:ext uri="{FF2B5EF4-FFF2-40B4-BE49-F238E27FC236}">
                <a16:creationId xmlns:a16="http://schemas.microsoft.com/office/drawing/2014/main" id="{4FF8738F-D6FC-4CF2-A26C-6E3A975B8E45}"/>
              </a:ext>
            </a:extLst>
          </p:cNvPr>
          <p:cNvSpPr>
            <a:spLocks noGrp="1"/>
          </p:cNvSpPr>
          <p:nvPr/>
        </p:nvSpPr>
        <p:spPr>
          <a:xfrm>
            <a:off x="742950" y="335280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var</a:t>
            </a:r>
            <a:r>
              <a:t> tamamlandi = </a:t>
            </a:r>
            <a:r>
              <a:rPr>
                <a:solidFill>
                  <a:srgbClr val="6941A5"/>
                </a:solidFill>
              </a:rPr>
              <a:t>false</a:t>
            </a:r>
          </a:p>
        </p:txBody>
      </p:sp>
      <p:sp>
        <p:nvSpPr>
          <p:cNvPr id="7" name="Dikdörtgen 6">
            <a:extLst>
              <a:ext uri="{FF2B5EF4-FFF2-40B4-BE49-F238E27FC236}">
                <a16:creationId xmlns:a16="http://schemas.microsoft.com/office/drawing/2014/main" id="{39C54046-1FC4-411C-95EE-B3240707B86C}"/>
              </a:ext>
            </a:extLst>
          </p:cNvPr>
          <p:cNvSpPr>
            <a:spLocks noGrp="1"/>
          </p:cNvSpPr>
          <p:nvPr/>
        </p:nvSpPr>
        <p:spPr>
          <a:xfrm>
            <a:off x="742950" y="364807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private</a:t>
            </a:r>
            <a:r>
              <a:t> set</a:t>
            </a:r>
          </a:p>
        </p:txBody>
      </p:sp>
      <p:sp>
        <p:nvSpPr>
          <p:cNvPr id="8" name="Dikdörtgen 7">
            <a:extLst>
              <a:ext uri="{FF2B5EF4-FFF2-40B4-BE49-F238E27FC236}">
                <a16:creationId xmlns:a16="http://schemas.microsoft.com/office/drawing/2014/main" id="{F3F6F5D6-F0CA-45EA-88BA-2DB3EC388946}"/>
              </a:ext>
            </a:extLst>
          </p:cNvPr>
          <p:cNvSpPr>
            <a:spLocks noGrp="1"/>
          </p:cNvSpPr>
          <p:nvPr/>
        </p:nvSpPr>
        <p:spPr>
          <a:xfrm>
            <a:off x="742950" y="394335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fun</a:t>
            </a:r>
            <a:r>
              <a:t> tamamla() {</a:t>
            </a:r>
          </a:p>
        </p:txBody>
      </p:sp>
      <p:sp>
        <p:nvSpPr>
          <p:cNvPr id="9" name="Dikdörtgen 8">
            <a:extLst>
              <a:ext uri="{FF2B5EF4-FFF2-40B4-BE49-F238E27FC236}">
                <a16:creationId xmlns:a16="http://schemas.microsoft.com/office/drawing/2014/main" id="{957E9859-CF70-496C-9EB9-030D237D0860}"/>
              </a:ext>
            </a:extLst>
          </p:cNvPr>
          <p:cNvSpPr>
            <a:spLocks noGrp="1"/>
          </p:cNvSpPr>
          <p:nvPr/>
        </p:nvSpPr>
        <p:spPr>
          <a:xfrm>
            <a:off x="742950" y="423862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tamamlandi = </a:t>
            </a:r>
            <a:r>
              <a:rPr>
                <a:solidFill>
                  <a:srgbClr val="6941A5"/>
                </a:solidFill>
              </a:rPr>
              <a:t>true</a:t>
            </a:r>
          </a:p>
        </p:txBody>
      </p:sp>
      <p:sp>
        <p:nvSpPr>
          <p:cNvPr id="10" name="Dikdörtgen 9">
            <a:extLst>
              <a:ext uri="{FF2B5EF4-FFF2-40B4-BE49-F238E27FC236}">
                <a16:creationId xmlns:a16="http://schemas.microsoft.com/office/drawing/2014/main" id="{CFD0FF9B-FAFE-4397-AF3F-16896E99D77B}"/>
              </a:ext>
            </a:extLst>
          </p:cNvPr>
          <p:cNvSpPr>
            <a:spLocks noGrp="1"/>
          </p:cNvSpPr>
          <p:nvPr/>
        </p:nvSpPr>
        <p:spPr>
          <a:xfrm>
            <a:off x="742950" y="453390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1" name="Dikdörtgen 10">
            <a:extLst>
              <a:ext uri="{FF2B5EF4-FFF2-40B4-BE49-F238E27FC236}">
                <a16:creationId xmlns:a16="http://schemas.microsoft.com/office/drawing/2014/main" id="{FB9BF6C2-D9D2-4087-BC3E-F583ADF24D20}"/>
              </a:ext>
            </a:extLst>
          </p:cNvPr>
          <p:cNvSpPr>
            <a:spLocks noGrp="1"/>
          </p:cNvSpPr>
          <p:nvPr/>
        </p:nvSpPr>
        <p:spPr>
          <a:xfrm>
            <a:off x="742950" y="482917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2" name="Dikdörtgen 11">
            <a:extLst>
              <a:ext uri="{FF2B5EF4-FFF2-40B4-BE49-F238E27FC236}">
                <a16:creationId xmlns:a16="http://schemas.microsoft.com/office/drawing/2014/main" id="{48119222-5B16-4A9C-8615-E6AF89220EA1}"/>
              </a:ext>
            </a:extLst>
          </p:cNvPr>
          <p:cNvSpPr>
            <a:spLocks noGrp="1"/>
          </p:cNvSpPr>
          <p:nvPr/>
        </p:nvSpPr>
        <p:spPr>
          <a:xfrm>
            <a:off x="742950" y="512445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3" name="Dikdörtgen 12">
            <a:extLst>
              <a:ext uri="{FF2B5EF4-FFF2-40B4-BE49-F238E27FC236}">
                <a16:creationId xmlns:a16="http://schemas.microsoft.com/office/drawing/2014/main" id="{51A38DB0-3ADD-41DB-99F4-52DA91451FF5}"/>
              </a:ext>
            </a:extLst>
          </p:cNvPr>
          <p:cNvSpPr>
            <a:spLocks noGrp="1"/>
          </p:cNvSpPr>
          <p:nvPr/>
        </p:nvSpPr>
        <p:spPr>
          <a:xfrm>
            <a:off x="742950" y="541972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4" name="Dikdörtgen 13">
            <a:extLst>
              <a:ext uri="{FF2B5EF4-FFF2-40B4-BE49-F238E27FC236}">
                <a16:creationId xmlns:a16="http://schemas.microsoft.com/office/drawing/2014/main" id="{E879A435-5D10-4346-B798-5CB43B925EFB}"/>
              </a:ext>
            </a:extLst>
          </p:cNvPr>
          <p:cNvSpPr>
            <a:spLocks noGrp="1"/>
          </p:cNvSpPr>
          <p:nvPr/>
        </p:nvSpPr>
        <p:spPr>
          <a:xfrm>
            <a:off x="742950" y="571500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gorev = Gorev()</a:t>
            </a:r>
          </a:p>
        </p:txBody>
      </p:sp>
      <p:sp>
        <p:nvSpPr>
          <p:cNvPr id="15" name="Dikdörtgen 14">
            <a:extLst>
              <a:ext uri="{FF2B5EF4-FFF2-40B4-BE49-F238E27FC236}">
                <a16:creationId xmlns:a16="http://schemas.microsoft.com/office/drawing/2014/main" id="{D413C2BC-7EEB-4299-8BEA-BC363DA101F0}"/>
              </a:ext>
            </a:extLst>
          </p:cNvPr>
          <p:cNvSpPr>
            <a:spLocks noGrp="1"/>
          </p:cNvSpPr>
          <p:nvPr/>
        </p:nvSpPr>
        <p:spPr>
          <a:xfrm>
            <a:off x="742950" y="601027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gorev.tamamla()</a:t>
            </a:r>
          </a:p>
        </p:txBody>
      </p:sp>
      <p:sp>
        <p:nvSpPr>
          <p:cNvPr id="16" name="Dikdörtgen 15">
            <a:extLst>
              <a:ext uri="{FF2B5EF4-FFF2-40B4-BE49-F238E27FC236}">
                <a16:creationId xmlns:a16="http://schemas.microsoft.com/office/drawing/2014/main" id="{9A769E8A-80CE-4D1C-9E64-6FB23141B467}"/>
              </a:ext>
            </a:extLst>
          </p:cNvPr>
          <p:cNvSpPr>
            <a:spLocks noGrp="1"/>
          </p:cNvSpPr>
          <p:nvPr/>
        </p:nvSpPr>
        <p:spPr>
          <a:xfrm>
            <a:off x="742950" y="630555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println(gorev.tamamlandi)</a:t>
            </a:r>
          </a:p>
        </p:txBody>
      </p:sp>
      <p:sp>
        <p:nvSpPr>
          <p:cNvPr id="17" name="Dikdörtgen 16">
            <a:extLst>
              <a:ext uri="{FF2B5EF4-FFF2-40B4-BE49-F238E27FC236}">
                <a16:creationId xmlns:a16="http://schemas.microsoft.com/office/drawing/2014/main" id="{3BDFD3E1-E587-4EA4-B72E-E674F0701506}"/>
              </a:ext>
            </a:extLst>
          </p:cNvPr>
          <p:cNvSpPr>
            <a:spLocks noGrp="1"/>
          </p:cNvSpPr>
          <p:nvPr/>
        </p:nvSpPr>
        <p:spPr>
          <a:xfrm>
            <a:off x="742950" y="660082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8" name="Dikdörtgen 17">
            <a:extLst>
              <a:ext uri="{FF2B5EF4-FFF2-40B4-BE49-F238E27FC236}">
                <a16:creationId xmlns:a16="http://schemas.microsoft.com/office/drawing/2014/main" id="{25506B90-C557-4534-AD9D-2FD9941D9D57}"/>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private set</a:t>
            </a:r>
          </a:p>
        </p:txBody>
      </p:sp>
      <p:sp>
        <p:nvSpPr>
          <p:cNvPr id="19" name="Dikdörtgen 18">
            <a:extLst>
              <a:ext uri="{FF2B5EF4-FFF2-40B4-BE49-F238E27FC236}">
                <a16:creationId xmlns:a16="http://schemas.microsoft.com/office/drawing/2014/main" id="{03416693-390A-42C2-B2B1-9DBF25E1C4B6}"/>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main, tamamlandi değerini okuyabilir. Ancak gorev.tamamlandi = true yazamaz.</a:t>
            </a:r>
          </a:p>
        </p:txBody>
      </p:sp>
      <p:sp>
        <p:nvSpPr>
          <p:cNvPr id="20" name="Dikdörtgen 19">
            <a:extLst>
              <a:ext uri="{FF2B5EF4-FFF2-40B4-BE49-F238E27FC236}">
                <a16:creationId xmlns:a16="http://schemas.microsoft.com/office/drawing/2014/main" id="{3126FF5F-DE63-456E-8200-1B2E8CE4E070}"/>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tamamla()</a:t>
            </a:r>
          </a:p>
        </p:txBody>
      </p:sp>
      <p:sp>
        <p:nvSpPr>
          <p:cNvPr id="21" name="Dikdörtgen 20">
            <a:extLst>
              <a:ext uri="{FF2B5EF4-FFF2-40B4-BE49-F238E27FC236}">
                <a16:creationId xmlns:a16="http://schemas.microsoft.com/office/drawing/2014/main" id="{C8D804FF-320B-4F26-B708-5F87FC217913}"/>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Sınıf kendi özelliğini değiştirebilir. Dışarıdaki kod bu kontrollü işlemi çağırır.</a:t>
            </a:r>
          </a:p>
        </p:txBody>
      </p:sp>
      <p:sp>
        <p:nvSpPr>
          <p:cNvPr id="22" name="Dikdörtgen 21">
            <a:extLst>
              <a:ext uri="{FF2B5EF4-FFF2-40B4-BE49-F238E27FC236}">
                <a16:creationId xmlns:a16="http://schemas.microsoft.com/office/drawing/2014/main" id="{EFF55BF9-7988-40D1-A646-F0E923926F0E}"/>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3" name="Dikdörtgen 22">
            <a:extLst>
              <a:ext uri="{FF2B5EF4-FFF2-40B4-BE49-F238E27FC236}">
                <a16:creationId xmlns:a16="http://schemas.microsoft.com/office/drawing/2014/main" id="{936DAE2E-101A-4B09-8999-31B2ADB28A65}"/>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true</a:t>
            </a:r>
          </a:p>
        </p:txBody>
      </p:sp>
      <p:sp>
        <p:nvSpPr>
          <p:cNvPr id="24" name="Dikdörtgen 23">
            <a:extLst>
              <a:ext uri="{FF2B5EF4-FFF2-40B4-BE49-F238E27FC236}">
                <a16:creationId xmlns:a16="http://schemas.microsoft.com/office/drawing/2014/main" id="{572144D3-EDA3-4F43-A307-AC7FDCF48A5C}"/>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22 / 35</a:t>
            </a:r>
          </a:p>
        </p:txBody>
      </p:sp>
    </p:spTree>
    <p:extLst>
      <p:ext uri="{BB962C8B-B14F-4D97-AF65-F5344CB8AC3E}">
        <p14:creationId xmlns:p14="http://schemas.microsoft.com/office/powerpoint/2010/main" val="603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1" name="Dikdörtgen 10">
            <a:extLst>
              <a:ext uri="{FF2B5EF4-FFF2-40B4-BE49-F238E27FC236}">
                <a16:creationId xmlns:a16="http://schemas.microsoft.com/office/drawing/2014/main" id="{7E947E2F-8D65-4D8C-888D-9BDF4869A3A2}"/>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FD2B781B-C959-4ED4-9BBF-142F473B5B76}"/>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Sınıf ve nesne alıştırması</a:t>
            </a:r>
          </a:p>
        </p:txBody>
      </p:sp>
      <p:sp>
        <p:nvSpPr>
          <p:cNvPr id="3" name="Dikdörtgen 2">
            <a:extLst>
              <a:ext uri="{FF2B5EF4-FFF2-40B4-BE49-F238E27FC236}">
                <a16:creationId xmlns:a16="http://schemas.microsoft.com/office/drawing/2014/main" id="{6651AE10-800C-4BF7-8255-5D3FE3120385}"/>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Önce kendi cevabını düşün. Sonra kodu çalıştırarak kontrol et.</a:t>
            </a:r>
          </a:p>
        </p:txBody>
      </p:sp>
      <p:sp>
        <p:nvSpPr>
          <p:cNvPr id="4" name="Dikdörtgen 3">
            <a:extLst>
              <a:ext uri="{FF2B5EF4-FFF2-40B4-BE49-F238E27FC236}">
                <a16:creationId xmlns:a16="http://schemas.microsoft.com/office/drawing/2014/main" id="{057F8599-66A3-4D4F-8341-372CAEC665C2}"/>
              </a:ext>
            </a:extLst>
          </p:cNvPr>
          <p:cNvSpPr>
            <a:spLocks noGrp="1"/>
          </p:cNvSpPr>
          <p:nvPr/>
        </p:nvSpPr>
        <p:spPr>
          <a:xfrm>
            <a:off x="742950" y="310515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Tanım</a:t>
            </a:r>
          </a:p>
        </p:txBody>
      </p:sp>
      <p:sp>
        <p:nvSpPr>
          <p:cNvPr id="5" name="Dikdörtgen 4">
            <a:extLst>
              <a:ext uri="{FF2B5EF4-FFF2-40B4-BE49-F238E27FC236}">
                <a16:creationId xmlns:a16="http://schemas.microsoft.com/office/drawing/2014/main" id="{FD1CD56C-FE1F-4EBA-BC18-CA922E3A9757}"/>
              </a:ext>
            </a:extLst>
          </p:cNvPr>
          <p:cNvSpPr>
            <a:spLocks noGrp="1"/>
          </p:cNvSpPr>
          <p:nvPr/>
        </p:nvSpPr>
        <p:spPr>
          <a:xfrm>
            <a:off x="4552950" y="310515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Kitap isimli bir sınıf yaz. Başlangıçta bir başlık alsın.</a:t>
            </a:r>
          </a:p>
        </p:txBody>
      </p:sp>
      <p:sp>
        <p:nvSpPr>
          <p:cNvPr id="6" name="Dikdörtgen 5">
            <a:extLst>
              <a:ext uri="{FF2B5EF4-FFF2-40B4-BE49-F238E27FC236}">
                <a16:creationId xmlns:a16="http://schemas.microsoft.com/office/drawing/2014/main" id="{B39CAB99-1AFD-4269-B183-F32E2A684A34}"/>
              </a:ext>
            </a:extLst>
          </p:cNvPr>
          <p:cNvSpPr>
            <a:spLocks noGrp="1"/>
          </p:cNvSpPr>
          <p:nvPr/>
        </p:nvSpPr>
        <p:spPr>
          <a:xfrm>
            <a:off x="742950" y="4600575"/>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Nesne</a:t>
            </a:r>
          </a:p>
        </p:txBody>
      </p:sp>
      <p:sp>
        <p:nvSpPr>
          <p:cNvPr id="7" name="Dikdörtgen 6">
            <a:extLst>
              <a:ext uri="{FF2B5EF4-FFF2-40B4-BE49-F238E27FC236}">
                <a16:creationId xmlns:a16="http://schemas.microsoft.com/office/drawing/2014/main" id="{5323B584-EF3F-4B15-BFC0-A8DE9728ECE4}"/>
              </a:ext>
            </a:extLst>
          </p:cNvPr>
          <p:cNvSpPr>
            <a:spLocks noGrp="1"/>
          </p:cNvSpPr>
          <p:nvPr/>
        </p:nvSpPr>
        <p:spPr>
          <a:xfrm>
            <a:off x="4552950" y="4600575"/>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Bu sınıftan Kotlin Dersleri başlıklı bir kitap oluştur.</a:t>
            </a:r>
          </a:p>
        </p:txBody>
      </p:sp>
      <p:sp>
        <p:nvSpPr>
          <p:cNvPr id="8" name="Dikdörtgen 7">
            <a:extLst>
              <a:ext uri="{FF2B5EF4-FFF2-40B4-BE49-F238E27FC236}">
                <a16:creationId xmlns:a16="http://schemas.microsoft.com/office/drawing/2014/main" id="{B60F072C-BD03-4799-897A-4A985DB3E2B2}"/>
              </a:ext>
            </a:extLst>
          </p:cNvPr>
          <p:cNvSpPr>
            <a:spLocks noGrp="1"/>
          </p:cNvSpPr>
          <p:nvPr/>
        </p:nvSpPr>
        <p:spPr>
          <a:xfrm>
            <a:off x="742950" y="609600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Okuma</a:t>
            </a:r>
          </a:p>
        </p:txBody>
      </p:sp>
      <p:sp>
        <p:nvSpPr>
          <p:cNvPr id="9" name="Dikdörtgen 8">
            <a:extLst>
              <a:ext uri="{FF2B5EF4-FFF2-40B4-BE49-F238E27FC236}">
                <a16:creationId xmlns:a16="http://schemas.microsoft.com/office/drawing/2014/main" id="{F01A88E0-87EF-49B4-B642-DF968498DDD7}"/>
              </a:ext>
            </a:extLst>
          </p:cNvPr>
          <p:cNvSpPr>
            <a:spLocks noGrp="1"/>
          </p:cNvSpPr>
          <p:nvPr/>
        </p:nvSpPr>
        <p:spPr>
          <a:xfrm>
            <a:off x="4552950" y="609600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Kitabın başlığını println ile yazdır.</a:t>
            </a:r>
          </a:p>
        </p:txBody>
      </p:sp>
      <p:sp>
        <p:nvSpPr>
          <p:cNvPr id="10" name="Dikdörtgen 9">
            <a:extLst>
              <a:ext uri="{FF2B5EF4-FFF2-40B4-BE49-F238E27FC236}">
                <a16:creationId xmlns:a16="http://schemas.microsoft.com/office/drawing/2014/main" id="{FA0BB7FE-457F-408A-9BD6-F3B6832C10E2}"/>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23 / 35</a:t>
            </a:r>
          </a:p>
        </p:txBody>
      </p:sp>
    </p:spTree>
    <p:extLst>
      <p:ext uri="{BB962C8B-B14F-4D97-AF65-F5344CB8AC3E}">
        <p14:creationId xmlns:p14="http://schemas.microsoft.com/office/powerpoint/2010/main" val="1613799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1" name="Dikdörtgen 10">
            <a:extLst>
              <a:ext uri="{FF2B5EF4-FFF2-40B4-BE49-F238E27FC236}">
                <a16:creationId xmlns:a16="http://schemas.microsoft.com/office/drawing/2014/main" id="{95436772-8F59-42ED-9971-7BC64F4D211C}"/>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B6E18B22-1A91-45A3-A433-EFDFE5CC9602}"/>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Dört kavramın kısa karşılığı</a:t>
            </a:r>
          </a:p>
        </p:txBody>
      </p:sp>
      <p:sp>
        <p:nvSpPr>
          <p:cNvPr id="3" name="Dikdörtgen 2">
            <a:extLst>
              <a:ext uri="{FF2B5EF4-FFF2-40B4-BE49-F238E27FC236}">
                <a16:creationId xmlns:a16="http://schemas.microsoft.com/office/drawing/2014/main" id="{FE17A7BF-067D-48AE-844A-30E1A075C18F}"/>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 sonraki sunuma geçmeden bu dört ayrımın net olması yeterlidir.</a:t>
            </a:r>
          </a:p>
        </p:txBody>
      </p:sp>
      <p:sp>
        <p:nvSpPr>
          <p:cNvPr id="4" name="Dikdörtgen 3">
            <a:extLst>
              <a:ext uri="{FF2B5EF4-FFF2-40B4-BE49-F238E27FC236}">
                <a16:creationId xmlns:a16="http://schemas.microsoft.com/office/drawing/2014/main" id="{95F5F206-AC33-4B49-859A-2CE4FAF30F22}"/>
              </a:ext>
            </a:extLst>
          </p:cNvPr>
          <p:cNvSpPr>
            <a:spLocks noGrp="1"/>
          </p:cNvSpPr>
          <p:nvPr/>
        </p:nvSpPr>
        <p:spPr>
          <a:xfrm>
            <a:off x="742950" y="310515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Sınıf ve nesne</a:t>
            </a:r>
          </a:p>
        </p:txBody>
      </p:sp>
      <p:sp>
        <p:nvSpPr>
          <p:cNvPr id="5" name="Dikdörtgen 4">
            <a:extLst>
              <a:ext uri="{FF2B5EF4-FFF2-40B4-BE49-F238E27FC236}">
                <a16:creationId xmlns:a16="http://schemas.microsoft.com/office/drawing/2014/main" id="{872DEEA2-1EAC-4E07-BD18-B7BA51CB9724}"/>
              </a:ext>
            </a:extLst>
          </p:cNvPr>
          <p:cNvSpPr>
            <a:spLocks noGrp="1"/>
          </p:cNvSpPr>
          <p:nvPr/>
        </p:nvSpPr>
        <p:spPr>
          <a:xfrm>
            <a:off x="4552950" y="310515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Sınıf tanımdır. Nesne, bu tanımdan oluşturduğumuz belirli örnektir.</a:t>
            </a:r>
          </a:p>
        </p:txBody>
      </p:sp>
      <p:sp>
        <p:nvSpPr>
          <p:cNvPr id="6" name="Dikdörtgen 5">
            <a:extLst>
              <a:ext uri="{FF2B5EF4-FFF2-40B4-BE49-F238E27FC236}">
                <a16:creationId xmlns:a16="http://schemas.microsoft.com/office/drawing/2014/main" id="{20F16C28-9B08-4C3D-8CCA-C259105704FF}"/>
              </a:ext>
            </a:extLst>
          </p:cNvPr>
          <p:cNvSpPr>
            <a:spLocks noGrp="1"/>
          </p:cNvSpPr>
          <p:nvPr/>
        </p:nvSpPr>
        <p:spPr>
          <a:xfrm>
            <a:off x="742950" y="4600575"/>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Yapılandırıcı</a:t>
            </a:r>
          </a:p>
        </p:txBody>
      </p:sp>
      <p:sp>
        <p:nvSpPr>
          <p:cNvPr id="7" name="Dikdörtgen 6">
            <a:extLst>
              <a:ext uri="{FF2B5EF4-FFF2-40B4-BE49-F238E27FC236}">
                <a16:creationId xmlns:a16="http://schemas.microsoft.com/office/drawing/2014/main" id="{A1A055A9-55D9-4D0A-920E-046459F0290E}"/>
              </a:ext>
            </a:extLst>
          </p:cNvPr>
          <p:cNvSpPr>
            <a:spLocks noGrp="1"/>
          </p:cNvSpPr>
          <p:nvPr/>
        </p:nvSpPr>
        <p:spPr>
          <a:xfrm>
            <a:off x="4552950" y="4600575"/>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Nesne oluşurken başlangıç değerlerini alır.</a:t>
            </a:r>
          </a:p>
        </p:txBody>
      </p:sp>
      <p:sp>
        <p:nvSpPr>
          <p:cNvPr id="8" name="Dikdörtgen 7">
            <a:extLst>
              <a:ext uri="{FF2B5EF4-FFF2-40B4-BE49-F238E27FC236}">
                <a16:creationId xmlns:a16="http://schemas.microsoft.com/office/drawing/2014/main" id="{8D5D0C4E-D36C-4147-A72F-B955D5864875}"/>
              </a:ext>
            </a:extLst>
          </p:cNvPr>
          <p:cNvSpPr>
            <a:spLocks noGrp="1"/>
          </p:cNvSpPr>
          <p:nvPr/>
        </p:nvSpPr>
        <p:spPr>
          <a:xfrm>
            <a:off x="742950" y="609600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Kapsülleme</a:t>
            </a:r>
          </a:p>
        </p:txBody>
      </p:sp>
      <p:sp>
        <p:nvSpPr>
          <p:cNvPr id="9" name="Dikdörtgen 8">
            <a:extLst>
              <a:ext uri="{FF2B5EF4-FFF2-40B4-BE49-F238E27FC236}">
                <a16:creationId xmlns:a16="http://schemas.microsoft.com/office/drawing/2014/main" id="{BA688FE1-2921-4F87-8CF7-279081A15303}"/>
              </a:ext>
            </a:extLst>
          </p:cNvPr>
          <p:cNvSpPr>
            <a:spLocks noGrp="1"/>
          </p:cNvSpPr>
          <p:nvPr/>
        </p:nvSpPr>
        <p:spPr>
          <a:xfrm>
            <a:off x="4552950" y="609600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Veriye erişimi ve değişimi sınıfın sunduğu kurallarla sınırlar.</a:t>
            </a:r>
          </a:p>
        </p:txBody>
      </p:sp>
      <p:sp>
        <p:nvSpPr>
          <p:cNvPr id="10" name="Dikdörtgen 9">
            <a:extLst>
              <a:ext uri="{FF2B5EF4-FFF2-40B4-BE49-F238E27FC236}">
                <a16:creationId xmlns:a16="http://schemas.microsoft.com/office/drawing/2014/main" id="{8E447561-5B51-415E-B58D-130F3AA074AC}"/>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24 / 35</a:t>
            </a:r>
          </a:p>
        </p:txBody>
      </p:sp>
    </p:spTree>
    <p:extLst>
      <p:ext uri="{BB962C8B-B14F-4D97-AF65-F5344CB8AC3E}">
        <p14:creationId xmlns:p14="http://schemas.microsoft.com/office/powerpoint/2010/main" val="161817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1" name="Dikdörtgen 10">
            <a:extLst>
              <a:ext uri="{FF2B5EF4-FFF2-40B4-BE49-F238E27FC236}">
                <a16:creationId xmlns:a16="http://schemas.microsoft.com/office/drawing/2014/main" id="{D78448AC-8C0B-40F6-A631-96F9E73ADCA6}"/>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47542B85-67F7-4C77-8E59-CED3FA212B2E}"/>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Sınıflarla daha kapsamlı işlemler</a:t>
            </a:r>
          </a:p>
        </p:txBody>
      </p:sp>
      <p:sp>
        <p:nvSpPr>
          <p:cNvPr id="3" name="Dikdörtgen 2">
            <a:extLst>
              <a:ext uri="{FF2B5EF4-FFF2-40B4-BE49-F238E27FC236}">
                <a16:creationId xmlns:a16="http://schemas.microsoft.com/office/drawing/2014/main" id="{81CAB6C7-C511-4687-8A4E-15AEF80ACACB}"/>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Küçük sınıflardan, kendi verisini ve kurallarını yöneten programlara geçiyoruz.</a:t>
            </a:r>
          </a:p>
        </p:txBody>
      </p:sp>
      <p:sp>
        <p:nvSpPr>
          <p:cNvPr id="4" name="Dikdörtgen 3">
            <a:extLst>
              <a:ext uri="{FF2B5EF4-FFF2-40B4-BE49-F238E27FC236}">
                <a16:creationId xmlns:a16="http://schemas.microsoft.com/office/drawing/2014/main" id="{73D23EA6-CA61-4BA0-A3F3-94080F8DD4A2}"/>
              </a:ext>
            </a:extLst>
          </p:cNvPr>
          <p:cNvSpPr>
            <a:spLocks noGrp="1"/>
          </p:cNvSpPr>
          <p:nvPr/>
        </p:nvSpPr>
        <p:spPr>
          <a:xfrm>
            <a:off x="742950" y="310515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Önce ayrıntılar</a:t>
            </a:r>
          </a:p>
        </p:txBody>
      </p:sp>
      <p:sp>
        <p:nvSpPr>
          <p:cNvPr id="5" name="Dikdörtgen 4">
            <a:extLst>
              <a:ext uri="{FF2B5EF4-FFF2-40B4-BE49-F238E27FC236}">
                <a16:creationId xmlns:a16="http://schemas.microsoft.com/office/drawing/2014/main" id="{4B495690-8F99-4B57-A8CD-2377617B118A}"/>
              </a:ext>
            </a:extLst>
          </p:cNvPr>
          <p:cNvSpPr>
            <a:spLocks noGrp="1"/>
          </p:cNvSpPr>
          <p:nvPr/>
        </p:nvSpPr>
        <p:spPr>
          <a:xfrm>
            <a:off x="4552950" y="310515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Hesaplanan özellik, geçersiz başlangıç değeri ve nesne listesi.</a:t>
            </a:r>
          </a:p>
        </p:txBody>
      </p:sp>
      <p:sp>
        <p:nvSpPr>
          <p:cNvPr id="6" name="Dikdörtgen 5">
            <a:extLst>
              <a:ext uri="{FF2B5EF4-FFF2-40B4-BE49-F238E27FC236}">
                <a16:creationId xmlns:a16="http://schemas.microsoft.com/office/drawing/2014/main" id="{9803403F-C235-4432-ADE6-8CC6522DCC36}"/>
              </a:ext>
            </a:extLst>
          </p:cNvPr>
          <p:cNvSpPr>
            <a:spLocks noGrp="1"/>
          </p:cNvSpPr>
          <p:nvPr/>
        </p:nvSpPr>
        <p:spPr>
          <a:xfrm>
            <a:off x="742950" y="4600575"/>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Sonra kurallar</a:t>
            </a:r>
          </a:p>
        </p:txBody>
      </p:sp>
      <p:sp>
        <p:nvSpPr>
          <p:cNvPr id="7" name="Dikdörtgen 6">
            <a:extLst>
              <a:ext uri="{FF2B5EF4-FFF2-40B4-BE49-F238E27FC236}">
                <a16:creationId xmlns:a16="http://schemas.microsoft.com/office/drawing/2014/main" id="{FA4EBE5F-8513-468A-A0FF-5752AE9C669B}"/>
              </a:ext>
            </a:extLst>
          </p:cNvPr>
          <p:cNvSpPr>
            <a:spLocks noGrp="1"/>
          </p:cNvSpPr>
          <p:nvPr/>
        </p:nvSpPr>
        <p:spPr>
          <a:xfrm>
            <a:off x="4552950" y="4600575"/>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Bir nesnenin değişmesine yalnız uygun koşullarda izin vereceğiz.</a:t>
            </a:r>
          </a:p>
        </p:txBody>
      </p:sp>
      <p:sp>
        <p:nvSpPr>
          <p:cNvPr id="8" name="Dikdörtgen 7">
            <a:extLst>
              <a:ext uri="{FF2B5EF4-FFF2-40B4-BE49-F238E27FC236}">
                <a16:creationId xmlns:a16="http://schemas.microsoft.com/office/drawing/2014/main" id="{8B58169B-7542-4BB1-9908-4A0EF95A43E9}"/>
              </a:ext>
            </a:extLst>
          </p:cNvPr>
          <p:cNvSpPr>
            <a:spLocks noGrp="1"/>
          </p:cNvSpPr>
          <p:nvPr/>
        </p:nvSpPr>
        <p:spPr>
          <a:xfrm>
            <a:off x="742950" y="609600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İki tam program</a:t>
            </a:r>
          </a:p>
        </p:txBody>
      </p:sp>
      <p:sp>
        <p:nvSpPr>
          <p:cNvPr id="9" name="Dikdörtgen 8">
            <a:extLst>
              <a:ext uri="{FF2B5EF4-FFF2-40B4-BE49-F238E27FC236}">
                <a16:creationId xmlns:a16="http://schemas.microsoft.com/office/drawing/2014/main" id="{595BDFE3-4A22-48EE-89DB-B36B991D9112}"/>
              </a:ext>
            </a:extLst>
          </p:cNvPr>
          <p:cNvSpPr>
            <a:spLocks noGrp="1"/>
          </p:cNvSpPr>
          <p:nvPr/>
        </p:nvSpPr>
        <p:spPr>
          <a:xfrm>
            <a:off x="4552950" y="609600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Kitap ödünç verme ve sınırlı stok yönetimi. Her biri kendi kod sayfasında bağımsız çalışır.</a:t>
            </a:r>
          </a:p>
        </p:txBody>
      </p:sp>
      <p:sp>
        <p:nvSpPr>
          <p:cNvPr id="10" name="Dikdörtgen 9">
            <a:extLst>
              <a:ext uri="{FF2B5EF4-FFF2-40B4-BE49-F238E27FC236}">
                <a16:creationId xmlns:a16="http://schemas.microsoft.com/office/drawing/2014/main" id="{53A315AB-B4D8-4AC6-9BF1-1645165ABA51}"/>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25 / 35</a:t>
            </a:r>
          </a:p>
        </p:txBody>
      </p:sp>
    </p:spTree>
    <p:extLst>
      <p:ext uri="{BB962C8B-B14F-4D97-AF65-F5344CB8AC3E}">
        <p14:creationId xmlns:p14="http://schemas.microsoft.com/office/powerpoint/2010/main" val="909205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0" name="Dikdörtgen 19">
            <a:extLst>
              <a:ext uri="{FF2B5EF4-FFF2-40B4-BE49-F238E27FC236}">
                <a16:creationId xmlns:a16="http://schemas.microsoft.com/office/drawing/2014/main" id="{79B15F3C-028E-42C4-97F3-A25272BB3905}"/>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799120F2-3DA6-4B02-8C79-AB636B5346A3}"/>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Hesaplanan özellik: get()</a:t>
            </a:r>
          </a:p>
        </p:txBody>
      </p:sp>
      <p:sp>
        <p:nvSpPr>
          <p:cNvPr id="3" name="Dikdörtgen 2">
            <a:extLst>
              <a:ext uri="{FF2B5EF4-FFF2-40B4-BE49-F238E27FC236}">
                <a16:creationId xmlns:a16="http://schemas.microsoft.com/office/drawing/2014/main" id="{0EE15359-090D-47D6-BFB1-6AF5511B7363}"/>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Bazı bilgileri ayrı saklamak yerine, ihtiyaç olduğunda diğer özelliklerden hesaplayabiliriz.</a:t>
            </a:r>
          </a:p>
        </p:txBody>
      </p:sp>
      <p:sp>
        <p:nvSpPr>
          <p:cNvPr id="4" name="Dikdörtgen 3">
            <a:extLst>
              <a:ext uri="{FF2B5EF4-FFF2-40B4-BE49-F238E27FC236}">
                <a16:creationId xmlns:a16="http://schemas.microsoft.com/office/drawing/2014/main" id="{2E3A06B5-4C5D-4E98-98BF-483C5B936D4B}"/>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AE4C65DC-BB88-4DB0-96D6-0226228A8796}"/>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Dikdortgen(</a:t>
            </a:r>
            <a:r>
              <a:rPr>
                <a:solidFill>
                  <a:srgbClr val="6941A5"/>
                </a:solidFill>
              </a:rPr>
              <a:t>val</a:t>
            </a:r>
            <a:r>
              <a:t> en: Int, </a:t>
            </a:r>
            <a:r>
              <a:rPr>
                <a:solidFill>
                  <a:srgbClr val="6941A5"/>
                </a:solidFill>
              </a:rPr>
              <a:t>val</a:t>
            </a:r>
            <a:r>
              <a:t> boy: Int) {</a:t>
            </a:r>
          </a:p>
        </p:txBody>
      </p:sp>
      <p:sp>
        <p:nvSpPr>
          <p:cNvPr id="6" name="Dikdörtgen 5">
            <a:extLst>
              <a:ext uri="{FF2B5EF4-FFF2-40B4-BE49-F238E27FC236}">
                <a16:creationId xmlns:a16="http://schemas.microsoft.com/office/drawing/2014/main" id="{041C1C6C-394B-45A5-AF15-0B3AD6436C74}"/>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alan: Int</a:t>
            </a:r>
          </a:p>
        </p:txBody>
      </p:sp>
      <p:sp>
        <p:nvSpPr>
          <p:cNvPr id="7" name="Dikdörtgen 6">
            <a:extLst>
              <a:ext uri="{FF2B5EF4-FFF2-40B4-BE49-F238E27FC236}">
                <a16:creationId xmlns:a16="http://schemas.microsoft.com/office/drawing/2014/main" id="{3EDA604C-9497-480C-9F90-EF008DC2815D}"/>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get() = en * boy</a:t>
            </a:r>
          </a:p>
        </p:txBody>
      </p:sp>
      <p:sp>
        <p:nvSpPr>
          <p:cNvPr id="8" name="Dikdörtgen 7">
            <a:extLst>
              <a:ext uri="{FF2B5EF4-FFF2-40B4-BE49-F238E27FC236}">
                <a16:creationId xmlns:a16="http://schemas.microsoft.com/office/drawing/2014/main" id="{D8E79FB1-30C2-4845-A214-E3BC7D0A38D6}"/>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9" name="Dikdörtgen 8">
            <a:extLst>
              <a:ext uri="{FF2B5EF4-FFF2-40B4-BE49-F238E27FC236}">
                <a16:creationId xmlns:a16="http://schemas.microsoft.com/office/drawing/2014/main" id="{7D4D8FEB-12ED-46AB-9F32-2AAE30D8A260}"/>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0" name="Dikdörtgen 9">
            <a:extLst>
              <a:ext uri="{FF2B5EF4-FFF2-40B4-BE49-F238E27FC236}">
                <a16:creationId xmlns:a16="http://schemas.microsoft.com/office/drawing/2014/main" id="{D4CB2333-22C0-4480-8EDE-02455E967411}"/>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sekil = Dikdortgen(</a:t>
            </a:r>
            <a:r>
              <a:rPr>
                <a:solidFill>
                  <a:srgbClr val="A45110"/>
                </a:solidFill>
              </a:rPr>
              <a:t>4</a:t>
            </a:r>
            <a:r>
              <a:t>, </a:t>
            </a:r>
            <a:r>
              <a:rPr>
                <a:solidFill>
                  <a:srgbClr val="A45110"/>
                </a:solidFill>
              </a:rPr>
              <a:t>5</a:t>
            </a:r>
            <a:r>
              <a:t>)</a:t>
            </a:r>
          </a:p>
        </p:txBody>
      </p:sp>
      <p:sp>
        <p:nvSpPr>
          <p:cNvPr id="11" name="Dikdörtgen 10">
            <a:extLst>
              <a:ext uri="{FF2B5EF4-FFF2-40B4-BE49-F238E27FC236}">
                <a16:creationId xmlns:a16="http://schemas.microsoft.com/office/drawing/2014/main" id="{A2948943-0C03-4D19-B414-DCCF4DAEDECF}"/>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println(sekil.alan)</a:t>
            </a:r>
          </a:p>
        </p:txBody>
      </p:sp>
      <p:sp>
        <p:nvSpPr>
          <p:cNvPr id="12" name="Dikdörtgen 11">
            <a:extLst>
              <a:ext uri="{FF2B5EF4-FFF2-40B4-BE49-F238E27FC236}">
                <a16:creationId xmlns:a16="http://schemas.microsoft.com/office/drawing/2014/main" id="{60DC797D-162B-4894-B2C6-4F833CE18D04}"/>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3" name="Dikdörtgen 12">
            <a:extLst>
              <a:ext uri="{FF2B5EF4-FFF2-40B4-BE49-F238E27FC236}">
                <a16:creationId xmlns:a16="http://schemas.microsoft.com/office/drawing/2014/main" id="{1FEAAAA2-9A46-44FF-947C-A8BB91AEBC85}"/>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get()</a:t>
            </a:r>
          </a:p>
        </p:txBody>
      </p:sp>
      <p:sp>
        <p:nvSpPr>
          <p:cNvPr id="14" name="Dikdörtgen 13">
            <a:extLst>
              <a:ext uri="{FF2B5EF4-FFF2-40B4-BE49-F238E27FC236}">
                <a16:creationId xmlns:a16="http://schemas.microsoft.com/office/drawing/2014/main" id="{D130EDF1-1893-4324-90C6-2EF3329F2966}"/>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alan okunduğunda en * boy hesaplanır. = işaretli kısa yazım bu sonucu döndürür.</a:t>
            </a:r>
          </a:p>
        </p:txBody>
      </p:sp>
      <p:sp>
        <p:nvSpPr>
          <p:cNvPr id="15" name="Dikdörtgen 14">
            <a:extLst>
              <a:ext uri="{FF2B5EF4-FFF2-40B4-BE49-F238E27FC236}">
                <a16:creationId xmlns:a16="http://schemas.microsoft.com/office/drawing/2014/main" id="{CD4419A9-42F9-4722-BCC3-BC257003A492}"/>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Özellik gibi kullanım</a:t>
            </a:r>
          </a:p>
        </p:txBody>
      </p:sp>
      <p:sp>
        <p:nvSpPr>
          <p:cNvPr id="16" name="Dikdörtgen 15">
            <a:extLst>
              <a:ext uri="{FF2B5EF4-FFF2-40B4-BE49-F238E27FC236}">
                <a16:creationId xmlns:a16="http://schemas.microsoft.com/office/drawing/2014/main" id="{3A98F39A-4455-483E-9456-2F104C417BD2}"/>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sekil.alan yazılır, alan() yazılmaz. Çağıran kişi hesap ayrıntısını bilmek zorunda değildir.</a:t>
            </a:r>
          </a:p>
        </p:txBody>
      </p:sp>
      <p:sp>
        <p:nvSpPr>
          <p:cNvPr id="17" name="Dikdörtgen 16">
            <a:extLst>
              <a:ext uri="{FF2B5EF4-FFF2-40B4-BE49-F238E27FC236}">
                <a16:creationId xmlns:a16="http://schemas.microsoft.com/office/drawing/2014/main" id="{AAAD81FA-3024-4F95-A949-BA2F73B75A9B}"/>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8" name="Dikdörtgen 17">
            <a:extLst>
              <a:ext uri="{FF2B5EF4-FFF2-40B4-BE49-F238E27FC236}">
                <a16:creationId xmlns:a16="http://schemas.microsoft.com/office/drawing/2014/main" id="{F212D200-A2FE-41A8-8C0C-C2E4BE9E3F76}"/>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20</a:t>
            </a:r>
          </a:p>
        </p:txBody>
      </p:sp>
      <p:sp>
        <p:nvSpPr>
          <p:cNvPr id="19" name="Dikdörtgen 18">
            <a:extLst>
              <a:ext uri="{FF2B5EF4-FFF2-40B4-BE49-F238E27FC236}">
                <a16:creationId xmlns:a16="http://schemas.microsoft.com/office/drawing/2014/main" id="{DF897FB6-979B-480B-9BB5-4280FC84EDC9}"/>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26 / 35</a:t>
            </a:r>
          </a:p>
        </p:txBody>
      </p:sp>
    </p:spTree>
    <p:extLst>
      <p:ext uri="{BB962C8B-B14F-4D97-AF65-F5344CB8AC3E}">
        <p14:creationId xmlns:p14="http://schemas.microsoft.com/office/powerpoint/2010/main" val="297373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1" name="Dikdörtgen 20">
            <a:extLst>
              <a:ext uri="{FF2B5EF4-FFF2-40B4-BE49-F238E27FC236}">
                <a16:creationId xmlns:a16="http://schemas.microsoft.com/office/drawing/2014/main" id="{4728B431-1ABE-4175-BEAC-D81F392EC421}"/>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41D51DC9-417A-4C3B-A8F6-A3E36456ECB3}"/>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Başlangıç değerine kural koymak</a:t>
            </a:r>
          </a:p>
        </p:txBody>
      </p:sp>
      <p:sp>
        <p:nvSpPr>
          <p:cNvPr id="3" name="Dikdörtgen 2">
            <a:extLst>
              <a:ext uri="{FF2B5EF4-FFF2-40B4-BE49-F238E27FC236}">
                <a16:creationId xmlns:a16="http://schemas.microsoft.com/office/drawing/2014/main" id="{ADCF6609-B6F9-479F-9FE1-21FFB87E6C7E}"/>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init içindeki require, koşul sağlanmazsa nesnenin kurulmasını hata ile durdurur.</a:t>
            </a:r>
          </a:p>
        </p:txBody>
      </p:sp>
      <p:sp>
        <p:nvSpPr>
          <p:cNvPr id="4" name="Dikdörtgen 3">
            <a:extLst>
              <a:ext uri="{FF2B5EF4-FFF2-40B4-BE49-F238E27FC236}">
                <a16:creationId xmlns:a16="http://schemas.microsoft.com/office/drawing/2014/main" id="{D471C448-75A3-4958-88E4-6FB510418A85}"/>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6BCC618F-B450-401F-8FC3-7BD375961F4F}"/>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1950" b="0">
                <a:solidFill>
                  <a:srgbClr val="152F3D"/>
                </a:solidFill>
                <a:latin typeface="Consolas"/>
                <a:ea typeface="Consolas"/>
                <a:cs typeface="Consolas"/>
              </a:defRPr>
            </a:pPr>
            <a:r>
              <a:rPr>
                <a:solidFill>
                  <a:srgbClr val="6941A5"/>
                </a:solidFill>
              </a:rPr>
              <a:t>class</a:t>
            </a:r>
            <a:r>
              <a:t> Urun(</a:t>
            </a:r>
            <a:r>
              <a:rPr>
                <a:solidFill>
                  <a:srgbClr val="6941A5"/>
                </a:solidFill>
              </a:rPr>
              <a:t>val</a:t>
            </a:r>
            <a:r>
              <a:t> ad: String, </a:t>
            </a:r>
            <a:r>
              <a:rPr>
                <a:solidFill>
                  <a:srgbClr val="6941A5"/>
                </a:solidFill>
              </a:rPr>
              <a:t>val</a:t>
            </a:r>
            <a:r>
              <a:t> stok: Int) {</a:t>
            </a:r>
          </a:p>
        </p:txBody>
      </p:sp>
      <p:sp>
        <p:nvSpPr>
          <p:cNvPr id="6" name="Dikdörtgen 5">
            <a:extLst>
              <a:ext uri="{FF2B5EF4-FFF2-40B4-BE49-F238E27FC236}">
                <a16:creationId xmlns:a16="http://schemas.microsoft.com/office/drawing/2014/main" id="{2301AD99-010F-4DD1-B006-84481123CD18}"/>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1950" b="0">
                <a:solidFill>
                  <a:srgbClr val="152F3D"/>
                </a:solidFill>
                <a:latin typeface="Consolas"/>
                <a:ea typeface="Consolas"/>
                <a:cs typeface="Consolas"/>
              </a:defRPr>
            </a:pPr>
            <a:r>
              <a:t>    </a:t>
            </a:r>
            <a:r>
              <a:rPr>
                <a:solidFill>
                  <a:srgbClr val="6941A5"/>
                </a:solidFill>
              </a:rPr>
              <a:t>init</a:t>
            </a:r>
            <a:r>
              <a:t> {</a:t>
            </a:r>
          </a:p>
        </p:txBody>
      </p:sp>
      <p:sp>
        <p:nvSpPr>
          <p:cNvPr id="7" name="Dikdörtgen 6">
            <a:extLst>
              <a:ext uri="{FF2B5EF4-FFF2-40B4-BE49-F238E27FC236}">
                <a16:creationId xmlns:a16="http://schemas.microsoft.com/office/drawing/2014/main" id="{84F50898-70BE-4DFB-8A4C-6E574FA0766C}"/>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1950" b="0">
                <a:solidFill>
                  <a:srgbClr val="152F3D"/>
                </a:solidFill>
                <a:latin typeface="Consolas"/>
                <a:ea typeface="Consolas"/>
                <a:cs typeface="Consolas"/>
              </a:defRPr>
            </a:pPr>
            <a:r>
              <a:t>        require(stok &gt;= </a:t>
            </a:r>
            <a:r>
              <a:rPr>
                <a:solidFill>
                  <a:srgbClr val="A45110"/>
                </a:solidFill>
              </a:rPr>
              <a:t>0</a:t>
            </a:r>
            <a:r>
              <a:t>) { </a:t>
            </a:r>
            <a:r>
              <a:rPr>
                <a:solidFill>
                  <a:srgbClr val="397425"/>
                </a:solidFill>
              </a:rPr>
              <a:t>"Stok negatif olamaz"</a:t>
            </a:r>
            <a:r>
              <a:t> }</a:t>
            </a:r>
          </a:p>
        </p:txBody>
      </p:sp>
      <p:sp>
        <p:nvSpPr>
          <p:cNvPr id="8" name="Dikdörtgen 7">
            <a:extLst>
              <a:ext uri="{FF2B5EF4-FFF2-40B4-BE49-F238E27FC236}">
                <a16:creationId xmlns:a16="http://schemas.microsoft.com/office/drawing/2014/main" id="{995B8223-8A22-4F0E-B662-FD09528E78DD}"/>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1950" b="0">
                <a:solidFill>
                  <a:srgbClr val="152F3D"/>
                </a:solidFill>
                <a:latin typeface="Consolas"/>
                <a:ea typeface="Consolas"/>
                <a:cs typeface="Consolas"/>
              </a:defRPr>
            </a:pPr>
            <a:r>
              <a:t>    }</a:t>
            </a:r>
          </a:p>
        </p:txBody>
      </p:sp>
      <p:sp>
        <p:nvSpPr>
          <p:cNvPr id="9" name="Dikdörtgen 8">
            <a:extLst>
              <a:ext uri="{FF2B5EF4-FFF2-40B4-BE49-F238E27FC236}">
                <a16:creationId xmlns:a16="http://schemas.microsoft.com/office/drawing/2014/main" id="{BFAF0FE7-12A7-4171-8D7F-C130EC29F182}"/>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1950" b="0">
                <a:solidFill>
                  <a:srgbClr val="152F3D"/>
                </a:solidFill>
                <a:latin typeface="Consolas"/>
                <a:ea typeface="Consolas"/>
                <a:cs typeface="Consolas"/>
              </a:defRPr>
            </a:pPr>
            <a:r>
              <a:t>}</a:t>
            </a:r>
          </a:p>
        </p:txBody>
      </p:sp>
      <p:sp>
        <p:nvSpPr>
          <p:cNvPr id="10" name="Dikdörtgen 9">
            <a:extLst>
              <a:ext uri="{FF2B5EF4-FFF2-40B4-BE49-F238E27FC236}">
                <a16:creationId xmlns:a16="http://schemas.microsoft.com/office/drawing/2014/main" id="{84C9D8BF-2AEB-4E4F-956C-ED75B7201795}"/>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1950" b="0">
                <a:solidFill>
                  <a:srgbClr val="152F3D"/>
                </a:solidFill>
                <a:latin typeface="Consolas"/>
                <a:ea typeface="Consolas"/>
                <a:cs typeface="Consolas"/>
              </a:defRPr>
            </a:pPr>
            <a:r>
              <a:rPr>
                <a:solidFill>
                  <a:srgbClr val="6941A5"/>
                </a:solidFill>
              </a:rPr>
              <a:t>fun</a:t>
            </a:r>
            <a:r>
              <a:t> main() {</a:t>
            </a:r>
          </a:p>
        </p:txBody>
      </p:sp>
      <p:sp>
        <p:nvSpPr>
          <p:cNvPr id="11" name="Dikdörtgen 10">
            <a:extLst>
              <a:ext uri="{FF2B5EF4-FFF2-40B4-BE49-F238E27FC236}">
                <a16:creationId xmlns:a16="http://schemas.microsoft.com/office/drawing/2014/main" id="{5F933A35-40CA-4A89-81A3-783810F633C3}"/>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1950" b="0">
                <a:solidFill>
                  <a:srgbClr val="152F3D"/>
                </a:solidFill>
                <a:latin typeface="Consolas"/>
                <a:ea typeface="Consolas"/>
                <a:cs typeface="Consolas"/>
              </a:defRPr>
            </a:pPr>
            <a:r>
              <a:t>    </a:t>
            </a:r>
            <a:r>
              <a:rPr>
                <a:solidFill>
                  <a:srgbClr val="6941A5"/>
                </a:solidFill>
              </a:rPr>
              <a:t>val</a:t>
            </a:r>
            <a:r>
              <a:t> urun = Urun(</a:t>
            </a:r>
            <a:r>
              <a:rPr>
                <a:solidFill>
                  <a:srgbClr val="397425"/>
                </a:solidFill>
              </a:rPr>
              <a:t>"Kalem"</a:t>
            </a:r>
            <a:r>
              <a:t>, </a:t>
            </a:r>
            <a:r>
              <a:rPr>
                <a:solidFill>
                  <a:srgbClr val="A45110"/>
                </a:solidFill>
              </a:rPr>
              <a:t>5</a:t>
            </a:r>
            <a:r>
              <a:t>)</a:t>
            </a:r>
          </a:p>
        </p:txBody>
      </p:sp>
      <p:sp>
        <p:nvSpPr>
          <p:cNvPr id="12" name="Dikdörtgen 11">
            <a:extLst>
              <a:ext uri="{FF2B5EF4-FFF2-40B4-BE49-F238E27FC236}">
                <a16:creationId xmlns:a16="http://schemas.microsoft.com/office/drawing/2014/main" id="{B0453639-8991-4F46-A7FC-4DD1290A7555}"/>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1950" b="0">
                <a:solidFill>
                  <a:srgbClr val="152F3D"/>
                </a:solidFill>
                <a:latin typeface="Consolas"/>
                <a:ea typeface="Consolas"/>
                <a:cs typeface="Consolas"/>
              </a:defRPr>
            </a:pPr>
            <a:r>
              <a:t>    println(urun.stok)</a:t>
            </a:r>
          </a:p>
        </p:txBody>
      </p:sp>
      <p:sp>
        <p:nvSpPr>
          <p:cNvPr id="13" name="Dikdörtgen 12">
            <a:extLst>
              <a:ext uri="{FF2B5EF4-FFF2-40B4-BE49-F238E27FC236}">
                <a16:creationId xmlns:a16="http://schemas.microsoft.com/office/drawing/2014/main" id="{7670E843-35F2-4F0F-A10A-0F9C5BF19EF7}"/>
              </a:ext>
            </a:extLst>
          </p:cNvPr>
          <p:cNvSpPr>
            <a:spLocks noGrp="1"/>
          </p:cNvSpPr>
          <p:nvPr/>
        </p:nvSpPr>
        <p:spPr>
          <a:xfrm>
            <a:off x="742950" y="5648325"/>
            <a:ext cx="8782050" cy="323850"/>
          </a:xfrm>
          <a:prstGeom prst="rect">
            <a:avLst/>
          </a:prstGeom>
          <a:noFill/>
          <a:ln w="0">
            <a:noFill/>
          </a:ln>
        </p:spPr>
        <p:txBody>
          <a:bodyPr wrap="square" lIns="0" tIns="0" rIns="0" bIns="0" anchor="t">
            <a:noAutofit/>
          </a:bodyPr>
          <a:lstStyle/>
          <a:p>
            <a:pPr>
              <a:defRPr sz="1950" b="0">
                <a:solidFill>
                  <a:srgbClr val="152F3D"/>
                </a:solidFill>
                <a:latin typeface="Consolas"/>
                <a:ea typeface="Consolas"/>
                <a:cs typeface="Consolas"/>
              </a:defRPr>
            </a:pPr>
            <a:r>
              <a:t>}</a:t>
            </a:r>
          </a:p>
        </p:txBody>
      </p:sp>
      <p:sp>
        <p:nvSpPr>
          <p:cNvPr id="14" name="Dikdörtgen 13">
            <a:extLst>
              <a:ext uri="{FF2B5EF4-FFF2-40B4-BE49-F238E27FC236}">
                <a16:creationId xmlns:a16="http://schemas.microsoft.com/office/drawing/2014/main" id="{2CF4B0C7-EE61-495E-BB2E-14A6F7CB86A3}"/>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init</a:t>
            </a:r>
          </a:p>
        </p:txBody>
      </p:sp>
      <p:sp>
        <p:nvSpPr>
          <p:cNvPr id="15" name="Dikdörtgen 14">
            <a:extLst>
              <a:ext uri="{FF2B5EF4-FFF2-40B4-BE49-F238E27FC236}">
                <a16:creationId xmlns:a16="http://schemas.microsoft.com/office/drawing/2014/main" id="{DAAC3D93-9FEF-40D2-8737-1D097F3E4FA9}"/>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Yeni nesne kurulurken kontrol otomatik çalışır. 5 geçerli olduğu için kurulum tamamlanır.</a:t>
            </a:r>
          </a:p>
        </p:txBody>
      </p:sp>
      <p:sp>
        <p:nvSpPr>
          <p:cNvPr id="16" name="Dikdörtgen 15">
            <a:extLst>
              <a:ext uri="{FF2B5EF4-FFF2-40B4-BE49-F238E27FC236}">
                <a16:creationId xmlns:a16="http://schemas.microsoft.com/office/drawing/2014/main" id="{4F7D5E69-2DDA-42D9-960C-B40A2112D6AD}"/>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require</a:t>
            </a:r>
          </a:p>
        </p:txBody>
      </p:sp>
      <p:sp>
        <p:nvSpPr>
          <p:cNvPr id="17" name="Dikdörtgen 16">
            <a:extLst>
              <a:ext uri="{FF2B5EF4-FFF2-40B4-BE49-F238E27FC236}">
                <a16:creationId xmlns:a16="http://schemas.microsoft.com/office/drawing/2014/main" id="{ED2921B1-6A1A-498C-A00A-55F52591AE0F}"/>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Negatif stok verilirse IllegalArgumentException oluşur. Bu bir true/false sonucu değildir.</a:t>
            </a:r>
          </a:p>
        </p:txBody>
      </p:sp>
      <p:sp>
        <p:nvSpPr>
          <p:cNvPr id="18" name="Dikdörtgen 17">
            <a:extLst>
              <a:ext uri="{FF2B5EF4-FFF2-40B4-BE49-F238E27FC236}">
                <a16:creationId xmlns:a16="http://schemas.microsoft.com/office/drawing/2014/main" id="{7BBDBF79-4E66-4E1C-9F41-A3B07D4CA8DA}"/>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9" name="Dikdörtgen 18">
            <a:extLst>
              <a:ext uri="{FF2B5EF4-FFF2-40B4-BE49-F238E27FC236}">
                <a16:creationId xmlns:a16="http://schemas.microsoft.com/office/drawing/2014/main" id="{07E17135-4FA0-41FB-A185-F7E025EC8BB1}"/>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5</a:t>
            </a:r>
          </a:p>
        </p:txBody>
      </p:sp>
      <p:sp>
        <p:nvSpPr>
          <p:cNvPr id="20" name="Dikdörtgen 19">
            <a:extLst>
              <a:ext uri="{FF2B5EF4-FFF2-40B4-BE49-F238E27FC236}">
                <a16:creationId xmlns:a16="http://schemas.microsoft.com/office/drawing/2014/main" id="{91C3E192-2D5D-4BFB-B38F-84C1BBEA34FA}"/>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27 / 35</a:t>
            </a:r>
          </a:p>
        </p:txBody>
      </p:sp>
    </p:spTree>
    <p:extLst>
      <p:ext uri="{BB962C8B-B14F-4D97-AF65-F5344CB8AC3E}">
        <p14:creationId xmlns:p14="http://schemas.microsoft.com/office/powerpoint/2010/main" val="21291747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1" name="Dikdörtgen 20">
            <a:extLst>
              <a:ext uri="{FF2B5EF4-FFF2-40B4-BE49-F238E27FC236}">
                <a16:creationId xmlns:a16="http://schemas.microsoft.com/office/drawing/2014/main" id="{22F8D4A7-43FF-430C-A760-8DABCCAF68A0}"/>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556D2A96-A2AB-416D-B8D3-08701FA76B2C}"/>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Nesneleri listede tutmak</a:t>
            </a:r>
          </a:p>
        </p:txBody>
      </p:sp>
      <p:sp>
        <p:nvSpPr>
          <p:cNvPr id="3" name="Dikdörtgen 2">
            <a:extLst>
              <a:ext uri="{FF2B5EF4-FFF2-40B4-BE49-F238E27FC236}">
                <a16:creationId xmlns:a16="http://schemas.microsoft.com/office/drawing/2014/main" id="{9CF5A19D-ED24-4E48-8AC4-F9DFC9AF5178}"/>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Liste yalnız metin veya sayı değil, kendi sınıfımızdan nesneler de tutabilir.</a:t>
            </a:r>
          </a:p>
        </p:txBody>
      </p:sp>
      <p:sp>
        <p:nvSpPr>
          <p:cNvPr id="4" name="Dikdörtgen 3">
            <a:extLst>
              <a:ext uri="{FF2B5EF4-FFF2-40B4-BE49-F238E27FC236}">
                <a16:creationId xmlns:a16="http://schemas.microsoft.com/office/drawing/2014/main" id="{BBB3A153-B5AA-45F6-ADF0-1960B420D1BA}"/>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EF60DBF2-C98F-474F-92CF-17A1354B304A}"/>
              </a:ext>
            </a:extLst>
          </p:cNvPr>
          <p:cNvSpPr>
            <a:spLocks noGrp="1"/>
          </p:cNvSpPr>
          <p:nvPr/>
        </p:nvSpPr>
        <p:spPr>
          <a:xfrm>
            <a:off x="742950" y="30575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Urun(</a:t>
            </a:r>
            <a:r>
              <a:rPr>
                <a:solidFill>
                  <a:srgbClr val="6941A5"/>
                </a:solidFill>
              </a:rPr>
              <a:t>val</a:t>
            </a:r>
            <a:r>
              <a:t> ad: String, </a:t>
            </a:r>
            <a:r>
              <a:rPr>
                <a:solidFill>
                  <a:srgbClr val="6941A5"/>
                </a:solidFill>
              </a:rPr>
              <a:t>val</a:t>
            </a:r>
            <a:r>
              <a:t> stok: Int)</a:t>
            </a:r>
          </a:p>
        </p:txBody>
      </p:sp>
      <p:sp>
        <p:nvSpPr>
          <p:cNvPr id="6" name="Dikdörtgen 5">
            <a:extLst>
              <a:ext uri="{FF2B5EF4-FFF2-40B4-BE49-F238E27FC236}">
                <a16:creationId xmlns:a16="http://schemas.microsoft.com/office/drawing/2014/main" id="{DD63AB27-9A6E-4B0F-8A23-26DF2D1A2C4F}"/>
              </a:ext>
            </a:extLst>
          </p:cNvPr>
          <p:cNvSpPr>
            <a:spLocks noGrp="1"/>
          </p:cNvSpPr>
          <p:nvPr/>
        </p:nvSpPr>
        <p:spPr>
          <a:xfrm>
            <a:off x="742950" y="33813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7" name="Dikdörtgen 6">
            <a:extLst>
              <a:ext uri="{FF2B5EF4-FFF2-40B4-BE49-F238E27FC236}">
                <a16:creationId xmlns:a16="http://schemas.microsoft.com/office/drawing/2014/main" id="{D0652D4E-AE30-499F-8C76-06A3014B2AFE}"/>
              </a:ext>
            </a:extLst>
          </p:cNvPr>
          <p:cNvSpPr>
            <a:spLocks noGrp="1"/>
          </p:cNvSpPr>
          <p:nvPr/>
        </p:nvSpPr>
        <p:spPr>
          <a:xfrm>
            <a:off x="742950" y="37052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urunler = listOf(</a:t>
            </a:r>
          </a:p>
        </p:txBody>
      </p:sp>
      <p:sp>
        <p:nvSpPr>
          <p:cNvPr id="8" name="Dikdörtgen 7">
            <a:extLst>
              <a:ext uri="{FF2B5EF4-FFF2-40B4-BE49-F238E27FC236}">
                <a16:creationId xmlns:a16="http://schemas.microsoft.com/office/drawing/2014/main" id="{B2582008-3591-4D7A-AB76-0229867030FF}"/>
              </a:ext>
            </a:extLst>
          </p:cNvPr>
          <p:cNvSpPr>
            <a:spLocks noGrp="1"/>
          </p:cNvSpPr>
          <p:nvPr/>
        </p:nvSpPr>
        <p:spPr>
          <a:xfrm>
            <a:off x="742950" y="40290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Urun(</a:t>
            </a:r>
            <a:r>
              <a:rPr>
                <a:solidFill>
                  <a:srgbClr val="397425"/>
                </a:solidFill>
              </a:rPr>
              <a:t>"Kalem"</a:t>
            </a:r>
            <a:r>
              <a:t>, </a:t>
            </a:r>
            <a:r>
              <a:rPr>
                <a:solidFill>
                  <a:srgbClr val="A45110"/>
                </a:solidFill>
              </a:rPr>
              <a:t>5</a:t>
            </a:r>
            <a:r>
              <a:t>), Urun(</a:t>
            </a:r>
            <a:r>
              <a:rPr>
                <a:solidFill>
                  <a:srgbClr val="397425"/>
                </a:solidFill>
              </a:rPr>
              <a:t>"Defter"</a:t>
            </a:r>
            <a:r>
              <a:t>, </a:t>
            </a:r>
            <a:r>
              <a:rPr>
                <a:solidFill>
                  <a:srgbClr val="A45110"/>
                </a:solidFill>
              </a:rPr>
              <a:t>2</a:t>
            </a:r>
            <a:r>
              <a:t>)</a:t>
            </a:r>
          </a:p>
        </p:txBody>
      </p:sp>
      <p:sp>
        <p:nvSpPr>
          <p:cNvPr id="9" name="Dikdörtgen 8">
            <a:extLst>
              <a:ext uri="{FF2B5EF4-FFF2-40B4-BE49-F238E27FC236}">
                <a16:creationId xmlns:a16="http://schemas.microsoft.com/office/drawing/2014/main" id="{ED9676C8-96B0-46E2-B088-2561B321FFB6}"/>
              </a:ext>
            </a:extLst>
          </p:cNvPr>
          <p:cNvSpPr>
            <a:spLocks noGrp="1"/>
          </p:cNvSpPr>
          <p:nvPr/>
        </p:nvSpPr>
        <p:spPr>
          <a:xfrm>
            <a:off x="742950" y="43529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0" name="Dikdörtgen 9">
            <a:extLst>
              <a:ext uri="{FF2B5EF4-FFF2-40B4-BE49-F238E27FC236}">
                <a16:creationId xmlns:a16="http://schemas.microsoft.com/office/drawing/2014/main" id="{5A105A1C-30F4-4965-B9D3-958234898BB1}"/>
              </a:ext>
            </a:extLst>
          </p:cNvPr>
          <p:cNvSpPr>
            <a:spLocks noGrp="1"/>
          </p:cNvSpPr>
          <p:nvPr/>
        </p:nvSpPr>
        <p:spPr>
          <a:xfrm>
            <a:off x="742950" y="46767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for</a:t>
            </a:r>
            <a:r>
              <a:t> (urun </a:t>
            </a:r>
            <a:r>
              <a:rPr>
                <a:solidFill>
                  <a:srgbClr val="6941A5"/>
                </a:solidFill>
              </a:rPr>
              <a:t>in</a:t>
            </a:r>
            <a:r>
              <a:t> urunler) {</a:t>
            </a:r>
          </a:p>
        </p:txBody>
      </p:sp>
      <p:sp>
        <p:nvSpPr>
          <p:cNvPr id="11" name="Dikdörtgen 10">
            <a:extLst>
              <a:ext uri="{FF2B5EF4-FFF2-40B4-BE49-F238E27FC236}">
                <a16:creationId xmlns:a16="http://schemas.microsoft.com/office/drawing/2014/main" id="{0198F314-642B-46A2-888D-1AD21B9E3BA1}"/>
              </a:ext>
            </a:extLst>
          </p:cNvPr>
          <p:cNvSpPr>
            <a:spLocks noGrp="1"/>
          </p:cNvSpPr>
          <p:nvPr/>
        </p:nvSpPr>
        <p:spPr>
          <a:xfrm>
            <a:off x="742950" y="50006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println(urun.ad + </a:t>
            </a:r>
            <a:r>
              <a:rPr>
                <a:solidFill>
                  <a:srgbClr val="397425"/>
                </a:solidFill>
              </a:rPr>
              <a:t>": "</a:t>
            </a:r>
            <a:r>
              <a:t> + urun.stok)</a:t>
            </a:r>
          </a:p>
        </p:txBody>
      </p:sp>
      <p:sp>
        <p:nvSpPr>
          <p:cNvPr id="12" name="Dikdörtgen 11">
            <a:extLst>
              <a:ext uri="{FF2B5EF4-FFF2-40B4-BE49-F238E27FC236}">
                <a16:creationId xmlns:a16="http://schemas.microsoft.com/office/drawing/2014/main" id="{A8B17609-83D3-498A-8E4B-D63A3B68A38F}"/>
              </a:ext>
            </a:extLst>
          </p:cNvPr>
          <p:cNvSpPr>
            <a:spLocks noGrp="1"/>
          </p:cNvSpPr>
          <p:nvPr/>
        </p:nvSpPr>
        <p:spPr>
          <a:xfrm>
            <a:off x="742950" y="532447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3" name="Dikdörtgen 12">
            <a:extLst>
              <a:ext uri="{FF2B5EF4-FFF2-40B4-BE49-F238E27FC236}">
                <a16:creationId xmlns:a16="http://schemas.microsoft.com/office/drawing/2014/main" id="{7C03256F-4C5F-437B-BD07-1EC37F43C3C7}"/>
              </a:ext>
            </a:extLst>
          </p:cNvPr>
          <p:cNvSpPr>
            <a:spLocks noGrp="1"/>
          </p:cNvSpPr>
          <p:nvPr/>
        </p:nvSpPr>
        <p:spPr>
          <a:xfrm>
            <a:off x="742950" y="5648325"/>
            <a:ext cx="8782050" cy="323850"/>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4" name="Dikdörtgen 13">
            <a:extLst>
              <a:ext uri="{FF2B5EF4-FFF2-40B4-BE49-F238E27FC236}">
                <a16:creationId xmlns:a16="http://schemas.microsoft.com/office/drawing/2014/main" id="{DE1DFD27-0775-4901-B684-EAA4C6897848}"/>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Liste elemanı</a:t>
            </a:r>
          </a:p>
        </p:txBody>
      </p:sp>
      <p:sp>
        <p:nvSpPr>
          <p:cNvPr id="15" name="Dikdörtgen 14">
            <a:extLst>
              <a:ext uri="{FF2B5EF4-FFF2-40B4-BE49-F238E27FC236}">
                <a16:creationId xmlns:a16="http://schemas.microsoft.com/office/drawing/2014/main" id="{9BD210A2-2E7F-4553-B388-7DAFECB610A4}"/>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Her eleman bir Urun nesnesidir. İsim ve stok aynı nesne içinde birlikte durur.</a:t>
            </a:r>
          </a:p>
        </p:txBody>
      </p:sp>
      <p:sp>
        <p:nvSpPr>
          <p:cNvPr id="16" name="Dikdörtgen 15">
            <a:extLst>
              <a:ext uri="{FF2B5EF4-FFF2-40B4-BE49-F238E27FC236}">
                <a16:creationId xmlns:a16="http://schemas.microsoft.com/office/drawing/2014/main" id="{4EA9EB35-9C30-4B94-A25E-94B798B75B20}"/>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Döngü</a:t>
            </a:r>
          </a:p>
        </p:txBody>
      </p:sp>
      <p:sp>
        <p:nvSpPr>
          <p:cNvPr id="17" name="Dikdörtgen 16">
            <a:extLst>
              <a:ext uri="{FF2B5EF4-FFF2-40B4-BE49-F238E27FC236}">
                <a16:creationId xmlns:a16="http://schemas.microsoft.com/office/drawing/2014/main" id="{C12C6426-9426-4576-BE16-09F88D196116}"/>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urun her turda sıradaki nesneyi alır. Nokta ile o nesnenin özelliklerini okuruz.</a:t>
            </a:r>
          </a:p>
        </p:txBody>
      </p:sp>
      <p:sp>
        <p:nvSpPr>
          <p:cNvPr id="18" name="Dikdörtgen 17">
            <a:extLst>
              <a:ext uri="{FF2B5EF4-FFF2-40B4-BE49-F238E27FC236}">
                <a16:creationId xmlns:a16="http://schemas.microsoft.com/office/drawing/2014/main" id="{C851DD6D-B157-433E-9CDD-C55232CCF1FA}"/>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19" name="Dikdörtgen 18">
            <a:extLst>
              <a:ext uri="{FF2B5EF4-FFF2-40B4-BE49-F238E27FC236}">
                <a16:creationId xmlns:a16="http://schemas.microsoft.com/office/drawing/2014/main" id="{CEEB8C02-E746-448A-91A0-2A77286DB397}"/>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Kalem: 5</a:t>
            </a:r>
          </a:p>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Defter: 2</a:t>
            </a:r>
          </a:p>
        </p:txBody>
      </p:sp>
      <p:sp>
        <p:nvSpPr>
          <p:cNvPr id="20" name="Dikdörtgen 19">
            <a:extLst>
              <a:ext uri="{FF2B5EF4-FFF2-40B4-BE49-F238E27FC236}">
                <a16:creationId xmlns:a16="http://schemas.microsoft.com/office/drawing/2014/main" id="{2E2E75C5-DE46-4B9C-BEC8-A401E16FA5CE}"/>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28 / 35</a:t>
            </a:r>
          </a:p>
        </p:txBody>
      </p:sp>
    </p:spTree>
    <p:extLst>
      <p:ext uri="{BB962C8B-B14F-4D97-AF65-F5344CB8AC3E}">
        <p14:creationId xmlns:p14="http://schemas.microsoft.com/office/powerpoint/2010/main" val="1311584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5" name="Dikdörtgen 24">
            <a:extLst>
              <a:ext uri="{FF2B5EF4-FFF2-40B4-BE49-F238E27FC236}">
                <a16:creationId xmlns:a16="http://schemas.microsoft.com/office/drawing/2014/main" id="{DD7A3735-3DF8-44C5-BC77-9053E33CF5B8}"/>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93660662-D5A5-4239-B4A1-FD1336E55092}"/>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İşlem başarılı mı? Nesne cevap versin</a:t>
            </a:r>
          </a:p>
        </p:txBody>
      </p:sp>
      <p:sp>
        <p:nvSpPr>
          <p:cNvPr id="3" name="Dikdörtgen 2">
            <a:extLst>
              <a:ext uri="{FF2B5EF4-FFF2-40B4-BE49-F238E27FC236}">
                <a16:creationId xmlns:a16="http://schemas.microsoft.com/office/drawing/2014/main" id="{69FBD703-768F-40FD-BEC4-3B60B9EB7D10}"/>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 metot, veriyi değiştirmenin yanında işlemin yapılıp yapılmadığını da bildirebilir.</a:t>
            </a:r>
          </a:p>
        </p:txBody>
      </p:sp>
      <p:sp>
        <p:nvSpPr>
          <p:cNvPr id="4" name="Dikdörtgen 3">
            <a:extLst>
              <a:ext uri="{FF2B5EF4-FFF2-40B4-BE49-F238E27FC236}">
                <a16:creationId xmlns:a16="http://schemas.microsoft.com/office/drawing/2014/main" id="{05D5B856-A80D-4BD8-B41C-3DD664E68E29}"/>
              </a:ext>
            </a:extLst>
          </p:cNvPr>
          <p:cNvSpPr>
            <a:spLocks noGrp="1"/>
          </p:cNvSpPr>
          <p:nvPr/>
        </p:nvSpPr>
        <p:spPr>
          <a:xfrm>
            <a:off x="742950" y="2609850"/>
            <a:ext cx="8715375"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Bu sayfadaki kod tek başına çalışır</a:t>
            </a:r>
          </a:p>
        </p:txBody>
      </p:sp>
      <p:sp>
        <p:nvSpPr>
          <p:cNvPr id="5" name="Dikdörtgen 4">
            <a:extLst>
              <a:ext uri="{FF2B5EF4-FFF2-40B4-BE49-F238E27FC236}">
                <a16:creationId xmlns:a16="http://schemas.microsoft.com/office/drawing/2014/main" id="{C5A0AFE0-C243-4704-94F9-9DA14EEDBE2A}"/>
              </a:ext>
            </a:extLst>
          </p:cNvPr>
          <p:cNvSpPr>
            <a:spLocks noGrp="1"/>
          </p:cNvSpPr>
          <p:nvPr/>
        </p:nvSpPr>
        <p:spPr>
          <a:xfrm>
            <a:off x="742950" y="305752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class</a:t>
            </a:r>
            <a:r>
              <a:t> Kitap {</a:t>
            </a:r>
          </a:p>
        </p:txBody>
      </p:sp>
      <p:sp>
        <p:nvSpPr>
          <p:cNvPr id="6" name="Dikdörtgen 5">
            <a:extLst>
              <a:ext uri="{FF2B5EF4-FFF2-40B4-BE49-F238E27FC236}">
                <a16:creationId xmlns:a16="http://schemas.microsoft.com/office/drawing/2014/main" id="{CF63D328-3C0A-4758-9183-ECB9E27D73CA}"/>
              </a:ext>
            </a:extLst>
          </p:cNvPr>
          <p:cNvSpPr>
            <a:spLocks noGrp="1"/>
          </p:cNvSpPr>
          <p:nvPr/>
        </p:nvSpPr>
        <p:spPr>
          <a:xfrm>
            <a:off x="742950" y="335280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private</a:t>
            </a:r>
            <a:r>
              <a:t> </a:t>
            </a:r>
            <a:r>
              <a:rPr>
                <a:solidFill>
                  <a:srgbClr val="6941A5"/>
                </a:solidFill>
              </a:rPr>
              <a:t>var</a:t>
            </a:r>
            <a:r>
              <a:t> oduncte = </a:t>
            </a:r>
            <a:r>
              <a:rPr>
                <a:solidFill>
                  <a:srgbClr val="6941A5"/>
                </a:solidFill>
              </a:rPr>
              <a:t>false</a:t>
            </a:r>
          </a:p>
        </p:txBody>
      </p:sp>
      <p:sp>
        <p:nvSpPr>
          <p:cNvPr id="7" name="Dikdörtgen 6">
            <a:extLst>
              <a:ext uri="{FF2B5EF4-FFF2-40B4-BE49-F238E27FC236}">
                <a16:creationId xmlns:a16="http://schemas.microsoft.com/office/drawing/2014/main" id="{318AF63E-3DC1-4630-8880-0588016F567E}"/>
              </a:ext>
            </a:extLst>
          </p:cNvPr>
          <p:cNvSpPr>
            <a:spLocks noGrp="1"/>
          </p:cNvSpPr>
          <p:nvPr/>
        </p:nvSpPr>
        <p:spPr>
          <a:xfrm>
            <a:off x="742950" y="364807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fun</a:t>
            </a:r>
            <a:r>
              <a:t> oduncAl(): Boolean {</a:t>
            </a:r>
          </a:p>
        </p:txBody>
      </p:sp>
      <p:sp>
        <p:nvSpPr>
          <p:cNvPr id="8" name="Dikdörtgen 7">
            <a:extLst>
              <a:ext uri="{FF2B5EF4-FFF2-40B4-BE49-F238E27FC236}">
                <a16:creationId xmlns:a16="http://schemas.microsoft.com/office/drawing/2014/main" id="{51116AEA-235B-4145-9E98-5925FF78D090}"/>
              </a:ext>
            </a:extLst>
          </p:cNvPr>
          <p:cNvSpPr>
            <a:spLocks noGrp="1"/>
          </p:cNvSpPr>
          <p:nvPr/>
        </p:nvSpPr>
        <p:spPr>
          <a:xfrm>
            <a:off x="742950" y="394335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if</a:t>
            </a:r>
            <a:r>
              <a:t> (oduncte) </a:t>
            </a:r>
            <a:r>
              <a:rPr>
                <a:solidFill>
                  <a:srgbClr val="6941A5"/>
                </a:solidFill>
              </a:rPr>
              <a:t>return</a:t>
            </a:r>
            <a:r>
              <a:t> </a:t>
            </a:r>
            <a:r>
              <a:rPr>
                <a:solidFill>
                  <a:srgbClr val="6941A5"/>
                </a:solidFill>
              </a:rPr>
              <a:t>false</a:t>
            </a:r>
          </a:p>
        </p:txBody>
      </p:sp>
      <p:sp>
        <p:nvSpPr>
          <p:cNvPr id="9" name="Dikdörtgen 8">
            <a:extLst>
              <a:ext uri="{FF2B5EF4-FFF2-40B4-BE49-F238E27FC236}">
                <a16:creationId xmlns:a16="http://schemas.microsoft.com/office/drawing/2014/main" id="{3F6DC0AD-C741-4BF2-B5A9-B5E0AA303659}"/>
              </a:ext>
            </a:extLst>
          </p:cNvPr>
          <p:cNvSpPr>
            <a:spLocks noGrp="1"/>
          </p:cNvSpPr>
          <p:nvPr/>
        </p:nvSpPr>
        <p:spPr>
          <a:xfrm>
            <a:off x="742950" y="423862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oduncte = </a:t>
            </a:r>
            <a:r>
              <a:rPr>
                <a:solidFill>
                  <a:srgbClr val="6941A5"/>
                </a:solidFill>
              </a:rPr>
              <a:t>true</a:t>
            </a:r>
          </a:p>
        </p:txBody>
      </p:sp>
      <p:sp>
        <p:nvSpPr>
          <p:cNvPr id="10" name="Dikdörtgen 9">
            <a:extLst>
              <a:ext uri="{FF2B5EF4-FFF2-40B4-BE49-F238E27FC236}">
                <a16:creationId xmlns:a16="http://schemas.microsoft.com/office/drawing/2014/main" id="{04BC2B14-CC5E-4A18-A0B2-A1030B8A4555}"/>
              </a:ext>
            </a:extLst>
          </p:cNvPr>
          <p:cNvSpPr>
            <a:spLocks noGrp="1"/>
          </p:cNvSpPr>
          <p:nvPr/>
        </p:nvSpPr>
        <p:spPr>
          <a:xfrm>
            <a:off x="742950" y="453390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return</a:t>
            </a:r>
            <a:r>
              <a:t> </a:t>
            </a:r>
            <a:r>
              <a:rPr>
                <a:solidFill>
                  <a:srgbClr val="6941A5"/>
                </a:solidFill>
              </a:rPr>
              <a:t>true</a:t>
            </a:r>
          </a:p>
        </p:txBody>
      </p:sp>
      <p:sp>
        <p:nvSpPr>
          <p:cNvPr id="11" name="Dikdörtgen 10">
            <a:extLst>
              <a:ext uri="{FF2B5EF4-FFF2-40B4-BE49-F238E27FC236}">
                <a16:creationId xmlns:a16="http://schemas.microsoft.com/office/drawing/2014/main" id="{7375DCF9-F145-42C5-85D9-57B2432BC68B}"/>
              </a:ext>
            </a:extLst>
          </p:cNvPr>
          <p:cNvSpPr>
            <a:spLocks noGrp="1"/>
          </p:cNvSpPr>
          <p:nvPr/>
        </p:nvSpPr>
        <p:spPr>
          <a:xfrm>
            <a:off x="742950" y="482917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p>
        </p:txBody>
      </p:sp>
      <p:sp>
        <p:nvSpPr>
          <p:cNvPr id="12" name="Dikdörtgen 11">
            <a:extLst>
              <a:ext uri="{FF2B5EF4-FFF2-40B4-BE49-F238E27FC236}">
                <a16:creationId xmlns:a16="http://schemas.microsoft.com/office/drawing/2014/main" id="{54F33EBA-61B0-4B66-B085-7984F962D23F}"/>
              </a:ext>
            </a:extLst>
          </p:cNvPr>
          <p:cNvSpPr>
            <a:spLocks noGrp="1"/>
          </p:cNvSpPr>
          <p:nvPr/>
        </p:nvSpPr>
        <p:spPr>
          <a:xfrm>
            <a:off x="742950" y="512445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3" name="Dikdörtgen 12">
            <a:extLst>
              <a:ext uri="{FF2B5EF4-FFF2-40B4-BE49-F238E27FC236}">
                <a16:creationId xmlns:a16="http://schemas.microsoft.com/office/drawing/2014/main" id="{7BA8DC88-B4A7-4CB0-8738-2D2DDA1B03F3}"/>
              </a:ext>
            </a:extLst>
          </p:cNvPr>
          <p:cNvSpPr>
            <a:spLocks noGrp="1"/>
          </p:cNvSpPr>
          <p:nvPr/>
        </p:nvSpPr>
        <p:spPr>
          <a:xfrm>
            <a:off x="742950" y="541972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rPr>
                <a:solidFill>
                  <a:srgbClr val="6941A5"/>
                </a:solidFill>
              </a:rPr>
              <a:t>fun</a:t>
            </a:r>
            <a:r>
              <a:t> main() {</a:t>
            </a:r>
          </a:p>
        </p:txBody>
      </p:sp>
      <p:sp>
        <p:nvSpPr>
          <p:cNvPr id="14" name="Dikdörtgen 13">
            <a:extLst>
              <a:ext uri="{FF2B5EF4-FFF2-40B4-BE49-F238E27FC236}">
                <a16:creationId xmlns:a16="http://schemas.microsoft.com/office/drawing/2014/main" id="{5E76FA33-BA87-4EFC-909D-63F4F1934A04}"/>
              </a:ext>
            </a:extLst>
          </p:cNvPr>
          <p:cNvSpPr>
            <a:spLocks noGrp="1"/>
          </p:cNvSpPr>
          <p:nvPr/>
        </p:nvSpPr>
        <p:spPr>
          <a:xfrm>
            <a:off x="742950" y="571500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a:t>
            </a:r>
            <a:r>
              <a:rPr>
                <a:solidFill>
                  <a:srgbClr val="6941A5"/>
                </a:solidFill>
              </a:rPr>
              <a:t>val</a:t>
            </a:r>
            <a:r>
              <a:t> kitap = Kitap()</a:t>
            </a:r>
          </a:p>
        </p:txBody>
      </p:sp>
      <p:sp>
        <p:nvSpPr>
          <p:cNvPr id="15" name="Dikdörtgen 14">
            <a:extLst>
              <a:ext uri="{FF2B5EF4-FFF2-40B4-BE49-F238E27FC236}">
                <a16:creationId xmlns:a16="http://schemas.microsoft.com/office/drawing/2014/main" id="{112B4415-9677-4A1C-94F3-0DB6654F30F2}"/>
              </a:ext>
            </a:extLst>
          </p:cNvPr>
          <p:cNvSpPr>
            <a:spLocks noGrp="1"/>
          </p:cNvSpPr>
          <p:nvPr/>
        </p:nvSpPr>
        <p:spPr>
          <a:xfrm>
            <a:off x="742950" y="601027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println(kitap.oduncAl())</a:t>
            </a:r>
          </a:p>
        </p:txBody>
      </p:sp>
      <p:sp>
        <p:nvSpPr>
          <p:cNvPr id="16" name="Dikdörtgen 15">
            <a:extLst>
              <a:ext uri="{FF2B5EF4-FFF2-40B4-BE49-F238E27FC236}">
                <a16:creationId xmlns:a16="http://schemas.microsoft.com/office/drawing/2014/main" id="{558C6A61-D447-4DB1-912C-E976C6FAFD1B}"/>
              </a:ext>
            </a:extLst>
          </p:cNvPr>
          <p:cNvSpPr>
            <a:spLocks noGrp="1"/>
          </p:cNvSpPr>
          <p:nvPr/>
        </p:nvSpPr>
        <p:spPr>
          <a:xfrm>
            <a:off x="742950" y="6305550"/>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    println(kitap.oduncAl())</a:t>
            </a:r>
          </a:p>
        </p:txBody>
      </p:sp>
      <p:sp>
        <p:nvSpPr>
          <p:cNvPr id="17" name="Dikdörtgen 16">
            <a:extLst>
              <a:ext uri="{FF2B5EF4-FFF2-40B4-BE49-F238E27FC236}">
                <a16:creationId xmlns:a16="http://schemas.microsoft.com/office/drawing/2014/main" id="{30D45A1F-CA4D-4192-8AD5-89924837B5D7}"/>
              </a:ext>
            </a:extLst>
          </p:cNvPr>
          <p:cNvSpPr>
            <a:spLocks noGrp="1"/>
          </p:cNvSpPr>
          <p:nvPr/>
        </p:nvSpPr>
        <p:spPr>
          <a:xfrm>
            <a:off x="742950" y="6600825"/>
            <a:ext cx="8782050" cy="295275"/>
          </a:xfrm>
          <a:prstGeom prst="rect">
            <a:avLst/>
          </a:prstGeom>
          <a:noFill/>
          <a:ln w="0">
            <a:noFill/>
          </a:ln>
        </p:spPr>
        <p:txBody>
          <a:bodyPr wrap="square" lIns="0" tIns="0" rIns="0" bIns="0" anchor="t">
            <a:noAutofit/>
          </a:bodyPr>
          <a:lstStyle/>
          <a:p>
            <a:pPr>
              <a:defRPr sz="2100" b="0">
                <a:solidFill>
                  <a:srgbClr val="152F3D"/>
                </a:solidFill>
                <a:latin typeface="Consolas"/>
                <a:ea typeface="Consolas"/>
                <a:cs typeface="Consolas"/>
              </a:defRPr>
            </a:pPr>
            <a:r>
              <a:t>}</a:t>
            </a:r>
          </a:p>
        </p:txBody>
      </p:sp>
      <p:sp>
        <p:nvSpPr>
          <p:cNvPr id="18" name="Dikdörtgen 17">
            <a:extLst>
              <a:ext uri="{FF2B5EF4-FFF2-40B4-BE49-F238E27FC236}">
                <a16:creationId xmlns:a16="http://schemas.microsoft.com/office/drawing/2014/main" id="{06316566-C204-40AB-87BD-C4F8F6538E3D}"/>
              </a:ext>
            </a:extLst>
          </p:cNvPr>
          <p:cNvSpPr>
            <a:spLocks noGrp="1"/>
          </p:cNvSpPr>
          <p:nvPr/>
        </p:nvSpPr>
        <p:spPr>
          <a:xfrm>
            <a:off x="9944100" y="3000375"/>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İlk çağrı</a:t>
            </a:r>
          </a:p>
        </p:txBody>
      </p:sp>
      <p:sp>
        <p:nvSpPr>
          <p:cNvPr id="19" name="Dikdörtgen 18">
            <a:extLst>
              <a:ext uri="{FF2B5EF4-FFF2-40B4-BE49-F238E27FC236}">
                <a16:creationId xmlns:a16="http://schemas.microsoft.com/office/drawing/2014/main" id="{1314D181-50E8-462F-975B-7BEAF8E9D520}"/>
              </a:ext>
            </a:extLst>
          </p:cNvPr>
          <p:cNvSpPr>
            <a:spLocks noGrp="1"/>
          </p:cNvSpPr>
          <p:nvPr/>
        </p:nvSpPr>
        <p:spPr>
          <a:xfrm>
            <a:off x="9944100" y="3571875"/>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oduncte false olduğu için kitap verilir. Durum true yapılır ve başarı için true döner.</a:t>
            </a:r>
          </a:p>
        </p:txBody>
      </p:sp>
      <p:sp>
        <p:nvSpPr>
          <p:cNvPr id="20" name="Dikdörtgen 19">
            <a:extLst>
              <a:ext uri="{FF2B5EF4-FFF2-40B4-BE49-F238E27FC236}">
                <a16:creationId xmlns:a16="http://schemas.microsoft.com/office/drawing/2014/main" id="{DA0FB460-0687-48BF-A712-BE72D63C2118}"/>
              </a:ext>
            </a:extLst>
          </p:cNvPr>
          <p:cNvSpPr>
            <a:spLocks noGrp="1"/>
          </p:cNvSpPr>
          <p:nvPr/>
        </p:nvSpPr>
        <p:spPr>
          <a:xfrm>
            <a:off x="9944100" y="5219700"/>
            <a:ext cx="4514850" cy="542925"/>
          </a:xfrm>
          <a:prstGeom prst="rect">
            <a:avLst/>
          </a:prstGeom>
          <a:noFill/>
          <a:ln w="0">
            <a:noFill/>
          </a:ln>
        </p:spPr>
        <p:txBody>
          <a:bodyPr wrap="square" lIns="0" tIns="0" rIns="0" bIns="0" anchor="t">
            <a:noAutofit/>
          </a:bodyPr>
          <a:lstStyle/>
          <a:p>
            <a:pPr>
              <a:lnSpc>
                <a:spcPct val="108000"/>
              </a:lnSpc>
              <a:buNone/>
              <a:defRPr sz="2175" b="1">
                <a:solidFill>
                  <a:srgbClr val="00796C"/>
                </a:solidFill>
                <a:latin typeface="Arial"/>
                <a:ea typeface="Arial"/>
                <a:cs typeface="Arial"/>
              </a:defRPr>
            </a:pPr>
            <a:r>
              <a:rPr sz="2175" b="1">
                <a:solidFill>
                  <a:srgbClr val="00796C"/>
                </a:solidFill>
                <a:latin typeface="Arial"/>
                <a:ea typeface="Arial"/>
                <a:cs typeface="Arial"/>
              </a:rPr>
              <a:t>İkinci çağrı</a:t>
            </a:r>
          </a:p>
        </p:txBody>
      </p:sp>
      <p:sp>
        <p:nvSpPr>
          <p:cNvPr id="21" name="Dikdörtgen 20">
            <a:extLst>
              <a:ext uri="{FF2B5EF4-FFF2-40B4-BE49-F238E27FC236}">
                <a16:creationId xmlns:a16="http://schemas.microsoft.com/office/drawing/2014/main" id="{54AFF3FB-915B-49F3-967C-90CB228E6B3F}"/>
              </a:ext>
            </a:extLst>
          </p:cNvPr>
          <p:cNvSpPr>
            <a:spLocks noGrp="1"/>
          </p:cNvSpPr>
          <p:nvPr/>
        </p:nvSpPr>
        <p:spPr>
          <a:xfrm>
            <a:off x="9944100" y="5791200"/>
            <a:ext cx="4514850" cy="1581150"/>
          </a:xfrm>
          <a:prstGeom prst="rect">
            <a:avLst/>
          </a:prstGeom>
          <a:noFill/>
          <a:ln w="0">
            <a:noFill/>
          </a:ln>
        </p:spPr>
        <p:txBody>
          <a:bodyPr wrap="square" lIns="0" tIns="0" rIns="0" bIns="0" anchor="t">
            <a:noAutofit/>
          </a:bodyPr>
          <a:lstStyle/>
          <a:p>
            <a:pPr>
              <a:lnSpc>
                <a:spcPct val="108000"/>
              </a:lnSpc>
              <a:buNone/>
              <a:defRPr sz="2100" b="0">
                <a:solidFill>
                  <a:srgbClr val="152F3D"/>
                </a:solidFill>
                <a:latin typeface="Arial"/>
                <a:ea typeface="Arial"/>
                <a:cs typeface="Arial"/>
              </a:defRPr>
            </a:pPr>
            <a:r>
              <a:rPr sz="2100" b="0">
                <a:solidFill>
                  <a:srgbClr val="152F3D"/>
                </a:solidFill>
                <a:latin typeface="Arial"/>
                <a:ea typeface="Arial"/>
                <a:cs typeface="Arial"/>
              </a:rPr>
              <a:t>Kitap zaten ödünçtedir. Erken return false çalışır ve durum değişmez.</a:t>
            </a:r>
          </a:p>
        </p:txBody>
      </p:sp>
      <p:sp>
        <p:nvSpPr>
          <p:cNvPr id="22" name="Dikdörtgen 21">
            <a:extLst>
              <a:ext uri="{FF2B5EF4-FFF2-40B4-BE49-F238E27FC236}">
                <a16:creationId xmlns:a16="http://schemas.microsoft.com/office/drawing/2014/main" id="{183D6DCA-B8DD-4896-8074-F9735A1D697C}"/>
              </a:ext>
            </a:extLst>
          </p:cNvPr>
          <p:cNvSpPr>
            <a:spLocks noGrp="1"/>
          </p:cNvSpPr>
          <p:nvPr/>
        </p:nvSpPr>
        <p:spPr>
          <a:xfrm>
            <a:off x="742950" y="7496175"/>
            <a:ext cx="1695450" cy="57150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Çıktı / sonuç</a:t>
            </a:r>
          </a:p>
        </p:txBody>
      </p:sp>
      <p:sp>
        <p:nvSpPr>
          <p:cNvPr id="23" name="Dikdörtgen 22">
            <a:extLst>
              <a:ext uri="{FF2B5EF4-FFF2-40B4-BE49-F238E27FC236}">
                <a16:creationId xmlns:a16="http://schemas.microsoft.com/office/drawing/2014/main" id="{6B6E31D6-B184-4E54-9A03-C69242E914EE}"/>
              </a:ext>
            </a:extLst>
          </p:cNvPr>
          <p:cNvSpPr>
            <a:spLocks noGrp="1"/>
          </p:cNvSpPr>
          <p:nvPr/>
        </p:nvSpPr>
        <p:spPr>
          <a:xfrm>
            <a:off x="2686050" y="7458075"/>
            <a:ext cx="11811000" cy="800100"/>
          </a:xfrm>
          <a:prstGeom prst="rect">
            <a:avLst/>
          </a:prstGeom>
          <a:noFill/>
          <a:ln w="0">
            <a:noFill/>
          </a:ln>
        </p:spPr>
        <p:txBody>
          <a:bodyPr wrap="square" lIns="0" tIns="0" rIns="0" bIns="0" anchor="t">
            <a:noAutofit/>
          </a:bodyPr>
          <a:lstStyle/>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true</a:t>
            </a:r>
          </a:p>
          <a:p>
            <a:pPr>
              <a:lnSpc>
                <a:spcPct val="108000"/>
              </a:lnSpc>
              <a:buNone/>
              <a:defRPr sz="1875" b="0">
                <a:solidFill>
                  <a:srgbClr val="152F3D"/>
                </a:solidFill>
                <a:latin typeface="Consolas"/>
                <a:ea typeface="Consolas"/>
                <a:cs typeface="Consolas"/>
              </a:defRPr>
            </a:pPr>
            <a:r>
              <a:rPr sz="1875" b="0">
                <a:solidFill>
                  <a:srgbClr val="152F3D"/>
                </a:solidFill>
                <a:latin typeface="Consolas"/>
                <a:ea typeface="Consolas"/>
                <a:cs typeface="Consolas"/>
              </a:rPr>
              <a:t>false</a:t>
            </a:r>
          </a:p>
        </p:txBody>
      </p:sp>
      <p:sp>
        <p:nvSpPr>
          <p:cNvPr id="24" name="Dikdörtgen 23">
            <a:extLst>
              <a:ext uri="{FF2B5EF4-FFF2-40B4-BE49-F238E27FC236}">
                <a16:creationId xmlns:a16="http://schemas.microsoft.com/office/drawing/2014/main" id="{4E7FE894-A727-44CE-89A6-573B663EB742}"/>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29 / 35</a:t>
            </a:r>
          </a:p>
        </p:txBody>
      </p:sp>
    </p:spTree>
    <p:extLst>
      <p:ext uri="{BB962C8B-B14F-4D97-AF65-F5344CB8AC3E}">
        <p14:creationId xmlns:p14="http://schemas.microsoft.com/office/powerpoint/2010/main" val="1069980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1" name="Dikdörtgen 10">
            <a:extLst>
              <a:ext uri="{FF2B5EF4-FFF2-40B4-BE49-F238E27FC236}">
                <a16:creationId xmlns:a16="http://schemas.microsoft.com/office/drawing/2014/main" id="{EED22B79-4E40-4A4B-B76D-C33FAB7C3420}"/>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3A6FCCD6-AB3E-4EFC-90E7-4696EA805571}"/>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Program 1: kitap ödünç verme</a:t>
            </a:r>
          </a:p>
        </p:txBody>
      </p:sp>
      <p:sp>
        <p:nvSpPr>
          <p:cNvPr id="3" name="Dikdörtgen 2">
            <a:extLst>
              <a:ext uri="{FF2B5EF4-FFF2-40B4-BE49-F238E27FC236}">
                <a16:creationId xmlns:a16="http://schemas.microsoft.com/office/drawing/2014/main" id="{E6772793-17F5-43DB-B053-E3CF15A83C20}"/>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Bir kitabı aynı anda yalnız bir kişi alabilsin. İade edilen kitap yeniden alınabilsin.</a:t>
            </a:r>
          </a:p>
        </p:txBody>
      </p:sp>
      <p:sp>
        <p:nvSpPr>
          <p:cNvPr id="4" name="Dikdörtgen 3">
            <a:extLst>
              <a:ext uri="{FF2B5EF4-FFF2-40B4-BE49-F238E27FC236}">
                <a16:creationId xmlns:a16="http://schemas.microsoft.com/office/drawing/2014/main" id="{E9187A75-1649-409A-B9CB-D74822718757}"/>
              </a:ext>
            </a:extLst>
          </p:cNvPr>
          <p:cNvSpPr>
            <a:spLocks noGrp="1"/>
          </p:cNvSpPr>
          <p:nvPr/>
        </p:nvSpPr>
        <p:spPr>
          <a:xfrm>
            <a:off x="742950" y="310515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Veri</a:t>
            </a:r>
          </a:p>
        </p:txBody>
      </p:sp>
      <p:sp>
        <p:nvSpPr>
          <p:cNvPr id="5" name="Dikdörtgen 4">
            <a:extLst>
              <a:ext uri="{FF2B5EF4-FFF2-40B4-BE49-F238E27FC236}">
                <a16:creationId xmlns:a16="http://schemas.microsoft.com/office/drawing/2014/main" id="{1A23C716-60AE-4C23-9FB1-385A6F40C76C}"/>
              </a:ext>
            </a:extLst>
          </p:cNvPr>
          <p:cNvSpPr>
            <a:spLocks noGrp="1"/>
          </p:cNvSpPr>
          <p:nvPr/>
        </p:nvSpPr>
        <p:spPr>
          <a:xfrm>
            <a:off x="4552950" y="310515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Kitabın başlığı ve ödünçte olup olmadığı nesnenin içinde bulunur.</a:t>
            </a:r>
          </a:p>
        </p:txBody>
      </p:sp>
      <p:sp>
        <p:nvSpPr>
          <p:cNvPr id="6" name="Dikdörtgen 5">
            <a:extLst>
              <a:ext uri="{FF2B5EF4-FFF2-40B4-BE49-F238E27FC236}">
                <a16:creationId xmlns:a16="http://schemas.microsoft.com/office/drawing/2014/main" id="{7E6A5641-EE04-4874-834E-A4B99FBB3F8A}"/>
              </a:ext>
            </a:extLst>
          </p:cNvPr>
          <p:cNvSpPr>
            <a:spLocks noGrp="1"/>
          </p:cNvSpPr>
          <p:nvPr/>
        </p:nvSpPr>
        <p:spPr>
          <a:xfrm>
            <a:off x="742950" y="4600575"/>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İşlemler</a:t>
            </a:r>
          </a:p>
        </p:txBody>
      </p:sp>
      <p:sp>
        <p:nvSpPr>
          <p:cNvPr id="7" name="Dikdörtgen 6">
            <a:extLst>
              <a:ext uri="{FF2B5EF4-FFF2-40B4-BE49-F238E27FC236}">
                <a16:creationId xmlns:a16="http://schemas.microsoft.com/office/drawing/2014/main" id="{8037075D-AD9F-4246-ADB0-75FE4B0D3891}"/>
              </a:ext>
            </a:extLst>
          </p:cNvPr>
          <p:cNvSpPr>
            <a:spLocks noGrp="1"/>
          </p:cNvSpPr>
          <p:nvPr/>
        </p:nvSpPr>
        <p:spPr>
          <a:xfrm>
            <a:off x="4552950" y="4600575"/>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oduncAl ve iadeEt kuralları kontrol eder. Başarılı işlem true, uygunsuz işlem false döndürür.</a:t>
            </a:r>
          </a:p>
        </p:txBody>
      </p:sp>
      <p:sp>
        <p:nvSpPr>
          <p:cNvPr id="8" name="Dikdörtgen 7">
            <a:extLst>
              <a:ext uri="{FF2B5EF4-FFF2-40B4-BE49-F238E27FC236}">
                <a16:creationId xmlns:a16="http://schemas.microsoft.com/office/drawing/2014/main" id="{E464B17D-AABB-4E63-9A10-BC8EDCB19A92}"/>
              </a:ext>
            </a:extLst>
          </p:cNvPr>
          <p:cNvSpPr>
            <a:spLocks noGrp="1"/>
          </p:cNvSpPr>
          <p:nvPr/>
        </p:nvSpPr>
        <p:spPr>
          <a:xfrm>
            <a:off x="742950" y="609600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Erişim</a:t>
            </a:r>
          </a:p>
        </p:txBody>
      </p:sp>
      <p:sp>
        <p:nvSpPr>
          <p:cNvPr id="9" name="Dikdörtgen 8">
            <a:extLst>
              <a:ext uri="{FF2B5EF4-FFF2-40B4-BE49-F238E27FC236}">
                <a16:creationId xmlns:a16="http://schemas.microsoft.com/office/drawing/2014/main" id="{229581CE-3BEB-4B13-AF16-FE196F5A8FC0}"/>
              </a:ext>
            </a:extLst>
          </p:cNvPr>
          <p:cNvSpPr>
            <a:spLocks noGrp="1"/>
          </p:cNvSpPr>
          <p:nvPr/>
        </p:nvSpPr>
        <p:spPr>
          <a:xfrm>
            <a:off x="4552950" y="609600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Başlık ve durum dışarıdan okunur. Durumu yalnız sınıfın metotları değiştirir.</a:t>
            </a:r>
          </a:p>
        </p:txBody>
      </p:sp>
      <p:sp>
        <p:nvSpPr>
          <p:cNvPr id="10" name="Dikdörtgen 9">
            <a:extLst>
              <a:ext uri="{FF2B5EF4-FFF2-40B4-BE49-F238E27FC236}">
                <a16:creationId xmlns:a16="http://schemas.microsoft.com/office/drawing/2014/main" id="{49693809-36E9-49FF-BC4A-B5FF51EC9109}"/>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30 / 35</a:t>
            </a:r>
          </a:p>
        </p:txBody>
      </p:sp>
    </p:spTree>
    <p:extLst>
      <p:ext uri="{BB962C8B-B14F-4D97-AF65-F5344CB8AC3E}">
        <p14:creationId xmlns:p14="http://schemas.microsoft.com/office/powerpoint/2010/main" val="161149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33" name="Dikdörtgen 32">
            <a:extLst>
              <a:ext uri="{FF2B5EF4-FFF2-40B4-BE49-F238E27FC236}">
                <a16:creationId xmlns:a16="http://schemas.microsoft.com/office/drawing/2014/main" id="{9EEE8687-4F61-4650-B245-6E9BC49A542C}"/>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7914E78C-D36D-4CC9-B163-8E25507468B8}"/>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Kitap ödünç verme: tam program</a:t>
            </a:r>
          </a:p>
        </p:txBody>
      </p:sp>
      <p:sp>
        <p:nvSpPr>
          <p:cNvPr id="3" name="Dikdörtgen 2">
            <a:extLst>
              <a:ext uri="{FF2B5EF4-FFF2-40B4-BE49-F238E27FC236}">
                <a16:creationId xmlns:a16="http://schemas.microsoft.com/office/drawing/2014/main" id="{782831C2-230B-4B8D-838B-12D24901EDA6}"/>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Tek nesne üzerinde alma, tekrar alma, iade ve yeniden alma işlemlerini deniyoruz.</a:t>
            </a:r>
          </a:p>
        </p:txBody>
      </p:sp>
      <p:sp>
        <p:nvSpPr>
          <p:cNvPr id="4" name="Dikdörtgen 3">
            <a:extLst>
              <a:ext uri="{FF2B5EF4-FFF2-40B4-BE49-F238E27FC236}">
                <a16:creationId xmlns:a16="http://schemas.microsoft.com/office/drawing/2014/main" id="{08779C51-EE7C-4A12-8183-D4881468E24B}"/>
              </a:ext>
            </a:extLst>
          </p:cNvPr>
          <p:cNvSpPr>
            <a:spLocks noGrp="1"/>
          </p:cNvSpPr>
          <p:nvPr/>
        </p:nvSpPr>
        <p:spPr>
          <a:xfrm>
            <a:off x="742950" y="2609850"/>
            <a:ext cx="676275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Sınıflar</a:t>
            </a:r>
          </a:p>
        </p:txBody>
      </p:sp>
      <p:sp>
        <p:nvSpPr>
          <p:cNvPr id="5" name="Dikdörtgen 4">
            <a:extLst>
              <a:ext uri="{FF2B5EF4-FFF2-40B4-BE49-F238E27FC236}">
                <a16:creationId xmlns:a16="http://schemas.microsoft.com/office/drawing/2014/main" id="{4694C654-34C0-468C-BF2D-BAFB1D58002B}"/>
              </a:ext>
            </a:extLst>
          </p:cNvPr>
          <p:cNvSpPr>
            <a:spLocks noGrp="1"/>
          </p:cNvSpPr>
          <p:nvPr/>
        </p:nvSpPr>
        <p:spPr>
          <a:xfrm>
            <a:off x="7924800" y="2609850"/>
            <a:ext cx="657225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Kullanım ve main</a:t>
            </a:r>
          </a:p>
        </p:txBody>
      </p:sp>
      <p:sp>
        <p:nvSpPr>
          <p:cNvPr id="6" name="Dikdörtgen 5">
            <a:extLst>
              <a:ext uri="{FF2B5EF4-FFF2-40B4-BE49-F238E27FC236}">
                <a16:creationId xmlns:a16="http://schemas.microsoft.com/office/drawing/2014/main" id="{514F5F9A-CC0D-4186-9DC8-80AB9301C182}"/>
              </a:ext>
            </a:extLst>
          </p:cNvPr>
          <p:cNvSpPr>
            <a:spLocks noGrp="1"/>
          </p:cNvSpPr>
          <p:nvPr/>
        </p:nvSpPr>
        <p:spPr>
          <a:xfrm>
            <a:off x="742950" y="30003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rPr>
                <a:solidFill>
                  <a:srgbClr val="6941A5"/>
                </a:solidFill>
              </a:rPr>
              <a:t>class</a:t>
            </a:r>
            <a:r>
              <a:t> Kitap(</a:t>
            </a:r>
            <a:r>
              <a:rPr>
                <a:solidFill>
                  <a:srgbClr val="6941A5"/>
                </a:solidFill>
              </a:rPr>
              <a:t>val</a:t>
            </a:r>
            <a:r>
              <a:t> baslik: String) {</a:t>
            </a:r>
          </a:p>
        </p:txBody>
      </p:sp>
      <p:sp>
        <p:nvSpPr>
          <p:cNvPr id="7" name="Dikdörtgen 6">
            <a:extLst>
              <a:ext uri="{FF2B5EF4-FFF2-40B4-BE49-F238E27FC236}">
                <a16:creationId xmlns:a16="http://schemas.microsoft.com/office/drawing/2014/main" id="{793BB6C1-97A7-4942-95BE-35E0ED0B0573}"/>
              </a:ext>
            </a:extLst>
          </p:cNvPr>
          <p:cNvSpPr>
            <a:spLocks noGrp="1"/>
          </p:cNvSpPr>
          <p:nvPr/>
        </p:nvSpPr>
        <p:spPr>
          <a:xfrm>
            <a:off x="742950" y="325755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var</a:t>
            </a:r>
            <a:r>
              <a:t> oduncte = </a:t>
            </a:r>
            <a:r>
              <a:rPr>
                <a:solidFill>
                  <a:srgbClr val="6941A5"/>
                </a:solidFill>
              </a:rPr>
              <a:t>false</a:t>
            </a:r>
          </a:p>
        </p:txBody>
      </p:sp>
      <p:sp>
        <p:nvSpPr>
          <p:cNvPr id="8" name="Dikdörtgen 7">
            <a:extLst>
              <a:ext uri="{FF2B5EF4-FFF2-40B4-BE49-F238E27FC236}">
                <a16:creationId xmlns:a16="http://schemas.microsoft.com/office/drawing/2014/main" id="{65A891F3-7AB8-422B-B69E-CF38EED2FB85}"/>
              </a:ext>
            </a:extLst>
          </p:cNvPr>
          <p:cNvSpPr>
            <a:spLocks noGrp="1"/>
          </p:cNvSpPr>
          <p:nvPr/>
        </p:nvSpPr>
        <p:spPr>
          <a:xfrm>
            <a:off x="742950" y="351472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private</a:t>
            </a:r>
            <a:r>
              <a:t> set</a:t>
            </a:r>
          </a:p>
        </p:txBody>
      </p:sp>
      <p:sp>
        <p:nvSpPr>
          <p:cNvPr id="9" name="Dikdörtgen 8">
            <a:extLst>
              <a:ext uri="{FF2B5EF4-FFF2-40B4-BE49-F238E27FC236}">
                <a16:creationId xmlns:a16="http://schemas.microsoft.com/office/drawing/2014/main" id="{B8569712-DC27-41C6-AC32-C89F4C199AFF}"/>
              </a:ext>
            </a:extLst>
          </p:cNvPr>
          <p:cNvSpPr>
            <a:spLocks noGrp="1"/>
          </p:cNvSpPr>
          <p:nvPr/>
        </p:nvSpPr>
        <p:spPr>
          <a:xfrm>
            <a:off x="742950" y="377190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fun</a:t>
            </a:r>
            <a:r>
              <a:t> oduncAl(): Boolean {</a:t>
            </a:r>
          </a:p>
        </p:txBody>
      </p:sp>
      <p:sp>
        <p:nvSpPr>
          <p:cNvPr id="10" name="Dikdörtgen 9">
            <a:extLst>
              <a:ext uri="{FF2B5EF4-FFF2-40B4-BE49-F238E27FC236}">
                <a16:creationId xmlns:a16="http://schemas.microsoft.com/office/drawing/2014/main" id="{239AF8A2-B5B2-4673-95A8-8DED24C2A354}"/>
              </a:ext>
            </a:extLst>
          </p:cNvPr>
          <p:cNvSpPr>
            <a:spLocks noGrp="1"/>
          </p:cNvSpPr>
          <p:nvPr/>
        </p:nvSpPr>
        <p:spPr>
          <a:xfrm>
            <a:off x="742950" y="40290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rPr dirty="0"/>
              <a:t>        </a:t>
            </a:r>
            <a:r>
              <a:rPr dirty="0">
                <a:solidFill>
                  <a:srgbClr val="6941A5"/>
                </a:solidFill>
              </a:rPr>
              <a:t>if</a:t>
            </a:r>
            <a:r>
              <a:rPr dirty="0"/>
              <a:t> (</a:t>
            </a:r>
            <a:r>
              <a:rPr dirty="0" err="1"/>
              <a:t>oduncte</a:t>
            </a:r>
            <a:r>
              <a:rPr lang="tr-TR" dirty="0"/>
              <a:t>==</a:t>
            </a:r>
            <a:r>
              <a:rPr lang="tr-TR" dirty="0" err="1"/>
              <a:t>true</a:t>
            </a:r>
            <a:r>
              <a:rPr dirty="0"/>
              <a:t>) </a:t>
            </a:r>
            <a:r>
              <a:rPr dirty="0">
                <a:solidFill>
                  <a:srgbClr val="6941A5"/>
                </a:solidFill>
              </a:rPr>
              <a:t>return</a:t>
            </a:r>
            <a:r>
              <a:rPr dirty="0"/>
              <a:t> </a:t>
            </a:r>
            <a:r>
              <a:rPr dirty="0">
                <a:solidFill>
                  <a:srgbClr val="6941A5"/>
                </a:solidFill>
              </a:rPr>
              <a:t>false</a:t>
            </a:r>
          </a:p>
        </p:txBody>
      </p:sp>
      <p:sp>
        <p:nvSpPr>
          <p:cNvPr id="11" name="Dikdörtgen 10">
            <a:extLst>
              <a:ext uri="{FF2B5EF4-FFF2-40B4-BE49-F238E27FC236}">
                <a16:creationId xmlns:a16="http://schemas.microsoft.com/office/drawing/2014/main" id="{047BB5B0-ABB2-45AF-9E5F-5FA6F837DD80}"/>
              </a:ext>
            </a:extLst>
          </p:cNvPr>
          <p:cNvSpPr>
            <a:spLocks noGrp="1"/>
          </p:cNvSpPr>
          <p:nvPr/>
        </p:nvSpPr>
        <p:spPr>
          <a:xfrm>
            <a:off x="742950" y="428625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oduncte = </a:t>
            </a:r>
            <a:r>
              <a:rPr>
                <a:solidFill>
                  <a:srgbClr val="6941A5"/>
                </a:solidFill>
              </a:rPr>
              <a:t>true</a:t>
            </a:r>
          </a:p>
        </p:txBody>
      </p:sp>
      <p:sp>
        <p:nvSpPr>
          <p:cNvPr id="12" name="Dikdörtgen 11">
            <a:extLst>
              <a:ext uri="{FF2B5EF4-FFF2-40B4-BE49-F238E27FC236}">
                <a16:creationId xmlns:a16="http://schemas.microsoft.com/office/drawing/2014/main" id="{28CE34D6-CDE5-4123-ABAC-1B58DFC2EDEE}"/>
              </a:ext>
            </a:extLst>
          </p:cNvPr>
          <p:cNvSpPr>
            <a:spLocks noGrp="1"/>
          </p:cNvSpPr>
          <p:nvPr/>
        </p:nvSpPr>
        <p:spPr>
          <a:xfrm>
            <a:off x="742950" y="454342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return</a:t>
            </a:r>
            <a:r>
              <a:t> </a:t>
            </a:r>
            <a:r>
              <a:rPr>
                <a:solidFill>
                  <a:srgbClr val="6941A5"/>
                </a:solidFill>
              </a:rPr>
              <a:t>true</a:t>
            </a:r>
          </a:p>
        </p:txBody>
      </p:sp>
      <p:sp>
        <p:nvSpPr>
          <p:cNvPr id="13" name="Dikdörtgen 12">
            <a:extLst>
              <a:ext uri="{FF2B5EF4-FFF2-40B4-BE49-F238E27FC236}">
                <a16:creationId xmlns:a16="http://schemas.microsoft.com/office/drawing/2014/main" id="{E35FDCE7-2782-4576-AD9B-EAA938D6C9C8}"/>
              </a:ext>
            </a:extLst>
          </p:cNvPr>
          <p:cNvSpPr>
            <a:spLocks noGrp="1"/>
          </p:cNvSpPr>
          <p:nvPr/>
        </p:nvSpPr>
        <p:spPr>
          <a:xfrm>
            <a:off x="742950" y="480060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p>
        </p:txBody>
      </p:sp>
      <p:sp>
        <p:nvSpPr>
          <p:cNvPr id="14" name="Dikdörtgen 13">
            <a:extLst>
              <a:ext uri="{FF2B5EF4-FFF2-40B4-BE49-F238E27FC236}">
                <a16:creationId xmlns:a16="http://schemas.microsoft.com/office/drawing/2014/main" id="{85A6A7B5-4172-49DB-A1B7-A32F2B5EA112}"/>
              </a:ext>
            </a:extLst>
          </p:cNvPr>
          <p:cNvSpPr>
            <a:spLocks noGrp="1"/>
          </p:cNvSpPr>
          <p:nvPr/>
        </p:nvSpPr>
        <p:spPr>
          <a:xfrm>
            <a:off x="742950" y="50577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fun</a:t>
            </a:r>
            <a:r>
              <a:t> iadeEt(): Boolean {</a:t>
            </a:r>
          </a:p>
        </p:txBody>
      </p:sp>
      <p:sp>
        <p:nvSpPr>
          <p:cNvPr id="15" name="Dikdörtgen 14">
            <a:extLst>
              <a:ext uri="{FF2B5EF4-FFF2-40B4-BE49-F238E27FC236}">
                <a16:creationId xmlns:a16="http://schemas.microsoft.com/office/drawing/2014/main" id="{F5CEE6F7-389C-4FE2-97F9-F1F74B66B071}"/>
              </a:ext>
            </a:extLst>
          </p:cNvPr>
          <p:cNvSpPr>
            <a:spLocks noGrp="1"/>
          </p:cNvSpPr>
          <p:nvPr/>
        </p:nvSpPr>
        <p:spPr>
          <a:xfrm>
            <a:off x="742950" y="531495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if</a:t>
            </a:r>
            <a:r>
              <a:t> (oduncte == </a:t>
            </a:r>
            <a:r>
              <a:rPr>
                <a:solidFill>
                  <a:srgbClr val="6941A5"/>
                </a:solidFill>
              </a:rPr>
              <a:t>false</a:t>
            </a:r>
            <a:r>
              <a:t>) </a:t>
            </a:r>
            <a:r>
              <a:rPr>
                <a:solidFill>
                  <a:srgbClr val="6941A5"/>
                </a:solidFill>
              </a:rPr>
              <a:t>return</a:t>
            </a:r>
            <a:r>
              <a:t> </a:t>
            </a:r>
            <a:r>
              <a:rPr>
                <a:solidFill>
                  <a:srgbClr val="6941A5"/>
                </a:solidFill>
              </a:rPr>
              <a:t>false</a:t>
            </a:r>
          </a:p>
        </p:txBody>
      </p:sp>
      <p:sp>
        <p:nvSpPr>
          <p:cNvPr id="16" name="Dikdörtgen 15">
            <a:extLst>
              <a:ext uri="{FF2B5EF4-FFF2-40B4-BE49-F238E27FC236}">
                <a16:creationId xmlns:a16="http://schemas.microsoft.com/office/drawing/2014/main" id="{577A9BBF-1002-4C51-95F9-94940FBBC37A}"/>
              </a:ext>
            </a:extLst>
          </p:cNvPr>
          <p:cNvSpPr>
            <a:spLocks noGrp="1"/>
          </p:cNvSpPr>
          <p:nvPr/>
        </p:nvSpPr>
        <p:spPr>
          <a:xfrm>
            <a:off x="742950" y="557212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oduncte = </a:t>
            </a:r>
            <a:r>
              <a:rPr>
                <a:solidFill>
                  <a:srgbClr val="6941A5"/>
                </a:solidFill>
              </a:rPr>
              <a:t>false</a:t>
            </a:r>
          </a:p>
        </p:txBody>
      </p:sp>
      <p:sp>
        <p:nvSpPr>
          <p:cNvPr id="17" name="Dikdörtgen 16">
            <a:extLst>
              <a:ext uri="{FF2B5EF4-FFF2-40B4-BE49-F238E27FC236}">
                <a16:creationId xmlns:a16="http://schemas.microsoft.com/office/drawing/2014/main" id="{A2AD4C9D-063F-487F-AB8E-33CA6585BBCC}"/>
              </a:ext>
            </a:extLst>
          </p:cNvPr>
          <p:cNvSpPr>
            <a:spLocks noGrp="1"/>
          </p:cNvSpPr>
          <p:nvPr/>
        </p:nvSpPr>
        <p:spPr>
          <a:xfrm>
            <a:off x="742950" y="582930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return</a:t>
            </a:r>
            <a:r>
              <a:t> </a:t>
            </a:r>
            <a:r>
              <a:rPr>
                <a:solidFill>
                  <a:srgbClr val="6941A5"/>
                </a:solidFill>
              </a:rPr>
              <a:t>true</a:t>
            </a:r>
          </a:p>
        </p:txBody>
      </p:sp>
      <p:sp>
        <p:nvSpPr>
          <p:cNvPr id="18" name="Dikdörtgen 17">
            <a:extLst>
              <a:ext uri="{FF2B5EF4-FFF2-40B4-BE49-F238E27FC236}">
                <a16:creationId xmlns:a16="http://schemas.microsoft.com/office/drawing/2014/main" id="{D3C11074-5790-4F27-A40F-9C6614EC407E}"/>
              </a:ext>
            </a:extLst>
          </p:cNvPr>
          <p:cNvSpPr>
            <a:spLocks noGrp="1"/>
          </p:cNvSpPr>
          <p:nvPr/>
        </p:nvSpPr>
        <p:spPr>
          <a:xfrm>
            <a:off x="742950" y="60864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p>
        </p:txBody>
      </p:sp>
      <p:sp>
        <p:nvSpPr>
          <p:cNvPr id="19" name="Dikdörtgen 18">
            <a:extLst>
              <a:ext uri="{FF2B5EF4-FFF2-40B4-BE49-F238E27FC236}">
                <a16:creationId xmlns:a16="http://schemas.microsoft.com/office/drawing/2014/main" id="{C6027E50-06EB-480A-A6F2-CC8095D9CCE6}"/>
              </a:ext>
            </a:extLst>
          </p:cNvPr>
          <p:cNvSpPr>
            <a:spLocks noGrp="1"/>
          </p:cNvSpPr>
          <p:nvPr/>
        </p:nvSpPr>
        <p:spPr>
          <a:xfrm>
            <a:off x="742950" y="634365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a:t>
            </a:r>
          </a:p>
        </p:txBody>
      </p:sp>
      <p:sp>
        <p:nvSpPr>
          <p:cNvPr id="20" name="Dikdörtgen 19">
            <a:extLst>
              <a:ext uri="{FF2B5EF4-FFF2-40B4-BE49-F238E27FC236}">
                <a16:creationId xmlns:a16="http://schemas.microsoft.com/office/drawing/2014/main" id="{2AF532E6-622F-43B2-88E8-E602F73043E2}"/>
              </a:ext>
            </a:extLst>
          </p:cNvPr>
          <p:cNvSpPr>
            <a:spLocks noGrp="1"/>
          </p:cNvSpPr>
          <p:nvPr/>
        </p:nvSpPr>
        <p:spPr>
          <a:xfrm>
            <a:off x="7924800" y="30003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rPr>
                <a:solidFill>
                  <a:srgbClr val="6941A5"/>
                </a:solidFill>
              </a:rPr>
              <a:t>fun</a:t>
            </a:r>
            <a:r>
              <a:t> main() {</a:t>
            </a:r>
          </a:p>
        </p:txBody>
      </p:sp>
      <p:sp>
        <p:nvSpPr>
          <p:cNvPr id="21" name="Dikdörtgen 20">
            <a:extLst>
              <a:ext uri="{FF2B5EF4-FFF2-40B4-BE49-F238E27FC236}">
                <a16:creationId xmlns:a16="http://schemas.microsoft.com/office/drawing/2014/main" id="{13B783A2-57BC-4268-8060-A7E065C3C728}"/>
              </a:ext>
            </a:extLst>
          </p:cNvPr>
          <p:cNvSpPr>
            <a:spLocks noGrp="1"/>
          </p:cNvSpPr>
          <p:nvPr/>
        </p:nvSpPr>
        <p:spPr>
          <a:xfrm>
            <a:off x="7924800" y="325755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val</a:t>
            </a:r>
            <a:r>
              <a:t> kitap = Kitap(</a:t>
            </a:r>
            <a:r>
              <a:rPr>
                <a:solidFill>
                  <a:srgbClr val="397425"/>
                </a:solidFill>
              </a:rPr>
              <a:t>"Kotlin Dersleri"</a:t>
            </a:r>
            <a:r>
              <a:t>)</a:t>
            </a:r>
          </a:p>
        </p:txBody>
      </p:sp>
      <p:sp>
        <p:nvSpPr>
          <p:cNvPr id="22" name="Dikdörtgen 21">
            <a:extLst>
              <a:ext uri="{FF2B5EF4-FFF2-40B4-BE49-F238E27FC236}">
                <a16:creationId xmlns:a16="http://schemas.microsoft.com/office/drawing/2014/main" id="{5B2410E6-6603-45C8-830F-9DEDA0CFA3F5}"/>
              </a:ext>
            </a:extLst>
          </p:cNvPr>
          <p:cNvSpPr>
            <a:spLocks noGrp="1"/>
          </p:cNvSpPr>
          <p:nvPr/>
        </p:nvSpPr>
        <p:spPr>
          <a:xfrm>
            <a:off x="7924800" y="351472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println(kitap.baslik)</a:t>
            </a:r>
          </a:p>
        </p:txBody>
      </p:sp>
      <p:sp>
        <p:nvSpPr>
          <p:cNvPr id="23" name="Dikdörtgen 22">
            <a:extLst>
              <a:ext uri="{FF2B5EF4-FFF2-40B4-BE49-F238E27FC236}">
                <a16:creationId xmlns:a16="http://schemas.microsoft.com/office/drawing/2014/main" id="{3F9A24E1-E7C2-432A-9F3B-6E60DAE4B24B}"/>
              </a:ext>
            </a:extLst>
          </p:cNvPr>
          <p:cNvSpPr>
            <a:spLocks noGrp="1"/>
          </p:cNvSpPr>
          <p:nvPr/>
        </p:nvSpPr>
        <p:spPr>
          <a:xfrm>
            <a:off x="7924800" y="377190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println(kitap.oduncAl())</a:t>
            </a:r>
          </a:p>
        </p:txBody>
      </p:sp>
      <p:sp>
        <p:nvSpPr>
          <p:cNvPr id="24" name="Dikdörtgen 23">
            <a:extLst>
              <a:ext uri="{FF2B5EF4-FFF2-40B4-BE49-F238E27FC236}">
                <a16:creationId xmlns:a16="http://schemas.microsoft.com/office/drawing/2014/main" id="{2B5B0AE4-8441-48CE-9B82-213133973FE2}"/>
              </a:ext>
            </a:extLst>
          </p:cNvPr>
          <p:cNvSpPr>
            <a:spLocks noGrp="1"/>
          </p:cNvSpPr>
          <p:nvPr/>
        </p:nvSpPr>
        <p:spPr>
          <a:xfrm>
            <a:off x="7924800" y="40290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println(kitap.oduncAl())</a:t>
            </a:r>
          </a:p>
        </p:txBody>
      </p:sp>
      <p:sp>
        <p:nvSpPr>
          <p:cNvPr id="25" name="Dikdörtgen 24">
            <a:extLst>
              <a:ext uri="{FF2B5EF4-FFF2-40B4-BE49-F238E27FC236}">
                <a16:creationId xmlns:a16="http://schemas.microsoft.com/office/drawing/2014/main" id="{9547571F-727D-4AB6-B602-5976F010609B}"/>
              </a:ext>
            </a:extLst>
          </p:cNvPr>
          <p:cNvSpPr>
            <a:spLocks noGrp="1"/>
          </p:cNvSpPr>
          <p:nvPr/>
        </p:nvSpPr>
        <p:spPr>
          <a:xfrm>
            <a:off x="7924800" y="428625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println(kitap.iadeEt())</a:t>
            </a:r>
          </a:p>
        </p:txBody>
      </p:sp>
      <p:sp>
        <p:nvSpPr>
          <p:cNvPr id="26" name="Dikdörtgen 25">
            <a:extLst>
              <a:ext uri="{FF2B5EF4-FFF2-40B4-BE49-F238E27FC236}">
                <a16:creationId xmlns:a16="http://schemas.microsoft.com/office/drawing/2014/main" id="{D4C1450B-7F29-4090-94B3-1A0CB211C4DF}"/>
              </a:ext>
            </a:extLst>
          </p:cNvPr>
          <p:cNvSpPr>
            <a:spLocks noGrp="1"/>
          </p:cNvSpPr>
          <p:nvPr/>
        </p:nvSpPr>
        <p:spPr>
          <a:xfrm>
            <a:off x="7924800" y="454342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println(kitap.oduncAl())</a:t>
            </a:r>
          </a:p>
        </p:txBody>
      </p:sp>
      <p:sp>
        <p:nvSpPr>
          <p:cNvPr id="27" name="Dikdörtgen 26">
            <a:extLst>
              <a:ext uri="{FF2B5EF4-FFF2-40B4-BE49-F238E27FC236}">
                <a16:creationId xmlns:a16="http://schemas.microsoft.com/office/drawing/2014/main" id="{E24FB397-7CE4-416C-872B-E83E537B70DA}"/>
              </a:ext>
            </a:extLst>
          </p:cNvPr>
          <p:cNvSpPr>
            <a:spLocks noGrp="1"/>
          </p:cNvSpPr>
          <p:nvPr/>
        </p:nvSpPr>
        <p:spPr>
          <a:xfrm>
            <a:off x="7924800" y="480060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println(</a:t>
            </a:r>
            <a:r>
              <a:rPr>
                <a:solidFill>
                  <a:srgbClr val="397425"/>
                </a:solidFill>
              </a:rPr>
              <a:t>"Ödünçte: "</a:t>
            </a:r>
            <a:r>
              <a:t> + kitap.oduncte)</a:t>
            </a:r>
          </a:p>
        </p:txBody>
      </p:sp>
      <p:sp>
        <p:nvSpPr>
          <p:cNvPr id="28" name="Dikdörtgen 27">
            <a:extLst>
              <a:ext uri="{FF2B5EF4-FFF2-40B4-BE49-F238E27FC236}">
                <a16:creationId xmlns:a16="http://schemas.microsoft.com/office/drawing/2014/main" id="{2C6CA791-A156-4564-9C89-2D012555DBA9}"/>
              </a:ext>
            </a:extLst>
          </p:cNvPr>
          <p:cNvSpPr>
            <a:spLocks noGrp="1"/>
          </p:cNvSpPr>
          <p:nvPr/>
        </p:nvSpPr>
        <p:spPr>
          <a:xfrm>
            <a:off x="7924800" y="50577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a:t>
            </a:r>
          </a:p>
        </p:txBody>
      </p:sp>
      <p:sp>
        <p:nvSpPr>
          <p:cNvPr id="29" name="Dikdörtgen 28">
            <a:extLst>
              <a:ext uri="{FF2B5EF4-FFF2-40B4-BE49-F238E27FC236}">
                <a16:creationId xmlns:a16="http://schemas.microsoft.com/office/drawing/2014/main" id="{62F46545-C6F1-4575-9DCC-60D0FC43BED3}"/>
              </a:ext>
            </a:extLst>
          </p:cNvPr>
          <p:cNvSpPr>
            <a:spLocks noGrp="1"/>
          </p:cNvSpPr>
          <p:nvPr/>
        </p:nvSpPr>
        <p:spPr>
          <a:xfrm>
            <a:off x="742950" y="7362825"/>
            <a:ext cx="1762125" cy="32385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Konsol çıktısı</a:t>
            </a:r>
          </a:p>
        </p:txBody>
      </p:sp>
      <p:sp>
        <p:nvSpPr>
          <p:cNvPr id="30" name="Dikdörtgen 29">
            <a:extLst>
              <a:ext uri="{FF2B5EF4-FFF2-40B4-BE49-F238E27FC236}">
                <a16:creationId xmlns:a16="http://schemas.microsoft.com/office/drawing/2014/main" id="{B3CA1BB6-826A-4C62-8EF0-4C06B0DC62AB}"/>
              </a:ext>
            </a:extLst>
          </p:cNvPr>
          <p:cNvSpPr>
            <a:spLocks noGrp="1"/>
          </p:cNvSpPr>
          <p:nvPr/>
        </p:nvSpPr>
        <p:spPr>
          <a:xfrm>
            <a:off x="2686050" y="7324725"/>
            <a:ext cx="5143500" cy="1000125"/>
          </a:xfrm>
          <a:prstGeom prst="rect">
            <a:avLst/>
          </a:prstGeom>
          <a:noFill/>
          <a:ln w="0">
            <a:noFill/>
          </a:ln>
        </p:spPr>
        <p:txBody>
          <a:bodyPr wrap="square" lIns="0" tIns="0" rIns="0" bIns="0" anchor="t">
            <a:noAutofit/>
          </a:bodyPr>
          <a:lstStyle/>
          <a:p>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Kotlin Dersleri</a:t>
            </a:r>
          </a:p>
          <a:p>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true</a:t>
            </a:r>
          </a:p>
          <a:p>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false</a:t>
            </a:r>
          </a:p>
          <a:p>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true</a:t>
            </a:r>
          </a:p>
        </p:txBody>
      </p:sp>
      <p:sp>
        <p:nvSpPr>
          <p:cNvPr id="31" name="Dikdörtgen 30">
            <a:extLst>
              <a:ext uri="{FF2B5EF4-FFF2-40B4-BE49-F238E27FC236}">
                <a16:creationId xmlns:a16="http://schemas.microsoft.com/office/drawing/2014/main" id="{F4F850AE-B7C8-47F1-A92F-DF44220101D0}"/>
              </a:ext>
            </a:extLst>
          </p:cNvPr>
          <p:cNvSpPr>
            <a:spLocks noGrp="1"/>
          </p:cNvSpPr>
          <p:nvPr/>
        </p:nvSpPr>
        <p:spPr>
          <a:xfrm>
            <a:off x="8334375" y="7324725"/>
            <a:ext cx="6096000" cy="1000125"/>
          </a:xfrm>
          <a:prstGeom prst="rect">
            <a:avLst/>
          </a:prstGeom>
          <a:noFill/>
          <a:ln w="0">
            <a:noFill/>
          </a:ln>
        </p:spPr>
        <p:txBody>
          <a:bodyPr wrap="square" lIns="0" tIns="0" rIns="0" bIns="0" anchor="t">
            <a:noAutofit/>
          </a:bodyPr>
          <a:lstStyle/>
          <a:p>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true</a:t>
            </a:r>
          </a:p>
          <a:p>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Ödünçte: true</a:t>
            </a:r>
          </a:p>
        </p:txBody>
      </p:sp>
      <p:sp>
        <p:nvSpPr>
          <p:cNvPr id="32" name="Dikdörtgen 31">
            <a:extLst>
              <a:ext uri="{FF2B5EF4-FFF2-40B4-BE49-F238E27FC236}">
                <a16:creationId xmlns:a16="http://schemas.microsoft.com/office/drawing/2014/main" id="{9DFBA90E-16B7-409F-8A38-93A13498BE10}"/>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31 / 35</a:t>
            </a:r>
          </a:p>
        </p:txBody>
      </p:sp>
    </p:spTree>
    <p:extLst>
      <p:ext uri="{BB962C8B-B14F-4D97-AF65-F5344CB8AC3E}">
        <p14:creationId xmlns:p14="http://schemas.microsoft.com/office/powerpoint/2010/main" val="1809993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1" name="Dikdörtgen 10">
            <a:extLst>
              <a:ext uri="{FF2B5EF4-FFF2-40B4-BE49-F238E27FC236}">
                <a16:creationId xmlns:a16="http://schemas.microsoft.com/office/drawing/2014/main" id="{821600DE-D1BF-4D56-9763-82BEE58416C5}"/>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C54DDA94-B172-4AAD-85A0-038D69DB5101}"/>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Kitabın durumu nasıl değişti?</a:t>
            </a:r>
          </a:p>
        </p:txBody>
      </p:sp>
      <p:sp>
        <p:nvSpPr>
          <p:cNvPr id="3" name="Dikdörtgen 2">
            <a:extLst>
              <a:ext uri="{FF2B5EF4-FFF2-40B4-BE49-F238E27FC236}">
                <a16:creationId xmlns:a16="http://schemas.microsoft.com/office/drawing/2014/main" id="{1CC52B9D-DABE-49A4-AF47-1CC94683571F}"/>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Her metot çağrısından sonra aynı nesnenin son durumunu takip ediyoruz.</a:t>
            </a:r>
          </a:p>
        </p:txBody>
      </p:sp>
      <p:sp>
        <p:nvSpPr>
          <p:cNvPr id="4" name="Dikdörtgen 3">
            <a:extLst>
              <a:ext uri="{FF2B5EF4-FFF2-40B4-BE49-F238E27FC236}">
                <a16:creationId xmlns:a16="http://schemas.microsoft.com/office/drawing/2014/main" id="{7FF42F5F-D67E-4C1F-9A20-EB250172B890}"/>
              </a:ext>
            </a:extLst>
          </p:cNvPr>
          <p:cNvSpPr>
            <a:spLocks noGrp="1"/>
          </p:cNvSpPr>
          <p:nvPr/>
        </p:nvSpPr>
        <p:spPr>
          <a:xfrm>
            <a:off x="742950" y="310515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Başlangıç ve alma</a:t>
            </a:r>
          </a:p>
        </p:txBody>
      </p:sp>
      <p:sp>
        <p:nvSpPr>
          <p:cNvPr id="5" name="Dikdörtgen 4">
            <a:extLst>
              <a:ext uri="{FF2B5EF4-FFF2-40B4-BE49-F238E27FC236}">
                <a16:creationId xmlns:a16="http://schemas.microsoft.com/office/drawing/2014/main" id="{6E67BC17-712E-4799-AC54-47C678F837CA}"/>
              </a:ext>
            </a:extLst>
          </p:cNvPr>
          <p:cNvSpPr>
            <a:spLocks noGrp="1"/>
          </p:cNvSpPr>
          <p:nvPr/>
        </p:nvSpPr>
        <p:spPr>
          <a:xfrm>
            <a:off x="4552950" y="310515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oduncte false başlar. İlk oduncAl true döner ve durumu true yapar. İkinci alma false döner.</a:t>
            </a:r>
          </a:p>
        </p:txBody>
      </p:sp>
      <p:sp>
        <p:nvSpPr>
          <p:cNvPr id="6" name="Dikdörtgen 5">
            <a:extLst>
              <a:ext uri="{FF2B5EF4-FFF2-40B4-BE49-F238E27FC236}">
                <a16:creationId xmlns:a16="http://schemas.microsoft.com/office/drawing/2014/main" id="{453EBB6C-E410-497B-A075-0901AFFE1603}"/>
              </a:ext>
            </a:extLst>
          </p:cNvPr>
          <p:cNvSpPr>
            <a:spLocks noGrp="1"/>
          </p:cNvSpPr>
          <p:nvPr/>
        </p:nvSpPr>
        <p:spPr>
          <a:xfrm>
            <a:off x="742950" y="4600575"/>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İade sonrası</a:t>
            </a:r>
          </a:p>
        </p:txBody>
      </p:sp>
      <p:sp>
        <p:nvSpPr>
          <p:cNvPr id="7" name="Dikdörtgen 6">
            <a:extLst>
              <a:ext uri="{FF2B5EF4-FFF2-40B4-BE49-F238E27FC236}">
                <a16:creationId xmlns:a16="http://schemas.microsoft.com/office/drawing/2014/main" id="{00B894BE-8D92-4864-9403-D94CCC4F6B83}"/>
              </a:ext>
            </a:extLst>
          </p:cNvPr>
          <p:cNvSpPr>
            <a:spLocks noGrp="1"/>
          </p:cNvSpPr>
          <p:nvPr/>
        </p:nvSpPr>
        <p:spPr>
          <a:xfrm>
            <a:off x="4552950" y="4600575"/>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iadeEt true döner, durum false olur. Son oduncAl tekrar başarılıdır.</a:t>
            </a:r>
          </a:p>
        </p:txBody>
      </p:sp>
      <p:sp>
        <p:nvSpPr>
          <p:cNvPr id="8" name="Dikdörtgen 7">
            <a:extLst>
              <a:ext uri="{FF2B5EF4-FFF2-40B4-BE49-F238E27FC236}">
                <a16:creationId xmlns:a16="http://schemas.microsoft.com/office/drawing/2014/main" id="{92472555-D068-4392-A016-FDDA4C637D47}"/>
              </a:ext>
            </a:extLst>
          </p:cNvPr>
          <p:cNvSpPr>
            <a:spLocks noGrp="1"/>
          </p:cNvSpPr>
          <p:nvPr/>
        </p:nvSpPr>
        <p:spPr>
          <a:xfrm>
            <a:off x="742950" y="609600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Zor alıştırma</a:t>
            </a:r>
          </a:p>
        </p:txBody>
      </p:sp>
      <p:sp>
        <p:nvSpPr>
          <p:cNvPr id="9" name="Dikdörtgen 8">
            <a:extLst>
              <a:ext uri="{FF2B5EF4-FFF2-40B4-BE49-F238E27FC236}">
                <a16:creationId xmlns:a16="http://schemas.microsoft.com/office/drawing/2014/main" id="{994CFF06-A648-4B8B-832A-9575D699A36C}"/>
              </a:ext>
            </a:extLst>
          </p:cNvPr>
          <p:cNvSpPr>
            <a:spLocks noGrp="1"/>
          </p:cNvSpPr>
          <p:nvPr/>
        </p:nvSpPr>
        <p:spPr>
          <a:xfrm>
            <a:off x="4552950" y="609600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İkinci bir Kitap oluştur. Birinciyi ödünç alınca ikinci kitabın durumunun değişmediğini göster.</a:t>
            </a:r>
          </a:p>
        </p:txBody>
      </p:sp>
      <p:sp>
        <p:nvSpPr>
          <p:cNvPr id="10" name="Dikdörtgen 9">
            <a:extLst>
              <a:ext uri="{FF2B5EF4-FFF2-40B4-BE49-F238E27FC236}">
                <a16:creationId xmlns:a16="http://schemas.microsoft.com/office/drawing/2014/main" id="{F616A2D5-9383-4C95-9B09-D68FF5996BE1}"/>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32 / 35</a:t>
            </a:r>
          </a:p>
        </p:txBody>
      </p:sp>
    </p:spTree>
    <p:extLst>
      <p:ext uri="{BB962C8B-B14F-4D97-AF65-F5344CB8AC3E}">
        <p14:creationId xmlns:p14="http://schemas.microsoft.com/office/powerpoint/2010/main" val="211624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1" name="Dikdörtgen 10">
            <a:extLst>
              <a:ext uri="{FF2B5EF4-FFF2-40B4-BE49-F238E27FC236}">
                <a16:creationId xmlns:a16="http://schemas.microsoft.com/office/drawing/2014/main" id="{61D4C632-C318-46CF-93C5-1CD040F98DF2}"/>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69BADDC3-382C-4C0A-958F-442FA919EEEA}"/>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Program 2: sınırlı stok yönetimi</a:t>
            </a:r>
          </a:p>
        </p:txBody>
      </p:sp>
      <p:sp>
        <p:nvSpPr>
          <p:cNvPr id="3" name="Dikdörtgen 2">
            <a:extLst>
              <a:ext uri="{FF2B5EF4-FFF2-40B4-BE49-F238E27FC236}">
                <a16:creationId xmlns:a16="http://schemas.microsoft.com/office/drawing/2014/main" id="{87C11248-69BB-448C-B689-538D868DC498}"/>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Ürün satıldığında stok azalsın. Negatif miktar ve stoktan fazla satış reddedilsin.</a:t>
            </a:r>
          </a:p>
        </p:txBody>
      </p:sp>
      <p:sp>
        <p:nvSpPr>
          <p:cNvPr id="4" name="Dikdörtgen 3">
            <a:extLst>
              <a:ext uri="{FF2B5EF4-FFF2-40B4-BE49-F238E27FC236}">
                <a16:creationId xmlns:a16="http://schemas.microsoft.com/office/drawing/2014/main" id="{5A4CA6C5-63DB-4D37-BB9A-502F8BD39122}"/>
              </a:ext>
            </a:extLst>
          </p:cNvPr>
          <p:cNvSpPr>
            <a:spLocks noGrp="1"/>
          </p:cNvSpPr>
          <p:nvPr/>
        </p:nvSpPr>
        <p:spPr>
          <a:xfrm>
            <a:off x="742950" y="310515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Başlangıç</a:t>
            </a:r>
          </a:p>
        </p:txBody>
      </p:sp>
      <p:sp>
        <p:nvSpPr>
          <p:cNvPr id="5" name="Dikdörtgen 4">
            <a:extLst>
              <a:ext uri="{FF2B5EF4-FFF2-40B4-BE49-F238E27FC236}">
                <a16:creationId xmlns:a16="http://schemas.microsoft.com/office/drawing/2014/main" id="{1AC98DEC-85CC-49CF-97EB-0844B98F6C44}"/>
              </a:ext>
            </a:extLst>
          </p:cNvPr>
          <p:cNvSpPr>
            <a:spLocks noGrp="1"/>
          </p:cNvSpPr>
          <p:nvPr/>
        </p:nvSpPr>
        <p:spPr>
          <a:xfrm>
            <a:off x="4552950" y="310515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Ürünün stok değeri 0..1000 arasında olmalı. Kurucu bunu require ile kontrol eder.</a:t>
            </a:r>
          </a:p>
        </p:txBody>
      </p:sp>
      <p:sp>
        <p:nvSpPr>
          <p:cNvPr id="6" name="Dikdörtgen 5">
            <a:extLst>
              <a:ext uri="{FF2B5EF4-FFF2-40B4-BE49-F238E27FC236}">
                <a16:creationId xmlns:a16="http://schemas.microsoft.com/office/drawing/2014/main" id="{CF222CB8-F0A5-4F3F-B57C-7AE8640BCB48}"/>
              </a:ext>
            </a:extLst>
          </p:cNvPr>
          <p:cNvSpPr>
            <a:spLocks noGrp="1"/>
          </p:cNvSpPr>
          <p:nvPr/>
        </p:nvSpPr>
        <p:spPr>
          <a:xfrm>
            <a:off x="742950" y="4600575"/>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Satış</a:t>
            </a:r>
          </a:p>
        </p:txBody>
      </p:sp>
      <p:sp>
        <p:nvSpPr>
          <p:cNvPr id="7" name="Dikdörtgen 6">
            <a:extLst>
              <a:ext uri="{FF2B5EF4-FFF2-40B4-BE49-F238E27FC236}">
                <a16:creationId xmlns:a16="http://schemas.microsoft.com/office/drawing/2014/main" id="{29DCB013-2AAE-422C-BF7C-EFA508B38C85}"/>
              </a:ext>
            </a:extLst>
          </p:cNvPr>
          <p:cNvSpPr>
            <a:spLocks noGrp="1"/>
          </p:cNvSpPr>
          <p:nvPr/>
        </p:nvSpPr>
        <p:spPr>
          <a:xfrm>
            <a:off x="4552950" y="4600575"/>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Miktar pozitif ve mevcut stoktan küçük veya eşit olmalı. Başarısız satış stok değiştirmemeli.</a:t>
            </a:r>
          </a:p>
        </p:txBody>
      </p:sp>
      <p:sp>
        <p:nvSpPr>
          <p:cNvPr id="8" name="Dikdörtgen 7">
            <a:extLst>
              <a:ext uri="{FF2B5EF4-FFF2-40B4-BE49-F238E27FC236}">
                <a16:creationId xmlns:a16="http://schemas.microsoft.com/office/drawing/2014/main" id="{B11584F0-DD46-44AC-BCE2-49C600B06C4D}"/>
              </a:ext>
            </a:extLst>
          </p:cNvPr>
          <p:cNvSpPr>
            <a:spLocks noGrp="1"/>
          </p:cNvSpPr>
          <p:nvPr/>
        </p:nvSpPr>
        <p:spPr>
          <a:xfrm>
            <a:off x="742950" y="609600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Tedarik</a:t>
            </a:r>
          </a:p>
        </p:txBody>
      </p:sp>
      <p:sp>
        <p:nvSpPr>
          <p:cNvPr id="9" name="Dikdörtgen 8">
            <a:extLst>
              <a:ext uri="{FF2B5EF4-FFF2-40B4-BE49-F238E27FC236}">
                <a16:creationId xmlns:a16="http://schemas.microsoft.com/office/drawing/2014/main" id="{4E85E935-0EEF-4B20-9627-17D2E185FB6C}"/>
              </a:ext>
            </a:extLst>
          </p:cNvPr>
          <p:cNvSpPr>
            <a:spLocks noGrp="1"/>
          </p:cNvSpPr>
          <p:nvPr/>
        </p:nvSpPr>
        <p:spPr>
          <a:xfrm>
            <a:off x="4552950" y="609600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Pozitif miktar eklenebilir. Toplam stok 1000 sınırını geçmemeli.</a:t>
            </a:r>
          </a:p>
        </p:txBody>
      </p:sp>
      <p:sp>
        <p:nvSpPr>
          <p:cNvPr id="10" name="Dikdörtgen 9">
            <a:extLst>
              <a:ext uri="{FF2B5EF4-FFF2-40B4-BE49-F238E27FC236}">
                <a16:creationId xmlns:a16="http://schemas.microsoft.com/office/drawing/2014/main" id="{C226055D-D20C-4392-8B25-AE6E3B160EAA}"/>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33 / 35</a:t>
            </a:r>
          </a:p>
        </p:txBody>
      </p:sp>
    </p:spTree>
    <p:extLst>
      <p:ext uri="{BB962C8B-B14F-4D97-AF65-F5344CB8AC3E}">
        <p14:creationId xmlns:p14="http://schemas.microsoft.com/office/powerpoint/2010/main" val="814117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34" name="Dikdörtgen 33">
            <a:extLst>
              <a:ext uri="{FF2B5EF4-FFF2-40B4-BE49-F238E27FC236}">
                <a16:creationId xmlns:a16="http://schemas.microsoft.com/office/drawing/2014/main" id="{599124FF-215A-421D-9CC7-3B6EF9484009}"/>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01D615D5-A530-4231-9369-F31540E271FD}"/>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Stok yönetimi: tam program</a:t>
            </a:r>
          </a:p>
        </p:txBody>
      </p:sp>
      <p:sp>
        <p:nvSpPr>
          <p:cNvPr id="3" name="Dikdörtgen 2">
            <a:extLst>
              <a:ext uri="{FF2B5EF4-FFF2-40B4-BE49-F238E27FC236}">
                <a16:creationId xmlns:a16="http://schemas.microsoft.com/office/drawing/2014/main" id="{7B6DBB9D-4209-4EDC-A34F-819DE31A91A1}"/>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Sınıf, stok değişikliklerini iki kontrollü metot üzerinden gerçekleştiriyor.</a:t>
            </a:r>
          </a:p>
        </p:txBody>
      </p:sp>
      <p:sp>
        <p:nvSpPr>
          <p:cNvPr id="4" name="Dikdörtgen 3">
            <a:extLst>
              <a:ext uri="{FF2B5EF4-FFF2-40B4-BE49-F238E27FC236}">
                <a16:creationId xmlns:a16="http://schemas.microsoft.com/office/drawing/2014/main" id="{AED83C3F-9313-40B1-BB30-20A9BAF518F2}"/>
              </a:ext>
            </a:extLst>
          </p:cNvPr>
          <p:cNvSpPr>
            <a:spLocks noGrp="1"/>
          </p:cNvSpPr>
          <p:nvPr/>
        </p:nvSpPr>
        <p:spPr>
          <a:xfrm>
            <a:off x="742950" y="2609850"/>
            <a:ext cx="676275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Sınıflar</a:t>
            </a:r>
          </a:p>
        </p:txBody>
      </p:sp>
      <p:sp>
        <p:nvSpPr>
          <p:cNvPr id="5" name="Dikdörtgen 4">
            <a:extLst>
              <a:ext uri="{FF2B5EF4-FFF2-40B4-BE49-F238E27FC236}">
                <a16:creationId xmlns:a16="http://schemas.microsoft.com/office/drawing/2014/main" id="{FBFED485-327C-41A2-9104-57F24A7835FF}"/>
              </a:ext>
            </a:extLst>
          </p:cNvPr>
          <p:cNvSpPr>
            <a:spLocks noGrp="1"/>
          </p:cNvSpPr>
          <p:nvPr/>
        </p:nvSpPr>
        <p:spPr>
          <a:xfrm>
            <a:off x="7924800" y="2609850"/>
            <a:ext cx="657225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Kullanım ve main</a:t>
            </a:r>
          </a:p>
        </p:txBody>
      </p:sp>
      <p:sp>
        <p:nvSpPr>
          <p:cNvPr id="6" name="Dikdörtgen 5">
            <a:extLst>
              <a:ext uri="{FF2B5EF4-FFF2-40B4-BE49-F238E27FC236}">
                <a16:creationId xmlns:a16="http://schemas.microsoft.com/office/drawing/2014/main" id="{CEC6A885-A4AC-43AB-B83F-D72B28B106A8}"/>
              </a:ext>
            </a:extLst>
          </p:cNvPr>
          <p:cNvSpPr>
            <a:spLocks noGrp="1"/>
          </p:cNvSpPr>
          <p:nvPr/>
        </p:nvSpPr>
        <p:spPr>
          <a:xfrm>
            <a:off x="742950" y="30003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rPr>
                <a:solidFill>
                  <a:srgbClr val="6941A5"/>
                </a:solidFill>
              </a:rPr>
              <a:t>class</a:t>
            </a:r>
            <a:r>
              <a:t> Urun(</a:t>
            </a:r>
            <a:r>
              <a:rPr>
                <a:solidFill>
                  <a:srgbClr val="6941A5"/>
                </a:solidFill>
              </a:rPr>
              <a:t>val</a:t>
            </a:r>
            <a:r>
              <a:t> ad: String, ilk: Int) {</a:t>
            </a:r>
          </a:p>
        </p:txBody>
      </p:sp>
      <p:sp>
        <p:nvSpPr>
          <p:cNvPr id="7" name="Dikdörtgen 6">
            <a:extLst>
              <a:ext uri="{FF2B5EF4-FFF2-40B4-BE49-F238E27FC236}">
                <a16:creationId xmlns:a16="http://schemas.microsoft.com/office/drawing/2014/main" id="{EF4592AA-7B09-44E6-81E6-FEBB54619D6F}"/>
              </a:ext>
            </a:extLst>
          </p:cNvPr>
          <p:cNvSpPr>
            <a:spLocks noGrp="1"/>
          </p:cNvSpPr>
          <p:nvPr/>
        </p:nvSpPr>
        <p:spPr>
          <a:xfrm>
            <a:off x="742950" y="325755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var</a:t>
            </a:r>
            <a:r>
              <a:t> stok = ilk</a:t>
            </a:r>
          </a:p>
        </p:txBody>
      </p:sp>
      <p:sp>
        <p:nvSpPr>
          <p:cNvPr id="8" name="Dikdörtgen 7">
            <a:extLst>
              <a:ext uri="{FF2B5EF4-FFF2-40B4-BE49-F238E27FC236}">
                <a16:creationId xmlns:a16="http://schemas.microsoft.com/office/drawing/2014/main" id="{6583C5BF-B80C-4460-9190-7029359FA8A4}"/>
              </a:ext>
            </a:extLst>
          </p:cNvPr>
          <p:cNvSpPr>
            <a:spLocks noGrp="1"/>
          </p:cNvSpPr>
          <p:nvPr/>
        </p:nvSpPr>
        <p:spPr>
          <a:xfrm>
            <a:off x="742950" y="351472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private</a:t>
            </a:r>
            <a:r>
              <a:t> set</a:t>
            </a:r>
          </a:p>
        </p:txBody>
      </p:sp>
      <p:sp>
        <p:nvSpPr>
          <p:cNvPr id="9" name="Dikdörtgen 8">
            <a:extLst>
              <a:ext uri="{FF2B5EF4-FFF2-40B4-BE49-F238E27FC236}">
                <a16:creationId xmlns:a16="http://schemas.microsoft.com/office/drawing/2014/main" id="{B321FFE7-E9CA-49BB-8592-45269A73AD65}"/>
              </a:ext>
            </a:extLst>
          </p:cNvPr>
          <p:cNvSpPr>
            <a:spLocks noGrp="1"/>
          </p:cNvSpPr>
          <p:nvPr/>
        </p:nvSpPr>
        <p:spPr>
          <a:xfrm>
            <a:off x="742950" y="377190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init</a:t>
            </a:r>
            <a:r>
              <a:t> { require(ilk </a:t>
            </a:r>
            <a:r>
              <a:rPr>
                <a:solidFill>
                  <a:srgbClr val="6941A5"/>
                </a:solidFill>
              </a:rPr>
              <a:t>in</a:t>
            </a:r>
            <a:r>
              <a:t> </a:t>
            </a:r>
            <a:r>
              <a:rPr>
                <a:solidFill>
                  <a:srgbClr val="A45110"/>
                </a:solidFill>
              </a:rPr>
              <a:t>0</a:t>
            </a:r>
            <a:r>
              <a:t>..</a:t>
            </a:r>
            <a:r>
              <a:rPr>
                <a:solidFill>
                  <a:srgbClr val="A45110"/>
                </a:solidFill>
              </a:rPr>
              <a:t>1000</a:t>
            </a:r>
            <a:r>
              <a:t>) }</a:t>
            </a:r>
          </a:p>
        </p:txBody>
      </p:sp>
      <p:sp>
        <p:nvSpPr>
          <p:cNvPr id="10" name="Dikdörtgen 9">
            <a:extLst>
              <a:ext uri="{FF2B5EF4-FFF2-40B4-BE49-F238E27FC236}">
                <a16:creationId xmlns:a16="http://schemas.microsoft.com/office/drawing/2014/main" id="{A279E6B5-E91A-4F39-A986-79E1646031B4}"/>
              </a:ext>
            </a:extLst>
          </p:cNvPr>
          <p:cNvSpPr>
            <a:spLocks noGrp="1"/>
          </p:cNvSpPr>
          <p:nvPr/>
        </p:nvSpPr>
        <p:spPr>
          <a:xfrm>
            <a:off x="742950" y="40290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fun</a:t>
            </a:r>
            <a:r>
              <a:t> sat(adet: Int): Boolean {</a:t>
            </a:r>
          </a:p>
        </p:txBody>
      </p:sp>
      <p:sp>
        <p:nvSpPr>
          <p:cNvPr id="11" name="Dikdörtgen 10">
            <a:extLst>
              <a:ext uri="{FF2B5EF4-FFF2-40B4-BE49-F238E27FC236}">
                <a16:creationId xmlns:a16="http://schemas.microsoft.com/office/drawing/2014/main" id="{3AFE9FE2-8D53-4B9E-B372-F7E009196765}"/>
              </a:ext>
            </a:extLst>
          </p:cNvPr>
          <p:cNvSpPr>
            <a:spLocks noGrp="1"/>
          </p:cNvSpPr>
          <p:nvPr/>
        </p:nvSpPr>
        <p:spPr>
          <a:xfrm>
            <a:off x="742950" y="428625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if</a:t>
            </a:r>
            <a:r>
              <a:t> (adet &lt;= </a:t>
            </a:r>
            <a:r>
              <a:rPr>
                <a:solidFill>
                  <a:srgbClr val="A45110"/>
                </a:solidFill>
              </a:rPr>
              <a:t>0</a:t>
            </a:r>
            <a:r>
              <a:t> || adet &gt; stok) </a:t>
            </a:r>
            <a:r>
              <a:rPr>
                <a:solidFill>
                  <a:srgbClr val="6941A5"/>
                </a:solidFill>
              </a:rPr>
              <a:t>return</a:t>
            </a:r>
            <a:r>
              <a:t> </a:t>
            </a:r>
            <a:r>
              <a:rPr>
                <a:solidFill>
                  <a:srgbClr val="6941A5"/>
                </a:solidFill>
              </a:rPr>
              <a:t>false</a:t>
            </a:r>
          </a:p>
        </p:txBody>
      </p:sp>
      <p:sp>
        <p:nvSpPr>
          <p:cNvPr id="12" name="Dikdörtgen 11">
            <a:extLst>
              <a:ext uri="{FF2B5EF4-FFF2-40B4-BE49-F238E27FC236}">
                <a16:creationId xmlns:a16="http://schemas.microsoft.com/office/drawing/2014/main" id="{74D1F68E-BBDE-499F-8F77-F2FB2B8826B5}"/>
              </a:ext>
            </a:extLst>
          </p:cNvPr>
          <p:cNvSpPr>
            <a:spLocks noGrp="1"/>
          </p:cNvSpPr>
          <p:nvPr/>
        </p:nvSpPr>
        <p:spPr>
          <a:xfrm>
            <a:off x="742950" y="454342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stok = stok - adet</a:t>
            </a:r>
          </a:p>
        </p:txBody>
      </p:sp>
      <p:sp>
        <p:nvSpPr>
          <p:cNvPr id="13" name="Dikdörtgen 12">
            <a:extLst>
              <a:ext uri="{FF2B5EF4-FFF2-40B4-BE49-F238E27FC236}">
                <a16:creationId xmlns:a16="http://schemas.microsoft.com/office/drawing/2014/main" id="{4388392D-BA76-46AA-9672-9DE39B22389B}"/>
              </a:ext>
            </a:extLst>
          </p:cNvPr>
          <p:cNvSpPr>
            <a:spLocks noGrp="1"/>
          </p:cNvSpPr>
          <p:nvPr/>
        </p:nvSpPr>
        <p:spPr>
          <a:xfrm>
            <a:off x="742950" y="480060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return</a:t>
            </a:r>
            <a:r>
              <a:t> </a:t>
            </a:r>
            <a:r>
              <a:rPr>
                <a:solidFill>
                  <a:srgbClr val="6941A5"/>
                </a:solidFill>
              </a:rPr>
              <a:t>true</a:t>
            </a:r>
          </a:p>
        </p:txBody>
      </p:sp>
      <p:sp>
        <p:nvSpPr>
          <p:cNvPr id="14" name="Dikdörtgen 13">
            <a:extLst>
              <a:ext uri="{FF2B5EF4-FFF2-40B4-BE49-F238E27FC236}">
                <a16:creationId xmlns:a16="http://schemas.microsoft.com/office/drawing/2014/main" id="{4C180D52-FB47-4E18-8636-3D90A79BD424}"/>
              </a:ext>
            </a:extLst>
          </p:cNvPr>
          <p:cNvSpPr>
            <a:spLocks noGrp="1"/>
          </p:cNvSpPr>
          <p:nvPr/>
        </p:nvSpPr>
        <p:spPr>
          <a:xfrm>
            <a:off x="742950" y="50577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p>
        </p:txBody>
      </p:sp>
      <p:sp>
        <p:nvSpPr>
          <p:cNvPr id="15" name="Dikdörtgen 14">
            <a:extLst>
              <a:ext uri="{FF2B5EF4-FFF2-40B4-BE49-F238E27FC236}">
                <a16:creationId xmlns:a16="http://schemas.microsoft.com/office/drawing/2014/main" id="{4D2C5838-1DD2-4405-B37A-9DEB7F88930A}"/>
              </a:ext>
            </a:extLst>
          </p:cNvPr>
          <p:cNvSpPr>
            <a:spLocks noGrp="1"/>
          </p:cNvSpPr>
          <p:nvPr/>
        </p:nvSpPr>
        <p:spPr>
          <a:xfrm>
            <a:off x="742950" y="531495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fun</a:t>
            </a:r>
            <a:r>
              <a:t> ekle(adet: Int): Boolean {</a:t>
            </a:r>
          </a:p>
        </p:txBody>
      </p:sp>
      <p:sp>
        <p:nvSpPr>
          <p:cNvPr id="16" name="Dikdörtgen 15">
            <a:extLst>
              <a:ext uri="{FF2B5EF4-FFF2-40B4-BE49-F238E27FC236}">
                <a16:creationId xmlns:a16="http://schemas.microsoft.com/office/drawing/2014/main" id="{1029D303-8C8D-4979-9355-DD71B3E5314B}"/>
              </a:ext>
            </a:extLst>
          </p:cNvPr>
          <p:cNvSpPr>
            <a:spLocks noGrp="1"/>
          </p:cNvSpPr>
          <p:nvPr/>
        </p:nvSpPr>
        <p:spPr>
          <a:xfrm>
            <a:off x="742950" y="557212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if</a:t>
            </a:r>
            <a:r>
              <a:t> (adet &lt;= </a:t>
            </a:r>
            <a:r>
              <a:rPr>
                <a:solidFill>
                  <a:srgbClr val="A45110"/>
                </a:solidFill>
              </a:rPr>
              <a:t>0</a:t>
            </a:r>
            <a:r>
              <a:t>) </a:t>
            </a:r>
            <a:r>
              <a:rPr>
                <a:solidFill>
                  <a:srgbClr val="6941A5"/>
                </a:solidFill>
              </a:rPr>
              <a:t>return</a:t>
            </a:r>
            <a:r>
              <a:t> </a:t>
            </a:r>
            <a:r>
              <a:rPr>
                <a:solidFill>
                  <a:srgbClr val="6941A5"/>
                </a:solidFill>
              </a:rPr>
              <a:t>false</a:t>
            </a:r>
          </a:p>
        </p:txBody>
      </p:sp>
      <p:sp>
        <p:nvSpPr>
          <p:cNvPr id="17" name="Dikdörtgen 16">
            <a:extLst>
              <a:ext uri="{FF2B5EF4-FFF2-40B4-BE49-F238E27FC236}">
                <a16:creationId xmlns:a16="http://schemas.microsoft.com/office/drawing/2014/main" id="{8298C745-1AEC-48EF-8ABB-AB1281BBB2E9}"/>
              </a:ext>
            </a:extLst>
          </p:cNvPr>
          <p:cNvSpPr>
            <a:spLocks noGrp="1"/>
          </p:cNvSpPr>
          <p:nvPr/>
        </p:nvSpPr>
        <p:spPr>
          <a:xfrm>
            <a:off x="742950" y="582930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if</a:t>
            </a:r>
            <a:r>
              <a:t> (adet &gt; </a:t>
            </a:r>
            <a:r>
              <a:rPr>
                <a:solidFill>
                  <a:srgbClr val="A45110"/>
                </a:solidFill>
              </a:rPr>
              <a:t>1000</a:t>
            </a:r>
            <a:r>
              <a:t> - stok) </a:t>
            </a:r>
            <a:r>
              <a:rPr>
                <a:solidFill>
                  <a:srgbClr val="6941A5"/>
                </a:solidFill>
              </a:rPr>
              <a:t>return</a:t>
            </a:r>
            <a:r>
              <a:t> </a:t>
            </a:r>
            <a:r>
              <a:rPr>
                <a:solidFill>
                  <a:srgbClr val="6941A5"/>
                </a:solidFill>
              </a:rPr>
              <a:t>false</a:t>
            </a:r>
          </a:p>
        </p:txBody>
      </p:sp>
      <p:sp>
        <p:nvSpPr>
          <p:cNvPr id="18" name="Dikdörtgen 17">
            <a:extLst>
              <a:ext uri="{FF2B5EF4-FFF2-40B4-BE49-F238E27FC236}">
                <a16:creationId xmlns:a16="http://schemas.microsoft.com/office/drawing/2014/main" id="{9329D396-DD62-4933-8011-E921C0AF4919}"/>
              </a:ext>
            </a:extLst>
          </p:cNvPr>
          <p:cNvSpPr>
            <a:spLocks noGrp="1"/>
          </p:cNvSpPr>
          <p:nvPr/>
        </p:nvSpPr>
        <p:spPr>
          <a:xfrm>
            <a:off x="742950" y="60864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stok = stok + adet</a:t>
            </a:r>
          </a:p>
        </p:txBody>
      </p:sp>
      <p:sp>
        <p:nvSpPr>
          <p:cNvPr id="19" name="Dikdörtgen 18">
            <a:extLst>
              <a:ext uri="{FF2B5EF4-FFF2-40B4-BE49-F238E27FC236}">
                <a16:creationId xmlns:a16="http://schemas.microsoft.com/office/drawing/2014/main" id="{BE2650F8-F3AC-4E12-9114-62B2A2823CD4}"/>
              </a:ext>
            </a:extLst>
          </p:cNvPr>
          <p:cNvSpPr>
            <a:spLocks noGrp="1"/>
          </p:cNvSpPr>
          <p:nvPr/>
        </p:nvSpPr>
        <p:spPr>
          <a:xfrm>
            <a:off x="742950" y="634365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return</a:t>
            </a:r>
            <a:r>
              <a:t> </a:t>
            </a:r>
            <a:r>
              <a:rPr>
                <a:solidFill>
                  <a:srgbClr val="6941A5"/>
                </a:solidFill>
              </a:rPr>
              <a:t>true</a:t>
            </a:r>
          </a:p>
        </p:txBody>
      </p:sp>
      <p:sp>
        <p:nvSpPr>
          <p:cNvPr id="20" name="Dikdörtgen 19">
            <a:extLst>
              <a:ext uri="{FF2B5EF4-FFF2-40B4-BE49-F238E27FC236}">
                <a16:creationId xmlns:a16="http://schemas.microsoft.com/office/drawing/2014/main" id="{6E4EE61D-EB9C-4E9A-B7B2-AF8515863F58}"/>
              </a:ext>
            </a:extLst>
          </p:cNvPr>
          <p:cNvSpPr>
            <a:spLocks noGrp="1"/>
          </p:cNvSpPr>
          <p:nvPr/>
        </p:nvSpPr>
        <p:spPr>
          <a:xfrm>
            <a:off x="742950" y="660082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p>
        </p:txBody>
      </p:sp>
      <p:sp>
        <p:nvSpPr>
          <p:cNvPr id="21" name="Dikdörtgen 20">
            <a:extLst>
              <a:ext uri="{FF2B5EF4-FFF2-40B4-BE49-F238E27FC236}">
                <a16:creationId xmlns:a16="http://schemas.microsoft.com/office/drawing/2014/main" id="{4F33412C-F1CE-4FC3-BE71-A2E3C78B6F91}"/>
              </a:ext>
            </a:extLst>
          </p:cNvPr>
          <p:cNvSpPr>
            <a:spLocks noGrp="1"/>
          </p:cNvSpPr>
          <p:nvPr/>
        </p:nvSpPr>
        <p:spPr>
          <a:xfrm>
            <a:off x="742950" y="685800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a:t>
            </a:r>
          </a:p>
        </p:txBody>
      </p:sp>
      <p:sp>
        <p:nvSpPr>
          <p:cNvPr id="22" name="Dikdörtgen 21">
            <a:extLst>
              <a:ext uri="{FF2B5EF4-FFF2-40B4-BE49-F238E27FC236}">
                <a16:creationId xmlns:a16="http://schemas.microsoft.com/office/drawing/2014/main" id="{34DF1257-507E-4315-9313-DC6E1C4705F3}"/>
              </a:ext>
            </a:extLst>
          </p:cNvPr>
          <p:cNvSpPr>
            <a:spLocks noGrp="1"/>
          </p:cNvSpPr>
          <p:nvPr/>
        </p:nvSpPr>
        <p:spPr>
          <a:xfrm>
            <a:off x="7924800" y="30003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rPr>
                <a:solidFill>
                  <a:srgbClr val="6941A5"/>
                </a:solidFill>
              </a:rPr>
              <a:t>fun</a:t>
            </a:r>
            <a:r>
              <a:t> main() {</a:t>
            </a:r>
          </a:p>
        </p:txBody>
      </p:sp>
      <p:sp>
        <p:nvSpPr>
          <p:cNvPr id="23" name="Dikdörtgen 22">
            <a:extLst>
              <a:ext uri="{FF2B5EF4-FFF2-40B4-BE49-F238E27FC236}">
                <a16:creationId xmlns:a16="http://schemas.microsoft.com/office/drawing/2014/main" id="{F043ABB4-9D97-43FC-864E-CDCC17CDC2D9}"/>
              </a:ext>
            </a:extLst>
          </p:cNvPr>
          <p:cNvSpPr>
            <a:spLocks noGrp="1"/>
          </p:cNvSpPr>
          <p:nvPr/>
        </p:nvSpPr>
        <p:spPr>
          <a:xfrm>
            <a:off x="7924800" y="325755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a:t>
            </a:r>
            <a:r>
              <a:rPr>
                <a:solidFill>
                  <a:srgbClr val="6941A5"/>
                </a:solidFill>
              </a:rPr>
              <a:t>val</a:t>
            </a:r>
            <a:r>
              <a:t> kalem = Urun(</a:t>
            </a:r>
            <a:r>
              <a:rPr>
                <a:solidFill>
                  <a:srgbClr val="397425"/>
                </a:solidFill>
              </a:rPr>
              <a:t>"Kalem"</a:t>
            </a:r>
            <a:r>
              <a:t>, </a:t>
            </a:r>
            <a:r>
              <a:rPr>
                <a:solidFill>
                  <a:srgbClr val="A45110"/>
                </a:solidFill>
              </a:rPr>
              <a:t>5</a:t>
            </a:r>
            <a:r>
              <a:t>)</a:t>
            </a:r>
          </a:p>
        </p:txBody>
      </p:sp>
      <p:sp>
        <p:nvSpPr>
          <p:cNvPr id="24" name="Dikdörtgen 23">
            <a:extLst>
              <a:ext uri="{FF2B5EF4-FFF2-40B4-BE49-F238E27FC236}">
                <a16:creationId xmlns:a16="http://schemas.microsoft.com/office/drawing/2014/main" id="{B52BFAB1-1046-4909-8F88-0AB5CE9E4E9E}"/>
              </a:ext>
            </a:extLst>
          </p:cNvPr>
          <p:cNvSpPr>
            <a:spLocks noGrp="1"/>
          </p:cNvSpPr>
          <p:nvPr/>
        </p:nvSpPr>
        <p:spPr>
          <a:xfrm>
            <a:off x="7924800" y="351472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println(kalem.sat(</a:t>
            </a:r>
            <a:r>
              <a:rPr>
                <a:solidFill>
                  <a:srgbClr val="A45110"/>
                </a:solidFill>
              </a:rPr>
              <a:t>2</a:t>
            </a:r>
            <a:r>
              <a:t>))</a:t>
            </a:r>
          </a:p>
        </p:txBody>
      </p:sp>
      <p:sp>
        <p:nvSpPr>
          <p:cNvPr id="25" name="Dikdörtgen 24">
            <a:extLst>
              <a:ext uri="{FF2B5EF4-FFF2-40B4-BE49-F238E27FC236}">
                <a16:creationId xmlns:a16="http://schemas.microsoft.com/office/drawing/2014/main" id="{61F40207-C8FD-4DB4-AD81-E69D785B9848}"/>
              </a:ext>
            </a:extLst>
          </p:cNvPr>
          <p:cNvSpPr>
            <a:spLocks noGrp="1"/>
          </p:cNvSpPr>
          <p:nvPr/>
        </p:nvSpPr>
        <p:spPr>
          <a:xfrm>
            <a:off x="7924800" y="377190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println(kalem.sat(</a:t>
            </a:r>
            <a:r>
              <a:rPr>
                <a:solidFill>
                  <a:srgbClr val="A45110"/>
                </a:solidFill>
              </a:rPr>
              <a:t>10</a:t>
            </a:r>
            <a:r>
              <a:t>))</a:t>
            </a:r>
          </a:p>
        </p:txBody>
      </p:sp>
      <p:sp>
        <p:nvSpPr>
          <p:cNvPr id="26" name="Dikdörtgen 25">
            <a:extLst>
              <a:ext uri="{FF2B5EF4-FFF2-40B4-BE49-F238E27FC236}">
                <a16:creationId xmlns:a16="http://schemas.microsoft.com/office/drawing/2014/main" id="{50F03B0C-8ED7-40A7-A4BA-22F06A815A50}"/>
              </a:ext>
            </a:extLst>
          </p:cNvPr>
          <p:cNvSpPr>
            <a:spLocks noGrp="1"/>
          </p:cNvSpPr>
          <p:nvPr/>
        </p:nvSpPr>
        <p:spPr>
          <a:xfrm>
            <a:off x="7924800" y="402907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println(kalem.ekle(</a:t>
            </a:r>
            <a:r>
              <a:rPr>
                <a:solidFill>
                  <a:srgbClr val="A45110"/>
                </a:solidFill>
              </a:rPr>
              <a:t>4</a:t>
            </a:r>
            <a:r>
              <a:t>))</a:t>
            </a:r>
          </a:p>
        </p:txBody>
      </p:sp>
      <p:sp>
        <p:nvSpPr>
          <p:cNvPr id="27" name="Dikdörtgen 26">
            <a:extLst>
              <a:ext uri="{FF2B5EF4-FFF2-40B4-BE49-F238E27FC236}">
                <a16:creationId xmlns:a16="http://schemas.microsoft.com/office/drawing/2014/main" id="{E6518676-CFC0-476D-A626-C9220469C3E2}"/>
              </a:ext>
            </a:extLst>
          </p:cNvPr>
          <p:cNvSpPr>
            <a:spLocks noGrp="1"/>
          </p:cNvSpPr>
          <p:nvPr/>
        </p:nvSpPr>
        <p:spPr>
          <a:xfrm>
            <a:off x="7924800" y="428625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println(kalem.sat(-</a:t>
            </a:r>
            <a:r>
              <a:rPr>
                <a:solidFill>
                  <a:srgbClr val="A45110"/>
                </a:solidFill>
              </a:rPr>
              <a:t>1</a:t>
            </a:r>
            <a:r>
              <a:t>))</a:t>
            </a:r>
          </a:p>
        </p:txBody>
      </p:sp>
      <p:sp>
        <p:nvSpPr>
          <p:cNvPr id="28" name="Dikdörtgen 27">
            <a:extLst>
              <a:ext uri="{FF2B5EF4-FFF2-40B4-BE49-F238E27FC236}">
                <a16:creationId xmlns:a16="http://schemas.microsoft.com/office/drawing/2014/main" id="{F8E601C3-8655-421D-B6AA-0FBD0787B656}"/>
              </a:ext>
            </a:extLst>
          </p:cNvPr>
          <p:cNvSpPr>
            <a:spLocks noGrp="1"/>
          </p:cNvSpPr>
          <p:nvPr/>
        </p:nvSpPr>
        <p:spPr>
          <a:xfrm>
            <a:off x="7924800" y="4543425"/>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    println(kalem.ad + </a:t>
            </a:r>
            <a:r>
              <a:rPr>
                <a:solidFill>
                  <a:srgbClr val="397425"/>
                </a:solidFill>
              </a:rPr>
              <a:t>": "</a:t>
            </a:r>
            <a:r>
              <a:t> + kalem.stok)</a:t>
            </a:r>
          </a:p>
        </p:txBody>
      </p:sp>
      <p:sp>
        <p:nvSpPr>
          <p:cNvPr id="29" name="Dikdörtgen 28">
            <a:extLst>
              <a:ext uri="{FF2B5EF4-FFF2-40B4-BE49-F238E27FC236}">
                <a16:creationId xmlns:a16="http://schemas.microsoft.com/office/drawing/2014/main" id="{90439EB3-E832-49D5-AD22-FEB5E7CB316A}"/>
              </a:ext>
            </a:extLst>
          </p:cNvPr>
          <p:cNvSpPr>
            <a:spLocks noGrp="1"/>
          </p:cNvSpPr>
          <p:nvPr/>
        </p:nvSpPr>
        <p:spPr>
          <a:xfrm>
            <a:off x="7924800" y="4800600"/>
            <a:ext cx="6705600" cy="276225"/>
          </a:xfrm>
          <a:prstGeom prst="rect">
            <a:avLst/>
          </a:prstGeom>
          <a:noFill/>
          <a:ln w="0">
            <a:noFill/>
          </a:ln>
        </p:spPr>
        <p:txBody>
          <a:bodyPr wrap="square" lIns="0" tIns="0" rIns="0" bIns="0" anchor="t">
            <a:noAutofit/>
          </a:bodyPr>
          <a:lstStyle/>
          <a:p>
            <a:pPr>
              <a:defRPr sz="1725" b="0">
                <a:solidFill>
                  <a:srgbClr val="152F3D"/>
                </a:solidFill>
                <a:latin typeface="Consolas"/>
                <a:ea typeface="Consolas"/>
                <a:cs typeface="Consolas"/>
              </a:defRPr>
            </a:pPr>
            <a:r>
              <a:t>}</a:t>
            </a:r>
          </a:p>
        </p:txBody>
      </p:sp>
      <p:sp>
        <p:nvSpPr>
          <p:cNvPr id="30" name="Dikdörtgen 29">
            <a:extLst>
              <a:ext uri="{FF2B5EF4-FFF2-40B4-BE49-F238E27FC236}">
                <a16:creationId xmlns:a16="http://schemas.microsoft.com/office/drawing/2014/main" id="{82307917-9ABA-4E1B-9EB7-D78D71F526EC}"/>
              </a:ext>
            </a:extLst>
          </p:cNvPr>
          <p:cNvSpPr>
            <a:spLocks noGrp="1"/>
          </p:cNvSpPr>
          <p:nvPr/>
        </p:nvSpPr>
        <p:spPr>
          <a:xfrm>
            <a:off x="742950" y="7362825"/>
            <a:ext cx="1762125" cy="323850"/>
          </a:xfrm>
          <a:prstGeom prst="rect">
            <a:avLst/>
          </a:prstGeom>
          <a:noFill/>
          <a:ln w="0">
            <a:noFill/>
          </a:ln>
        </p:spPr>
        <p:txBody>
          <a:bodyPr wrap="square" lIns="0" tIns="0" rIns="0" bIns="0" anchor="t">
            <a:noAutofit/>
          </a:bodyPr>
          <a:lstStyle/>
          <a:p>
            <a:pPr>
              <a:lnSpc>
                <a:spcPct val="108000"/>
              </a:lnSpc>
              <a:buNone/>
              <a:defRPr sz="1650" b="1">
                <a:solidFill>
                  <a:srgbClr val="00796C"/>
                </a:solidFill>
                <a:latin typeface="Arial"/>
                <a:ea typeface="Arial"/>
                <a:cs typeface="Arial"/>
              </a:defRPr>
            </a:pPr>
            <a:r>
              <a:rPr sz="1650" b="1">
                <a:solidFill>
                  <a:srgbClr val="00796C"/>
                </a:solidFill>
                <a:latin typeface="Arial"/>
                <a:ea typeface="Arial"/>
                <a:cs typeface="Arial"/>
              </a:rPr>
              <a:t>Konsol çıktısı</a:t>
            </a:r>
          </a:p>
        </p:txBody>
      </p:sp>
      <p:sp>
        <p:nvSpPr>
          <p:cNvPr id="31" name="Dikdörtgen 30">
            <a:extLst>
              <a:ext uri="{FF2B5EF4-FFF2-40B4-BE49-F238E27FC236}">
                <a16:creationId xmlns:a16="http://schemas.microsoft.com/office/drawing/2014/main" id="{0784677F-E198-4B18-BE1A-B0B818F27380}"/>
              </a:ext>
            </a:extLst>
          </p:cNvPr>
          <p:cNvSpPr>
            <a:spLocks noGrp="1"/>
          </p:cNvSpPr>
          <p:nvPr/>
        </p:nvSpPr>
        <p:spPr>
          <a:xfrm>
            <a:off x="2686050" y="7324725"/>
            <a:ext cx="5143500" cy="1000125"/>
          </a:xfrm>
          <a:prstGeom prst="rect">
            <a:avLst/>
          </a:prstGeom>
          <a:noFill/>
          <a:ln w="0">
            <a:noFill/>
          </a:ln>
        </p:spPr>
        <p:txBody>
          <a:bodyPr wrap="square" lIns="0" tIns="0" rIns="0" bIns="0" anchor="t">
            <a:noAutofit/>
          </a:bodyPr>
          <a:lstStyle/>
          <a:p>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true</a:t>
            </a:r>
          </a:p>
          <a:p>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false</a:t>
            </a:r>
          </a:p>
          <a:p>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true</a:t>
            </a:r>
          </a:p>
          <a:p>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false</a:t>
            </a:r>
          </a:p>
        </p:txBody>
      </p:sp>
      <p:sp>
        <p:nvSpPr>
          <p:cNvPr id="32" name="Dikdörtgen 31">
            <a:extLst>
              <a:ext uri="{FF2B5EF4-FFF2-40B4-BE49-F238E27FC236}">
                <a16:creationId xmlns:a16="http://schemas.microsoft.com/office/drawing/2014/main" id="{6EA62D43-0F7A-4340-BC20-41F2558AEB26}"/>
              </a:ext>
            </a:extLst>
          </p:cNvPr>
          <p:cNvSpPr>
            <a:spLocks noGrp="1"/>
          </p:cNvSpPr>
          <p:nvPr/>
        </p:nvSpPr>
        <p:spPr>
          <a:xfrm>
            <a:off x="8334375" y="7324725"/>
            <a:ext cx="6096000" cy="1000125"/>
          </a:xfrm>
          <a:prstGeom prst="rect">
            <a:avLst/>
          </a:prstGeom>
          <a:noFill/>
          <a:ln w="0">
            <a:noFill/>
          </a:ln>
        </p:spPr>
        <p:txBody>
          <a:bodyPr wrap="square" lIns="0" tIns="0" rIns="0" bIns="0" anchor="t">
            <a:noAutofit/>
          </a:bodyPr>
          <a:lstStyle/>
          <a:p>
            <a:pPr>
              <a:lnSpc>
                <a:spcPct val="108000"/>
              </a:lnSpc>
              <a:buNone/>
              <a:defRPr sz="1650" b="0">
                <a:solidFill>
                  <a:srgbClr val="152F3D"/>
                </a:solidFill>
                <a:latin typeface="Consolas"/>
                <a:ea typeface="Consolas"/>
                <a:cs typeface="Consolas"/>
              </a:defRPr>
            </a:pPr>
            <a:r>
              <a:rPr sz="1650" b="0">
                <a:solidFill>
                  <a:srgbClr val="152F3D"/>
                </a:solidFill>
                <a:latin typeface="Consolas"/>
                <a:ea typeface="Consolas"/>
                <a:cs typeface="Consolas"/>
              </a:rPr>
              <a:t>Kalem: 7</a:t>
            </a:r>
          </a:p>
        </p:txBody>
      </p:sp>
      <p:sp>
        <p:nvSpPr>
          <p:cNvPr id="33" name="Dikdörtgen 32">
            <a:extLst>
              <a:ext uri="{FF2B5EF4-FFF2-40B4-BE49-F238E27FC236}">
                <a16:creationId xmlns:a16="http://schemas.microsoft.com/office/drawing/2014/main" id="{434A7B6E-9A7D-4F10-AF91-244FEEB7FCC2}"/>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34 / 35</a:t>
            </a:r>
          </a:p>
        </p:txBody>
      </p:sp>
    </p:spTree>
    <p:extLst>
      <p:ext uri="{BB962C8B-B14F-4D97-AF65-F5344CB8AC3E}">
        <p14:creationId xmlns:p14="http://schemas.microsoft.com/office/powerpoint/2010/main" val="6963029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1" name="Dikdörtgen 10">
            <a:extLst>
              <a:ext uri="{FF2B5EF4-FFF2-40B4-BE49-F238E27FC236}">
                <a16:creationId xmlns:a16="http://schemas.microsoft.com/office/drawing/2014/main" id="{9B9C187A-1258-4ED2-9DB7-BD125B04618F}"/>
              </a:ext>
            </a:extLst>
          </p:cNvPr>
          <p:cNvSpPr>
            <a:spLocks noGrp="1"/>
          </p:cNvSpPr>
          <p:nvPr/>
        </p:nvSpPr>
        <p:spPr>
          <a:xfrm>
            <a:off x="742950" y="342900"/>
            <a:ext cx="8572500" cy="304800"/>
          </a:xfrm>
          <a:prstGeom prst="rect">
            <a:avLst/>
          </a:prstGeom>
          <a:noFill/>
          <a:ln w="0">
            <a:noFill/>
          </a:ln>
        </p:spPr>
        <p:txBody>
          <a:bodyPr wrap="square" lIns="0" tIns="0" rIns="0" bIns="0" anchor="t">
            <a:noAutofit/>
          </a:bodyPr>
          <a:lstStyle/>
          <a:p>
            <a:pPr>
              <a:lnSpc>
                <a:spcPct val="108000"/>
              </a:lnSpc>
              <a:buNone/>
              <a:defRPr sz="1500" b="1">
                <a:solidFill>
                  <a:srgbClr val="00796C"/>
                </a:solidFill>
                <a:latin typeface="Arial"/>
                <a:ea typeface="Arial"/>
                <a:cs typeface="Arial"/>
              </a:defRPr>
            </a:pPr>
            <a:r>
              <a:rPr sz="1500" b="1">
                <a:solidFill>
                  <a:srgbClr val="00796C"/>
                </a:solidFill>
                <a:latin typeface="Arial"/>
                <a:ea typeface="Arial"/>
                <a:cs typeface="Arial"/>
              </a:rPr>
              <a:t>2. sunum</a:t>
            </a:r>
          </a:p>
        </p:txBody>
      </p:sp>
      <p:sp>
        <p:nvSpPr>
          <p:cNvPr id="2" name="Dikdörtgen 1">
            <a:extLst>
              <a:ext uri="{FF2B5EF4-FFF2-40B4-BE49-F238E27FC236}">
                <a16:creationId xmlns:a16="http://schemas.microsoft.com/office/drawing/2014/main" id="{064493C1-8DAE-4DF1-A156-7FD6F184C3C9}"/>
              </a:ext>
            </a:extLst>
          </p:cNvPr>
          <p:cNvSpPr>
            <a:spLocks noGrp="1"/>
          </p:cNvSpPr>
          <p:nvPr/>
        </p:nvSpPr>
        <p:spPr>
          <a:xfrm>
            <a:off x="723900" y="876300"/>
            <a:ext cx="13811250" cy="762000"/>
          </a:xfrm>
          <a:prstGeom prst="rect">
            <a:avLst/>
          </a:prstGeom>
          <a:noFill/>
          <a:ln w="0">
            <a:noFill/>
          </a:ln>
        </p:spPr>
        <p:txBody>
          <a:bodyPr wrap="square" lIns="0" tIns="0" rIns="0" bIns="0" anchor="t">
            <a:noAutofit/>
          </a:bodyPr>
          <a:lstStyle/>
          <a:p>
            <a:pPr>
              <a:lnSpc>
                <a:spcPct val="108000"/>
              </a:lnSpc>
              <a:buNone/>
              <a:defRPr sz="3750" b="1">
                <a:solidFill>
                  <a:srgbClr val="152F3D"/>
                </a:solidFill>
                <a:latin typeface="Arial"/>
                <a:ea typeface="Arial"/>
                <a:cs typeface="Arial"/>
              </a:defRPr>
            </a:pPr>
            <a:r>
              <a:rPr sz="3750" b="1">
                <a:solidFill>
                  <a:srgbClr val="152F3D"/>
                </a:solidFill>
                <a:latin typeface="Arial"/>
                <a:ea typeface="Arial"/>
                <a:cs typeface="Arial"/>
              </a:rPr>
              <a:t>Stok programını sınır değerlerle denemek</a:t>
            </a:r>
          </a:p>
        </p:txBody>
      </p:sp>
      <p:sp>
        <p:nvSpPr>
          <p:cNvPr id="3" name="Dikdörtgen 2">
            <a:extLst>
              <a:ext uri="{FF2B5EF4-FFF2-40B4-BE49-F238E27FC236}">
                <a16:creationId xmlns:a16="http://schemas.microsoft.com/office/drawing/2014/main" id="{B5F25825-A66A-4758-8193-8BB4678EA6B9}"/>
              </a:ext>
            </a:extLst>
          </p:cNvPr>
          <p:cNvSpPr>
            <a:spLocks noGrp="1"/>
          </p:cNvSpPr>
          <p:nvPr/>
        </p:nvSpPr>
        <p:spPr>
          <a:xfrm>
            <a:off x="742950" y="1752600"/>
            <a:ext cx="13668375" cy="781050"/>
          </a:xfrm>
          <a:prstGeom prst="rect">
            <a:avLst/>
          </a:prstGeom>
          <a:noFill/>
          <a:ln w="0">
            <a:noFill/>
          </a:ln>
        </p:spPr>
        <p:txBody>
          <a:bodyPr wrap="square" lIns="0" tIns="0" rIns="0" bIns="0" anchor="t">
            <a:noAutofit/>
          </a:bodyPr>
          <a:lstStyle/>
          <a:p>
            <a:pPr>
              <a:lnSpc>
                <a:spcPct val="108000"/>
              </a:lnSpc>
              <a:buNone/>
              <a:defRPr sz="2250" b="0">
                <a:solidFill>
                  <a:srgbClr val="526A77"/>
                </a:solidFill>
                <a:latin typeface="Arial"/>
                <a:ea typeface="Arial"/>
                <a:cs typeface="Arial"/>
              </a:defRPr>
            </a:pPr>
            <a:r>
              <a:rPr sz="2250" b="0">
                <a:solidFill>
                  <a:srgbClr val="526A77"/>
                </a:solidFill>
                <a:latin typeface="Arial"/>
                <a:ea typeface="Arial"/>
                <a:cs typeface="Arial"/>
              </a:rPr>
              <a:t>Yalnız başarılı senaryoyu değil, kuralları zorlayan girdileri de inceleyelim.</a:t>
            </a:r>
          </a:p>
        </p:txBody>
      </p:sp>
      <p:sp>
        <p:nvSpPr>
          <p:cNvPr id="4" name="Dikdörtgen 3">
            <a:extLst>
              <a:ext uri="{FF2B5EF4-FFF2-40B4-BE49-F238E27FC236}">
                <a16:creationId xmlns:a16="http://schemas.microsoft.com/office/drawing/2014/main" id="{187A9CE4-DDF2-4AF3-A7E3-0AE9B0151BC1}"/>
              </a:ext>
            </a:extLst>
          </p:cNvPr>
          <p:cNvSpPr>
            <a:spLocks noGrp="1"/>
          </p:cNvSpPr>
          <p:nvPr/>
        </p:nvSpPr>
        <p:spPr>
          <a:xfrm>
            <a:off x="742950" y="310515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Tamamını sat</a:t>
            </a:r>
          </a:p>
        </p:txBody>
      </p:sp>
      <p:sp>
        <p:nvSpPr>
          <p:cNvPr id="5" name="Dikdörtgen 4">
            <a:extLst>
              <a:ext uri="{FF2B5EF4-FFF2-40B4-BE49-F238E27FC236}">
                <a16:creationId xmlns:a16="http://schemas.microsoft.com/office/drawing/2014/main" id="{CFB560C6-81C5-49BB-A2D5-AFC6675D1176}"/>
              </a:ext>
            </a:extLst>
          </p:cNvPr>
          <p:cNvSpPr>
            <a:spLocks noGrp="1"/>
          </p:cNvSpPr>
          <p:nvPr/>
        </p:nvSpPr>
        <p:spPr>
          <a:xfrm>
            <a:off x="4552950" y="310515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Stok 7 iken sat(7) true döndürür, stok 0 olur. Sonraki sat(1) false döndürür.</a:t>
            </a:r>
          </a:p>
        </p:txBody>
      </p:sp>
      <p:sp>
        <p:nvSpPr>
          <p:cNvPr id="6" name="Dikdörtgen 5">
            <a:extLst>
              <a:ext uri="{FF2B5EF4-FFF2-40B4-BE49-F238E27FC236}">
                <a16:creationId xmlns:a16="http://schemas.microsoft.com/office/drawing/2014/main" id="{9461CF7D-17A5-40D9-A3A4-4B0C329A75BC}"/>
              </a:ext>
            </a:extLst>
          </p:cNvPr>
          <p:cNvSpPr>
            <a:spLocks noGrp="1"/>
          </p:cNvSpPr>
          <p:nvPr/>
        </p:nvSpPr>
        <p:spPr>
          <a:xfrm>
            <a:off x="742950" y="4600575"/>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Sıfır ve negatif</a:t>
            </a:r>
          </a:p>
        </p:txBody>
      </p:sp>
      <p:sp>
        <p:nvSpPr>
          <p:cNvPr id="7" name="Dikdörtgen 6">
            <a:extLst>
              <a:ext uri="{FF2B5EF4-FFF2-40B4-BE49-F238E27FC236}">
                <a16:creationId xmlns:a16="http://schemas.microsoft.com/office/drawing/2014/main" id="{3E821CBC-07DE-4789-A9A0-0ABF2945DFEA}"/>
              </a:ext>
            </a:extLst>
          </p:cNvPr>
          <p:cNvSpPr>
            <a:spLocks noGrp="1"/>
          </p:cNvSpPr>
          <p:nvPr/>
        </p:nvSpPr>
        <p:spPr>
          <a:xfrm>
            <a:off x="4552950" y="4600575"/>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sat(0), sat(-1), ekle(0) ve ekle(-1) false döndürmeli. Stok aynı kalmalı.</a:t>
            </a:r>
          </a:p>
        </p:txBody>
      </p:sp>
      <p:sp>
        <p:nvSpPr>
          <p:cNvPr id="8" name="Dikdörtgen 7">
            <a:extLst>
              <a:ext uri="{FF2B5EF4-FFF2-40B4-BE49-F238E27FC236}">
                <a16:creationId xmlns:a16="http://schemas.microsoft.com/office/drawing/2014/main" id="{DA44E618-3510-4113-9D8D-3C15CD3F1A67}"/>
              </a:ext>
            </a:extLst>
          </p:cNvPr>
          <p:cNvSpPr>
            <a:spLocks noGrp="1"/>
          </p:cNvSpPr>
          <p:nvPr/>
        </p:nvSpPr>
        <p:spPr>
          <a:xfrm>
            <a:off x="742950" y="6096000"/>
            <a:ext cx="3324225" cy="1066800"/>
          </a:xfrm>
          <a:prstGeom prst="rect">
            <a:avLst/>
          </a:prstGeom>
          <a:noFill/>
          <a:ln w="0">
            <a:noFill/>
          </a:ln>
        </p:spPr>
        <p:txBody>
          <a:bodyPr wrap="square" lIns="0" tIns="0" rIns="0" bIns="0" anchor="t">
            <a:noAutofit/>
          </a:bodyPr>
          <a:lstStyle/>
          <a:p>
            <a:pPr>
              <a:lnSpc>
                <a:spcPct val="108000"/>
              </a:lnSpc>
              <a:buNone/>
              <a:defRPr sz="2250" b="1">
                <a:solidFill>
                  <a:srgbClr val="00796C"/>
                </a:solidFill>
                <a:latin typeface="Arial"/>
                <a:ea typeface="Arial"/>
                <a:cs typeface="Arial"/>
              </a:defRPr>
            </a:pPr>
            <a:r>
              <a:rPr sz="2250" b="1">
                <a:solidFill>
                  <a:srgbClr val="00796C"/>
                </a:solidFill>
                <a:latin typeface="Arial"/>
                <a:ea typeface="Arial"/>
                <a:cs typeface="Arial"/>
              </a:rPr>
              <a:t>Kapasite</a:t>
            </a:r>
          </a:p>
        </p:txBody>
      </p:sp>
      <p:sp>
        <p:nvSpPr>
          <p:cNvPr id="9" name="Dikdörtgen 8">
            <a:extLst>
              <a:ext uri="{FF2B5EF4-FFF2-40B4-BE49-F238E27FC236}">
                <a16:creationId xmlns:a16="http://schemas.microsoft.com/office/drawing/2014/main" id="{52C7189B-E419-4AB5-BF50-670C802E5E40}"/>
              </a:ext>
            </a:extLst>
          </p:cNvPr>
          <p:cNvSpPr>
            <a:spLocks noGrp="1"/>
          </p:cNvSpPr>
          <p:nvPr/>
        </p:nvSpPr>
        <p:spPr>
          <a:xfrm>
            <a:off x="4552950" y="6096000"/>
            <a:ext cx="9886950" cy="1247775"/>
          </a:xfrm>
          <a:prstGeom prst="rect">
            <a:avLst/>
          </a:prstGeom>
          <a:noFill/>
          <a:ln w="0">
            <a:noFill/>
          </a:ln>
        </p:spPr>
        <p:txBody>
          <a:bodyPr wrap="square" lIns="0" tIns="0" rIns="0" bIns="0" anchor="t">
            <a:noAutofit/>
          </a:bodyPr>
          <a:lstStyle/>
          <a:p>
            <a:pPr>
              <a:lnSpc>
                <a:spcPct val="108000"/>
              </a:lnSpc>
              <a:buNone/>
              <a:defRPr sz="2400" b="0">
                <a:solidFill>
                  <a:srgbClr val="152F3D"/>
                </a:solidFill>
                <a:latin typeface="Arial"/>
                <a:ea typeface="Arial"/>
                <a:cs typeface="Arial"/>
              </a:defRPr>
            </a:pPr>
            <a:r>
              <a:rPr sz="2400" b="0">
                <a:solidFill>
                  <a:srgbClr val="152F3D"/>
                </a:solidFill>
                <a:latin typeface="Arial"/>
                <a:ea typeface="Arial"/>
                <a:cs typeface="Arial"/>
              </a:rPr>
              <a:t>Stok 999 iken ekle(1) başarılı, ardından ekle(1) başarısız olmalı.</a:t>
            </a:r>
          </a:p>
        </p:txBody>
      </p:sp>
      <p:sp>
        <p:nvSpPr>
          <p:cNvPr id="10" name="Dikdörtgen 9">
            <a:extLst>
              <a:ext uri="{FF2B5EF4-FFF2-40B4-BE49-F238E27FC236}">
                <a16:creationId xmlns:a16="http://schemas.microsoft.com/office/drawing/2014/main" id="{9866A0DD-0B84-4C53-A14B-FD42DA620A73}"/>
              </a:ext>
            </a:extLst>
          </p:cNvPr>
          <p:cNvSpPr>
            <a:spLocks noGrp="1"/>
          </p:cNvSpPr>
          <p:nvPr/>
        </p:nvSpPr>
        <p:spPr>
          <a:xfrm>
            <a:off x="13430250" y="8296275"/>
            <a:ext cx="1143000" cy="247650"/>
          </a:xfrm>
          <a:prstGeom prst="rect">
            <a:avLst/>
          </a:prstGeom>
          <a:noFill/>
          <a:ln w="0">
            <a:noFill/>
          </a:ln>
        </p:spPr>
        <p:txBody>
          <a:bodyPr wrap="square" lIns="0" tIns="0" rIns="0" bIns="0" anchor="t">
            <a:noAutofit/>
          </a:bodyPr>
          <a:lstStyle/>
          <a:p>
            <a:pPr>
              <a:lnSpc>
                <a:spcPct val="108000"/>
              </a:lnSpc>
              <a:buNone/>
              <a:defRPr sz="1275" b="0">
                <a:solidFill>
                  <a:srgbClr val="526A77"/>
                </a:solidFill>
                <a:latin typeface="Arial"/>
                <a:ea typeface="Arial"/>
                <a:cs typeface="Arial"/>
              </a:defRPr>
            </a:pPr>
            <a:r>
              <a:rPr sz="1275" b="0">
                <a:solidFill>
                  <a:srgbClr val="526A77"/>
                </a:solidFill>
                <a:latin typeface="Arial"/>
                <a:ea typeface="Arial"/>
                <a:cs typeface="Arial"/>
              </a:rPr>
              <a:t>35 / 35</a:t>
            </a:r>
          </a:p>
        </p:txBody>
      </p:sp>
    </p:spTree>
    <p:extLst>
      <p:ext uri="{BB962C8B-B14F-4D97-AF65-F5344CB8AC3E}">
        <p14:creationId xmlns:p14="http://schemas.microsoft.com/office/powerpoint/2010/main" val="63882395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5503</Words>
  <Application>Microsoft Office PowerPoint</Application>
  <DocSecurity>0</DocSecurity>
  <PresentationFormat>Özel</PresentationFormat>
  <Paragraphs>817</Paragraphs>
  <Slides>35</Slides>
  <Notes>35</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35</vt:i4>
      </vt:variant>
    </vt:vector>
  </HeadingPairs>
  <TitlesOfParts>
    <vt:vector size="39" baseType="lpstr">
      <vt:lpstr>Arial</vt:lpstr>
      <vt:lpstr>Calibri</vt:lpstr>
      <vt:lpstr>Consolas</vt:lpstr>
      <vt:lpstr>ChatGPT</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Mustafa Said Yolcu</cp:lastModifiedBy>
  <cp:revision>1</cp:revision>
  <dcterms:created xsi:type="dcterms:W3CDTF">2026-09-27T23:40:06Z</dcterms:created>
  <dcterms:modified xsi:type="dcterms:W3CDTF">2026-10-04T11:54:19Z</dcterms:modified>
</cp:coreProperties>
</file>